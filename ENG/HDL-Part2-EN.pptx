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88" r:id="rId7"/>
    <p:sldId id="275" r:id="rId8"/>
    <p:sldId id="262" r:id="rId9"/>
    <p:sldId id="264" r:id="rId10"/>
    <p:sldId id="265" r:id="rId11"/>
    <p:sldId id="266" r:id="rId12"/>
    <p:sldId id="267" r:id="rId13"/>
    <p:sldId id="280" r:id="rId14"/>
    <p:sldId id="289" r:id="rId15"/>
    <p:sldId id="271" r:id="rId16"/>
    <p:sldId id="276" r:id="rId17"/>
    <p:sldId id="277" r:id="rId18"/>
    <p:sldId id="278" r:id="rId19"/>
    <p:sldId id="307" r:id="rId20"/>
    <p:sldId id="291" r:id="rId21"/>
    <p:sldId id="308" r:id="rId22"/>
    <p:sldId id="292" r:id="rId23"/>
    <p:sldId id="294" r:id="rId24"/>
    <p:sldId id="293" r:id="rId25"/>
    <p:sldId id="295" r:id="rId26"/>
    <p:sldId id="310" r:id="rId27"/>
    <p:sldId id="296" r:id="rId28"/>
    <p:sldId id="270" r:id="rId29"/>
    <p:sldId id="282" r:id="rId30"/>
    <p:sldId id="272" r:id="rId31"/>
    <p:sldId id="297" r:id="rId32"/>
    <p:sldId id="309" r:id="rId33"/>
    <p:sldId id="274" r:id="rId34"/>
    <p:sldId id="281" r:id="rId35"/>
    <p:sldId id="311" r:id="rId36"/>
    <p:sldId id="298" r:id="rId37"/>
    <p:sldId id="299" r:id="rId38"/>
    <p:sldId id="300" r:id="rId39"/>
    <p:sldId id="302" r:id="rId40"/>
    <p:sldId id="303" r:id="rId41"/>
    <p:sldId id="304" r:id="rId42"/>
    <p:sldId id="284" r:id="rId43"/>
    <p:sldId id="285" r:id="rId44"/>
    <p:sldId id="305" r:id="rId45"/>
    <p:sldId id="306" r:id="rId46"/>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09" autoAdjust="0"/>
  </p:normalViewPr>
  <p:slideViewPr>
    <p:cSldViewPr snapToGrid="0">
      <p:cViewPr varScale="1">
        <p:scale>
          <a:sx n="76" d="100"/>
          <a:sy n="76" d="100"/>
        </p:scale>
        <p:origin x="522"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nchor="ctr"/>
          <a:lstStyle>
            <a:lvl1pPr>
              <a:defRPr cap="none" baseline="0"/>
            </a:lvl1pPr>
            <a:lvl2pPr>
              <a:defRPr cap="none" baseline="0"/>
            </a:lvl2pPr>
            <a:lvl3pPr>
              <a:defRPr cap="none" baseline="0"/>
            </a:lvl3pPr>
            <a:lvl4pPr>
              <a:defRPr cap="none" baseline="0"/>
            </a:lvl4pPr>
            <a:lvl5pPr>
              <a:defRPr cap="none" baseline="0"/>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it-IT"/>
              <a:t>Fare clic per modificare lo stile del titolo dello schema</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10/22/2026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it-IT"/>
              <a:t>Fare clic per modificare lo stile del titolo dello schema</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it-IT"/>
              <a:t>Fare clic per modificare lo stile del titolo dello schema</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it-IT"/>
              <a:t>Fare clic per modificare gli stili del testo dello schema</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it-IT"/>
              <a:t>Fare clic per modificare lo stile del titolo dello schema</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it-IT"/>
              <a:t>Fare clic per modificare gli stili del testo dello schema</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28000"/>
                <a:satMod val="94000"/>
                <a:lumMod val="20000"/>
              </a:schemeClr>
              <a:schemeClr val="bg2">
                <a:tint val="94000"/>
                <a:shade val="84000"/>
                <a:satMod val="148000"/>
                <a:lumMod val="114000"/>
              </a:schemeClr>
            </a:duotone>
            <a:extLst>
              <a:ext uri="{BEBA8EAE-BF5A-486C-A8C5-ECC9F3942E4B}">
                <a14:imgProps xmlns:a14="http://schemas.microsoft.com/office/drawing/2010/main">
                  <a14:imgLayer r:embed="rId20">
                    <a14:imgEffect>
                      <a14:brightnessContrast bright="2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10/22/2026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acebook.com/professionistiperinnovazionedigitale" TargetMode="External"/><Relationship Id="rId2" Type="http://schemas.openxmlformats.org/officeDocument/2006/relationships/hyperlink" Target="https://www.pidrsm.sm/" TargetMode="Externa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YosysHQ/oss-cad-suite-build" TargetMode="External"/><Relationship Id="rId2" Type="http://schemas.openxmlformats.org/officeDocument/2006/relationships/hyperlink" Target="https://learn.lushaylabs.com/vscode-extens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svg"/><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fpga4fun.com/files/LFSRTestbench.zip" TargetMode="Externa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sv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mailto:giulicard@gmail.com" TargetMode="External"/><Relationship Id="rId2" Type="http://schemas.openxmlformats.org/officeDocument/2006/relationships/hyperlink" Target="mailto:e.conti@embedded.sm" TargetMode="External"/><Relationship Id="rId1" Type="http://schemas.openxmlformats.org/officeDocument/2006/relationships/slideLayout" Target="../slideLayouts/slideLayout2.xml"/><Relationship Id="rId5" Type="http://schemas.openxmlformats.org/officeDocument/2006/relationships/image" Target="../media/image43.svg"/><Relationship Id="rId4" Type="http://schemas.openxmlformats.org/officeDocument/2006/relationships/hyperlink" Target="https://tinyurl.com/HDLParte2Cod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4C57AA-0EC8-68D7-2FC5-C4A702E45B29}"/>
              </a:ext>
            </a:extLst>
          </p:cNvPr>
          <p:cNvSpPr>
            <a:spLocks noGrp="1"/>
          </p:cNvSpPr>
          <p:nvPr>
            <p:ph type="ctrTitle"/>
          </p:nvPr>
        </p:nvSpPr>
        <p:spPr>
          <a:xfrm>
            <a:off x="1751012" y="741460"/>
            <a:ext cx="8676222" cy="2707419"/>
          </a:xfrm>
        </p:spPr>
        <p:txBody>
          <a:bodyPr>
            <a:normAutofit fontScale="90000"/>
          </a:bodyPr>
          <a:lstStyle/>
          <a:p>
            <a:r>
              <a:rPr lang="en-US" dirty="0"/>
              <a:t>Informational meeting on hardware description languages (HDL)</a:t>
            </a:r>
          </a:p>
        </p:txBody>
      </p:sp>
      <p:sp>
        <p:nvSpPr>
          <p:cNvPr id="3" name="Sottotitolo 2">
            <a:extLst>
              <a:ext uri="{FF2B5EF4-FFF2-40B4-BE49-F238E27FC236}">
                <a16:creationId xmlns:a16="http://schemas.microsoft.com/office/drawing/2014/main" id="{D9E7C2AB-EC01-6300-4AB7-35621CC9E703}"/>
              </a:ext>
            </a:extLst>
          </p:cNvPr>
          <p:cNvSpPr>
            <a:spLocks noGrp="1"/>
          </p:cNvSpPr>
          <p:nvPr>
            <p:ph type="subTitle" idx="1"/>
          </p:nvPr>
        </p:nvSpPr>
        <p:spPr>
          <a:xfrm>
            <a:off x="1751012" y="3886200"/>
            <a:ext cx="8676222" cy="2400300"/>
          </a:xfrm>
        </p:spPr>
        <p:txBody>
          <a:bodyPr>
            <a:normAutofit fontScale="92500" lnSpcReduction="10000"/>
          </a:bodyPr>
          <a:lstStyle/>
          <a:p>
            <a:pPr algn="l"/>
            <a:r>
              <a:rPr lang="en-US" dirty="0"/>
              <a:t>SPEAKERS:</a:t>
            </a:r>
          </a:p>
          <a:p>
            <a:pPr lvl="1" algn="l"/>
            <a:r>
              <a:rPr lang="en-US" dirty="0"/>
              <a:t>Giuliano Cardinali</a:t>
            </a:r>
          </a:p>
          <a:p>
            <a:pPr lvl="1" algn="l"/>
            <a:r>
              <a:rPr lang="en-US" dirty="0"/>
              <a:t>Emanuel Conti</a:t>
            </a:r>
            <a:br>
              <a:rPr lang="en-US" dirty="0"/>
            </a:br>
            <a:endParaRPr lang="en-US" dirty="0"/>
          </a:p>
          <a:p>
            <a:pPr algn="l"/>
            <a:r>
              <a:rPr lang="en-US" cap="none" dirty="0"/>
              <a:t>ORGANIZED BY:</a:t>
            </a:r>
          </a:p>
          <a:p>
            <a:pPr lvl="1" algn="l"/>
            <a:r>
              <a:rPr lang="en-US" cap="none" dirty="0">
                <a:hlinkClick r:id="rId2"/>
              </a:rPr>
              <a:t>https://www.pidrsm.sm</a:t>
            </a:r>
            <a:br>
              <a:rPr lang="en-US" cap="none" dirty="0"/>
            </a:br>
            <a:r>
              <a:rPr lang="en-US" cap="none" dirty="0">
                <a:hlinkClick r:id="rId3"/>
              </a:rPr>
              <a:t>https://www.facebook.com/professionistiperinnovazionedigitale</a:t>
            </a:r>
            <a:endParaRPr lang="en-US" cap="none" dirty="0"/>
          </a:p>
          <a:p>
            <a:pPr lvl="1" algn="l"/>
            <a:endParaRPr lang="en-US" cap="none" dirty="0"/>
          </a:p>
          <a:p>
            <a:endParaRPr lang="en-US" dirty="0"/>
          </a:p>
        </p:txBody>
      </p:sp>
      <p:pic>
        <p:nvPicPr>
          <p:cNvPr id="4" name="Elemento grafico 3">
            <a:extLst>
              <a:ext uri="{FF2B5EF4-FFF2-40B4-BE49-F238E27FC236}">
                <a16:creationId xmlns:a16="http://schemas.microsoft.com/office/drawing/2014/main" id="{ADFBE4A1-4F23-171D-6E69-3B1DD9D4F0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7193" y="3787532"/>
            <a:ext cx="5120806" cy="1365548"/>
          </a:xfrm>
          <a:prstGeom prst="rect">
            <a:avLst/>
          </a:prstGeom>
        </p:spPr>
      </p:pic>
    </p:spTree>
    <p:extLst>
      <p:ext uri="{BB962C8B-B14F-4D97-AF65-F5344CB8AC3E}">
        <p14:creationId xmlns:p14="http://schemas.microsoft.com/office/powerpoint/2010/main" val="370778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a:extLst>
              <a:ext uri="{FF2B5EF4-FFF2-40B4-BE49-F238E27FC236}">
                <a16:creationId xmlns:a16="http://schemas.microsoft.com/office/drawing/2014/main" id="{301D572A-0390-0D8E-E90C-BE7148AC9BCC}"/>
              </a:ext>
            </a:extLst>
          </p:cNvPr>
          <p:cNvSpPr>
            <a:spLocks noGrp="1"/>
          </p:cNvSpPr>
          <p:nvPr>
            <p:ph type="title"/>
          </p:nvPr>
        </p:nvSpPr>
        <p:spPr>
          <a:xfrm>
            <a:off x="1141413" y="618518"/>
            <a:ext cx="9905998" cy="5710720"/>
          </a:xfrm>
        </p:spPr>
        <p:txBody>
          <a:bodyPr>
            <a:normAutofit/>
          </a:bodyPr>
          <a:lstStyle/>
          <a:p>
            <a:pPr algn="ctr"/>
            <a:r>
              <a:rPr lang="en-US" sz="8000" dirty="0"/>
              <a:t>HDL in practice: design, synthesis and simulation</a:t>
            </a:r>
          </a:p>
        </p:txBody>
      </p:sp>
    </p:spTree>
    <p:extLst>
      <p:ext uri="{BB962C8B-B14F-4D97-AF65-F5344CB8AC3E}">
        <p14:creationId xmlns:p14="http://schemas.microsoft.com/office/powerpoint/2010/main" val="404741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7016D72-09FD-5FA2-B40D-5D81A0C38CAF}"/>
              </a:ext>
            </a:extLst>
          </p:cNvPr>
          <p:cNvSpPr>
            <a:spLocks noGrp="1"/>
          </p:cNvSpPr>
          <p:nvPr>
            <p:ph type="title"/>
          </p:nvPr>
        </p:nvSpPr>
        <p:spPr/>
        <p:txBody>
          <a:bodyPr/>
          <a:lstStyle/>
          <a:p>
            <a:r>
              <a:rPr lang="en-US" dirty="0"/>
              <a:t>PRESENTATION OF THE DEVELOPMENT KIT</a:t>
            </a:r>
          </a:p>
        </p:txBody>
      </p:sp>
      <p:sp>
        <p:nvSpPr>
          <p:cNvPr id="3" name="Segnaposto contenuto 2">
            <a:extLst>
              <a:ext uri="{FF2B5EF4-FFF2-40B4-BE49-F238E27FC236}">
                <a16:creationId xmlns:a16="http://schemas.microsoft.com/office/drawing/2014/main" id="{95AAC9FE-AC80-80BD-BD4B-4D1F068A648A}"/>
              </a:ext>
            </a:extLst>
          </p:cNvPr>
          <p:cNvSpPr>
            <a:spLocks noGrp="1"/>
          </p:cNvSpPr>
          <p:nvPr>
            <p:ph idx="1"/>
          </p:nvPr>
        </p:nvSpPr>
        <p:spPr>
          <a:xfrm>
            <a:off x="1141413" y="2666999"/>
            <a:ext cx="9775728" cy="3124201"/>
          </a:xfrm>
        </p:spPr>
        <p:txBody>
          <a:bodyPr>
            <a:normAutofit/>
          </a:bodyPr>
          <a:lstStyle/>
          <a:p>
            <a:pPr marL="0" indent="0">
              <a:buNone/>
            </a:pPr>
            <a:r>
              <a:rPr lang="en-US" cap="none" dirty="0"/>
              <a:t>For this presentation we chose an easily </a:t>
            </a:r>
            <a:br>
              <a:rPr lang="en-US" dirty="0"/>
            </a:br>
            <a:r>
              <a:rPr lang="en-US" cap="none" dirty="0"/>
              <a:t>available, low-cost development kit.</a:t>
            </a:r>
            <a:br>
              <a:rPr lang="en-US" cap="none" dirty="0"/>
            </a:br>
            <a:br>
              <a:rPr lang="en-US" cap="none" dirty="0"/>
            </a:br>
            <a:r>
              <a:rPr lang="en-US" cap="none" dirty="0"/>
              <a:t>Specifically, we will use the SiPeed</a:t>
            </a:r>
            <a:br>
              <a:rPr lang="en-US" cap="none" dirty="0"/>
            </a:br>
            <a:r>
              <a:rPr lang="en-US" cap="none" dirty="0"/>
              <a:t>Tang Nano 9K kit.</a:t>
            </a:r>
          </a:p>
          <a:p>
            <a:pPr marL="0" indent="0">
              <a:buNone/>
            </a:pPr>
            <a:r>
              <a:rPr lang="en-US" cap="none" dirty="0"/>
              <a:t>Tang Nano 9K</a:t>
            </a:r>
            <a:r>
              <a:rPr lang="en-US" dirty="0"/>
              <a:t> uses a non-volatile Flash-based FPGA from GOWIN, belonging to the LittleBee® family, with integrated RAM (GW1NR). It offers just under 9000 4-input LUTs/CLBs, DSP functions and several modules, including two PLLs.</a:t>
            </a:r>
            <a:endParaRPr lang="en-US" cap="none" dirty="0"/>
          </a:p>
        </p:txBody>
      </p:sp>
      <p:pic>
        <p:nvPicPr>
          <p:cNvPr id="6" name="Immagine 5">
            <a:extLst>
              <a:ext uri="{FF2B5EF4-FFF2-40B4-BE49-F238E27FC236}">
                <a16:creationId xmlns:a16="http://schemas.microsoft.com/office/drawing/2014/main" id="{32A89C9F-E8A2-9603-CC6A-C1BD89959EB5}"/>
              </a:ext>
            </a:extLst>
          </p:cNvPr>
          <p:cNvPicPr>
            <a:picLocks noChangeAspect="1"/>
          </p:cNvPicPr>
          <p:nvPr/>
        </p:nvPicPr>
        <p:blipFill>
          <a:blip r:embed="rId2"/>
          <a:stretch>
            <a:fillRect/>
          </a:stretch>
        </p:blipFill>
        <p:spPr>
          <a:xfrm rot="1048996">
            <a:off x="6462932" y="1511630"/>
            <a:ext cx="4536291" cy="3150823"/>
          </a:xfrm>
          <a:prstGeom prst="rect">
            <a:avLst/>
          </a:prstGeom>
        </p:spPr>
      </p:pic>
    </p:spTree>
    <p:extLst>
      <p:ext uri="{BB962C8B-B14F-4D97-AF65-F5344CB8AC3E}">
        <p14:creationId xmlns:p14="http://schemas.microsoft.com/office/powerpoint/2010/main" val="906516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B57E51-C5CA-F73C-B987-ECDFDCA482FC}"/>
              </a:ext>
            </a:extLst>
          </p:cNvPr>
          <p:cNvSpPr>
            <a:spLocks noGrp="1"/>
          </p:cNvSpPr>
          <p:nvPr>
            <p:ph type="title"/>
          </p:nvPr>
        </p:nvSpPr>
        <p:spPr>
          <a:xfrm>
            <a:off x="1141413" y="283595"/>
            <a:ext cx="9905998" cy="1905000"/>
          </a:xfrm>
        </p:spPr>
        <p:txBody>
          <a:bodyPr/>
          <a:lstStyle/>
          <a:p>
            <a:r>
              <a:rPr lang="en-US" dirty="0"/>
              <a:t>TANG NANO 9K by Sipeed (GOWIN GW1NR FPGA)</a:t>
            </a:r>
          </a:p>
        </p:txBody>
      </p:sp>
      <p:sp>
        <p:nvSpPr>
          <p:cNvPr id="3" name="Segnaposto contenuto 2">
            <a:extLst>
              <a:ext uri="{FF2B5EF4-FFF2-40B4-BE49-F238E27FC236}">
                <a16:creationId xmlns:a16="http://schemas.microsoft.com/office/drawing/2014/main" id="{24008320-E74B-54C9-AA7B-CF9823BD5405}"/>
              </a:ext>
            </a:extLst>
          </p:cNvPr>
          <p:cNvSpPr>
            <a:spLocks noGrp="1"/>
          </p:cNvSpPr>
          <p:nvPr>
            <p:ph idx="1"/>
          </p:nvPr>
        </p:nvSpPr>
        <p:spPr>
          <a:xfrm>
            <a:off x="1141413" y="1729143"/>
            <a:ext cx="9905998" cy="537377"/>
          </a:xfrm>
        </p:spPr>
        <p:txBody>
          <a:bodyPr/>
          <a:lstStyle/>
          <a:p>
            <a:pPr marL="0" indent="0" algn="ctr">
              <a:buNone/>
            </a:pPr>
            <a:r>
              <a:rPr lang="en-US" dirty="0"/>
              <a:t>Technical specifications</a:t>
            </a:r>
          </a:p>
        </p:txBody>
      </p:sp>
      <p:graphicFrame>
        <p:nvGraphicFramePr>
          <p:cNvPr id="8" name="Tabella 7">
            <a:extLst>
              <a:ext uri="{FF2B5EF4-FFF2-40B4-BE49-F238E27FC236}">
                <a16:creationId xmlns:a16="http://schemas.microsoft.com/office/drawing/2014/main" id="{B2E934E8-1794-4EAC-C5EE-C215DB01F5C1}"/>
              </a:ext>
            </a:extLst>
          </p:cNvPr>
          <p:cNvGraphicFramePr>
            <a:graphicFrameLocks noGrp="1"/>
          </p:cNvGraphicFramePr>
          <p:nvPr>
            <p:extLst>
              <p:ext uri="{D42A27DB-BD31-4B8C-83A1-F6EECF244321}">
                <p14:modId xmlns:p14="http://schemas.microsoft.com/office/powerpoint/2010/main" val="1951038765"/>
              </p:ext>
            </p:extLst>
          </p:nvPr>
        </p:nvGraphicFramePr>
        <p:xfrm>
          <a:off x="877380" y="2415110"/>
          <a:ext cx="6306565" cy="3914439"/>
        </p:xfrm>
        <a:graphic>
          <a:graphicData uri="http://schemas.openxmlformats.org/drawingml/2006/table">
            <a:tbl>
              <a:tblPr/>
              <a:tblGrid>
                <a:gridCol w="1988687">
                  <a:extLst>
                    <a:ext uri="{9D8B030D-6E8A-4147-A177-3AD203B41FA5}">
                      <a16:colId xmlns:a16="http://schemas.microsoft.com/office/drawing/2014/main" val="1313840945"/>
                    </a:ext>
                  </a:extLst>
                </a:gridCol>
                <a:gridCol w="4317878">
                  <a:extLst>
                    <a:ext uri="{9D8B030D-6E8A-4147-A177-3AD203B41FA5}">
                      <a16:colId xmlns:a16="http://schemas.microsoft.com/office/drawing/2014/main" val="1465052977"/>
                    </a:ext>
                  </a:extLst>
                </a:gridCol>
              </a:tblGrid>
              <a:tr h="217469">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Logic Units (LUT4)</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8640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34079296"/>
                  </a:ext>
                </a:extLst>
              </a:tr>
              <a:tr h="217469">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Crystal oscillator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dirty="0">
                          <a:solidFill>
                            <a:srgbClr val="000000"/>
                          </a:solidFill>
                          <a:effectLst/>
                          <a:highlight>
                            <a:srgbClr val="F8CBAD"/>
                          </a:highlight>
                          <a:latin typeface="Calibri" panose="020F0502020204030204" pitchFamily="34" charset="0"/>
                        </a:rPr>
                        <a:t>27 MHz</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581360241"/>
                  </a:ext>
                </a:extLst>
              </a:tr>
              <a:tr h="217469">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SPI FLASH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32 M SPI flash (Onboard)</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20238792"/>
                  </a:ext>
                </a:extLst>
              </a:tr>
              <a:tr h="217469">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Registers (Flip Flops)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6480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121240141"/>
                  </a:ext>
                </a:extLst>
              </a:tr>
              <a:tr h="217469">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Shadow SRAM SSRAM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17280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867310842"/>
                  </a:ext>
                </a:extLst>
              </a:tr>
              <a:tr h="217469">
                <a:tc>
                  <a:txBody>
                    <a:bodyPr/>
                    <a:lstStyle/>
                    <a:p>
                      <a:pPr algn="l" fontAlgn="ctr"/>
                      <a:r>
                        <a:rPr lang="en-US" sz="1300" b="0" i="0" u="none" strike="noStrike" dirty="0">
                          <a:solidFill>
                            <a:srgbClr val="000000"/>
                          </a:solidFill>
                          <a:effectLst/>
                          <a:highlight>
                            <a:srgbClr val="F8CBAD"/>
                          </a:highlight>
                          <a:latin typeface="Calibri" panose="020F0502020204030204" pitchFamily="34" charset="0"/>
                        </a:rPr>
                        <a:t>Block SRAM B-SRAM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dirty="0">
                          <a:solidFill>
                            <a:srgbClr val="000000"/>
                          </a:solidFill>
                          <a:effectLst/>
                          <a:highlight>
                            <a:srgbClr val="F8CBAD"/>
                          </a:highlight>
                          <a:latin typeface="Calibri" panose="020F0502020204030204" pitchFamily="34" charset="0"/>
                        </a:rPr>
                        <a:t>468 K (26 x 18K)</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963447582"/>
                  </a:ext>
                </a:extLst>
              </a:tr>
              <a:tr h="217469">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Number of B-SRAM</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26</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96674119"/>
                  </a:ext>
                </a:extLst>
              </a:tr>
              <a:tr h="217469">
                <a:tc>
                  <a:txBody>
                    <a:bodyPr/>
                    <a:lstStyle/>
                    <a:p>
                      <a:pPr algn="l" fontAlgn="ctr"/>
                      <a:r>
                        <a:rPr lang="en-US" sz="1300" b="0" i="0" u="none" strike="noStrike" dirty="0">
                          <a:solidFill>
                            <a:srgbClr val="000000"/>
                          </a:solidFill>
                          <a:effectLst/>
                          <a:highlight>
                            <a:srgbClr val="F8CBAD"/>
                          </a:highlight>
                          <a:latin typeface="Calibri" panose="020F0502020204030204" pitchFamily="34" charset="0"/>
                        </a:rPr>
                        <a:t>User flash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dirty="0">
                          <a:solidFill>
                            <a:srgbClr val="000000"/>
                          </a:solidFill>
                          <a:effectLst/>
                          <a:highlight>
                            <a:srgbClr val="F8CBAD"/>
                          </a:highlight>
                          <a:latin typeface="Calibri" panose="020F0502020204030204" pitchFamily="34" charset="0"/>
                        </a:rPr>
                        <a:t>608 K</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3399424269"/>
                  </a:ext>
                </a:extLst>
              </a:tr>
              <a:tr h="217469">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SDR SDRAM (bits)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64 M</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431026209"/>
                  </a:ext>
                </a:extLst>
              </a:tr>
              <a:tr h="217469">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18 x 18 Multiplier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20</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3287776857"/>
                  </a:ext>
                </a:extLst>
              </a:tr>
              <a:tr h="217469">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Number of PLL</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2</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34939256"/>
                  </a:ext>
                </a:extLst>
              </a:tr>
              <a:tr h="217469">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Display interface</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HDMI interface, SPI screen interface and RGB screen interface</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618881449"/>
                  </a:ext>
                </a:extLst>
              </a:tr>
              <a:tr h="217469">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Debugger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Onboard BL702 chip with USB-JTAG and USB-UART</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50178689"/>
                  </a:ext>
                </a:extLst>
              </a:tr>
              <a:tr h="434935">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I/O</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4-24 mA, Bus Keeper, pull-up/pull-down resistors, Open Drain output options for each I/O</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3166790554"/>
                  </a:ext>
                </a:extLst>
              </a:tr>
              <a:tr h="217469">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Connector</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r>
                        <a:rPr lang="en-US" sz="1300" b="0" i="0" u="none" strike="noStrike" dirty="0">
                          <a:solidFill>
                            <a:srgbClr val="000000"/>
                          </a:solidFill>
                          <a:effectLst/>
                          <a:highlight>
                            <a:srgbClr val="FFFFFF"/>
                          </a:highlight>
                          <a:latin typeface="Calibri" panose="020F0502020204030204" pitchFamily="34" charset="0"/>
                        </a:rPr>
                        <a:t>TF card slot, 2x24 P 2.54 mm Header pads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02560100"/>
                  </a:ext>
                </a:extLst>
              </a:tr>
              <a:tr h="217469">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Button</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tc>
                  <a:txBody>
                    <a:bodyPr/>
                    <a:lstStyle/>
                    <a:p>
                      <a:pPr algn="l" fontAlgn="ctr"/>
                      <a:r>
                        <a:rPr lang="en-US" sz="1300" b="0" i="0" u="none" strike="noStrike">
                          <a:solidFill>
                            <a:srgbClr val="000000"/>
                          </a:solidFill>
                          <a:effectLst/>
                          <a:highlight>
                            <a:srgbClr val="F8CBAD"/>
                          </a:highlight>
                          <a:latin typeface="Calibri" panose="020F0502020204030204" pitchFamily="34" charset="0"/>
                        </a:rPr>
                        <a:t>2 programmable buttons for users</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8CBAD"/>
                    </a:solidFill>
                  </a:tcPr>
                </a:tc>
                <a:extLst>
                  <a:ext uri="{0D108BD9-81ED-4DB2-BD59-A6C34878D82A}">
                    <a16:rowId xmlns:a16="http://schemas.microsoft.com/office/drawing/2014/main" val="2085067989"/>
                  </a:ext>
                </a:extLst>
              </a:tr>
              <a:tr h="217469">
                <a:tc>
                  <a:txBody>
                    <a:bodyPr/>
                    <a:lstStyle/>
                    <a:p>
                      <a:pPr algn="l" fontAlgn="ctr"/>
                      <a:r>
                        <a:rPr lang="en-US" sz="1300" b="0" i="0" u="none" strike="noStrike">
                          <a:solidFill>
                            <a:srgbClr val="000000"/>
                          </a:solidFill>
                          <a:effectLst/>
                          <a:highlight>
                            <a:srgbClr val="FFFFFF"/>
                          </a:highlight>
                          <a:latin typeface="Calibri" panose="020F0502020204030204" pitchFamily="34" charset="0"/>
                        </a:rPr>
                        <a:t>LED</a:t>
                      </a: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1300" b="0" i="0" u="none" strike="noStrike" dirty="0" err="1">
                          <a:solidFill>
                            <a:srgbClr val="000000"/>
                          </a:solidFill>
                          <a:effectLst/>
                          <a:highlight>
                            <a:srgbClr val="FFFFFF"/>
                          </a:highlight>
                          <a:latin typeface="Calibri" panose="020F0502020204030204" pitchFamily="34" charset="0"/>
                        </a:rPr>
                        <a:t>Onboard 6 programmable LEDs</a:t>
                      </a:r>
                      <a:endParaRPr lang="en-US" sz="1300" b="0" i="0" u="none" strike="noStrike" dirty="0">
                        <a:solidFill>
                          <a:srgbClr val="000000"/>
                        </a:solidFill>
                        <a:effectLst/>
                        <a:highlight>
                          <a:srgbClr val="FFFFFF"/>
                        </a:highlight>
                        <a:latin typeface="Calibri" panose="020F0502020204030204" pitchFamily="34" charset="0"/>
                      </a:endParaRPr>
                    </a:p>
                  </a:txBody>
                  <a:tcPr marL="10873" marR="10873" marT="108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6198929"/>
                  </a:ext>
                </a:extLst>
              </a:tr>
            </a:tbl>
          </a:graphicData>
        </a:graphic>
      </p:graphicFrame>
      <p:pic>
        <p:nvPicPr>
          <p:cNvPr id="10" name="Immagine 9">
            <a:extLst>
              <a:ext uri="{FF2B5EF4-FFF2-40B4-BE49-F238E27FC236}">
                <a16:creationId xmlns:a16="http://schemas.microsoft.com/office/drawing/2014/main" id="{501DAE30-D2FC-507A-0A2C-4C8C72B911D2}"/>
              </a:ext>
            </a:extLst>
          </p:cNvPr>
          <p:cNvPicPr>
            <a:picLocks noChangeAspect="1"/>
          </p:cNvPicPr>
          <p:nvPr/>
        </p:nvPicPr>
        <p:blipFill>
          <a:blip r:embed="rId2"/>
          <a:stretch>
            <a:fillRect/>
          </a:stretch>
        </p:blipFill>
        <p:spPr>
          <a:xfrm>
            <a:off x="7411360" y="3484350"/>
            <a:ext cx="4133850" cy="1476375"/>
          </a:xfrm>
          <a:prstGeom prst="rect">
            <a:avLst/>
          </a:prstGeom>
        </p:spPr>
      </p:pic>
      <p:sp>
        <p:nvSpPr>
          <p:cNvPr id="4" name="Rettangolo 3">
            <a:extLst>
              <a:ext uri="{FF2B5EF4-FFF2-40B4-BE49-F238E27FC236}">
                <a16:creationId xmlns:a16="http://schemas.microsoft.com/office/drawing/2014/main" id="{728B62EC-DCA8-F7CA-7671-1A2715B4EA84}"/>
              </a:ext>
            </a:extLst>
          </p:cNvPr>
          <p:cNvSpPr/>
          <p:nvPr/>
        </p:nvSpPr>
        <p:spPr>
          <a:xfrm>
            <a:off x="8680422" y="3935007"/>
            <a:ext cx="622604" cy="61313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639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FCE542-AC98-07E4-A009-3CF30E4E369C}"/>
              </a:ext>
            </a:extLst>
          </p:cNvPr>
          <p:cNvSpPr>
            <a:spLocks noGrp="1"/>
          </p:cNvSpPr>
          <p:nvPr>
            <p:ph type="title"/>
          </p:nvPr>
        </p:nvSpPr>
        <p:spPr/>
        <p:txBody>
          <a:bodyPr/>
          <a:lstStyle/>
          <a:p>
            <a:r>
              <a:rPr lang="en-US" dirty="0"/>
              <a:t>Development Systems (IDE)</a:t>
            </a:r>
          </a:p>
        </p:txBody>
      </p:sp>
      <p:sp>
        <p:nvSpPr>
          <p:cNvPr id="3" name="Segnaposto contenuto 2">
            <a:extLst>
              <a:ext uri="{FF2B5EF4-FFF2-40B4-BE49-F238E27FC236}">
                <a16:creationId xmlns:a16="http://schemas.microsoft.com/office/drawing/2014/main" id="{710EF320-80EE-8823-F739-77BD20CCB9F3}"/>
              </a:ext>
            </a:extLst>
          </p:cNvPr>
          <p:cNvSpPr>
            <a:spLocks noGrp="1"/>
          </p:cNvSpPr>
          <p:nvPr>
            <p:ph idx="1"/>
          </p:nvPr>
        </p:nvSpPr>
        <p:spPr>
          <a:xfrm>
            <a:off x="1141413" y="2083242"/>
            <a:ext cx="9905998" cy="4325509"/>
          </a:xfrm>
        </p:spPr>
        <p:txBody>
          <a:bodyPr>
            <a:normAutofit fontScale="92500" lnSpcReduction="20000"/>
          </a:bodyPr>
          <a:lstStyle/>
          <a:p>
            <a:pPr marL="0" indent="0">
              <a:buNone/>
            </a:pPr>
            <a:r>
              <a:rPr lang="en-US" dirty="0"/>
              <a:t>There are two development systems (toolchains) that can be used with the TangNano 9K:</a:t>
            </a:r>
          </a:p>
          <a:p>
            <a:pPr>
              <a:buFont typeface="Arial" panose="020B0604020202020204" pitchFamily="34" charset="0"/>
              <a:buChar char="•"/>
            </a:pPr>
            <a:r>
              <a:rPr lang="en-US" dirty="0"/>
              <a:t>The manufacturer's IDE/Toolchain: GoWin FPGA Designer. It supports all GoWin FPGA families and offers excellent integration of all the available modules (hard/soft IP). It has no built-in simulator but can use an external simulator or a Cloud resource accessible from the IDE.</a:t>
            </a:r>
          </a:p>
          <a:p>
            <a:pPr>
              <a:buFont typeface="Arial" panose="020B0604020202020204" pitchFamily="34" charset="0"/>
              <a:buChar char="•"/>
            </a:pPr>
            <a:r>
              <a:rPr lang="en-US" dirty="0"/>
              <a:t>VS Code + Lushay Code plugin by Lushay Labs:</a:t>
            </a:r>
            <a:br>
              <a:rPr lang="en-US" dirty="0"/>
            </a:br>
            <a:br>
              <a:rPr lang="en-US" dirty="0"/>
            </a:br>
            <a:r>
              <a:rPr lang="en-US" dirty="0">
                <a:hlinkClick r:id="rId2"/>
              </a:rPr>
              <a:t>https://learn.lushaylabs.com/vscode-extension/</a:t>
            </a:r>
            <a:r>
              <a:rPr lang="en-US" dirty="0"/>
              <a:t> </a:t>
            </a:r>
            <a:br>
              <a:rPr lang="en-US" dirty="0"/>
            </a:br>
            <a:br>
              <a:rPr lang="en-US" dirty="0"/>
            </a:br>
            <a:r>
              <a:rPr lang="en-US" dirty="0" err="1"/>
              <a:t>Lushay Code uses the OSS-Cad-Suite toolchain (Yosys, Apicula-nextpnr, openFPGALoader, iverilog, etc.).</a:t>
            </a:r>
            <a:br>
              <a:rPr lang="en-US" dirty="0"/>
            </a:br>
            <a:br>
              <a:rPr lang="en-US" dirty="0"/>
            </a:br>
            <a:r>
              <a:rPr lang="en-US" dirty="0">
                <a:hlinkClick r:id="rId3"/>
              </a:rPr>
              <a:t>https://github.com/YosysHQ/oss-cad-suite-build</a:t>
            </a:r>
            <a:endParaRPr lang="en-US" dirty="0"/>
          </a:p>
          <a:p>
            <a:pPr>
              <a:buFont typeface="Arial" panose="020B0604020202020204" pitchFamily="34" charset="0"/>
              <a:buChar char="•"/>
            </a:pPr>
            <a:r>
              <a:rPr lang="en-US" dirty="0"/>
              <a:t>It does not cover all the features (hard IP) specific to GoWin's technology and supports only a limited number of devices.</a:t>
            </a:r>
          </a:p>
        </p:txBody>
      </p:sp>
    </p:spTree>
    <p:extLst>
      <p:ext uri="{BB962C8B-B14F-4D97-AF65-F5344CB8AC3E}">
        <p14:creationId xmlns:p14="http://schemas.microsoft.com/office/powerpoint/2010/main" val="145438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1">
            <a:extLst>
              <a:ext uri="{FF2B5EF4-FFF2-40B4-BE49-F238E27FC236}">
                <a16:creationId xmlns:a16="http://schemas.microsoft.com/office/drawing/2014/main" id="{301D572A-0390-0D8E-E90C-BE7148AC9BCC}"/>
              </a:ext>
            </a:extLst>
          </p:cNvPr>
          <p:cNvSpPr>
            <a:spLocks noGrp="1"/>
          </p:cNvSpPr>
          <p:nvPr>
            <p:ph type="title"/>
          </p:nvPr>
        </p:nvSpPr>
        <p:spPr>
          <a:xfrm>
            <a:off x="1141413" y="618518"/>
            <a:ext cx="9905998" cy="5710720"/>
          </a:xfrm>
        </p:spPr>
        <p:txBody>
          <a:bodyPr>
            <a:normAutofit/>
          </a:bodyPr>
          <a:lstStyle/>
          <a:p>
            <a:pPr algn="ctr"/>
            <a:r>
              <a:rPr lang="en-US" sz="6000" dirty="0"/>
              <a:t>HDL in</a:t>
            </a:r>
            <a:br>
              <a:rPr lang="en-US" sz="6000" dirty="0"/>
            </a:br>
            <a:r>
              <a:rPr lang="en-US" sz="6000" dirty="0"/>
              <a:t>practice:</a:t>
            </a:r>
            <a:br>
              <a:rPr lang="en-US" sz="6000" dirty="0"/>
            </a:br>
            <a:r>
              <a:rPr lang="en-US" sz="6000" dirty="0"/>
              <a:t>DESIGN</a:t>
            </a:r>
          </a:p>
        </p:txBody>
      </p:sp>
    </p:spTree>
    <p:extLst>
      <p:ext uri="{BB962C8B-B14F-4D97-AF65-F5344CB8AC3E}">
        <p14:creationId xmlns:p14="http://schemas.microsoft.com/office/powerpoint/2010/main" val="3597215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F417DF-1A96-27DC-30A7-055B6C7EBE6C}"/>
              </a:ext>
            </a:extLst>
          </p:cNvPr>
          <p:cNvSpPr>
            <a:spLocks noGrp="1"/>
          </p:cNvSpPr>
          <p:nvPr>
            <p:ph type="title"/>
          </p:nvPr>
        </p:nvSpPr>
        <p:spPr/>
        <p:txBody>
          <a:bodyPr/>
          <a:lstStyle/>
          <a:p>
            <a:r>
              <a:rPr lang="en-US" dirty="0"/>
              <a:t>SHIFT REGISTERS</a:t>
            </a:r>
          </a:p>
        </p:txBody>
      </p:sp>
      <p:sp>
        <p:nvSpPr>
          <p:cNvPr id="3" name="Segnaposto contenuto 2">
            <a:extLst>
              <a:ext uri="{FF2B5EF4-FFF2-40B4-BE49-F238E27FC236}">
                <a16:creationId xmlns:a16="http://schemas.microsoft.com/office/drawing/2014/main" id="{7EBD5F8F-092D-E460-0DD7-8C9FB8D0272A}"/>
              </a:ext>
            </a:extLst>
          </p:cNvPr>
          <p:cNvSpPr>
            <a:spLocks noGrp="1"/>
          </p:cNvSpPr>
          <p:nvPr>
            <p:ph idx="1"/>
          </p:nvPr>
        </p:nvSpPr>
        <p:spPr>
          <a:xfrm>
            <a:off x="1141413" y="1908313"/>
            <a:ext cx="9905998" cy="4340087"/>
          </a:xfrm>
        </p:spPr>
        <p:txBody>
          <a:bodyPr>
            <a:normAutofit fontScale="92500" lnSpcReduction="10000"/>
          </a:bodyPr>
          <a:lstStyle/>
          <a:p>
            <a:r>
              <a:rPr lang="en-US" dirty="0"/>
              <a:t>Shift registers can be used to convert data from parallel to serial (serializer) or from serial to parallel (deserializer). They consist of D-type Flip-Flops in cascade (the output of one Flip-Flop feeds the next). The clock inputs of the Flip-Flops are all tied together, as is any synchronous or asynchronous reset.</a:t>
            </a:r>
          </a:p>
          <a:p>
            <a:r>
              <a:rPr lang="en-US" dirty="0"/>
              <a:t>If the states of the Flip-Flops can be assigned simultaneously in a single clock cycle (Parallel Load), a Shift Register can be used as a serializer (PISO, Parallel In Serial Out) by taking the output of the last Flip-Flop.</a:t>
            </a:r>
          </a:p>
          <a:p>
            <a:r>
              <a:rPr lang="en-US" dirty="0"/>
              <a:t>A Shift Register</a:t>
            </a:r>
            <a:br>
              <a:rPr lang="en-US" dirty="0"/>
            </a:br>
            <a:r>
              <a:rPr lang="en-US" dirty="0"/>
              <a:t>that exposes all</a:t>
            </a:r>
            <a:br>
              <a:rPr lang="en-US" dirty="0"/>
            </a:br>
            <a:r>
              <a:rPr lang="en-US" dirty="0"/>
              <a:t>the outputs of its</a:t>
            </a:r>
            <a:br>
              <a:rPr lang="en-US" dirty="0"/>
            </a:br>
            <a:r>
              <a:rPr lang="en-US" dirty="0"/>
              <a:t>Flip-Flops can</a:t>
            </a:r>
            <a:br>
              <a:rPr lang="en-US" dirty="0"/>
            </a:br>
            <a:r>
              <a:rPr lang="en-US" dirty="0"/>
              <a:t>be used as a</a:t>
            </a:r>
            <a:br>
              <a:rPr lang="en-US" dirty="0"/>
            </a:br>
            <a:r>
              <a:rPr lang="en-US" dirty="0"/>
              <a:t>deserializer (SIPO,</a:t>
            </a:r>
            <a:br>
              <a:rPr lang="en-US" dirty="0"/>
            </a:br>
            <a:r>
              <a:rPr lang="en-US" dirty="0"/>
              <a:t>Serial In Parallel</a:t>
            </a:r>
            <a:br>
              <a:rPr lang="en-US" dirty="0"/>
            </a:br>
            <a:r>
              <a:rPr lang="en-US" dirty="0"/>
              <a:t>Out).</a:t>
            </a:r>
          </a:p>
        </p:txBody>
      </p:sp>
      <p:pic>
        <p:nvPicPr>
          <p:cNvPr id="5" name="Elemento grafico 4">
            <a:extLst>
              <a:ext uri="{FF2B5EF4-FFF2-40B4-BE49-F238E27FC236}">
                <a16:creationId xmlns:a16="http://schemas.microsoft.com/office/drawing/2014/main" id="{F7D544A8-4ED5-2632-B59C-9E65B71C77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95797" y="4510044"/>
            <a:ext cx="6858000" cy="1714500"/>
          </a:xfrm>
          <a:prstGeom prst="rect">
            <a:avLst/>
          </a:prstGeom>
        </p:spPr>
      </p:pic>
    </p:spTree>
    <p:extLst>
      <p:ext uri="{BB962C8B-B14F-4D97-AF65-F5344CB8AC3E}">
        <p14:creationId xmlns:p14="http://schemas.microsoft.com/office/powerpoint/2010/main" val="2982189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p:txBody>
          <a:bodyPr/>
          <a:lstStyle/>
          <a:p>
            <a:r>
              <a:rPr lang="en-US" dirty="0"/>
              <a:t>A PRACTICAL EXAMPLE WITH THE DEVELOPMENT KIT (1)</a:t>
            </a:r>
          </a:p>
        </p:txBody>
      </p:sp>
      <p:sp>
        <p:nvSpPr>
          <p:cNvPr id="3" name="Segnaposto contenuto 2">
            <a:extLst>
              <a:ext uri="{FF2B5EF4-FFF2-40B4-BE49-F238E27FC236}">
                <a16:creationId xmlns:a16="http://schemas.microsoft.com/office/drawing/2014/main" id="{DE70D2AE-20B9-67F4-A162-29822387C107}"/>
              </a:ext>
            </a:extLst>
          </p:cNvPr>
          <p:cNvSpPr>
            <a:spLocks noGrp="1"/>
          </p:cNvSpPr>
          <p:nvPr>
            <p:ph idx="1"/>
          </p:nvPr>
        </p:nvSpPr>
        <p:spPr>
          <a:xfrm>
            <a:off x="1141412" y="1956021"/>
            <a:ext cx="10490819" cy="4292377"/>
          </a:xfrm>
        </p:spPr>
        <p:txBody>
          <a:bodyPr>
            <a:normAutofit/>
          </a:bodyPr>
          <a:lstStyle/>
          <a:p>
            <a:pPr marL="0" indent="0">
              <a:buNone/>
            </a:pPr>
            <a:r>
              <a:rPr lang="en-US" dirty="0"/>
              <a:t>To show how the IDE is used, making use of the resources on the development kit, we will present a small project that includes a synchronous sequential network.</a:t>
            </a:r>
          </a:p>
          <a:p>
            <a:pPr marL="0" indent="0">
              <a:buNone/>
            </a:pPr>
            <a:r>
              <a:rPr lang="en-US" dirty="0"/>
              <a:t>It will be a 6-bit</a:t>
            </a:r>
            <a:br>
              <a:rPr lang="en-US" dirty="0"/>
            </a:br>
            <a:r>
              <a:rPr lang="en-US" dirty="0"/>
              <a:t>shift register whose serial</a:t>
            </a:r>
            <a:br>
              <a:rPr lang="en-US" dirty="0"/>
            </a:br>
            <a:r>
              <a:rPr lang="en-US" dirty="0"/>
              <a:t>input is driven by one of</a:t>
            </a:r>
            <a:br>
              <a:rPr lang="en-US" dirty="0"/>
            </a:br>
            <a:r>
              <a:rPr lang="en-US" dirty="0"/>
              <a:t>the two buttons on the</a:t>
            </a:r>
            <a:br>
              <a:rPr lang="en-US" dirty="0"/>
            </a:br>
            <a:r>
              <a:rPr lang="en-US" dirty="0"/>
              <a:t>development board. The</a:t>
            </a:r>
            <a:br>
              <a:rPr lang="en-US" dirty="0"/>
            </a:br>
            <a:r>
              <a:rPr lang="en-US" dirty="0"/>
              <a:t>parallel output of the</a:t>
            </a:r>
            <a:br>
              <a:rPr lang="en-US" dirty="0"/>
            </a:br>
            <a:r>
              <a:rPr lang="en-US" dirty="0"/>
              <a:t>Shift Register will be shown</a:t>
            </a:r>
            <a:br>
              <a:rPr lang="en-US" dirty="0"/>
            </a:br>
            <a:r>
              <a:rPr lang="en-US" dirty="0"/>
              <a:t>on the Tang Nano 9K's LEDs.</a:t>
            </a:r>
          </a:p>
        </p:txBody>
      </p:sp>
      <p:pic>
        <p:nvPicPr>
          <p:cNvPr id="7" name="Elemento grafico 6">
            <a:extLst>
              <a:ext uri="{FF2B5EF4-FFF2-40B4-BE49-F238E27FC236}">
                <a16:creationId xmlns:a16="http://schemas.microsoft.com/office/drawing/2014/main" id="{44933E07-503E-4ACE-B0DD-DD7751A3DD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10252" y="3131729"/>
            <a:ext cx="6000750" cy="3476625"/>
          </a:xfrm>
          <a:prstGeom prst="rect">
            <a:avLst/>
          </a:prstGeom>
        </p:spPr>
      </p:pic>
    </p:spTree>
    <p:extLst>
      <p:ext uri="{BB962C8B-B14F-4D97-AF65-F5344CB8AC3E}">
        <p14:creationId xmlns:p14="http://schemas.microsoft.com/office/powerpoint/2010/main" val="274703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normAutofit fontScale="90000"/>
          </a:bodyPr>
          <a:lstStyle/>
          <a:p>
            <a:r>
              <a:rPr lang="en-US" dirty="0"/>
              <a:t>A PRACTICAL EXAMPLE WITH THE DEVELOPMENT KIT (2)</a:t>
            </a:r>
          </a:p>
        </p:txBody>
      </p:sp>
      <p:pic>
        <p:nvPicPr>
          <p:cNvPr id="5" name="Immagine 4">
            <a:extLst>
              <a:ext uri="{FF2B5EF4-FFF2-40B4-BE49-F238E27FC236}">
                <a16:creationId xmlns:a16="http://schemas.microsoft.com/office/drawing/2014/main" id="{53BD4339-DF17-0AA7-CDA3-8BE422900A36}"/>
              </a:ext>
            </a:extLst>
          </p:cNvPr>
          <p:cNvPicPr>
            <a:picLocks noChangeAspect="1"/>
          </p:cNvPicPr>
          <p:nvPr/>
        </p:nvPicPr>
        <p:blipFill>
          <a:blip r:embed="rId2"/>
          <a:stretch>
            <a:fillRect/>
          </a:stretch>
        </p:blipFill>
        <p:spPr>
          <a:xfrm>
            <a:off x="2124267" y="4401050"/>
            <a:ext cx="5508897" cy="1967463"/>
          </a:xfrm>
          <a:prstGeom prst="rect">
            <a:avLst/>
          </a:prstGeom>
        </p:spPr>
      </p:pic>
      <p:sp>
        <p:nvSpPr>
          <p:cNvPr id="7" name="Rettangolo 6">
            <a:extLst>
              <a:ext uri="{FF2B5EF4-FFF2-40B4-BE49-F238E27FC236}">
                <a16:creationId xmlns:a16="http://schemas.microsoft.com/office/drawing/2014/main" id="{80F1DB34-6125-FAA4-BC06-11C91B6F7529}"/>
              </a:ext>
            </a:extLst>
          </p:cNvPr>
          <p:cNvSpPr/>
          <p:nvPr/>
        </p:nvSpPr>
        <p:spPr>
          <a:xfrm>
            <a:off x="4776331" y="5295570"/>
            <a:ext cx="437322" cy="338136"/>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egnaposto contenuto 2">
            <a:extLst>
              <a:ext uri="{FF2B5EF4-FFF2-40B4-BE49-F238E27FC236}">
                <a16:creationId xmlns:a16="http://schemas.microsoft.com/office/drawing/2014/main" id="{484DDE47-B976-5114-B5B4-EB0DD1C9DD59}"/>
              </a:ext>
            </a:extLst>
          </p:cNvPr>
          <p:cNvSpPr>
            <a:spLocks noGrp="1"/>
          </p:cNvSpPr>
          <p:nvPr>
            <p:ph idx="1"/>
          </p:nvPr>
        </p:nvSpPr>
        <p:spPr>
          <a:xfrm>
            <a:off x="1141413" y="1591781"/>
            <a:ext cx="8066197" cy="2809269"/>
          </a:xfrm>
        </p:spPr>
        <p:txBody>
          <a:bodyPr>
            <a:normAutofit fontScale="85000" lnSpcReduction="10000"/>
          </a:bodyPr>
          <a:lstStyle/>
          <a:p>
            <a:pPr marL="0" indent="0">
              <a:buNone/>
            </a:pPr>
            <a:r>
              <a:rPr lang="en-US" dirty="0" err="1"/>
              <a:t>The TangNano 9K has an </a:t>
            </a:r>
            <a:r>
              <a:rPr lang="en-US" dirty="0">
                <a:solidFill>
                  <a:srgbClr val="FFFF00"/>
                </a:solidFill>
              </a:rPr>
              <a:t>XO (Crystal Oscillator)</a:t>
            </a:r>
            <a:r>
              <a:rPr lang="en-US" dirty="0"/>
              <a:t> with good frequency stability, capable of generating a 27 MHz signal. </a:t>
            </a:r>
          </a:p>
          <a:p>
            <a:pPr marL="0" indent="0">
              <a:buNone/>
            </a:pPr>
            <a:r>
              <a:rPr lang="en-US" dirty="0"/>
              <a:t>XO means an oscillator module controlled by a </a:t>
            </a:r>
            <a:r>
              <a:rPr lang="en-US" u="sng" dirty="0"/>
              <a:t>quartz crystal</a:t>
            </a:r>
            <a:r>
              <a:rPr lang="en-US" dirty="0"/>
              <a:t>.</a:t>
            </a:r>
            <a:br>
              <a:rPr lang="en-US" dirty="0"/>
            </a:br>
            <a:r>
              <a:rPr lang="en-US" dirty="0"/>
              <a:t>Such a device gets its frequency stability from that intrinsic to the crystal, which is </a:t>
            </a:r>
            <a:r>
              <a:rPr lang="en-US" u="sng" dirty="0"/>
              <a:t>modestly sensitive to temperature variations</a:t>
            </a:r>
            <a:r>
              <a:rPr lang="en-US" dirty="0"/>
              <a:t>. This characteristic is generally specified in tens of parts per million (ppm). The initial accuracy at room temperature (+25 °C) is mainly given by the calibration of the crystal by the module's manufacturer.</a:t>
            </a:r>
          </a:p>
          <a:p>
            <a:pPr marL="0" indent="0">
              <a:buNone/>
            </a:pPr>
            <a:r>
              <a:rPr lang="en-US" dirty="0"/>
              <a:t>We will use this time reference, suitably processed, to provide a cadence (a clock) to the logic network we will define.</a:t>
            </a:r>
          </a:p>
        </p:txBody>
      </p:sp>
      <p:pic>
        <p:nvPicPr>
          <p:cNvPr id="10" name="Elemento grafico 9">
            <a:extLst>
              <a:ext uri="{FF2B5EF4-FFF2-40B4-BE49-F238E27FC236}">
                <a16:creationId xmlns:a16="http://schemas.microsoft.com/office/drawing/2014/main" id="{0CBE23DA-1E67-AB55-C6D9-D49797CF27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17882" y="4401050"/>
            <a:ext cx="3482304" cy="2146858"/>
          </a:xfrm>
          <a:prstGeom prst="rect">
            <a:avLst/>
          </a:prstGeom>
        </p:spPr>
      </p:pic>
      <p:pic>
        <p:nvPicPr>
          <p:cNvPr id="16" name="Elemento grafico 15">
            <a:extLst>
              <a:ext uri="{FF2B5EF4-FFF2-40B4-BE49-F238E27FC236}">
                <a16:creationId xmlns:a16="http://schemas.microsoft.com/office/drawing/2014/main" id="{25D8ADF6-11A1-0CF5-F048-58E7039701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82085" y="1383521"/>
            <a:ext cx="1729725" cy="2936510"/>
          </a:xfrm>
          <a:prstGeom prst="rect">
            <a:avLst/>
          </a:prstGeom>
        </p:spPr>
      </p:pic>
    </p:spTree>
    <p:extLst>
      <p:ext uri="{BB962C8B-B14F-4D97-AF65-F5344CB8AC3E}">
        <p14:creationId xmlns:p14="http://schemas.microsoft.com/office/powerpoint/2010/main" val="3645352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normAutofit fontScale="90000"/>
          </a:bodyPr>
          <a:lstStyle/>
          <a:p>
            <a:r>
              <a:rPr lang="en-US" dirty="0"/>
              <a:t>A PRACTICAL EXAMPLE WITH THE DEVELOPMENT KIT (3)</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A958D0B9-6425-6A1E-E86C-649F52E10C46}"/>
                  </a:ext>
                </a:extLst>
              </p:cNvPr>
              <p:cNvSpPr>
                <a:spLocks noGrp="1"/>
              </p:cNvSpPr>
              <p:nvPr>
                <p:ph idx="1"/>
              </p:nvPr>
            </p:nvSpPr>
            <p:spPr>
              <a:xfrm>
                <a:off x="1141413" y="1598212"/>
                <a:ext cx="9905998" cy="5057030"/>
              </a:xfrm>
            </p:spPr>
            <p:txBody>
              <a:bodyPr>
                <a:normAutofit fontScale="85000" lnSpcReduction="20000"/>
              </a:bodyPr>
              <a:lstStyle/>
              <a:p>
                <a:pPr marL="0" indent="0">
                  <a:buNone/>
                </a:pPr>
                <a:r>
                  <a:rPr lang="en-US" dirty="0"/>
                  <a:t>The 27 MHz output is too fast for our experiment, since we would like to be able to appreciate the effect of the Shift Register shifting directly on the LEDs of the Tang Nano 9K.</a:t>
                </a:r>
              </a:p>
              <a:p>
                <a:pPr marL="0" indent="0">
                  <a:buNone/>
                </a:pPr>
                <a:r>
                  <a:rPr lang="en-US" dirty="0"/>
                  <a:t>To bring the speed to a suitable value (about 3.2 Hz) we must "divide" the XO frequency by 8,388,608: this is not a random value, but corresponds to the number obtained by calculating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23</m:t>
                        </m:r>
                      </m:sup>
                    </m:sSup>
                  </m:oMath>
                </a14:m>
                <a:r>
                  <a:rPr lang="en-US" dirty="0"/>
                  <a:t>. </a:t>
                </a:r>
              </a:p>
              <a:p>
                <a:pPr marL="0" indent="0">
                  <a:buNone/>
                </a:pPr>
                <a:r>
                  <a:rPr lang="en-US" dirty="0"/>
                  <a:t>Building a synchronous counter with 8,388,608 states to divide the frequency requires the combinational network that computes the next value to be of non-negligible complexity and considerable size. Moreover, we are talking about a logic network (an adder) with many levels (up to 23).</a:t>
                </a:r>
              </a:p>
              <a:p>
                <a:pPr marL="0" indent="0">
                  <a:buNone/>
                </a:pPr>
                <a:r>
                  <a:rPr lang="en-US" dirty="0"/>
                  <a:t>Since we are not interested in the whole state of the counter but only in the state of the most significant bit, and since in this application we have a single clock, we can opt for a so-called </a:t>
                </a:r>
                <a:r>
                  <a:rPr lang="en-US" dirty="0">
                    <a:solidFill>
                      <a:srgbClr val="FFFF00"/>
                    </a:solidFill>
                  </a:rPr>
                  <a:t>"Ripple Counter"</a:t>
                </a:r>
                <a:r>
                  <a:rPr lang="en-US" dirty="0"/>
                  <a:t>. Besides being very fast, it is also inexpensive in terms</a:t>
                </a:r>
                <a:br>
                  <a:rPr lang="en-US" dirty="0"/>
                </a:br>
                <a:r>
                  <a:rPr lang="en-US" dirty="0"/>
                  <a:t>of resources. On the downside, its outputs do</a:t>
                </a:r>
                <a:br>
                  <a:rPr lang="en-US" dirty="0"/>
                </a:br>
                <a:r>
                  <a:rPr lang="en-US" dirty="0"/>
                  <a:t>not switch synchronously with one another</a:t>
                </a:r>
                <a:br>
                  <a:rPr lang="en-US" dirty="0"/>
                </a:br>
                <a:r>
                  <a:rPr lang="en-US" dirty="0"/>
                  <a:t>(not simultaneously), but for our</a:t>
                </a:r>
                <a:br>
                  <a:rPr lang="en-US" dirty="0"/>
                </a:br>
                <a:r>
                  <a:rPr lang="en-US" dirty="0"/>
                  <a:t>application we know this is not a problem.</a:t>
                </a:r>
              </a:p>
              <a:p>
                <a:pPr marL="0" indent="0">
                  <a:buNone/>
                </a:pPr>
                <a:r>
                  <a:rPr lang="en-US" dirty="0"/>
                  <a:t>The classic structure has the inverted output of</a:t>
                </a:r>
                <a:br>
                  <a:rPr lang="en-US" dirty="0"/>
                </a:br>
                <a:r>
                  <a:rPr lang="en-US" dirty="0"/>
                  <a:t>a T-type Flip-Flop (T stands for "toggle", i.e. it</a:t>
                </a:r>
                <a:br>
                  <a:rPr lang="en-US" dirty="0"/>
                </a:br>
                <a:r>
                  <a:rPr lang="en-US" dirty="0"/>
                  <a:t>inverts its outputs when the T input is 1) act</a:t>
                </a:r>
                <a:br>
                  <a:rPr lang="en-US" dirty="0"/>
                </a:br>
                <a:r>
                  <a:rPr lang="en-US" dirty="0"/>
                  <a:t>as the clock source for the next flip-flop. After several successive divisions by two (up to the figure of 8,388,608) of the initial 27 MHz frequency, we finally obtain a cadence of 3.218… Hz.</a:t>
                </a:r>
              </a:p>
            </p:txBody>
          </p:sp>
        </mc:Choice>
        <mc:Fallback>
          <p:sp>
            <p:nvSpPr>
              <p:cNvPr id="3" name="Segnaposto contenuto 2">
                <a:extLst>
                  <a:ext uri="{FF2B5EF4-FFF2-40B4-BE49-F238E27FC236}">
                    <a16:creationId xmlns:a16="http://schemas.microsoft.com/office/drawing/2014/main" id="{A958D0B9-6425-6A1E-E86C-649F52E10C46}"/>
                  </a:ext>
                </a:extLst>
              </p:cNvPr>
              <p:cNvSpPr>
                <a:spLocks noGrp="1" noRot="1" noChangeAspect="1" noMove="1" noResize="1" noEditPoints="1" noAdjustHandles="1" noChangeArrowheads="1" noChangeShapeType="1" noTextEdit="1"/>
              </p:cNvSpPr>
              <p:nvPr>
                <p:ph idx="1"/>
              </p:nvPr>
            </p:nvSpPr>
            <p:spPr>
              <a:xfrm>
                <a:off x="1141413" y="1598212"/>
                <a:ext cx="9905998" cy="5057030"/>
              </a:xfrm>
              <a:blipFill>
                <a:blip r:embed="rId2"/>
                <a:stretch>
                  <a:fillRect/>
                </a:stretch>
              </a:blipFill>
            </p:spPr>
            <p:txBody>
              <a:bodyPr/>
              <a:lstStyle/>
              <a:p>
                <a:r>
                  <a:rPr lang="it-IT">
                    <a:noFill/>
                  </a:rPr>
                  <a:t> </a:t>
                </a:r>
              </a:p>
            </p:txBody>
          </p:sp>
        </mc:Fallback>
      </mc:AlternateContent>
      <p:pic>
        <p:nvPicPr>
          <p:cNvPr id="9" name="Elemento grafico 8">
            <a:extLst>
              <a:ext uri="{FF2B5EF4-FFF2-40B4-BE49-F238E27FC236}">
                <a16:creationId xmlns:a16="http://schemas.microsoft.com/office/drawing/2014/main" id="{E25373EF-BF14-001A-9F1C-6271DEA348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89149" y="4516795"/>
            <a:ext cx="4984764" cy="1442333"/>
          </a:xfrm>
          <a:prstGeom prst="rect">
            <a:avLst/>
          </a:prstGeom>
        </p:spPr>
      </p:pic>
    </p:spTree>
    <p:extLst>
      <p:ext uri="{BB962C8B-B14F-4D97-AF65-F5344CB8AC3E}">
        <p14:creationId xmlns:p14="http://schemas.microsoft.com/office/powerpoint/2010/main" val="363581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normAutofit fontScale="90000"/>
          </a:bodyPr>
          <a:lstStyle/>
          <a:p>
            <a:r>
              <a:rPr lang="en-US" dirty="0"/>
              <a:t>A PRACTICAL EXAMPLE WITH THE DEVELOPMENT KIT (4/1)</a:t>
            </a:r>
          </a:p>
        </p:txBody>
      </p:sp>
      <p:sp>
        <p:nvSpPr>
          <p:cNvPr id="3" name="Segnaposto contenuto 2">
            <a:extLst>
              <a:ext uri="{FF2B5EF4-FFF2-40B4-BE49-F238E27FC236}">
                <a16:creationId xmlns:a16="http://schemas.microsoft.com/office/drawing/2014/main" id="{A958D0B9-6425-6A1E-E86C-649F52E10C46}"/>
              </a:ext>
            </a:extLst>
          </p:cNvPr>
          <p:cNvSpPr>
            <a:spLocks noGrp="1"/>
          </p:cNvSpPr>
          <p:nvPr>
            <p:ph idx="1"/>
          </p:nvPr>
        </p:nvSpPr>
        <p:spPr>
          <a:xfrm>
            <a:off x="1141413" y="1892410"/>
            <a:ext cx="9905998" cy="1319917"/>
          </a:xfrm>
        </p:spPr>
        <p:txBody>
          <a:bodyPr>
            <a:normAutofit fontScale="92500" lnSpcReduction="20000"/>
          </a:bodyPr>
          <a:lstStyle/>
          <a:p>
            <a:pPr marL="0" indent="0">
              <a:buNone/>
            </a:pPr>
            <a:r>
              <a:rPr lang="en-US" dirty="0"/>
              <a:t>The clock coming out of the Ripple Counter is connected to the clock input of a </a:t>
            </a:r>
            <a:r>
              <a:rPr lang="en-US" dirty="0" err="1">
                <a:solidFill>
                  <a:srgbClr val="FFFF00"/>
                </a:solidFill>
              </a:rPr>
              <a:t>six-bit Shift Register</a:t>
            </a:r>
            <a:r>
              <a:rPr lang="en-US" dirty="0"/>
              <a:t>. For simplicity, the figure omits the </a:t>
            </a:r>
            <a:r>
              <a:rPr lang="en-US" u="sng" dirty="0"/>
              <a:t>asynchronous reset</a:t>
            </a:r>
            <a:r>
              <a:rPr lang="en-US" dirty="0"/>
              <a:t> connected in parallel to all the Flip-Flops. This reset comes from </a:t>
            </a:r>
            <a:r>
              <a:rPr lang="en-US" dirty="0">
                <a:solidFill>
                  <a:schemeClr val="tx1"/>
                </a:solidFill>
              </a:rPr>
              <a:t>one of the </a:t>
            </a:r>
            <a:r>
              <a:rPr lang="en-US" dirty="0">
                <a:solidFill>
                  <a:srgbClr val="FFFF00"/>
                </a:solidFill>
              </a:rPr>
              <a:t>two buttons </a:t>
            </a:r>
            <a:r>
              <a:rPr lang="en-US" dirty="0"/>
              <a:t>of the TangNano 9K, suitably inverted because it is normally active low (zero when pressed).</a:t>
            </a:r>
          </a:p>
        </p:txBody>
      </p:sp>
      <p:pic>
        <p:nvPicPr>
          <p:cNvPr id="11" name="Immagine 10">
            <a:extLst>
              <a:ext uri="{FF2B5EF4-FFF2-40B4-BE49-F238E27FC236}">
                <a16:creationId xmlns:a16="http://schemas.microsoft.com/office/drawing/2014/main" id="{31F75D5B-E39D-307B-82D2-FC9433E0D843}"/>
              </a:ext>
            </a:extLst>
          </p:cNvPr>
          <p:cNvPicPr>
            <a:picLocks noChangeAspect="1"/>
          </p:cNvPicPr>
          <p:nvPr/>
        </p:nvPicPr>
        <p:blipFill>
          <a:blip r:embed="rId2"/>
          <a:stretch>
            <a:fillRect/>
          </a:stretch>
        </p:blipFill>
        <p:spPr>
          <a:xfrm>
            <a:off x="1141413" y="4859929"/>
            <a:ext cx="4133850" cy="1476375"/>
          </a:xfrm>
          <a:prstGeom prst="rect">
            <a:avLst/>
          </a:prstGeom>
        </p:spPr>
      </p:pic>
      <p:sp>
        <p:nvSpPr>
          <p:cNvPr id="12" name="Rettangolo 11">
            <a:extLst>
              <a:ext uri="{FF2B5EF4-FFF2-40B4-BE49-F238E27FC236}">
                <a16:creationId xmlns:a16="http://schemas.microsoft.com/office/drawing/2014/main" id="{10809880-C7CD-329E-80B4-A5CEB97344C9}"/>
              </a:ext>
            </a:extLst>
          </p:cNvPr>
          <p:cNvSpPr/>
          <p:nvPr/>
        </p:nvSpPr>
        <p:spPr>
          <a:xfrm>
            <a:off x="1220927" y="5883963"/>
            <a:ext cx="464750" cy="30214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Elemento grafico 17">
            <a:extLst>
              <a:ext uri="{FF2B5EF4-FFF2-40B4-BE49-F238E27FC236}">
                <a16:creationId xmlns:a16="http://schemas.microsoft.com/office/drawing/2014/main" id="{61A239DF-AF26-70FE-08B5-C53618B9DA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1413" y="3201225"/>
            <a:ext cx="2889898" cy="1537180"/>
          </a:xfrm>
          <a:prstGeom prst="rect">
            <a:avLst/>
          </a:prstGeom>
        </p:spPr>
      </p:pic>
      <p:sp>
        <p:nvSpPr>
          <p:cNvPr id="20" name="Rettangolo 19">
            <a:extLst>
              <a:ext uri="{FF2B5EF4-FFF2-40B4-BE49-F238E27FC236}">
                <a16:creationId xmlns:a16="http://schemas.microsoft.com/office/drawing/2014/main" id="{E0DE9E66-0CFC-39D5-6D75-0C807252A119}"/>
              </a:ext>
            </a:extLst>
          </p:cNvPr>
          <p:cNvSpPr/>
          <p:nvPr/>
        </p:nvSpPr>
        <p:spPr>
          <a:xfrm>
            <a:off x="1220929" y="5025224"/>
            <a:ext cx="464750" cy="30214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Elemento grafico 5">
            <a:extLst>
              <a:ext uri="{FF2B5EF4-FFF2-40B4-BE49-F238E27FC236}">
                <a16:creationId xmlns:a16="http://schemas.microsoft.com/office/drawing/2014/main" id="{503FEE53-5482-65EC-DDF9-FC3E55A010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7832" y="4101714"/>
            <a:ext cx="6220375" cy="2409161"/>
          </a:xfrm>
          <a:prstGeom prst="rect">
            <a:avLst/>
          </a:prstGeom>
        </p:spPr>
      </p:pic>
    </p:spTree>
    <p:extLst>
      <p:ext uri="{BB962C8B-B14F-4D97-AF65-F5344CB8AC3E}">
        <p14:creationId xmlns:p14="http://schemas.microsoft.com/office/powerpoint/2010/main" val="222745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normAutofit fontScale="90000"/>
          </a:bodyPr>
          <a:lstStyle/>
          <a:p>
            <a:r>
              <a:rPr lang="en-US" dirty="0"/>
              <a:t>A PRACTICAL EXAMPLE WITH THE DEVELOPMENT KIT (4/2)</a:t>
            </a:r>
          </a:p>
        </p:txBody>
      </p:sp>
      <p:pic>
        <p:nvPicPr>
          <p:cNvPr id="7" name="Immagine 6">
            <a:extLst>
              <a:ext uri="{FF2B5EF4-FFF2-40B4-BE49-F238E27FC236}">
                <a16:creationId xmlns:a16="http://schemas.microsoft.com/office/drawing/2014/main" id="{79C81327-392D-C928-FFC6-FFA5CF14BD15}"/>
              </a:ext>
            </a:extLst>
          </p:cNvPr>
          <p:cNvPicPr>
            <a:picLocks noChangeAspect="1"/>
          </p:cNvPicPr>
          <p:nvPr/>
        </p:nvPicPr>
        <p:blipFill>
          <a:blip r:embed="rId2"/>
          <a:stretch>
            <a:fillRect/>
          </a:stretch>
        </p:blipFill>
        <p:spPr>
          <a:xfrm>
            <a:off x="1141413" y="4859929"/>
            <a:ext cx="4133850" cy="1476375"/>
          </a:xfrm>
          <a:prstGeom prst="rect">
            <a:avLst/>
          </a:prstGeom>
        </p:spPr>
      </p:pic>
      <p:sp>
        <p:nvSpPr>
          <p:cNvPr id="8" name="Rettangolo 7">
            <a:extLst>
              <a:ext uri="{FF2B5EF4-FFF2-40B4-BE49-F238E27FC236}">
                <a16:creationId xmlns:a16="http://schemas.microsoft.com/office/drawing/2014/main" id="{B74B8C1A-46BF-74A7-7403-93762363144C}"/>
              </a:ext>
            </a:extLst>
          </p:cNvPr>
          <p:cNvSpPr/>
          <p:nvPr/>
        </p:nvSpPr>
        <p:spPr>
          <a:xfrm>
            <a:off x="1220929" y="5025224"/>
            <a:ext cx="464750" cy="302149"/>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lemento grafico 4">
            <a:extLst>
              <a:ext uri="{FF2B5EF4-FFF2-40B4-BE49-F238E27FC236}">
                <a16:creationId xmlns:a16="http://schemas.microsoft.com/office/drawing/2014/main" id="{14203A67-8A0D-5018-DD85-57AAF152B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07834" y="4085812"/>
            <a:ext cx="6220372" cy="2409160"/>
          </a:xfrm>
          <a:prstGeom prst="rect">
            <a:avLst/>
          </a:prstGeom>
        </p:spPr>
      </p:pic>
      <p:sp>
        <p:nvSpPr>
          <p:cNvPr id="3" name="Segnaposto contenuto 2">
            <a:extLst>
              <a:ext uri="{FF2B5EF4-FFF2-40B4-BE49-F238E27FC236}">
                <a16:creationId xmlns:a16="http://schemas.microsoft.com/office/drawing/2014/main" id="{D45C7E92-1112-9006-04FD-A9ED63BEFECD}"/>
              </a:ext>
            </a:extLst>
          </p:cNvPr>
          <p:cNvSpPr txBox="1">
            <a:spLocks/>
          </p:cNvSpPr>
          <p:nvPr/>
        </p:nvSpPr>
        <p:spPr>
          <a:xfrm>
            <a:off x="1141413" y="1901169"/>
            <a:ext cx="9905998" cy="2958365"/>
          </a:xfrm>
          <a:prstGeom prst="rect">
            <a:avLst/>
          </a:prstGeom>
        </p:spPr>
        <p:txBody>
          <a:bodyPr vert="horz" lIns="91440" tIns="45720" rIns="91440" bIns="45720" rtlCol="0" anchor="ctr">
            <a:normAutofit fontScale="85000"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effectLst>
                  <a:glow rad="38100">
                    <a:schemeClr val="bg1">
                      <a:lumMod val="50000"/>
                      <a:lumOff val="50000"/>
                      <a:alpha val="20000"/>
                    </a:schemeClr>
                  </a:glow>
                  <a:outerShdw blurRad="38100" dist="38100" dir="2700000" algn="tl">
                    <a:srgbClr val="000000">
                      <a:alpha val="43137"/>
                    </a:srgbClr>
                  </a:outerShdw>
                </a:effectLst>
              </a:rPr>
              <a:t>The clock coming out of the Ripple Counter is connected to the clock input of a </a:t>
            </a:r>
            <a:r>
              <a:rPr lang="en-US" dirty="0" err="1">
                <a:solidFill>
                  <a:schemeClr val="tx1"/>
                </a:solidFill>
                <a:effectLst>
                  <a:glow rad="38100">
                    <a:schemeClr val="bg1">
                      <a:lumMod val="50000"/>
                      <a:lumOff val="50000"/>
                      <a:alpha val="20000"/>
                    </a:schemeClr>
                  </a:glow>
                  <a:outerShdw blurRad="38100" dist="38100" dir="2700000" algn="tl">
                    <a:srgbClr val="000000">
                      <a:alpha val="43137"/>
                    </a:srgbClr>
                  </a:outerShdw>
                </a:effectLst>
              </a:rPr>
              <a:t>six-bit Shift Register. For simplicity, the figure omits the </a:t>
            </a:r>
            <a:r>
              <a:rPr lang="en-US" u="sng"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asynchronous reset</a:t>
            </a:r>
            <a:r>
              <a:rPr lang="en-US" dirty="0">
                <a:solidFill>
                  <a:schemeClr val="tx1"/>
                </a:solidFill>
                <a:effectLst>
                  <a:glow rad="38100">
                    <a:schemeClr val="bg1">
                      <a:lumMod val="50000"/>
                      <a:lumOff val="50000"/>
                      <a:alpha val="20000"/>
                    </a:schemeClr>
                  </a:glow>
                  <a:outerShdw blurRad="38100" dist="38100" dir="2700000" algn="tl">
                    <a:srgbClr val="000000">
                      <a:alpha val="43137"/>
                    </a:srgbClr>
                  </a:outerShdw>
                </a:effectLst>
              </a:rPr>
              <a:t> connected in parallel to all the Flip-Flops. This reset comes from one of the two buttons of the TangNano 9K, suitably inverted because it is normally active low (zero when pressed).</a:t>
            </a:r>
          </a:p>
          <a:p>
            <a:pPr marL="0" indent="0">
              <a:buFont typeface="Arial"/>
              <a:buNone/>
            </a:pPr>
            <a:r>
              <a:rPr lang="en-US" dirty="0"/>
              <a:t>The serial input of the shift register is connected to the </a:t>
            </a:r>
            <a:r>
              <a:rPr lang="en-US" dirty="0">
                <a:solidFill>
                  <a:srgbClr val="FFFF00"/>
                </a:solidFill>
              </a:rPr>
              <a:t>second button, </a:t>
            </a:r>
            <a:r>
              <a:rPr lang="en-US" dirty="0"/>
              <a:t>on the board,</a:t>
            </a:r>
            <a:r>
              <a:rPr lang="en-US" dirty="0">
                <a:solidFill>
                  <a:schemeClr val="tx1"/>
                </a:solidFill>
              </a:rPr>
              <a:t> which is also inverted</a:t>
            </a:r>
            <a:r>
              <a:rPr lang="en-US" dirty="0"/>
              <a:t>.</a:t>
            </a:r>
          </a:p>
          <a:p>
            <a:pPr marL="0" indent="0">
              <a:buFont typeface="Arial"/>
              <a:buNone/>
            </a:pPr>
            <a:r>
              <a:rPr lang="en-US" dirty="0"/>
              <a:t>On every rising edge of the</a:t>
            </a:r>
            <a:br>
              <a:rPr lang="en-US" dirty="0"/>
            </a:br>
            <a:r>
              <a:rPr lang="en-US" dirty="0"/>
              <a:t>clock, the Shift Register</a:t>
            </a:r>
            <a:br>
              <a:rPr lang="en-US" dirty="0"/>
            </a:br>
            <a:r>
              <a:rPr lang="en-US" dirty="0"/>
              <a:t>copies the state of the</a:t>
            </a:r>
            <a:br>
              <a:rPr lang="en-US" dirty="0"/>
            </a:br>
            <a:r>
              <a:rPr lang="en-US" dirty="0"/>
              <a:t>button connected to its input and</a:t>
            </a:r>
            <a:br>
              <a:rPr lang="en-US" dirty="0"/>
            </a:br>
            <a:r>
              <a:rPr lang="en-US" dirty="0"/>
              <a:t>transfers it to the outputs.</a:t>
            </a:r>
          </a:p>
        </p:txBody>
      </p:sp>
    </p:spTree>
    <p:extLst>
      <p:ext uri="{BB962C8B-B14F-4D97-AF65-F5344CB8AC3E}">
        <p14:creationId xmlns:p14="http://schemas.microsoft.com/office/powerpoint/2010/main" val="3373497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5075A4-F4AF-4690-54A3-9937BB4FB763}"/>
              </a:ext>
            </a:extLst>
          </p:cNvPr>
          <p:cNvSpPr>
            <a:spLocks noGrp="1"/>
          </p:cNvSpPr>
          <p:nvPr>
            <p:ph type="title"/>
          </p:nvPr>
        </p:nvSpPr>
        <p:spPr>
          <a:xfrm>
            <a:off x="1141413" y="609600"/>
            <a:ext cx="9905998" cy="898689"/>
          </a:xfrm>
        </p:spPr>
        <p:txBody>
          <a:bodyPr>
            <a:normAutofit fontScale="90000"/>
          </a:bodyPr>
          <a:lstStyle/>
          <a:p>
            <a:r>
              <a:rPr lang="en-US" dirty="0"/>
              <a:t>A PRACTICAL EXAMPLE WITH THE DEVELOPMENT KIT (5)</a:t>
            </a:r>
          </a:p>
        </p:txBody>
      </p:sp>
      <p:sp>
        <p:nvSpPr>
          <p:cNvPr id="3" name="Segnaposto contenuto 2">
            <a:extLst>
              <a:ext uri="{FF2B5EF4-FFF2-40B4-BE49-F238E27FC236}">
                <a16:creationId xmlns:a16="http://schemas.microsoft.com/office/drawing/2014/main" id="{A958D0B9-6425-6A1E-E86C-649F52E10C46}"/>
              </a:ext>
            </a:extLst>
          </p:cNvPr>
          <p:cNvSpPr>
            <a:spLocks noGrp="1"/>
          </p:cNvSpPr>
          <p:nvPr>
            <p:ph idx="1"/>
          </p:nvPr>
        </p:nvSpPr>
        <p:spPr>
          <a:xfrm>
            <a:off x="1141413" y="1884469"/>
            <a:ext cx="8193418" cy="2623924"/>
          </a:xfrm>
        </p:spPr>
        <p:txBody>
          <a:bodyPr>
            <a:normAutofit fontScale="85000" lnSpcReduction="10000"/>
          </a:bodyPr>
          <a:lstStyle/>
          <a:p>
            <a:pPr marL="0" indent="0">
              <a:buNone/>
            </a:pPr>
            <a:r>
              <a:rPr lang="en-US" dirty="0"/>
              <a:t>The </a:t>
            </a:r>
            <a:r>
              <a:rPr lang="en-US" dirty="0">
                <a:solidFill>
                  <a:srgbClr val="FFFF00"/>
                </a:solidFill>
              </a:rPr>
              <a:t>LEDs on the board</a:t>
            </a:r>
            <a:r>
              <a:rPr lang="en-US" dirty="0"/>
              <a:t> are connected to the outputs of the six-bit Shift Register.</a:t>
            </a:r>
          </a:p>
          <a:p>
            <a:pPr marL="0" indent="0">
              <a:buNone/>
            </a:pPr>
            <a:r>
              <a:rPr lang="en-US" dirty="0"/>
              <a:t>Note that the signals that turn on the LEDs are taken from the inverted outputs of the Shift Register's Flip-Flops. This is necessary because, on the Tang Nano 9K board, the LEDs are all "tied" to the positive supply on the anode side (the LEDs also incorporate a current-limiting resistor).</a:t>
            </a:r>
          </a:p>
          <a:p>
            <a:pPr marL="0" indent="0">
              <a:buNone/>
            </a:pPr>
            <a:r>
              <a:rPr lang="en-US" dirty="0"/>
              <a:t>This means that to turn an LED on, its cathode must be brought to ground, which is equivalent to emitting a</a:t>
            </a:r>
            <a:br>
              <a:rPr lang="en-US" dirty="0"/>
            </a:br>
            <a:r>
              <a:rPr lang="en-US" dirty="0"/>
              <a:t>zero level on the output.</a:t>
            </a:r>
          </a:p>
        </p:txBody>
      </p:sp>
      <p:pic>
        <p:nvPicPr>
          <p:cNvPr id="5" name="Elemento grafico 4">
            <a:extLst>
              <a:ext uri="{FF2B5EF4-FFF2-40B4-BE49-F238E27FC236}">
                <a16:creationId xmlns:a16="http://schemas.microsoft.com/office/drawing/2014/main" id="{6B081076-CAAE-DB21-7829-C789371865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34831" y="2083247"/>
            <a:ext cx="2313912" cy="1814594"/>
          </a:xfrm>
          <a:prstGeom prst="rect">
            <a:avLst/>
          </a:prstGeom>
        </p:spPr>
      </p:pic>
      <p:pic>
        <p:nvPicPr>
          <p:cNvPr id="4" name="Immagine 3">
            <a:extLst>
              <a:ext uri="{FF2B5EF4-FFF2-40B4-BE49-F238E27FC236}">
                <a16:creationId xmlns:a16="http://schemas.microsoft.com/office/drawing/2014/main" id="{50CDDEB7-2A88-7385-EB05-798EA820D157}"/>
              </a:ext>
            </a:extLst>
          </p:cNvPr>
          <p:cNvPicPr>
            <a:picLocks noChangeAspect="1"/>
          </p:cNvPicPr>
          <p:nvPr/>
        </p:nvPicPr>
        <p:blipFill>
          <a:blip r:embed="rId3"/>
          <a:stretch>
            <a:fillRect/>
          </a:stretch>
        </p:blipFill>
        <p:spPr>
          <a:xfrm>
            <a:off x="1141413" y="4859929"/>
            <a:ext cx="4133850" cy="1476375"/>
          </a:xfrm>
          <a:prstGeom prst="rect">
            <a:avLst/>
          </a:prstGeom>
        </p:spPr>
      </p:pic>
      <p:sp>
        <p:nvSpPr>
          <p:cNvPr id="6" name="Rettangolo 5">
            <a:extLst>
              <a:ext uri="{FF2B5EF4-FFF2-40B4-BE49-F238E27FC236}">
                <a16:creationId xmlns:a16="http://schemas.microsoft.com/office/drawing/2014/main" id="{D956673D-D8F0-D891-69A7-9C81FFEFBB57}"/>
              </a:ext>
            </a:extLst>
          </p:cNvPr>
          <p:cNvSpPr/>
          <p:nvPr/>
        </p:nvSpPr>
        <p:spPr>
          <a:xfrm>
            <a:off x="2160351" y="5375479"/>
            <a:ext cx="240943" cy="532342"/>
          </a:xfrm>
          <a:prstGeom prst="rect">
            <a:avLst/>
          </a:prstGeom>
          <a:solidFill>
            <a:srgbClr val="FFFF00">
              <a:alpha val="20000"/>
            </a:srgbClr>
          </a:solid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Elemento grafico 8">
            <a:extLst>
              <a:ext uri="{FF2B5EF4-FFF2-40B4-BE49-F238E27FC236}">
                <a16:creationId xmlns:a16="http://schemas.microsoft.com/office/drawing/2014/main" id="{71598D93-6534-9050-E8E2-74845B2863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7833" y="4079019"/>
            <a:ext cx="6240909" cy="2417114"/>
          </a:xfrm>
          <a:prstGeom prst="rect">
            <a:avLst/>
          </a:prstGeom>
        </p:spPr>
      </p:pic>
    </p:spTree>
    <p:extLst>
      <p:ext uri="{BB962C8B-B14F-4D97-AF65-F5344CB8AC3E}">
        <p14:creationId xmlns:p14="http://schemas.microsoft.com/office/powerpoint/2010/main" val="1808348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8000" dirty="0"/>
              <a:t>HDL in practice:</a:t>
            </a:r>
          </a:p>
          <a:p>
            <a:pPr algn="ctr"/>
            <a:r>
              <a:rPr lang="en-US" sz="8000" dirty="0"/>
              <a:t>A DATA TRANSMISSION EXAMPLE</a:t>
            </a:r>
          </a:p>
        </p:txBody>
      </p:sp>
    </p:spTree>
    <p:extLst>
      <p:ext uri="{BB962C8B-B14F-4D97-AF65-F5344CB8AC3E}">
        <p14:creationId xmlns:p14="http://schemas.microsoft.com/office/powerpoint/2010/main" val="3074327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0E7D58-5EC2-6357-F111-0DC5C6FA3597}"/>
              </a:ext>
            </a:extLst>
          </p:cNvPr>
          <p:cNvSpPr>
            <a:spLocks noGrp="1"/>
          </p:cNvSpPr>
          <p:nvPr>
            <p:ph type="title"/>
          </p:nvPr>
        </p:nvSpPr>
        <p:spPr>
          <a:xfrm>
            <a:off x="1141413" y="609600"/>
            <a:ext cx="9905998" cy="1417940"/>
          </a:xfrm>
        </p:spPr>
        <p:txBody>
          <a:bodyPr>
            <a:normAutofit/>
          </a:bodyPr>
          <a:lstStyle/>
          <a:p>
            <a:r>
              <a:rPr lang="en-US" dirty="0"/>
              <a:t>DATA TRANSMISSION</a:t>
            </a:r>
          </a:p>
        </p:txBody>
      </p:sp>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2" y="1842259"/>
            <a:ext cx="7223359" cy="4406141"/>
          </a:xfrm>
        </p:spPr>
        <p:txBody>
          <a:bodyPr>
            <a:normAutofit lnSpcReduction="10000"/>
          </a:bodyPr>
          <a:lstStyle/>
          <a:p>
            <a:pPr marL="0" indent="0">
              <a:buNone/>
            </a:pPr>
            <a:r>
              <a:rPr lang="en-US" b="1" dirty="0"/>
              <a:t>Parallel data transmission:</a:t>
            </a:r>
          </a:p>
          <a:p>
            <a:pPr marL="457200" lvl="1" indent="0">
              <a:buNone/>
            </a:pPr>
            <a:r>
              <a:rPr lang="en-US" dirty="0"/>
              <a:t>It is generally synchronous, with the cadence dictated by a clock. It uses </a:t>
            </a:r>
            <a:r>
              <a:rPr lang="en-US" i="1" dirty="0"/>
              <a:t>n</a:t>
            </a:r>
            <a:r>
              <a:rPr lang="en-US" dirty="0"/>
              <a:t> wires to send the bits of a word all at the same time. Each bit has its own wire and all the bits are transmitted in a single clock beat. Additional connections may be present to manage the flow (the so-called handshake) between transmitter and receiver.</a:t>
            </a:r>
          </a:p>
          <a:p>
            <a:pPr marL="0" indent="0">
              <a:buNone/>
            </a:pPr>
            <a:r>
              <a:rPr lang="en-US" b="1" dirty="0"/>
              <a:t>Serial data transmission:</a:t>
            </a:r>
          </a:p>
          <a:p>
            <a:pPr marL="457200" lvl="1" indent="0">
              <a:buNone/>
            </a:pPr>
            <a:r>
              <a:rPr lang="en-US" dirty="0"/>
              <a:t>In serial transmission one bit follows the other in time. Therefore only one wire is needed to transmit the</a:t>
            </a:r>
            <a:br>
              <a:rPr lang="en-US" dirty="0"/>
            </a:br>
            <a:r>
              <a:rPr lang="en-US" dirty="0"/>
              <a:t>data. Additional connections may be required to</a:t>
            </a:r>
            <a:br>
              <a:rPr lang="en-US" dirty="0"/>
            </a:br>
            <a:r>
              <a:rPr lang="en-US" dirty="0"/>
              <a:t>manage the flow (handshake), but are not always</a:t>
            </a:r>
            <a:br>
              <a:rPr lang="en-US" dirty="0"/>
            </a:br>
            <a:r>
              <a:rPr lang="en-US" dirty="0"/>
              <a:t>present. Serial data transmission can be divided into three broad categories: synchronous, asynchronous and isochronous.</a:t>
            </a:r>
          </a:p>
        </p:txBody>
      </p:sp>
      <p:pic>
        <p:nvPicPr>
          <p:cNvPr id="7" name="Elemento grafico 6">
            <a:extLst>
              <a:ext uri="{FF2B5EF4-FFF2-40B4-BE49-F238E27FC236}">
                <a16:creationId xmlns:a16="http://schemas.microsoft.com/office/drawing/2014/main" id="{3BAA5E94-F48A-18DF-8E6B-1D3F21DB8C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26974" y="1842259"/>
            <a:ext cx="3257550" cy="4048125"/>
          </a:xfrm>
          <a:prstGeom prst="rect">
            <a:avLst/>
          </a:prstGeom>
        </p:spPr>
      </p:pic>
    </p:spTree>
    <p:extLst>
      <p:ext uri="{BB962C8B-B14F-4D97-AF65-F5344CB8AC3E}">
        <p14:creationId xmlns:p14="http://schemas.microsoft.com/office/powerpoint/2010/main" val="2899346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2" y="1852619"/>
            <a:ext cx="7285561" cy="4627694"/>
          </a:xfrm>
        </p:spPr>
        <p:txBody>
          <a:bodyPr>
            <a:normAutofit fontScale="92500" lnSpcReduction="20000"/>
          </a:bodyPr>
          <a:lstStyle/>
          <a:p>
            <a:pPr marL="0" indent="0">
              <a:buNone/>
            </a:pPr>
            <a:r>
              <a:rPr lang="en-US" b="1" dirty="0"/>
              <a:t>Synchronous transmission:</a:t>
            </a:r>
          </a:p>
          <a:p>
            <a:pPr marL="457200" lvl="1" indent="0">
              <a:buNone/>
            </a:pPr>
            <a:r>
              <a:rPr lang="en-US" dirty="0"/>
              <a:t>In synchronous transmission, the bit stream is combined into longer structures that can contain several words (for example eight-bit words, i.e. bytes). Each word is sent with no gaps between one and the next. The receiver must decode the bit stream and recognize the beginning and the end of the words. That is, since the data are transmitted as an uninterrupted sequence of 1s and 0s, it is the receiver that reassembles the information starting from that string of bits.</a:t>
            </a:r>
          </a:p>
          <a:p>
            <a:pPr marL="457200" lvl="1" indent="0">
              <a:buNone/>
            </a:pPr>
            <a:r>
              <a:rPr lang="en-US" dirty="0"/>
              <a:t>It is called synchronous transmission because the information is always accompanied by a precise cadence (clock), which can arrive on an additional connection or be embedded in the data stream with the help of special encodings. Hardware interfaces such as SPI or I2C have a dedicated clock on a separate wire. Protocols such as Manchester, although requiring twice the bandwidth, can embed the cadence directly in the signal, thus requiring only a single connection.</a:t>
            </a:r>
          </a:p>
          <a:p>
            <a:pPr marL="457200" lvl="1" indent="0">
              <a:buNone/>
            </a:pPr>
            <a:r>
              <a:rPr lang="en-US" dirty="0"/>
              <a:t>Synchronous serial transmission makes it possible to achieve transfer rates that are usually very high.</a:t>
            </a:r>
          </a:p>
          <a:p>
            <a:pPr marL="457200" lvl="1" indent="0">
              <a:buNone/>
            </a:pPr>
            <a:endParaRPr lang="en-US" dirty="0"/>
          </a:p>
          <a:p>
            <a:pPr marL="457200" lvl="1" indent="0">
              <a:buNone/>
            </a:pPr>
            <a:endParaRPr lang="en-US" dirty="0"/>
          </a:p>
        </p:txBody>
      </p:sp>
      <p:pic>
        <p:nvPicPr>
          <p:cNvPr id="8" name="Elemento grafico 7">
            <a:extLst>
              <a:ext uri="{FF2B5EF4-FFF2-40B4-BE49-F238E27FC236}">
                <a16:creationId xmlns:a16="http://schemas.microsoft.com/office/drawing/2014/main" id="{990C6399-6116-3DEF-A9EE-6654946ABF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26974" y="1842258"/>
            <a:ext cx="3257550" cy="4048125"/>
          </a:xfrm>
          <a:prstGeom prst="rect">
            <a:avLst/>
          </a:prstGeom>
        </p:spPr>
      </p:pic>
      <p:sp>
        <p:nvSpPr>
          <p:cNvPr id="11" name="Titolo 1">
            <a:extLst>
              <a:ext uri="{FF2B5EF4-FFF2-40B4-BE49-F238E27FC236}">
                <a16:creationId xmlns:a16="http://schemas.microsoft.com/office/drawing/2014/main" id="{F84870FE-BCDC-7941-94C7-34C6F0EDD7A5}"/>
              </a:ext>
            </a:extLst>
          </p:cNvPr>
          <p:cNvSpPr txBox="1">
            <a:spLocks/>
          </p:cNvSpPr>
          <p:nvPr/>
        </p:nvSpPr>
        <p:spPr>
          <a:xfrm>
            <a:off x="1141413" y="609600"/>
            <a:ext cx="9905998" cy="86139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MODES OF SERIAL DATA TRANSMISSION (1)</a:t>
            </a:r>
          </a:p>
        </p:txBody>
      </p:sp>
    </p:spTree>
    <p:extLst>
      <p:ext uri="{BB962C8B-B14F-4D97-AF65-F5344CB8AC3E}">
        <p14:creationId xmlns:p14="http://schemas.microsoft.com/office/powerpoint/2010/main" val="3070635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0E7D58-5EC2-6357-F111-0DC5C6FA3597}"/>
              </a:ext>
            </a:extLst>
          </p:cNvPr>
          <p:cNvSpPr>
            <a:spLocks noGrp="1"/>
          </p:cNvSpPr>
          <p:nvPr>
            <p:ph type="title"/>
          </p:nvPr>
        </p:nvSpPr>
        <p:spPr>
          <a:xfrm>
            <a:off x="1141413" y="609600"/>
            <a:ext cx="9905998" cy="861392"/>
          </a:xfrm>
        </p:spPr>
        <p:txBody>
          <a:bodyPr>
            <a:normAutofit/>
          </a:bodyPr>
          <a:lstStyle/>
          <a:p>
            <a:r>
              <a:rPr lang="en-US" dirty="0"/>
              <a:t>MODES OF SERIAL DATA TRANSMISSION (2)</a:t>
            </a:r>
          </a:p>
        </p:txBody>
      </p:sp>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2" y="1470992"/>
            <a:ext cx="7285561" cy="4898003"/>
          </a:xfrm>
        </p:spPr>
        <p:txBody>
          <a:bodyPr>
            <a:normAutofit fontScale="85000" lnSpcReduction="10000"/>
          </a:bodyPr>
          <a:lstStyle/>
          <a:p>
            <a:pPr marL="0" indent="0">
              <a:buNone/>
            </a:pPr>
            <a:r>
              <a:rPr lang="en-US" b="1" dirty="0"/>
              <a:t>Asynchronous transmission:</a:t>
            </a:r>
          </a:p>
          <a:p>
            <a:pPr marL="457200" lvl="1" indent="0">
              <a:buNone/>
            </a:pPr>
            <a:r>
              <a:rPr lang="en-US" dirty="0"/>
              <a:t>Asynchronous transmission is so called because the information is transmitted according to an agreed protocol without a precise time reference (clock).</a:t>
            </a:r>
          </a:p>
          <a:p>
            <a:pPr marL="457200" lvl="1" indent="0">
              <a:buNone/>
            </a:pPr>
            <a:r>
              <a:rPr lang="en-US" dirty="0"/>
              <a:t>Usually the bits in sequence are grouped to form words (bytes). Each word is sent as a fixed-length group of bits, and each group is handled independently and sent only when it is fully available. Without synchronization, the receiver cannot rely on precise instants of time to predict when the next group will arrive.</a:t>
            </a:r>
          </a:p>
          <a:p>
            <a:pPr marL="457200" lvl="1" indent="0">
              <a:buNone/>
            </a:pPr>
            <a:r>
              <a:rPr lang="en-US" dirty="0"/>
              <a:t>To warn the receiver of the arrival of a new group, an extra bit is added at the beginning of each word (byte). This bit, usually a 0, is called the start bit. To let the receiver know that the word has ended, one or more bits set to 1 are added at the end of the word itself. These bits are called stop bits. With this method, the size of each word is increased by at least two bits, namely the start bit and the stop bits. Furthermore, the transmission of a word may be followed by an interval of variable duration (gap).</a:t>
            </a:r>
          </a:p>
          <a:p>
            <a:pPr marL="457200" lvl="1" indent="0">
              <a:buNone/>
            </a:pPr>
            <a:r>
              <a:rPr lang="en-US" dirty="0"/>
              <a:t>By its nature, asynchronous transmission limits the speed to a few hundred KB per second.</a:t>
            </a:r>
          </a:p>
        </p:txBody>
      </p:sp>
      <p:pic>
        <p:nvPicPr>
          <p:cNvPr id="6" name="Elemento grafico 5">
            <a:extLst>
              <a:ext uri="{FF2B5EF4-FFF2-40B4-BE49-F238E27FC236}">
                <a16:creationId xmlns:a16="http://schemas.microsoft.com/office/drawing/2014/main" id="{36B8DEC1-C3CB-9098-F8E6-DFE28054A5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26974" y="1842259"/>
            <a:ext cx="3257550" cy="4048125"/>
          </a:xfrm>
          <a:prstGeom prst="rect">
            <a:avLst/>
          </a:prstGeom>
        </p:spPr>
      </p:pic>
    </p:spTree>
    <p:extLst>
      <p:ext uri="{BB962C8B-B14F-4D97-AF65-F5344CB8AC3E}">
        <p14:creationId xmlns:p14="http://schemas.microsoft.com/office/powerpoint/2010/main" val="274787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B6334C6B-9655-8E16-CE38-6E12AF0D115E}"/>
              </a:ext>
            </a:extLst>
          </p:cNvPr>
          <p:cNvSpPr>
            <a:spLocks noGrp="1"/>
          </p:cNvSpPr>
          <p:nvPr>
            <p:ph idx="1"/>
          </p:nvPr>
        </p:nvSpPr>
        <p:spPr>
          <a:xfrm>
            <a:off x="1141413" y="1470992"/>
            <a:ext cx="7119992" cy="5018708"/>
          </a:xfrm>
        </p:spPr>
        <p:txBody>
          <a:bodyPr>
            <a:normAutofit fontScale="77500" lnSpcReduction="20000"/>
          </a:bodyPr>
          <a:lstStyle/>
          <a:p>
            <a:pPr marL="0" indent="0">
              <a:buNone/>
            </a:pPr>
            <a:r>
              <a:rPr lang="en-US" b="1" dirty="0"/>
              <a:t>Isochronous transmission:</a:t>
            </a:r>
          </a:p>
          <a:p>
            <a:pPr marL="444500" indent="0">
              <a:buNone/>
            </a:pPr>
            <a:r>
              <a:rPr lang="en-US" dirty="0"/>
              <a:t>In isochronous transmission it is important that the information is received shortly after it was transmitted (low latency), and that the information is carried over channels that support medium-to-high base rates; in general the channel speed must be several times higher than that of the actual information to be transmitted.</a:t>
            </a:r>
          </a:p>
          <a:p>
            <a:pPr marL="444500" indent="0">
              <a:buNone/>
            </a:pPr>
            <a:r>
              <a:rPr lang="en-US" dirty="0"/>
              <a:t>Typical applications of isochronous transmission are real-time communications, such as audio, video, data from sensors that generate them at a regular and precise cadence, or the transport of data coming from edge computing.</a:t>
            </a:r>
          </a:p>
          <a:p>
            <a:pPr marL="444500" indent="0">
              <a:buNone/>
            </a:pPr>
            <a:r>
              <a:rPr lang="en-US" dirty="0"/>
              <a:t>As mentioned, the bandwidth of the transport channel must be </a:t>
            </a:r>
            <a:r>
              <a:rPr lang="en-US" i="1" dirty="0"/>
              <a:t>n</a:t>
            </a:r>
            <a:r>
              <a:rPr lang="en-US" dirty="0"/>
              <a:t> times (usually 4 times or more) greater than the bandwidth required by the information itself. The information can also be temporarily accumulated (buffering) as long as this does not cause excessive latency. The data are then transferred to the receiver at the highest possible speed.</a:t>
            </a:r>
          </a:p>
          <a:p>
            <a:pPr marL="444500" indent="0">
              <a:buNone/>
            </a:pPr>
            <a:r>
              <a:rPr lang="en-US" dirty="0"/>
              <a:t>After reception and decoding, the cadence of the information can be reconstructed as it originally was, if necessary. Indeed, in multimedia applications, for reasons of intelligibility or interpretation, it is important that the stream leaves the receiver at the same speed at which it entered the transmitter, albeit with some acceptable delay.</a:t>
            </a:r>
          </a:p>
        </p:txBody>
      </p:sp>
      <p:pic>
        <p:nvPicPr>
          <p:cNvPr id="6" name="Elemento grafico 5">
            <a:extLst>
              <a:ext uri="{FF2B5EF4-FFF2-40B4-BE49-F238E27FC236}">
                <a16:creationId xmlns:a16="http://schemas.microsoft.com/office/drawing/2014/main" id="{3A2BE0D7-967E-1B96-5354-32D283E03C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26974" y="1842259"/>
            <a:ext cx="3257550" cy="4048125"/>
          </a:xfrm>
          <a:prstGeom prst="rect">
            <a:avLst/>
          </a:prstGeom>
        </p:spPr>
      </p:pic>
      <p:sp>
        <p:nvSpPr>
          <p:cNvPr id="7" name="Titolo 1">
            <a:extLst>
              <a:ext uri="{FF2B5EF4-FFF2-40B4-BE49-F238E27FC236}">
                <a16:creationId xmlns:a16="http://schemas.microsoft.com/office/drawing/2014/main" id="{4D02D52F-F73B-2020-2F01-AC204BB029EE}"/>
              </a:ext>
            </a:extLst>
          </p:cNvPr>
          <p:cNvSpPr txBox="1">
            <a:spLocks/>
          </p:cNvSpPr>
          <p:nvPr/>
        </p:nvSpPr>
        <p:spPr>
          <a:xfrm>
            <a:off x="1141413" y="609600"/>
            <a:ext cx="9905998" cy="861392"/>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MODES OF SERIAL DATA TRANSMISSION (3)</a:t>
            </a:r>
          </a:p>
        </p:txBody>
      </p:sp>
    </p:spTree>
    <p:extLst>
      <p:ext uri="{BB962C8B-B14F-4D97-AF65-F5344CB8AC3E}">
        <p14:creationId xmlns:p14="http://schemas.microsoft.com/office/powerpoint/2010/main" val="2596993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8000" dirty="0"/>
              <a:t>HDL in practice:</a:t>
            </a:r>
          </a:p>
          <a:p>
            <a:pPr algn="ctr"/>
            <a:r>
              <a:rPr lang="en-US" sz="8000" dirty="0" err="1"/>
              <a:t>RELIABILITY OF LOGIC NETWORKS</a:t>
            </a:r>
          </a:p>
        </p:txBody>
      </p:sp>
    </p:spTree>
    <p:extLst>
      <p:ext uri="{BB962C8B-B14F-4D97-AF65-F5344CB8AC3E}">
        <p14:creationId xmlns:p14="http://schemas.microsoft.com/office/powerpoint/2010/main" val="3315376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3CB538-F320-9276-A98C-E8EE04C8CB17}"/>
              </a:ext>
            </a:extLst>
          </p:cNvPr>
          <p:cNvSpPr>
            <a:spLocks noGrp="1"/>
          </p:cNvSpPr>
          <p:nvPr>
            <p:ph type="title"/>
          </p:nvPr>
        </p:nvSpPr>
        <p:spPr>
          <a:xfrm>
            <a:off x="1141413" y="609600"/>
            <a:ext cx="9905998" cy="1219199"/>
          </a:xfrm>
        </p:spPr>
        <p:txBody>
          <a:bodyPr/>
          <a:lstStyle/>
          <a:p>
            <a:r>
              <a:rPr lang="en-US" dirty="0"/>
              <a:t>EXTERNAL ASYNCHRONOUS EVENTS (1)</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4AE8FA03-EEA3-C6C8-6F57-4889C854A388}"/>
                  </a:ext>
                </a:extLst>
              </p:cNvPr>
              <p:cNvSpPr>
                <a:spLocks noGrp="1"/>
              </p:cNvSpPr>
              <p:nvPr>
                <p:ph idx="1"/>
              </p:nvPr>
            </p:nvSpPr>
            <p:spPr>
              <a:xfrm>
                <a:off x="842839" y="1828799"/>
                <a:ext cx="7521934" cy="4365266"/>
              </a:xfrm>
            </p:spPr>
            <p:txBody>
              <a:bodyPr>
                <a:normAutofit fontScale="92500" lnSpcReduction="10000"/>
              </a:bodyPr>
              <a:lstStyle/>
              <a:p>
                <a:pPr marL="0" indent="0">
                  <a:buNone/>
                </a:pPr>
                <a:r>
                  <a:rPr lang="en-US" dirty="0"/>
                  <a:t>Consider the drawing alongside: a circuit with an input coming from a button connected to the D input of a Flip-Flop. When the button is not pressed, the flip-flop receives a stable value at its input. If the button is pressed, however, the flip-flop's input changes at a random time with respect to the clock.</a:t>
                </a:r>
              </a:p>
              <a:p>
                <a:pPr marL="0" indent="0">
                  <a:buNone/>
                </a:pPr>
                <a:r>
                  <a:rPr lang="en-US" dirty="0"/>
                  <a:t>Someone might press the button just as the clock rises. This can lead to a phenomenon called "metastability", in which the flip-flop captures at its input a value halfway between 0 and 1, which can take an unbounded amount of time to resolve into a stable logic value at the output.</a:t>
                </a:r>
              </a:p>
              <a:p>
                <a:pPr marL="0" indent="0">
                  <a:buNone/>
                </a:pPr>
                <a:r>
                  <a:rPr lang="en-US" dirty="0"/>
                  <a:t>When the clock rises and D is stable, the output can start to change after the clock-to-Q (so-called contamination) delay,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𝑐𝑐𝑞</m:t>
                        </m:r>
                      </m:sub>
                    </m:sSub>
                  </m:oMath>
                </a14:m>
                <a:r>
                  <a:rPr lang="en-US" dirty="0"/>
                  <a:t>, and must definitively settle on the final value within the clock-to-Q propagation delay,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𝑝𝑐𝑞</m:t>
                        </m:r>
                      </m:sub>
                    </m:sSub>
                  </m:oMath>
                </a14:m>
                <a:r>
                  <a:rPr lang="en-US" dirty="0"/>
                  <a:t>.</a:t>
                </a:r>
              </a:p>
            </p:txBody>
          </p:sp>
        </mc:Choice>
        <mc:Fallback xmlns="">
          <p:sp>
            <p:nvSpPr>
              <p:cNvPr id="3" name="Segnaposto contenuto 2">
                <a:extLst>
                  <a:ext uri="{FF2B5EF4-FFF2-40B4-BE49-F238E27FC236}">
                    <a16:creationId xmlns:a16="http://schemas.microsoft.com/office/drawing/2014/main" id="{4AE8FA03-EEA3-C6C8-6F57-4889C854A388}"/>
                  </a:ext>
                </a:extLst>
              </p:cNvPr>
              <p:cNvSpPr>
                <a:spLocks noGrp="1" noRot="1" noChangeAspect="1" noMove="1" noResize="1" noEditPoints="1" noAdjustHandles="1" noChangeArrowheads="1" noChangeShapeType="1" noTextEdit="1"/>
              </p:cNvSpPr>
              <p:nvPr>
                <p:ph idx="1"/>
              </p:nvPr>
            </p:nvSpPr>
            <p:spPr>
              <a:xfrm>
                <a:off x="842839" y="1828799"/>
                <a:ext cx="7521934" cy="4365266"/>
              </a:xfrm>
              <a:blipFill>
                <a:blip r:embed="rId2"/>
                <a:stretch>
                  <a:fillRect/>
                </a:stretch>
              </a:blipFill>
            </p:spPr>
            <p:txBody>
              <a:bodyPr/>
              <a:lstStyle/>
              <a:p>
                <a:r>
                  <a:rPr lang="en-US">
                    <a:noFill/>
                  </a:rPr>
                  <a:t> </a:t>
                </a:r>
              </a:p>
            </p:txBody>
          </p:sp>
        </mc:Fallback>
      </mc:AlternateContent>
      <p:pic>
        <p:nvPicPr>
          <p:cNvPr id="7" name="Elemento grafico 6">
            <a:extLst>
              <a:ext uri="{FF2B5EF4-FFF2-40B4-BE49-F238E27FC236}">
                <a16:creationId xmlns:a16="http://schemas.microsoft.com/office/drawing/2014/main" id="{7C03F0AE-BF9E-5E64-B191-9C40CA7022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1067" y="1828799"/>
            <a:ext cx="2932422" cy="4196243"/>
          </a:xfrm>
          <a:prstGeom prst="rect">
            <a:avLst/>
          </a:prstGeom>
        </p:spPr>
      </p:pic>
    </p:spTree>
    <p:extLst>
      <p:ext uri="{BB962C8B-B14F-4D97-AF65-F5344CB8AC3E}">
        <p14:creationId xmlns:p14="http://schemas.microsoft.com/office/powerpoint/2010/main" val="388240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3CB538-F320-9276-A98C-E8EE04C8CB17}"/>
              </a:ext>
            </a:extLst>
          </p:cNvPr>
          <p:cNvSpPr>
            <a:spLocks noGrp="1"/>
          </p:cNvSpPr>
          <p:nvPr>
            <p:ph type="title"/>
          </p:nvPr>
        </p:nvSpPr>
        <p:spPr>
          <a:xfrm>
            <a:off x="1141413" y="609600"/>
            <a:ext cx="9905998" cy="1219199"/>
          </a:xfrm>
        </p:spPr>
        <p:txBody>
          <a:bodyPr/>
          <a:lstStyle/>
          <a:p>
            <a:r>
              <a:rPr lang="en-US" dirty="0"/>
              <a:t>EXTERNAL ASYNCHRONOUS EVENTS (2)</a:t>
            </a: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4AE8FA03-EEA3-C6C8-6F57-4889C854A388}"/>
                  </a:ext>
                </a:extLst>
              </p:cNvPr>
              <p:cNvSpPr>
                <a:spLocks noGrp="1"/>
              </p:cNvSpPr>
              <p:nvPr>
                <p:ph idx="1"/>
              </p:nvPr>
            </p:nvSpPr>
            <p:spPr>
              <a:xfrm>
                <a:off x="842839" y="1828799"/>
                <a:ext cx="7498080" cy="4540196"/>
              </a:xfrm>
            </p:spPr>
            <p:txBody>
              <a:bodyPr>
                <a:normAutofit fontScale="92500"/>
              </a:bodyPr>
              <a:lstStyle/>
              <a:p>
                <a:pPr marL="0" indent="0">
                  <a:buNone/>
                </a:pPr>
                <a:r>
                  <a:rPr lang="en-US" dirty="0"/>
                  <a:t>The flip-flop has two fundamental parameters,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𝑠𝑒𝑡𝑢𝑝</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ℎ𝑜𝑙𝑑</m:t>
                        </m:r>
                      </m:sub>
                    </m:sSub>
                  </m:oMath>
                </a14:m>
                <a:r>
                  <a:rPr lang="en-US" dirty="0"/>
                  <a:t>: these are two times for which the input is required to be stable with respect to the clock edge the flip-flop operates on. The sum of the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𝑠𝑒𝑡𝑢𝑝</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ℎ𝑜𝑙𝑑</m:t>
                        </m:r>
                      </m:sub>
                    </m:sSub>
                    <m:r>
                      <a:rPr lang="en-US" i="1">
                        <a:latin typeface="Cambria Math" panose="02040503050406030204" pitchFamily="18" charset="0"/>
                      </a:rPr>
                      <m:t> </m:t>
                    </m:r>
                  </m:oMath>
                </a14:m>
                <a:r>
                  <a:rPr lang="en-US" dirty="0"/>
                  <a:t> times is called the aperture time. </a:t>
                </a:r>
              </a:p>
              <a:p>
                <a:pPr marL="0" indent="0">
                  <a:buNone/>
                </a:pPr>
                <a:r>
                  <a:rPr lang="en-US" dirty="0"/>
                  <a:t>Violating either of these two times leads to the metastable condition at the flip-flop's output. When it becomes metastable there is no way to know with reasonable precision how long it will take to leave that state and what final value Q will take.</a:t>
                </a:r>
              </a:p>
              <a:p>
                <a:pPr marL="0" indent="0">
                  <a:buNone/>
                </a:pPr>
                <a:r>
                  <a:rPr lang="en-US" dirty="0"/>
                  <a:t>This condition of data being asynchronous with respect to the clock is found whenever there is no correlation between D and the clock: external inputs coming from contacts, sensors or signals from other equipment are generally asynchronous and therefore a potential cause of metastability.</a:t>
                </a:r>
              </a:p>
            </p:txBody>
          </p:sp>
        </mc:Choice>
        <mc:Fallback xmlns="">
          <p:sp>
            <p:nvSpPr>
              <p:cNvPr id="3" name="Segnaposto contenuto 2">
                <a:extLst>
                  <a:ext uri="{FF2B5EF4-FFF2-40B4-BE49-F238E27FC236}">
                    <a16:creationId xmlns:a16="http://schemas.microsoft.com/office/drawing/2014/main" id="{4AE8FA03-EEA3-C6C8-6F57-4889C854A388}"/>
                  </a:ext>
                </a:extLst>
              </p:cNvPr>
              <p:cNvSpPr>
                <a:spLocks noGrp="1" noRot="1" noChangeAspect="1" noMove="1" noResize="1" noEditPoints="1" noAdjustHandles="1" noChangeArrowheads="1" noChangeShapeType="1" noTextEdit="1"/>
              </p:cNvSpPr>
              <p:nvPr>
                <p:ph idx="1"/>
              </p:nvPr>
            </p:nvSpPr>
            <p:spPr>
              <a:xfrm>
                <a:off x="842839" y="1828799"/>
                <a:ext cx="7498080" cy="4540196"/>
              </a:xfrm>
              <a:blipFill>
                <a:blip r:embed="rId2"/>
                <a:stretch>
                  <a:fillRect/>
                </a:stretch>
              </a:blipFill>
            </p:spPr>
            <p:txBody>
              <a:bodyPr/>
              <a:lstStyle/>
              <a:p>
                <a:r>
                  <a:rPr lang="en-US">
                    <a:noFill/>
                  </a:rPr>
                  <a:t> </a:t>
                </a:r>
              </a:p>
            </p:txBody>
          </p:sp>
        </mc:Fallback>
      </mc:AlternateContent>
      <p:pic>
        <p:nvPicPr>
          <p:cNvPr id="7" name="Elemento grafico 6">
            <a:extLst>
              <a:ext uri="{FF2B5EF4-FFF2-40B4-BE49-F238E27FC236}">
                <a16:creationId xmlns:a16="http://schemas.microsoft.com/office/drawing/2014/main" id="{7C03F0AE-BF9E-5E64-B191-9C40CA7022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81067" y="1828799"/>
            <a:ext cx="2932422" cy="4196243"/>
          </a:xfrm>
          <a:prstGeom prst="rect">
            <a:avLst/>
          </a:prstGeom>
        </p:spPr>
      </p:pic>
    </p:spTree>
    <p:extLst>
      <p:ext uri="{BB962C8B-B14F-4D97-AF65-F5344CB8AC3E}">
        <p14:creationId xmlns:p14="http://schemas.microsoft.com/office/powerpoint/2010/main" val="1485512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3CB538-F320-9276-A98C-E8EE04C8CB17}"/>
              </a:ext>
            </a:extLst>
          </p:cNvPr>
          <p:cNvSpPr>
            <a:spLocks noGrp="1"/>
          </p:cNvSpPr>
          <p:nvPr>
            <p:ph type="title"/>
          </p:nvPr>
        </p:nvSpPr>
        <p:spPr>
          <a:xfrm>
            <a:off x="1141413" y="609600"/>
            <a:ext cx="9905998" cy="736600"/>
          </a:xfrm>
        </p:spPr>
        <p:txBody>
          <a:bodyPr/>
          <a:lstStyle/>
          <a:p>
            <a:r>
              <a:rPr lang="en-US" dirty="0"/>
              <a:t>CLOCK SKEW</a:t>
            </a:r>
          </a:p>
        </p:txBody>
      </p:sp>
      <p:sp>
        <p:nvSpPr>
          <p:cNvPr id="3" name="Segnaposto contenuto 2">
            <a:extLst>
              <a:ext uri="{FF2B5EF4-FFF2-40B4-BE49-F238E27FC236}">
                <a16:creationId xmlns:a16="http://schemas.microsoft.com/office/drawing/2014/main" id="{4AE8FA03-EEA3-C6C8-6F57-4889C854A388}"/>
              </a:ext>
            </a:extLst>
          </p:cNvPr>
          <p:cNvSpPr>
            <a:spLocks noGrp="1"/>
          </p:cNvSpPr>
          <p:nvPr>
            <p:ph idx="1"/>
          </p:nvPr>
        </p:nvSpPr>
        <p:spPr>
          <a:xfrm>
            <a:off x="1141413" y="1346200"/>
            <a:ext cx="7223359" cy="5205675"/>
          </a:xfrm>
        </p:spPr>
        <p:txBody>
          <a:bodyPr>
            <a:normAutofit fontScale="92500" lnSpcReduction="20000"/>
          </a:bodyPr>
          <a:lstStyle/>
          <a:p>
            <a:pPr marL="0" indent="0">
              <a:buNone/>
            </a:pPr>
            <a:r>
              <a:rPr lang="en-US" dirty="0"/>
              <a:t>In real systems, the clock may not reach all the flip-flops at the same time. This variation in time is called "clock skew". The wires that carry the clock from its source to the registers, or noise on the clock itself, can produce different delays for each wire. Components inserted in the clock path (to obtain so-called clock gating) can also cause clock skew.</a:t>
            </a:r>
          </a:p>
          <a:p>
            <a:pPr marL="0" indent="0">
              <a:buNone/>
            </a:pPr>
            <a:r>
              <a:rPr lang="en-US" dirty="0"/>
              <a:t>Even if on paper we have made sure that a clock domain is synchronized with all the signals related to it, the difference in clock propagation times at the inputs of the various flip-flops of a synchronous network can create metastability conditions. This also applies to the delay of the data relative to the clock.</a:t>
            </a:r>
          </a:p>
          <a:p>
            <a:pPr marL="0" indent="0">
              <a:buNone/>
            </a:pPr>
            <a:r>
              <a:rPr lang="en-US" dirty="0"/>
              <a:t>In modern programmable logic devices there are priority paths for clock signals, so that distribution to the various flip-flops and devices is highly uniform. These signals have a structure that also gives them a high fan-out. The fan-out of a digital output determines the number of inputs that can be connected to it (the load) without the signal degrading excessively.</a:t>
            </a:r>
          </a:p>
        </p:txBody>
      </p:sp>
      <p:pic>
        <p:nvPicPr>
          <p:cNvPr id="8" name="Elemento grafico 7">
            <a:extLst>
              <a:ext uri="{FF2B5EF4-FFF2-40B4-BE49-F238E27FC236}">
                <a16:creationId xmlns:a16="http://schemas.microsoft.com/office/drawing/2014/main" id="{C941AB5F-B985-88D7-3DFD-C2099A75F6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04397" y="1489544"/>
            <a:ext cx="3310509" cy="4758856"/>
          </a:xfrm>
          <a:prstGeom prst="rect">
            <a:avLst/>
          </a:prstGeom>
        </p:spPr>
      </p:pic>
    </p:spTree>
    <p:extLst>
      <p:ext uri="{BB962C8B-B14F-4D97-AF65-F5344CB8AC3E}">
        <p14:creationId xmlns:p14="http://schemas.microsoft.com/office/powerpoint/2010/main" val="1857801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535E3C-E241-BDFA-511A-62EC9F53E80D}"/>
              </a:ext>
            </a:extLst>
          </p:cNvPr>
          <p:cNvSpPr>
            <a:spLocks noGrp="1"/>
          </p:cNvSpPr>
          <p:nvPr>
            <p:ph type="title"/>
          </p:nvPr>
        </p:nvSpPr>
        <p:spPr>
          <a:xfrm>
            <a:off x="1141413" y="609601"/>
            <a:ext cx="9905998" cy="660400"/>
          </a:xfrm>
        </p:spPr>
        <p:txBody>
          <a:bodyPr/>
          <a:lstStyle/>
          <a:p>
            <a:r>
              <a:rPr lang="en-US" dirty="0"/>
              <a:t>METASTABLE CONDITION</a:t>
            </a:r>
          </a:p>
        </p:txBody>
      </p:sp>
      <p:sp>
        <p:nvSpPr>
          <p:cNvPr id="3" name="Segnaposto contenuto 2">
            <a:extLst>
              <a:ext uri="{FF2B5EF4-FFF2-40B4-BE49-F238E27FC236}">
                <a16:creationId xmlns:a16="http://schemas.microsoft.com/office/drawing/2014/main" id="{80AF5044-A5F6-B350-003B-35811FBBA53C}"/>
              </a:ext>
            </a:extLst>
          </p:cNvPr>
          <p:cNvSpPr>
            <a:spLocks noGrp="1"/>
          </p:cNvSpPr>
          <p:nvPr>
            <p:ph idx="1"/>
          </p:nvPr>
        </p:nvSpPr>
        <p:spPr>
          <a:xfrm>
            <a:off x="1141413" y="1611630"/>
            <a:ext cx="9905998" cy="5030469"/>
          </a:xfrm>
        </p:spPr>
        <p:txBody>
          <a:bodyPr>
            <a:normAutofit fontScale="92500" lnSpcReduction="20000"/>
          </a:bodyPr>
          <a:lstStyle/>
          <a:p>
            <a:pPr marL="0" indent="0">
              <a:buNone/>
            </a:pPr>
            <a:r>
              <a:rPr lang="en-US" dirty="0"/>
              <a:t>In real situations, when a flip-flop samples an input that changes during its aperture time, the Q output can momentarily take a voltage between 0 and VDD (logic 1) lying in the "forbidden zone". This is the so-called metastable condition. Eventually, the flip-flop will resolve the output into a stable state (0 or 1). However, the resolution time needed to reach the stable state can be infinite or at any rate undetermined.</a:t>
            </a:r>
          </a:p>
          <a:p>
            <a:pPr marL="0" indent="0">
              <a:buNone/>
            </a:pPr>
            <a:r>
              <a:rPr lang="en-US" dirty="0"/>
              <a:t>The metastable state of a flip-flop is analogous to that of a ball on the top of a hill between two valleys, as shown alongside.</a:t>
            </a:r>
          </a:p>
          <a:p>
            <a:pPr marL="0" indent="0">
              <a:buNone/>
            </a:pPr>
            <a:r>
              <a:rPr lang="en-US" dirty="0"/>
              <a:t>The two valleys are the stable states, because a ball</a:t>
            </a:r>
            <a:br>
              <a:rPr lang="en-US" dirty="0"/>
            </a:br>
            <a:r>
              <a:rPr lang="en-US" dirty="0"/>
              <a:t>in the valley will stay there until it is disturbed.</a:t>
            </a:r>
            <a:br>
              <a:rPr lang="en-US" dirty="0"/>
            </a:br>
            <a:r>
              <a:rPr lang="en-US" dirty="0"/>
              <a:t>The top of the hill is called the metastable</a:t>
            </a:r>
            <a:br>
              <a:rPr lang="en-US" dirty="0"/>
            </a:br>
            <a:r>
              <a:rPr lang="en-US" dirty="0"/>
              <a:t>zone because the ball could stay there if</a:t>
            </a:r>
            <a:br>
              <a:rPr lang="en-US" dirty="0"/>
            </a:br>
            <a:r>
              <a:rPr lang="en-US" dirty="0"/>
              <a:t>subjected to a perfect balance of forces. But</a:t>
            </a:r>
            <a:br>
              <a:rPr lang="en-US" dirty="0"/>
            </a:br>
            <a:r>
              <a:rPr lang="en-US" dirty="0"/>
              <a:t>sooner or later, perhaps because of a slight breeze,</a:t>
            </a:r>
            <a:br>
              <a:rPr lang="en-US" dirty="0"/>
            </a:br>
            <a:r>
              <a:rPr lang="en-US" dirty="0"/>
              <a:t>the ball will roll to one side or the other. The time</a:t>
            </a:r>
            <a:br>
              <a:rPr lang="en-US" dirty="0"/>
            </a:br>
            <a:r>
              <a:rPr lang="en-US" dirty="0"/>
              <a:t>needed for this change to occur depends on how</a:t>
            </a:r>
            <a:br>
              <a:rPr lang="en-US" dirty="0"/>
            </a:br>
            <a:r>
              <a:rPr lang="en-US" dirty="0"/>
              <a:t>balanced the forces were, how narrow the hilltop is,</a:t>
            </a:r>
            <a:br>
              <a:rPr lang="en-US" dirty="0"/>
            </a:br>
            <a:r>
              <a:rPr lang="en-US" dirty="0"/>
              <a:t>and on disturbing factors (noise).</a:t>
            </a:r>
          </a:p>
          <a:p>
            <a:pPr marL="0" indent="0">
              <a:buNone/>
            </a:pPr>
            <a:r>
              <a:rPr lang="en-US" dirty="0"/>
              <a:t>Every </a:t>
            </a:r>
            <a:r>
              <a:rPr lang="en-US" u="sng" dirty="0"/>
              <a:t>bistable device</a:t>
            </a:r>
            <a:r>
              <a:rPr lang="en-US" dirty="0"/>
              <a:t> always has a metastable state between its two stable states.</a:t>
            </a:r>
          </a:p>
          <a:p>
            <a:endParaRPr lang="en-US" dirty="0"/>
          </a:p>
          <a:p>
            <a:endParaRPr lang="en-US" dirty="0"/>
          </a:p>
        </p:txBody>
      </p:sp>
      <p:pic>
        <p:nvPicPr>
          <p:cNvPr id="7" name="Elemento grafico 6">
            <a:extLst>
              <a:ext uri="{FF2B5EF4-FFF2-40B4-BE49-F238E27FC236}">
                <a16:creationId xmlns:a16="http://schemas.microsoft.com/office/drawing/2014/main" id="{5CD4F3F3-1694-DFD9-B7B9-99CDED7DAD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50975" y="3429000"/>
            <a:ext cx="4284177" cy="2056405"/>
          </a:xfrm>
          <a:prstGeom prst="rect">
            <a:avLst/>
          </a:prstGeom>
        </p:spPr>
      </p:pic>
    </p:spTree>
    <p:extLst>
      <p:ext uri="{BB962C8B-B14F-4D97-AF65-F5344CB8AC3E}">
        <p14:creationId xmlns:p14="http://schemas.microsoft.com/office/powerpoint/2010/main" val="1954999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535E3C-E241-BDFA-511A-62EC9F53E80D}"/>
              </a:ext>
            </a:extLst>
          </p:cNvPr>
          <p:cNvSpPr>
            <a:spLocks noGrp="1"/>
          </p:cNvSpPr>
          <p:nvPr>
            <p:ph type="title"/>
          </p:nvPr>
        </p:nvSpPr>
        <p:spPr>
          <a:xfrm>
            <a:off x="1141413" y="609600"/>
            <a:ext cx="9905998" cy="1028700"/>
          </a:xfrm>
        </p:spPr>
        <p:txBody>
          <a:bodyPr/>
          <a:lstStyle/>
          <a:p>
            <a:r>
              <a:rPr lang="en-US" dirty="0"/>
              <a:t>SYNCHRONIZERS (1)</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80AF5044-A5F6-B350-003B-35811FBBA53C}"/>
                  </a:ext>
                </a:extLst>
              </p:cNvPr>
              <p:cNvSpPr>
                <a:spLocks noGrp="1"/>
              </p:cNvSpPr>
              <p:nvPr>
                <p:ph idx="1"/>
              </p:nvPr>
            </p:nvSpPr>
            <p:spPr>
              <a:xfrm>
                <a:off x="1141413" y="1638300"/>
                <a:ext cx="9905998" cy="4333131"/>
              </a:xfrm>
            </p:spPr>
            <p:txBody>
              <a:bodyPr>
                <a:normAutofit fontScale="92500" lnSpcReduction="10000"/>
              </a:bodyPr>
              <a:lstStyle/>
              <a:p>
                <a:pPr marL="0" indent="0">
                  <a:buNone/>
                </a:pPr>
                <a:r>
                  <a:rPr lang="en-US" dirty="0"/>
                  <a:t>Consider a circuit with an input coming from an asynchronous source that changes, sometimes violating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𝑠𝑒𝑡𝑢𝑝</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ℎ𝑜𝑙𝑑</m:t>
                        </m:r>
                      </m:sub>
                    </m:sSub>
                  </m:oMath>
                </a14:m>
                <a:r>
                  <a:rPr lang="en-US" dirty="0"/>
                  <a:t> times and thus creating, if handled carelessly, metastability situations, i.e. causing irregular system failures that are extremely difficult to trace and fix. The goal of a digital system designer should be to ensure that, given asynchronous inputs, the probability of encountering a metastable condition is sufficiently small.</a:t>
                </a:r>
              </a:p>
              <a:p>
                <a:pPr marL="0" indent="0">
                  <a:buNone/>
                </a:pPr>
                <a:r>
                  <a:rPr lang="en-US" dirty="0"/>
                  <a:t>The concept of a sufficiently small probability depends on the application context: for a personal computer perhaps one error every 10 years is acceptable, because you just restart the PC if it freezes. For a medical device or the control of a ballistic missile, at most one failure in the entire lifetime of the Universe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10</m:t>
                        </m:r>
                      </m:sup>
                    </m:sSup>
                  </m:oMath>
                </a14:m>
                <a:r>
                  <a:rPr lang="en-US" dirty="0"/>
                  <a:t>years) is better. </a:t>
                </a:r>
              </a:p>
              <a:p>
                <a:pPr marL="0" indent="0">
                  <a:buNone/>
                </a:pPr>
                <a:r>
                  <a:rPr lang="en-US" dirty="0"/>
                  <a:t>The solution for such asynchronous inputs is to pass them through</a:t>
                </a:r>
                <a:br>
                  <a:rPr lang="en-US" dirty="0"/>
                </a:br>
                <a:r>
                  <a:rPr lang="en-US" dirty="0"/>
                  <a:t>synchronizers, which correlate the asynchronous input signal</a:t>
                </a:r>
                <a:br>
                  <a:rPr lang="en-US" dirty="0"/>
                </a:br>
                <a:r>
                  <a:rPr lang="en-US" dirty="0"/>
                  <a:t>with the digital system's clock and have a very small (but always </a:t>
                </a:r>
                <a:br>
                  <a:rPr lang="en-US" dirty="0"/>
                </a:br>
                <a:r>
                  <a:rPr lang="en-US" dirty="0"/>
                  <a:t>greater than zero) probability of producing an invalid logic value.</a:t>
                </a:r>
              </a:p>
            </p:txBody>
          </p:sp>
        </mc:Choice>
        <mc:Fallback>
          <p:sp>
            <p:nvSpPr>
              <p:cNvPr id="3" name="Segnaposto contenuto 2">
                <a:extLst>
                  <a:ext uri="{FF2B5EF4-FFF2-40B4-BE49-F238E27FC236}">
                    <a16:creationId xmlns:a16="http://schemas.microsoft.com/office/drawing/2014/main" id="{80AF5044-A5F6-B350-003B-35811FBBA53C}"/>
                  </a:ext>
                </a:extLst>
              </p:cNvPr>
              <p:cNvSpPr>
                <a:spLocks noGrp="1" noRot="1" noChangeAspect="1" noMove="1" noResize="1" noEditPoints="1" noAdjustHandles="1" noChangeArrowheads="1" noChangeShapeType="1" noTextEdit="1"/>
              </p:cNvSpPr>
              <p:nvPr>
                <p:ph idx="1"/>
              </p:nvPr>
            </p:nvSpPr>
            <p:spPr>
              <a:xfrm>
                <a:off x="1141413" y="1638300"/>
                <a:ext cx="9905998" cy="4333131"/>
              </a:xfrm>
              <a:blipFill>
                <a:blip r:embed="rId2"/>
                <a:stretch>
                  <a:fillRect/>
                </a:stretch>
              </a:blipFill>
            </p:spPr>
            <p:txBody>
              <a:bodyPr/>
              <a:lstStyle/>
              <a:p>
                <a:r>
                  <a:rPr lang="it-IT">
                    <a:noFill/>
                  </a:rPr>
                  <a:t> </a:t>
                </a:r>
              </a:p>
            </p:txBody>
          </p:sp>
        </mc:Fallback>
      </mc:AlternateContent>
      <p:pic>
        <p:nvPicPr>
          <p:cNvPr id="5" name="Elemento grafico 4">
            <a:extLst>
              <a:ext uri="{FF2B5EF4-FFF2-40B4-BE49-F238E27FC236}">
                <a16:creationId xmlns:a16="http://schemas.microsoft.com/office/drawing/2014/main" id="{EF7E8712-6D32-965F-1893-FE51AA326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8830" y="4775115"/>
            <a:ext cx="2556892" cy="1599844"/>
          </a:xfrm>
          <a:prstGeom prst="rect">
            <a:avLst/>
          </a:prstGeom>
        </p:spPr>
      </p:pic>
    </p:spTree>
    <p:extLst>
      <p:ext uri="{BB962C8B-B14F-4D97-AF65-F5344CB8AC3E}">
        <p14:creationId xmlns:p14="http://schemas.microsoft.com/office/powerpoint/2010/main" val="1817095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535E3C-E241-BDFA-511A-62EC9F53E80D}"/>
              </a:ext>
            </a:extLst>
          </p:cNvPr>
          <p:cNvSpPr>
            <a:spLocks noGrp="1"/>
          </p:cNvSpPr>
          <p:nvPr>
            <p:ph type="title"/>
          </p:nvPr>
        </p:nvSpPr>
        <p:spPr>
          <a:xfrm>
            <a:off x="1141413" y="609600"/>
            <a:ext cx="9905998" cy="1476598"/>
          </a:xfrm>
        </p:spPr>
        <p:txBody>
          <a:bodyPr/>
          <a:lstStyle/>
          <a:p>
            <a:r>
              <a:rPr lang="en-US" dirty="0"/>
              <a:t>SYNCHRONIZERS (2)</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80AF5044-A5F6-B350-003B-35811FBBA53C}"/>
                  </a:ext>
                </a:extLst>
              </p:cNvPr>
              <p:cNvSpPr>
                <a:spLocks noGrp="1"/>
              </p:cNvSpPr>
              <p:nvPr>
                <p:ph idx="1"/>
              </p:nvPr>
            </p:nvSpPr>
            <p:spPr>
              <a:xfrm>
                <a:off x="1141413" y="1956032"/>
                <a:ext cx="9905998" cy="4444767"/>
              </a:xfrm>
            </p:spPr>
            <p:txBody>
              <a:bodyPr>
                <a:normAutofit fontScale="70000" lnSpcReduction="20000"/>
              </a:bodyPr>
              <a:lstStyle/>
              <a:p>
                <a:pPr marL="0" indent="0">
                  <a:buNone/>
                </a:pPr>
                <a:r>
                  <a:rPr lang="en-US" dirty="0"/>
                  <a:t>A synchronizer, shown alongside, is a device that receives an asynchronous input (in) </a:t>
                </a:r>
                <a:br>
                  <a:rPr lang="en-US" dirty="0"/>
                </a:br>
                <a:r>
                  <a:rPr lang="en-US" dirty="0"/>
                  <a:t>and a clock (clk). It produces an output (out) that, within a limited period of time, </a:t>
                </a:r>
                <a:br>
                  <a:rPr lang="en-US" dirty="0"/>
                </a:br>
                <a:r>
                  <a:rPr lang="en-US" dirty="0"/>
                  <a:t>must have the right, valid logic level with an extremely high probability.</a:t>
                </a:r>
              </a:p>
              <a:p>
                <a:pPr marL="0" indent="0">
                  <a:buNone/>
                </a:pPr>
                <a:r>
                  <a:rPr lang="en-US" dirty="0"/>
                  <a:t>We say that a synchronizer fails if Q becomes metastable. A synchronizer is usually built </a:t>
                </a:r>
                <a:br>
                  <a:rPr lang="en-US" dirty="0"/>
                </a:br>
                <a:r>
                  <a:rPr lang="en-US" dirty="0"/>
                  <a:t>with a high-quality D-type flip-flop.</a:t>
                </a:r>
              </a:p>
              <a:p>
                <a:pPr marL="0" indent="0">
                  <a:buNone/>
                </a:pPr>
                <a:r>
                  <a:rPr lang="en-US" dirty="0"/>
                  <a:t>If the D input is stable during the aperture, Q should take the same value as</a:t>
                </a:r>
                <a:br>
                  <a:rPr lang="en-US" dirty="0"/>
                </a:br>
                <a:r>
                  <a:rPr lang="en-US" dirty="0"/>
                  <a:t>D. If D changes during the aperture, Q can take the value 1 or 0, </a:t>
                </a:r>
                <a:r>
                  <a:rPr lang="en-US" u="sng" dirty="0"/>
                  <a:t>but it</a:t>
                </a:r>
                <a:br>
                  <a:rPr lang="en-US" u="sng" dirty="0"/>
                </a:br>
                <a:r>
                  <a:rPr lang="en-US" u="sng" dirty="0"/>
                  <a:t>should not be frequently metastable</a:t>
                </a:r>
                <a:r>
                  <a:rPr lang="en-US" dirty="0"/>
                  <a:t>, or if it becomes so it should not remain in that condition for long.</a:t>
                </a:r>
              </a:p>
              <a:p>
                <a:pPr marL="0" indent="0">
                  <a:buNone/>
                </a:pPr>
                <a:r>
                  <a:rPr lang="en-US" dirty="0"/>
                  <a:t>System reliability is usually measured in MTBF (Mean Time Between Failures), which is the </a:t>
                </a:r>
                <a:r>
                  <a:rPr lang="en-US" u="sng" dirty="0"/>
                  <a:t>mean time between failures</a:t>
                </a:r>
                <a:r>
                  <a:rPr lang="en-US" dirty="0"/>
                  <a:t> of the system itself. It is calculated as the reciprocal of the probability that the system fails in a given second:</a:t>
                </a:r>
              </a:p>
              <a:p>
                <a:pPr marL="0" indent="0">
                  <a:buNone/>
                </a:pPr>
                <a14:m>
                  <m:oMathPara xmlns:m="http://schemas.openxmlformats.org/officeDocument/2006/math">
                    <m:oMath>
                      <m:r>
                        <a:rPr lang="en-US" b="0" i="1" smtClean="0">
                          <a:latin typeface="Cambria Math" panose="02040503050406030204" pitchFamily="18" charset="0"/>
                        </a:rPr>
                        <m:t>𝑀𝑇𝐵𝐹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𝐹𝑎𝑖𝑙𝑢𝑟</m:t>
                          </m:r>
                          <m:r>
                            <a:rPr lang="it-IT" b="0" i="1" smtClean="0">
                              <a:latin typeface="Cambria Math" panose="02040503050406030204" pitchFamily="18" charset="0"/>
                            </a:rPr>
                            <m:t>𝑒𝑠</m:t>
                          </m:r>
                          <m:r>
                            <a:rPr lang="en-US" b="0" i="1" smtClean="0">
                              <a:latin typeface="Cambria Math" panose="02040503050406030204" pitchFamily="18" charset="0"/>
                            </a:rPr>
                            <m:t>)/</m:t>
                          </m:r>
                          <m:r>
                            <a:rPr lang="en-US" b="0" i="1" smtClean="0">
                              <a:latin typeface="Cambria Math" panose="02040503050406030204" pitchFamily="18" charset="0"/>
                            </a:rPr>
                            <m:t>𝑠𝑒𝑐</m:t>
                          </m:r>
                        </m:den>
                      </m:f>
                    </m:oMath>
                  </m:oMathPara>
                </a14:m>
                <a:endParaRPr lang="en-US" dirty="0"/>
              </a:p>
              <a:p>
                <a:pPr marL="0" indent="0">
                  <a:buNone/>
                </a:pPr>
                <a:r>
                  <a:rPr lang="en-US" dirty="0"/>
                  <a:t>A typical equation for calculating the MTBF is:</a:t>
                </a:r>
              </a:p>
              <a:p>
                <a:pPr marL="0" indent="0">
                  <a:buNone/>
                </a:pPr>
                <a14:m>
                  <m:oMathPara xmlns:m="http://schemas.openxmlformats.org/officeDocument/2006/math">
                    <m:oMath>
                      <m:r>
                        <a:rPr lang="en-US" b="0" i="1" smtClean="0">
                          <a:latin typeface="Cambria Math" panose="02040503050406030204" pitchFamily="18" charset="0"/>
                        </a:rPr>
                        <m:t>𝑀𝑇𝐵𝐹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
                                    <a:rPr lang="en-US" b="0" i="1" smtClean="0">
                                      <a:latin typeface="Cambria Math" panose="02040503050406030204" pitchFamily="18" charset="0"/>
                                      <a:ea typeface="Cambria Math" panose="02040503050406030204" pitchFamily="18" charset="0"/>
                                    </a:rPr>
                                    <m:t>𝜏</m:t>
                                  </m:r>
                                </m:den>
                              </m:f>
                            </m:sup>
                          </m:s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𝑤</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𝑐</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m:t>
                              </m:r>
                            </m:sub>
                          </m:sSub>
                        </m:den>
                      </m:f>
                    </m:oMath>
                  </m:oMathPara>
                </a14:m>
                <a:endParaRPr lang="en-US" dirty="0"/>
              </a:p>
              <a:p>
                <a:pPr marL="0" indent="0">
                  <a:buNone/>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𝑤</m:t>
                        </m:r>
                      </m:sub>
                    </m:sSub>
                  </m:oMath>
                </a14:m>
                <a:r>
                  <a:rPr lang="en-US" dirty="0"/>
                  <a:t> is the sum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𝑠𝑒𝑡𝑢𝑝</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ℎ𝑜𝑙𝑑</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𝑐</m:t>
                        </m:r>
                      </m:sub>
                    </m:sSub>
                  </m:oMath>
                </a14:m>
                <a:r>
                  <a:rPr lang="en-US" dirty="0"/>
                  <a:t> is the clock frequency,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𝐷</m:t>
                        </m:r>
                      </m:sub>
                    </m:sSub>
                  </m:oMath>
                </a14:m>
                <a:r>
                  <a:rPr lang="en-US" dirty="0"/>
                  <a:t> is the number of transitions per second at the D input, </a:t>
                </a:r>
                <a14:m>
                  <m:oMath xmlns:m="http://schemas.openxmlformats.org/officeDocument/2006/math">
                    <m:r>
                      <a:rPr lang="en-US" b="0" i="1" smtClean="0">
                        <a:latin typeface="Cambria Math" panose="02040503050406030204" pitchFamily="18" charset="0"/>
                      </a:rPr>
                      <m:t>𝑆</m:t>
                    </m:r>
                  </m:oMath>
                </a14:m>
                <a:r>
                  <a:rPr lang="en-US" dirty="0"/>
                  <a:t> is the time estimated for the metastable event to resolve (usually one clock cycle) and </a:t>
                </a:r>
                <a14:m>
                  <m:oMath xmlns:m="http://schemas.openxmlformats.org/officeDocument/2006/math">
                    <m:r>
                      <a:rPr lang="en-US" i="1">
                        <a:latin typeface="Cambria Math" panose="02040503050406030204" pitchFamily="18" charset="0"/>
                        <a:ea typeface="Cambria Math" panose="02040503050406030204" pitchFamily="18" charset="0"/>
                      </a:rPr>
                      <m:t>𝜏</m:t>
                    </m:r>
                  </m:oMath>
                </a14:m>
                <a:r>
                  <a:rPr lang="en-US" dirty="0"/>
                  <a:t> is a parameter related to the device technology (typically a gate delay).</a:t>
                </a:r>
              </a:p>
            </p:txBody>
          </p:sp>
        </mc:Choice>
        <mc:Fallback>
          <p:sp>
            <p:nvSpPr>
              <p:cNvPr id="3" name="Segnaposto contenuto 2">
                <a:extLst>
                  <a:ext uri="{FF2B5EF4-FFF2-40B4-BE49-F238E27FC236}">
                    <a16:creationId xmlns:a16="http://schemas.microsoft.com/office/drawing/2014/main" id="{80AF5044-A5F6-B350-003B-35811FBBA53C}"/>
                  </a:ext>
                </a:extLst>
              </p:cNvPr>
              <p:cNvSpPr>
                <a:spLocks noGrp="1" noRot="1" noChangeAspect="1" noMove="1" noResize="1" noEditPoints="1" noAdjustHandles="1" noChangeArrowheads="1" noChangeShapeType="1" noTextEdit="1"/>
              </p:cNvSpPr>
              <p:nvPr>
                <p:ph idx="1"/>
              </p:nvPr>
            </p:nvSpPr>
            <p:spPr>
              <a:xfrm>
                <a:off x="1141413" y="1956032"/>
                <a:ext cx="9905998" cy="4444767"/>
              </a:xfrm>
              <a:blipFill>
                <a:blip r:embed="rId2"/>
                <a:stretch>
                  <a:fillRect/>
                </a:stretch>
              </a:blipFill>
            </p:spPr>
            <p:txBody>
              <a:bodyPr/>
              <a:lstStyle/>
              <a:p>
                <a:r>
                  <a:rPr lang="it-IT">
                    <a:noFill/>
                  </a:rPr>
                  <a:t> </a:t>
                </a:r>
              </a:p>
            </p:txBody>
          </p:sp>
        </mc:Fallback>
      </mc:AlternateContent>
      <p:pic>
        <p:nvPicPr>
          <p:cNvPr id="6" name="Elemento grafico 5">
            <a:extLst>
              <a:ext uri="{FF2B5EF4-FFF2-40B4-BE49-F238E27FC236}">
                <a16:creationId xmlns:a16="http://schemas.microsoft.com/office/drawing/2014/main" id="{E1875396-2724-9C53-FF7B-FFF83F33BB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2831" y="4186370"/>
            <a:ext cx="2103137" cy="1315929"/>
          </a:xfrm>
          <a:prstGeom prst="rect">
            <a:avLst/>
          </a:prstGeom>
        </p:spPr>
      </p:pic>
      <p:pic>
        <p:nvPicPr>
          <p:cNvPr id="4" name="Elemento grafico 3">
            <a:extLst>
              <a:ext uri="{FF2B5EF4-FFF2-40B4-BE49-F238E27FC236}">
                <a16:creationId xmlns:a16="http://schemas.microsoft.com/office/drawing/2014/main" id="{CE13EA39-84A2-D62B-0601-26803F28B7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2833" y="2049463"/>
            <a:ext cx="2103135" cy="1315929"/>
          </a:xfrm>
          <a:prstGeom prst="rect">
            <a:avLst/>
          </a:prstGeom>
        </p:spPr>
      </p:pic>
    </p:spTree>
    <p:extLst>
      <p:ext uri="{BB962C8B-B14F-4D97-AF65-F5344CB8AC3E}">
        <p14:creationId xmlns:p14="http://schemas.microsoft.com/office/powerpoint/2010/main" val="3106502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8000" dirty="0"/>
              <a:t>HDL in practice:</a:t>
            </a:r>
          </a:p>
          <a:p>
            <a:pPr algn="ctr"/>
            <a:r>
              <a:rPr lang="en-US" sz="8000" dirty="0"/>
              <a:t>THE "MANCHESTER" ENCODING</a:t>
            </a:r>
          </a:p>
        </p:txBody>
      </p:sp>
    </p:spTree>
    <p:extLst>
      <p:ext uri="{BB962C8B-B14F-4D97-AF65-F5344CB8AC3E}">
        <p14:creationId xmlns:p14="http://schemas.microsoft.com/office/powerpoint/2010/main" val="2868208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82F8D9-F12A-3021-D7CD-2E4C9B284BB8}"/>
              </a:ext>
            </a:extLst>
          </p:cNvPr>
          <p:cNvSpPr>
            <a:spLocks noGrp="1"/>
          </p:cNvSpPr>
          <p:nvPr>
            <p:ph type="title"/>
          </p:nvPr>
        </p:nvSpPr>
        <p:spPr/>
        <p:txBody>
          <a:bodyPr/>
          <a:lstStyle/>
          <a:p>
            <a:r>
              <a:rPr lang="en-US" dirty="0"/>
              <a:t>THE MANCHESTER ENCODING</a:t>
            </a:r>
          </a:p>
        </p:txBody>
      </p:sp>
      <p:sp>
        <p:nvSpPr>
          <p:cNvPr id="3" name="Segnaposto contenuto 2">
            <a:extLst>
              <a:ext uri="{FF2B5EF4-FFF2-40B4-BE49-F238E27FC236}">
                <a16:creationId xmlns:a16="http://schemas.microsoft.com/office/drawing/2014/main" id="{9DB89291-5906-A950-9E59-BE67F8A4F0E1}"/>
              </a:ext>
            </a:extLst>
          </p:cNvPr>
          <p:cNvSpPr>
            <a:spLocks noGrp="1"/>
          </p:cNvSpPr>
          <p:nvPr>
            <p:ph idx="1"/>
          </p:nvPr>
        </p:nvSpPr>
        <p:spPr>
          <a:xfrm>
            <a:off x="1141413" y="2441051"/>
            <a:ext cx="9664410" cy="3681454"/>
          </a:xfrm>
        </p:spPr>
        <p:txBody>
          <a:bodyPr>
            <a:normAutofit fontScale="85000" lnSpcReduction="10000"/>
          </a:bodyPr>
          <a:lstStyle/>
          <a:p>
            <a:pPr marL="0" indent="0">
              <a:buNone/>
            </a:pPr>
            <a:r>
              <a:rPr lang="en-US" dirty="0"/>
              <a:t>Manchester encoding (named after the university where it was developed) is a binary encoding (or, if you like, a modulation) with phase shift (2-BPSK).</a:t>
            </a:r>
          </a:p>
          <a:p>
            <a:pPr marL="0" indent="0">
              <a:buNone/>
            </a:pPr>
            <a:r>
              <a:rPr lang="en-US" dirty="0"/>
              <a:t>This encoding guarantees frequent potential transitions on the transmission line, which are directly proportional to the clock frequency, thus making it easier to recover (synchronize) the latter at the receiver. The Manchester code always has a transition in the middle of each bit.</a:t>
            </a:r>
          </a:p>
          <a:p>
            <a:pPr marL="0" indent="0">
              <a:buNone/>
            </a:pPr>
            <a:r>
              <a:rPr lang="en-US" dirty="0"/>
              <a:t>The signal is usually stripped of its DC component, which is not relevant for interpreting the data. Normally, from the electrical point of view, differential transmission is chosen.</a:t>
            </a:r>
          </a:p>
          <a:p>
            <a:pPr marL="0" indent="0">
              <a:buNone/>
            </a:pPr>
            <a:r>
              <a:rPr lang="en-US" dirty="0"/>
              <a:t>The transmission line needs a bandwidth at least double that of the information.</a:t>
            </a:r>
          </a:p>
          <a:p>
            <a:pPr marL="0" indent="0">
              <a:buNone/>
            </a:pPr>
            <a:r>
              <a:rPr lang="en-US" dirty="0"/>
              <a:t>Since the timing (clock) information is carried together with the data, it is considered a </a:t>
            </a:r>
            <a:r>
              <a:rPr lang="en-US" u="sng" dirty="0"/>
              <a:t>synchronous transmission</a:t>
            </a:r>
            <a:r>
              <a:rPr lang="en-US" dirty="0"/>
              <a:t>, even though it does not use a separate line for the clock as other types of synchronous interfaces do.</a:t>
            </a:r>
          </a:p>
          <a:p>
            <a:pPr marL="0" indent="0">
              <a:buNone/>
            </a:pPr>
            <a:endParaRPr lang="en-US" dirty="0"/>
          </a:p>
        </p:txBody>
      </p:sp>
    </p:spTree>
    <p:extLst>
      <p:ext uri="{BB962C8B-B14F-4D97-AF65-F5344CB8AC3E}">
        <p14:creationId xmlns:p14="http://schemas.microsoft.com/office/powerpoint/2010/main" val="497233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4F432B-60D0-5F91-C330-D44534C7C24F}"/>
              </a:ext>
            </a:extLst>
          </p:cNvPr>
          <p:cNvSpPr>
            <a:spLocks noGrp="1"/>
          </p:cNvSpPr>
          <p:nvPr>
            <p:ph type="title"/>
          </p:nvPr>
        </p:nvSpPr>
        <p:spPr>
          <a:xfrm>
            <a:off x="1141413" y="609600"/>
            <a:ext cx="9905998" cy="1171492"/>
          </a:xfrm>
        </p:spPr>
        <p:txBody>
          <a:bodyPr/>
          <a:lstStyle/>
          <a:p>
            <a:r>
              <a:rPr lang="en-US" dirty="0"/>
              <a:t>MANCHESTER ENCODER (1)</a:t>
            </a:r>
          </a:p>
        </p:txBody>
      </p:sp>
      <p:sp>
        <p:nvSpPr>
          <p:cNvPr id="3" name="Segnaposto contenuto 2">
            <a:extLst>
              <a:ext uri="{FF2B5EF4-FFF2-40B4-BE49-F238E27FC236}">
                <a16:creationId xmlns:a16="http://schemas.microsoft.com/office/drawing/2014/main" id="{C1F5545B-CBA0-086D-1093-6FF2E1E27AF9}"/>
              </a:ext>
            </a:extLst>
          </p:cNvPr>
          <p:cNvSpPr>
            <a:spLocks noGrp="1"/>
          </p:cNvSpPr>
          <p:nvPr>
            <p:ph idx="1"/>
          </p:nvPr>
        </p:nvSpPr>
        <p:spPr>
          <a:xfrm>
            <a:off x="1141413" y="1781092"/>
            <a:ext cx="9905998" cy="2451877"/>
          </a:xfrm>
        </p:spPr>
        <p:txBody>
          <a:bodyPr>
            <a:normAutofit fontScale="92500" lnSpcReduction="20000"/>
          </a:bodyPr>
          <a:lstStyle/>
          <a:p>
            <a:pPr marL="0" indent="0">
              <a:buNone/>
            </a:pPr>
            <a:r>
              <a:rPr lang="en-US" dirty="0"/>
              <a:t>To build a Manchester Encoder in its simplest form, it would suffice to XOR the clock (clk) with the data (Stallings convention, IEEE 802.x standard).</a:t>
            </a:r>
          </a:p>
          <a:p>
            <a:pPr marL="0" indent="0">
              <a:buNone/>
            </a:pPr>
            <a:r>
              <a:rPr lang="en-US" dirty="0"/>
              <a:t>To improve the encoder's reliability, a synchronizer (flip-flop) was added at the data input.</a:t>
            </a:r>
          </a:p>
          <a:p>
            <a:pPr marL="0" indent="0">
              <a:buNone/>
            </a:pPr>
            <a:r>
              <a:rPr lang="en-US" dirty="0"/>
              <a:t>Although it adds delay to the encoder's output signal, a second flip-flop was added in order to eliminate any static hazards generated by the XOR gate. Indeed, depending on the technology and architecture of the XOR gate's implementation, since the function consists of two disjoint minterms, there is a probability that static hazards may be generated.</a:t>
            </a:r>
          </a:p>
        </p:txBody>
      </p:sp>
      <p:pic>
        <p:nvPicPr>
          <p:cNvPr id="7" name="Elemento grafico 6">
            <a:extLst>
              <a:ext uri="{FF2B5EF4-FFF2-40B4-BE49-F238E27FC236}">
                <a16:creationId xmlns:a16="http://schemas.microsoft.com/office/drawing/2014/main" id="{796B6686-B5A5-F87D-1D84-53D74CA32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91765" y="4320430"/>
            <a:ext cx="7405293" cy="2178658"/>
          </a:xfrm>
          <a:prstGeom prst="rect">
            <a:avLst/>
          </a:prstGeom>
        </p:spPr>
      </p:pic>
    </p:spTree>
    <p:extLst>
      <p:ext uri="{BB962C8B-B14F-4D97-AF65-F5344CB8AC3E}">
        <p14:creationId xmlns:p14="http://schemas.microsoft.com/office/powerpoint/2010/main" val="4189702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4F432B-60D0-5F91-C330-D44534C7C24F}"/>
              </a:ext>
            </a:extLst>
          </p:cNvPr>
          <p:cNvSpPr>
            <a:spLocks noGrp="1"/>
          </p:cNvSpPr>
          <p:nvPr>
            <p:ph type="title"/>
          </p:nvPr>
        </p:nvSpPr>
        <p:spPr/>
        <p:txBody>
          <a:bodyPr/>
          <a:lstStyle/>
          <a:p>
            <a:r>
              <a:rPr lang="en-US" dirty="0"/>
              <a:t>MANCHESTER ENCODER (2)</a:t>
            </a:r>
          </a:p>
        </p:txBody>
      </p:sp>
      <p:sp>
        <p:nvSpPr>
          <p:cNvPr id="3" name="Segnaposto contenuto 2">
            <a:extLst>
              <a:ext uri="{FF2B5EF4-FFF2-40B4-BE49-F238E27FC236}">
                <a16:creationId xmlns:a16="http://schemas.microsoft.com/office/drawing/2014/main" id="{C1F5545B-CBA0-086D-1093-6FF2E1E27AF9}"/>
              </a:ext>
            </a:extLst>
          </p:cNvPr>
          <p:cNvSpPr>
            <a:spLocks noGrp="1"/>
          </p:cNvSpPr>
          <p:nvPr>
            <p:ph idx="1"/>
          </p:nvPr>
        </p:nvSpPr>
        <p:spPr>
          <a:xfrm>
            <a:off x="1141413" y="2666999"/>
            <a:ext cx="6627011" cy="3124201"/>
          </a:xfrm>
        </p:spPr>
        <p:txBody>
          <a:bodyPr>
            <a:normAutofit/>
          </a:bodyPr>
          <a:lstStyle/>
          <a:p>
            <a:r>
              <a:rPr lang="en-US" dirty="0"/>
              <a:t>An alternative structure for the Manchester encoder uses a state machine to generate the signal.</a:t>
            </a:r>
          </a:p>
          <a:p>
            <a:r>
              <a:rPr lang="en-US" dirty="0"/>
              <a:t>The advantage of this architecture is that only one clock is needed for its operation and that the probability of static hazards at the output is completely eliminated.</a:t>
            </a:r>
          </a:p>
          <a:p>
            <a:r>
              <a:rPr lang="en-US" dirty="0"/>
              <a:t>On the downside, it uses more parts to implement the function.</a:t>
            </a:r>
          </a:p>
        </p:txBody>
      </p:sp>
      <p:pic>
        <p:nvPicPr>
          <p:cNvPr id="5" name="Elemento grafico 4">
            <a:extLst>
              <a:ext uri="{FF2B5EF4-FFF2-40B4-BE49-F238E27FC236}">
                <a16:creationId xmlns:a16="http://schemas.microsoft.com/office/drawing/2014/main" id="{5962FC00-0A25-A91C-3970-FDC9C24778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14791" y="1184868"/>
            <a:ext cx="3552825" cy="5172075"/>
          </a:xfrm>
          <a:prstGeom prst="rect">
            <a:avLst/>
          </a:prstGeom>
        </p:spPr>
      </p:pic>
    </p:spTree>
    <p:extLst>
      <p:ext uri="{BB962C8B-B14F-4D97-AF65-F5344CB8AC3E}">
        <p14:creationId xmlns:p14="http://schemas.microsoft.com/office/powerpoint/2010/main" val="2137791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6CC979-2340-389B-40D2-88B4BE424F9E}"/>
              </a:ext>
            </a:extLst>
          </p:cNvPr>
          <p:cNvSpPr>
            <a:spLocks noGrp="1"/>
          </p:cNvSpPr>
          <p:nvPr>
            <p:ph type="title"/>
          </p:nvPr>
        </p:nvSpPr>
        <p:spPr>
          <a:xfrm>
            <a:off x="1141413" y="609600"/>
            <a:ext cx="9905998" cy="1091979"/>
          </a:xfrm>
        </p:spPr>
        <p:txBody>
          <a:bodyPr/>
          <a:lstStyle/>
          <a:p>
            <a:r>
              <a:rPr lang="en-US" dirty="0"/>
              <a:t>Manchester decoder</a:t>
            </a:r>
          </a:p>
        </p:txBody>
      </p:sp>
      <p:sp>
        <p:nvSpPr>
          <p:cNvPr id="3" name="Segnaposto contenuto 2">
            <a:extLst>
              <a:ext uri="{FF2B5EF4-FFF2-40B4-BE49-F238E27FC236}">
                <a16:creationId xmlns:a16="http://schemas.microsoft.com/office/drawing/2014/main" id="{09A58836-5753-89A6-A21D-F358DCB02E73}"/>
              </a:ext>
            </a:extLst>
          </p:cNvPr>
          <p:cNvSpPr>
            <a:spLocks noGrp="1"/>
          </p:cNvSpPr>
          <p:nvPr>
            <p:ph idx="1"/>
          </p:nvPr>
        </p:nvSpPr>
        <p:spPr>
          <a:xfrm>
            <a:off x="1141413" y="1796995"/>
            <a:ext cx="9905998" cy="4451405"/>
          </a:xfrm>
        </p:spPr>
        <p:txBody>
          <a:bodyPr>
            <a:normAutofit/>
          </a:bodyPr>
          <a:lstStyle/>
          <a:p>
            <a:r>
              <a:rPr lang="en-US" dirty="0"/>
              <a:t>Decoding a Manchester signal involves recovering the timing (clock) together with the actual information (the data).</a:t>
            </a:r>
          </a:p>
          <a:p>
            <a:r>
              <a:rPr lang="en-US" dirty="0"/>
              <a:t>In practice, for signals coming from very high-speed channels, clock recovery is done by special circuits (PLL, Phase Locked Loop) able to lock onto a frequency or a multiple of it. After a small number of signal cycles, such devices generate a clock perfectly synchronized with the one contained in the signal. This clock can be used to recover the original information from the signal itself.</a:t>
            </a:r>
          </a:p>
          <a:p>
            <a:r>
              <a:rPr lang="en-US" dirty="0"/>
              <a:t>If the communication consists of a signal that is not particularly fast, alternative techniques can be used that do not require analog parts such as PLLs. Architectures of this kind are based on detecting changes in the signal together with delayed sampling, both obtainable with logic circuits. In this presentation we will use this second approach.</a:t>
            </a:r>
          </a:p>
          <a:p>
            <a:endParaRPr lang="en-US" dirty="0"/>
          </a:p>
        </p:txBody>
      </p:sp>
    </p:spTree>
    <p:extLst>
      <p:ext uri="{BB962C8B-B14F-4D97-AF65-F5344CB8AC3E}">
        <p14:creationId xmlns:p14="http://schemas.microsoft.com/office/powerpoint/2010/main" val="3599581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6CC979-2340-389B-40D2-88B4BE424F9E}"/>
              </a:ext>
            </a:extLst>
          </p:cNvPr>
          <p:cNvSpPr>
            <a:spLocks noGrp="1"/>
          </p:cNvSpPr>
          <p:nvPr>
            <p:ph type="title"/>
          </p:nvPr>
        </p:nvSpPr>
        <p:spPr>
          <a:xfrm>
            <a:off x="1141413" y="609600"/>
            <a:ext cx="9905998" cy="1091979"/>
          </a:xfrm>
        </p:spPr>
        <p:txBody>
          <a:bodyPr/>
          <a:lstStyle/>
          <a:p>
            <a:r>
              <a:rPr lang="en-US" dirty="0"/>
              <a:t>Manchester decoder</a:t>
            </a:r>
          </a:p>
        </p:txBody>
      </p:sp>
      <p:sp>
        <p:nvSpPr>
          <p:cNvPr id="3" name="Segnaposto contenuto 2">
            <a:extLst>
              <a:ext uri="{FF2B5EF4-FFF2-40B4-BE49-F238E27FC236}">
                <a16:creationId xmlns:a16="http://schemas.microsoft.com/office/drawing/2014/main" id="{09A58836-5753-89A6-A21D-F358DCB02E73}"/>
              </a:ext>
            </a:extLst>
          </p:cNvPr>
          <p:cNvSpPr>
            <a:spLocks noGrp="1"/>
          </p:cNvSpPr>
          <p:nvPr>
            <p:ph idx="1"/>
          </p:nvPr>
        </p:nvSpPr>
        <p:spPr>
          <a:xfrm>
            <a:off x="1141413" y="2003729"/>
            <a:ext cx="5418413" cy="4126727"/>
          </a:xfrm>
        </p:spPr>
        <p:txBody>
          <a:bodyPr>
            <a:normAutofit fontScale="92500" lnSpcReduction="20000"/>
          </a:bodyPr>
          <a:lstStyle/>
          <a:p>
            <a:pPr marL="0" indent="0">
              <a:buNone/>
            </a:pPr>
            <a:r>
              <a:rPr lang="en-US" dirty="0" err="1"/>
              <a:t>The decoder extracts the clock (data clock) and the data (data out) from the signal (s-manc).</a:t>
            </a:r>
          </a:p>
          <a:p>
            <a:pPr marL="0" indent="0">
              <a:buNone/>
            </a:pPr>
            <a:r>
              <a:rPr lang="en-US" dirty="0"/>
              <a:t>By XORing the signal (s-manc) with a delayed copy of itself (delayed) we obtain the </a:t>
            </a:r>
            <a:r>
              <a:rPr lang="en-US" i="1" dirty="0" err="1"/>
              <a:t>edge</a:t>
            </a:r>
            <a:r>
              <a:rPr lang="en-US" dirty="0"/>
              <a:t> signal. </a:t>
            </a:r>
          </a:p>
          <a:p>
            <a:pPr marL="0" indent="0">
              <a:buNone/>
            </a:pPr>
            <a:r>
              <a:rPr lang="en-US" dirty="0"/>
              <a:t>The </a:t>
            </a:r>
            <a:r>
              <a:rPr lang="en-US" i="1" dirty="0" err="1"/>
              <a:t>edge</a:t>
            </a:r>
            <a:r>
              <a:rPr lang="en-US" dirty="0"/>
              <a:t> signal feeds an input of a state machine (counter/sequencer). If the latter is waiting for a stimulus and if </a:t>
            </a:r>
            <a:r>
              <a:rPr lang="en-US" i="1" dirty="0" err="1"/>
              <a:t>edge</a:t>
            </a:r>
            <a:r>
              <a:rPr lang="en-US" dirty="0"/>
              <a:t> is one, the state machine, in our case starting from 5, triggers a countdown that, on reaching zero, determines the moment at which the decoder samples the value of the data contained in the input signal (s-manc).</a:t>
            </a:r>
          </a:p>
          <a:p>
            <a:pPr marL="0" indent="0">
              <a:buNone/>
            </a:pPr>
            <a:r>
              <a:rPr lang="en-US" dirty="0"/>
              <a:t>During the count, the </a:t>
            </a:r>
            <a:r>
              <a:rPr lang="en-US" i="1" dirty="0" err="1"/>
              <a:t>edge</a:t>
            </a:r>
            <a:r>
              <a:rPr lang="en-US" dirty="0"/>
              <a:t> input is ignored.</a:t>
            </a:r>
          </a:p>
        </p:txBody>
      </p:sp>
      <p:pic>
        <p:nvPicPr>
          <p:cNvPr id="12" name="Elemento grafico 11">
            <a:extLst>
              <a:ext uri="{FF2B5EF4-FFF2-40B4-BE49-F238E27FC236}">
                <a16:creationId xmlns:a16="http://schemas.microsoft.com/office/drawing/2014/main" id="{E7E21155-A773-9292-C98B-24E722C19C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89368" y="1701578"/>
            <a:ext cx="5059510" cy="4890053"/>
          </a:xfrm>
          <a:prstGeom prst="rect">
            <a:avLst/>
          </a:prstGeom>
        </p:spPr>
      </p:pic>
    </p:spTree>
    <p:extLst>
      <p:ext uri="{BB962C8B-B14F-4D97-AF65-F5344CB8AC3E}">
        <p14:creationId xmlns:p14="http://schemas.microsoft.com/office/powerpoint/2010/main" val="2645336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8000" dirty="0"/>
              <a:t>HDL in practice:</a:t>
            </a:r>
          </a:p>
          <a:p>
            <a:pPr algn="ctr"/>
            <a:r>
              <a:rPr lang="en-US" sz="8000" dirty="0"/>
              <a:t>(A USEFUL</a:t>
            </a:r>
            <a:br>
              <a:rPr lang="en-US" sz="8000" dirty="0"/>
            </a:br>
            <a:r>
              <a:rPr lang="en-US" sz="8000" dirty="0"/>
              <a:t>INTERLUDE) LFSRs</a:t>
            </a:r>
          </a:p>
        </p:txBody>
      </p:sp>
    </p:spTree>
    <p:extLst>
      <p:ext uri="{BB962C8B-B14F-4D97-AF65-F5344CB8AC3E}">
        <p14:creationId xmlns:p14="http://schemas.microsoft.com/office/powerpoint/2010/main" val="2759481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BA5067-C86D-021E-72EF-1709C782A9FA}"/>
              </a:ext>
            </a:extLst>
          </p:cNvPr>
          <p:cNvSpPr>
            <a:spLocks noGrp="1"/>
          </p:cNvSpPr>
          <p:nvPr>
            <p:ph type="title"/>
          </p:nvPr>
        </p:nvSpPr>
        <p:spPr/>
        <p:txBody>
          <a:bodyPr/>
          <a:lstStyle/>
          <a:p>
            <a:r>
              <a:rPr lang="en-US" dirty="0"/>
              <a:t>LFSR (Linear feedback shift register)</a:t>
            </a:r>
          </a:p>
        </p:txBody>
      </p:sp>
      <p:sp>
        <p:nvSpPr>
          <p:cNvPr id="3" name="Segnaposto contenuto 2">
            <a:extLst>
              <a:ext uri="{FF2B5EF4-FFF2-40B4-BE49-F238E27FC236}">
                <a16:creationId xmlns:a16="http://schemas.microsoft.com/office/drawing/2014/main" id="{766978A6-5037-BA23-B2E6-02FD8E42B8A2}"/>
              </a:ext>
            </a:extLst>
          </p:cNvPr>
          <p:cNvSpPr>
            <a:spLocks noGrp="1"/>
          </p:cNvSpPr>
          <p:nvPr>
            <p:ph idx="1"/>
          </p:nvPr>
        </p:nvSpPr>
        <p:spPr>
          <a:xfrm>
            <a:off x="1141413" y="2218414"/>
            <a:ext cx="8606458" cy="4166483"/>
          </a:xfrm>
        </p:spPr>
        <p:txBody>
          <a:bodyPr>
            <a:normAutofit fontScale="92500" lnSpcReduction="10000"/>
          </a:bodyPr>
          <a:lstStyle/>
          <a:p>
            <a:pPr marL="0" indent="0">
              <a:buNone/>
            </a:pPr>
            <a:r>
              <a:rPr lang="en-US" dirty="0"/>
              <a:t>LFSR: it is a sort of </a:t>
            </a:r>
            <a:r>
              <a:rPr lang="en-US" i="1" dirty="0" err="1"/>
              <a:t>Ouroboros</a:t>
            </a:r>
            <a:r>
              <a:rPr lang="en-US" dirty="0"/>
              <a:t> (the snake that eats its own tail) of digital electronics, in which the output of a Shift Register is manipulated and fed back into its input so that the function cycles endlessly through a sequence of all-different numbers (expected pattern).</a:t>
            </a:r>
          </a:p>
          <a:p>
            <a:pPr marL="0" indent="0">
              <a:buNone/>
            </a:pPr>
            <a:r>
              <a:rPr lang="en-US" dirty="0"/>
              <a:t>LFSRs are very fast, simple to</a:t>
            </a:r>
            <a:br>
              <a:rPr lang="en-US" dirty="0"/>
            </a:br>
            <a:r>
              <a:rPr lang="en-US" dirty="0"/>
              <a:t>build and very useful for a wide</a:t>
            </a:r>
            <a:br>
              <a:rPr lang="en-US" dirty="0"/>
            </a:br>
            <a:r>
              <a:rPr lang="en-US" dirty="0"/>
              <a:t>variety of applications.</a:t>
            </a:r>
          </a:p>
          <a:p>
            <a:pPr marL="0" indent="0">
              <a:buNone/>
            </a:pPr>
            <a:r>
              <a:rPr lang="en-US" dirty="0"/>
              <a:t>One of the most common forms</a:t>
            </a:r>
            <a:br>
              <a:rPr lang="en-US" dirty="0"/>
            </a:br>
            <a:r>
              <a:rPr lang="en-US" dirty="0"/>
              <a:t>of LFSR is made of a simple Shift</a:t>
            </a:r>
            <a:br>
              <a:rPr lang="en-US" dirty="0"/>
            </a:br>
            <a:r>
              <a:rPr lang="en-US" dirty="0"/>
              <a:t>Register with feedback</a:t>
            </a:r>
            <a:br>
              <a:rPr lang="en-US" dirty="0"/>
            </a:br>
            <a:r>
              <a:rPr lang="en-US" dirty="0"/>
              <a:t>starting from two or more points</a:t>
            </a:r>
            <a:br>
              <a:rPr lang="en-US" dirty="0"/>
            </a:br>
            <a:r>
              <a:rPr lang="en-US" dirty="0"/>
              <a:t>(called </a:t>
            </a:r>
            <a:r>
              <a:rPr lang="en-US" i="1" dirty="0" err="1"/>
              <a:t>taps</a:t>
            </a:r>
            <a:r>
              <a:rPr lang="en-US" dirty="0"/>
              <a:t>) taken along the chain</a:t>
            </a:r>
            <a:br>
              <a:rPr lang="en-US" dirty="0"/>
            </a:br>
            <a:r>
              <a:rPr lang="en-US" dirty="0"/>
              <a:t>of registers. Alongside, an example</a:t>
            </a:r>
            <a:br>
              <a:rPr lang="en-US" dirty="0"/>
            </a:br>
            <a:r>
              <a:rPr lang="en-US" dirty="0"/>
              <a:t>of a three-bit LFSR with two taps.</a:t>
            </a:r>
          </a:p>
        </p:txBody>
      </p:sp>
      <p:pic>
        <p:nvPicPr>
          <p:cNvPr id="1026" name="Picture 2">
            <a:extLst>
              <a:ext uri="{FF2B5EF4-FFF2-40B4-BE49-F238E27FC236}">
                <a16:creationId xmlns:a16="http://schemas.microsoft.com/office/drawing/2014/main" id="{700B73C0-8BC5-4842-709A-B9AD82039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871" y="2127741"/>
            <a:ext cx="1563026" cy="1555921"/>
          </a:xfrm>
          <a:prstGeom prst="rect">
            <a:avLst/>
          </a:prstGeom>
          <a:noFill/>
          <a:extLst>
            <a:ext uri="{909E8E84-426E-40DD-AFC4-6F175D3DCCD1}">
              <a14:hiddenFill xmlns:a14="http://schemas.microsoft.com/office/drawing/2010/main">
                <a:solidFill>
                  <a:srgbClr val="FFFFFF"/>
                </a:solidFill>
              </a14:hiddenFill>
            </a:ext>
          </a:extLst>
        </p:spPr>
      </p:pic>
      <p:pic>
        <p:nvPicPr>
          <p:cNvPr id="9" name="Elemento grafico 8">
            <a:extLst>
              <a:ext uri="{FF2B5EF4-FFF2-40B4-BE49-F238E27FC236}">
                <a16:creationId xmlns:a16="http://schemas.microsoft.com/office/drawing/2014/main" id="{8F1424BD-BCFE-1819-A894-2DB664F0B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23937" y="3852629"/>
            <a:ext cx="4991100" cy="2295525"/>
          </a:xfrm>
          <a:prstGeom prst="rect">
            <a:avLst/>
          </a:prstGeom>
        </p:spPr>
      </p:pic>
    </p:spTree>
    <p:extLst>
      <p:ext uri="{BB962C8B-B14F-4D97-AF65-F5344CB8AC3E}">
        <p14:creationId xmlns:p14="http://schemas.microsoft.com/office/powerpoint/2010/main" val="3281889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BA5067-C86D-021E-72EF-1709C782A9FA}"/>
              </a:ext>
            </a:extLst>
          </p:cNvPr>
          <p:cNvSpPr>
            <a:spLocks noGrp="1"/>
          </p:cNvSpPr>
          <p:nvPr>
            <p:ph type="title"/>
          </p:nvPr>
        </p:nvSpPr>
        <p:spPr/>
        <p:txBody>
          <a:bodyPr/>
          <a:lstStyle/>
          <a:p>
            <a:r>
              <a:rPr lang="en-US" dirty="0"/>
              <a:t>LFSR TESTBENCH</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766978A6-5037-BA23-B2E6-02FD8E42B8A2}"/>
                  </a:ext>
                </a:extLst>
              </p:cNvPr>
              <p:cNvSpPr>
                <a:spLocks noGrp="1"/>
              </p:cNvSpPr>
              <p:nvPr>
                <p:ph idx="1"/>
              </p:nvPr>
            </p:nvSpPr>
            <p:spPr>
              <a:xfrm>
                <a:off x="723569" y="2027583"/>
                <a:ext cx="5600367" cy="4357313"/>
              </a:xfrm>
            </p:spPr>
            <p:txBody>
              <a:bodyPr>
                <a:normAutofit fontScale="92500" lnSpcReduction="20000"/>
              </a:bodyPr>
              <a:lstStyle/>
              <a:p>
                <a:pPr marL="0" indent="0">
                  <a:buNone/>
                </a:pPr>
                <a:r>
                  <a:rPr lang="en-US" dirty="0"/>
                  <a:t>To synthesize an LFSR you can use an </a:t>
                </a:r>
                <a:r>
                  <a:rPr lang="en-US" i="1" dirty="0"/>
                  <a:t>open-source</a:t>
                </a:r>
                <a:r>
                  <a:rPr lang="en-US" dirty="0"/>
                  <a:t> tool called </a:t>
                </a:r>
                <a:r>
                  <a:rPr lang="en-US" u="sng" dirty="0"/>
                  <a:t>LFSR testbench</a:t>
                </a:r>
                <a:r>
                  <a:rPr lang="en-US" dirty="0"/>
                  <a:t>, downloadable at this URL:</a:t>
                </a:r>
              </a:p>
              <a:p>
                <a:pPr marL="0" indent="0">
                  <a:buNone/>
                </a:pPr>
                <a:r>
                  <a:rPr lang="en-US" dirty="0">
                    <a:hlinkClick r:id="rId2"/>
                  </a:rPr>
                  <a:t>https://www.fpga4fun.com/files/LFSRTestbench.zip</a:t>
                </a:r>
                <a:endParaRPr lang="en-US" dirty="0"/>
              </a:p>
              <a:p>
                <a:pPr marL="0" indent="0">
                  <a:buNone/>
                </a:pPr>
                <a:r>
                  <a:rPr lang="en-US" dirty="0"/>
                  <a:t>Normally, in the simplest configuration, the number of codes produced (sequence length) is less than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where </a:t>
                </a:r>
                <a14:m>
                  <m:oMath xmlns:m="http://schemas.openxmlformats.org/officeDocument/2006/math">
                    <m:r>
                      <a:rPr lang="en-US" b="0" i="1" smtClean="0">
                        <a:latin typeface="Cambria Math" panose="02040503050406030204" pitchFamily="18" charset="0"/>
                      </a:rPr>
                      <m:t>𝑛</m:t>
                    </m:r>
                  </m:oMath>
                </a14:m>
                <a:r>
                  <a:rPr lang="en-US" dirty="0"/>
                  <a:t> is the so-called "length" of the LFSR in bits.</a:t>
                </a:r>
                <a:br>
                  <a:rPr lang="en-US" dirty="0"/>
                </a:br>
                <a:r>
                  <a:rPr lang="en-US" dirty="0"/>
                  <a:t>By adding a few gates it is possible to have LFSR generators with a sequence length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a:t>
                </a:r>
              </a:p>
              <a:p>
                <a:pPr marL="0" indent="0">
                  <a:buNone/>
                </a:pPr>
                <a:r>
                  <a:rPr lang="en-US" dirty="0"/>
                  <a:t>This software lets you specify various LFSR parameters and provides the result in the form of a circuit diagram, the produced sequence, Verilog code or VHDL code.</a:t>
                </a:r>
              </a:p>
              <a:p>
                <a:pPr marL="0" indent="0">
                  <a:buNone/>
                </a:pPr>
                <a:endParaRPr lang="en-US" dirty="0"/>
              </a:p>
            </p:txBody>
          </p:sp>
        </mc:Choice>
        <mc:Fallback>
          <p:sp>
            <p:nvSpPr>
              <p:cNvPr id="3" name="Segnaposto contenuto 2">
                <a:extLst>
                  <a:ext uri="{FF2B5EF4-FFF2-40B4-BE49-F238E27FC236}">
                    <a16:creationId xmlns:a16="http://schemas.microsoft.com/office/drawing/2014/main" id="{766978A6-5037-BA23-B2E6-02FD8E42B8A2}"/>
                  </a:ext>
                </a:extLst>
              </p:cNvPr>
              <p:cNvSpPr>
                <a:spLocks noGrp="1" noRot="1" noChangeAspect="1" noMove="1" noResize="1" noEditPoints="1" noAdjustHandles="1" noChangeArrowheads="1" noChangeShapeType="1" noTextEdit="1"/>
              </p:cNvSpPr>
              <p:nvPr>
                <p:ph idx="1"/>
              </p:nvPr>
            </p:nvSpPr>
            <p:spPr>
              <a:xfrm>
                <a:off x="723569" y="2027583"/>
                <a:ext cx="5600367" cy="4357313"/>
              </a:xfrm>
              <a:blipFill>
                <a:blip r:embed="rId3"/>
                <a:stretch>
                  <a:fillRect l="-1852" r="-1416"/>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F09DDA13-F8A6-0B6C-6E0C-CBA9A69452CE}"/>
              </a:ext>
            </a:extLst>
          </p:cNvPr>
          <p:cNvPicPr>
            <a:picLocks noChangeAspect="1"/>
          </p:cNvPicPr>
          <p:nvPr/>
        </p:nvPicPr>
        <p:blipFill>
          <a:blip r:embed="rId4"/>
          <a:stretch>
            <a:fillRect/>
          </a:stretch>
        </p:blipFill>
        <p:spPr>
          <a:xfrm>
            <a:off x="6323936" y="473104"/>
            <a:ext cx="4924947" cy="3266620"/>
          </a:xfrm>
          <a:prstGeom prst="rect">
            <a:avLst/>
          </a:prstGeom>
        </p:spPr>
      </p:pic>
      <p:pic>
        <p:nvPicPr>
          <p:cNvPr id="8" name="Elemento grafico 7">
            <a:extLst>
              <a:ext uri="{FF2B5EF4-FFF2-40B4-BE49-F238E27FC236}">
                <a16:creationId xmlns:a16="http://schemas.microsoft.com/office/drawing/2014/main" id="{A58B399F-E93D-E392-4987-CC8FAA276C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23937" y="3852629"/>
            <a:ext cx="4991100" cy="2295525"/>
          </a:xfrm>
          <a:prstGeom prst="rect">
            <a:avLst/>
          </a:prstGeom>
        </p:spPr>
      </p:pic>
    </p:spTree>
    <p:extLst>
      <p:ext uri="{BB962C8B-B14F-4D97-AF65-F5344CB8AC3E}">
        <p14:creationId xmlns:p14="http://schemas.microsoft.com/office/powerpoint/2010/main" val="1484513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280F8197-366A-AAC9-0591-28563627628E}"/>
              </a:ext>
            </a:extLst>
          </p:cNvPr>
          <p:cNvSpPr txBox="1">
            <a:spLocks/>
          </p:cNvSpPr>
          <p:nvPr/>
        </p:nvSpPr>
        <p:spPr>
          <a:xfrm>
            <a:off x="1141413" y="618518"/>
            <a:ext cx="9905998" cy="571072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8000" dirty="0"/>
              <a:t>HDL in practice:</a:t>
            </a:r>
          </a:p>
          <a:p>
            <a:pPr algn="ctr"/>
            <a:r>
              <a:rPr lang="en-US" sz="8000" dirty="0"/>
              <a:t>EXPERIMENT WITH MANCHESTER ENCODING</a:t>
            </a:r>
          </a:p>
        </p:txBody>
      </p:sp>
    </p:spTree>
    <p:extLst>
      <p:ext uri="{BB962C8B-B14F-4D97-AF65-F5344CB8AC3E}">
        <p14:creationId xmlns:p14="http://schemas.microsoft.com/office/powerpoint/2010/main" val="3874889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en-US" dirty="0"/>
              <a:t>EXAMPLE: A MANCHESTER TRANSCEIVER (1)</a:t>
            </a:r>
          </a:p>
        </p:txBody>
      </p:sp>
      <p:sp>
        <p:nvSpPr>
          <p:cNvPr id="5" name="Segnaposto contenuto 2">
            <a:extLst>
              <a:ext uri="{FF2B5EF4-FFF2-40B4-BE49-F238E27FC236}">
                <a16:creationId xmlns:a16="http://schemas.microsoft.com/office/drawing/2014/main" id="{110781C1-2218-12C9-EEA4-AD4790CAC742}"/>
              </a:ext>
            </a:extLst>
          </p:cNvPr>
          <p:cNvSpPr txBox="1">
            <a:spLocks/>
          </p:cNvSpPr>
          <p:nvPr/>
        </p:nvSpPr>
        <p:spPr>
          <a:xfrm>
            <a:off x="1141414" y="1900372"/>
            <a:ext cx="5267338" cy="1025718"/>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dirty="0"/>
              <a:t>Our experiment, whose structure is shown alongside, is built entirely on a SiPeed Tang Nano 9K.</a:t>
            </a:r>
          </a:p>
        </p:txBody>
      </p:sp>
      <p:pic>
        <p:nvPicPr>
          <p:cNvPr id="12" name="Elemento grafico 11">
            <a:extLst>
              <a:ext uri="{FF2B5EF4-FFF2-40B4-BE49-F238E27FC236}">
                <a16:creationId xmlns:a16="http://schemas.microsoft.com/office/drawing/2014/main" id="{93F061E4-029C-468F-C37B-CA6D03EFA5F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25370" y="1522011"/>
            <a:ext cx="5110743" cy="4828734"/>
          </a:xfrm>
          <a:prstGeom prst="rect">
            <a:avLst/>
          </a:prstGeom>
        </p:spPr>
      </p:pic>
    </p:spTree>
    <p:extLst>
      <p:ext uri="{BB962C8B-B14F-4D97-AF65-F5344CB8AC3E}">
        <p14:creationId xmlns:p14="http://schemas.microsoft.com/office/powerpoint/2010/main" val="3757728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Elemento grafico 9">
            <a:extLst>
              <a:ext uri="{FF2B5EF4-FFF2-40B4-BE49-F238E27FC236}">
                <a16:creationId xmlns:a16="http://schemas.microsoft.com/office/drawing/2014/main" id="{54DA9852-5255-E7A9-DA6A-156ABC4A2D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25370" y="1522011"/>
            <a:ext cx="5110743" cy="4828734"/>
          </a:xfrm>
          <a:prstGeom prst="rect">
            <a:avLst/>
          </a:prstGeom>
        </p:spPr>
      </p:pic>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en-US" dirty="0"/>
              <a:t>EXAMPLE: A MANCHESTER TRANSCEIVER (2)</a:t>
            </a:r>
          </a:p>
        </p:txBody>
      </p:sp>
      <p:sp>
        <p:nvSpPr>
          <p:cNvPr id="5" name="Segnaposto contenuto 2">
            <a:extLst>
              <a:ext uri="{FF2B5EF4-FFF2-40B4-BE49-F238E27FC236}">
                <a16:creationId xmlns:a16="http://schemas.microsoft.com/office/drawing/2014/main" id="{110781C1-2218-12C9-EEA4-AD4790CAC742}"/>
              </a:ext>
            </a:extLst>
          </p:cNvPr>
          <p:cNvSpPr txBox="1">
            <a:spLocks/>
          </p:cNvSpPr>
          <p:nvPr/>
        </p:nvSpPr>
        <p:spPr>
          <a:xfrm>
            <a:off x="1141414" y="1892422"/>
            <a:ext cx="5267338" cy="2035532"/>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dirty="0"/>
              <a:t>Our experiment, whose structure is shown alongside, is built entirely on a SiPeed Tang Nano 9K.</a:t>
            </a:r>
          </a:p>
          <a:p>
            <a:r>
              <a:rPr lang="en-US" dirty="0"/>
              <a:t>We can observe the input and output of the Manchester signals (man_rx and man_tx respectively).</a:t>
            </a:r>
          </a:p>
        </p:txBody>
      </p:sp>
      <p:sp>
        <p:nvSpPr>
          <p:cNvPr id="6" name="Rettangolo 5">
            <a:extLst>
              <a:ext uri="{FF2B5EF4-FFF2-40B4-BE49-F238E27FC236}">
                <a16:creationId xmlns:a16="http://schemas.microsoft.com/office/drawing/2014/main" id="{0C25184E-7DD1-87AA-C894-31FB29C20ED3}"/>
              </a:ext>
            </a:extLst>
          </p:cNvPr>
          <p:cNvSpPr/>
          <p:nvPr/>
        </p:nvSpPr>
        <p:spPr>
          <a:xfrm>
            <a:off x="6756206" y="2920511"/>
            <a:ext cx="487433" cy="355425"/>
          </a:xfrm>
          <a:prstGeom prst="rect">
            <a:avLst/>
          </a:prstGeom>
          <a:solidFill>
            <a:srgbClr val="FF0000">
              <a:alpha val="2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ttangolo 6">
            <a:extLst>
              <a:ext uri="{FF2B5EF4-FFF2-40B4-BE49-F238E27FC236}">
                <a16:creationId xmlns:a16="http://schemas.microsoft.com/office/drawing/2014/main" id="{3C4DFA49-0C6C-3024-866C-4E69E3FC495A}"/>
              </a:ext>
            </a:extLst>
          </p:cNvPr>
          <p:cNvSpPr/>
          <p:nvPr/>
        </p:nvSpPr>
        <p:spPr>
          <a:xfrm>
            <a:off x="6756205" y="5267471"/>
            <a:ext cx="487433" cy="355425"/>
          </a:xfrm>
          <a:prstGeom prst="rect">
            <a:avLst/>
          </a:prstGeom>
          <a:solidFill>
            <a:srgbClr val="FF0000">
              <a:alpha val="2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4847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lemento grafico 6">
            <a:extLst>
              <a:ext uri="{FF2B5EF4-FFF2-40B4-BE49-F238E27FC236}">
                <a16:creationId xmlns:a16="http://schemas.microsoft.com/office/drawing/2014/main" id="{C7BA0611-35DD-7FFD-DC58-F821A838D2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25370" y="1522011"/>
            <a:ext cx="5110743" cy="4828734"/>
          </a:xfrm>
          <a:prstGeom prst="rect">
            <a:avLst/>
          </a:prstGeom>
        </p:spPr>
      </p:pic>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en-US" dirty="0"/>
              <a:t>EXAMPLE: A MANCHESTER TRANSCEIVER (3)</a:t>
            </a:r>
          </a:p>
        </p:txBody>
      </p:sp>
      <p:sp>
        <p:nvSpPr>
          <p:cNvPr id="5"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383956" cy="4418043"/>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t>Our experiment, whose Top Module structure is shown alongside, is built entirely on a SiPeed Tang Nano 9K.</a:t>
            </a:r>
          </a:p>
          <a:p>
            <a:pPr marL="0" indent="0">
              <a:buNone/>
            </a:pPr>
            <a:r>
              <a:rPr lang="en-US" dirty="0"/>
              <a:t>We can observe the input and output of the Manchester signals (man_rx and man_tx respectively).</a:t>
            </a:r>
          </a:p>
          <a:p>
            <a:pPr marL="0" indent="0">
              <a:buNone/>
            </a:pPr>
            <a:r>
              <a:rPr lang="en-US" dirty="0"/>
              <a:t>The receiver's output is presented as a group of parallel bits (data_out), together with two synchronization signals (frame and stb).</a:t>
            </a:r>
          </a:p>
          <a:p>
            <a:pPr marL="0" indent="0">
              <a:buNone/>
            </a:pPr>
            <a:r>
              <a:rPr lang="en-US" dirty="0"/>
              <a:t>To be able to appreciate how the receiver works, the output signals will be recorded by a Logic Analyzer, which will let us observe the result.</a:t>
            </a:r>
          </a:p>
        </p:txBody>
      </p:sp>
      <p:sp>
        <p:nvSpPr>
          <p:cNvPr id="3" name="Rettangolo 2">
            <a:extLst>
              <a:ext uri="{FF2B5EF4-FFF2-40B4-BE49-F238E27FC236}">
                <a16:creationId xmlns:a16="http://schemas.microsoft.com/office/drawing/2014/main" id="{83A658BF-8030-BA91-F2C0-21998ECFAAB3}"/>
              </a:ext>
            </a:extLst>
          </p:cNvPr>
          <p:cNvSpPr/>
          <p:nvPr/>
        </p:nvSpPr>
        <p:spPr>
          <a:xfrm>
            <a:off x="9141596" y="4985468"/>
            <a:ext cx="2101548" cy="890546"/>
          </a:xfrm>
          <a:prstGeom prst="rect">
            <a:avLst/>
          </a:prstGeom>
          <a:solidFill>
            <a:srgbClr val="FF0000">
              <a:alpha val="20000"/>
            </a:srgb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5013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en-US" dirty="0"/>
              <a:t>EXAMPLE: A MANCHESTER TRANSCEIVER (4)</a:t>
            </a:r>
          </a:p>
        </p:txBody>
      </p:sp>
      <p:sp>
        <p:nvSpPr>
          <p:cNvPr id="10"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267338" cy="4484536"/>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t>Inside the </a:t>
            </a:r>
            <a:r>
              <a:rPr lang="en-US" i="1" dirty="0"/>
              <a:t>top module</a:t>
            </a:r>
            <a:r>
              <a:rPr lang="en-US" dirty="0"/>
              <a:t> there are three distinct sections: clock generation, transmit section and receive section.</a:t>
            </a:r>
          </a:p>
          <a:p>
            <a:pPr marL="0" indent="0">
              <a:buNone/>
            </a:pPr>
            <a:r>
              <a:rPr lang="en-US" dirty="0">
                <a:solidFill>
                  <a:srgbClr val="FFFF00"/>
                </a:solidFill>
              </a:rPr>
              <a:t>The first </a:t>
            </a:r>
            <a:r>
              <a:rPr lang="en-US" dirty="0"/>
              <a:t>concerns the clock to be supplied to the other two sections, and is derived from the 27 MHz XO on the Tang Nano 9K. The XO output enters the FPGA and goes through a PLL: a Hard Block (or Hard IP) that multiplies the XO frequency by a fractional factor and brings it to about 200 MHz. The 200 MHz clock enters a second Hard Block that divides it by two and then by four, thus obtaining two further cadences, of 100 MHz and 50 MHz respectively, which will serve the receive and transmit sections we will see shortly.</a:t>
            </a:r>
          </a:p>
        </p:txBody>
      </p:sp>
      <p:pic>
        <p:nvPicPr>
          <p:cNvPr id="13" name="Elemento grafico 12">
            <a:extLst>
              <a:ext uri="{FF2B5EF4-FFF2-40B4-BE49-F238E27FC236}">
                <a16:creationId xmlns:a16="http://schemas.microsoft.com/office/drawing/2014/main" id="{F4631C14-F8C4-9C22-F39A-EA8CA2CE19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25370" y="1522009"/>
            <a:ext cx="5110744" cy="4828736"/>
          </a:xfrm>
          <a:prstGeom prst="rect">
            <a:avLst/>
          </a:prstGeom>
        </p:spPr>
      </p:pic>
      <p:sp>
        <p:nvSpPr>
          <p:cNvPr id="14" name="Rettangolo 13">
            <a:extLst>
              <a:ext uri="{FF2B5EF4-FFF2-40B4-BE49-F238E27FC236}">
                <a16:creationId xmlns:a16="http://schemas.microsoft.com/office/drawing/2014/main" id="{0E8E501E-1194-1661-53ED-D605917B3C9E}"/>
              </a:ext>
            </a:extLst>
          </p:cNvPr>
          <p:cNvSpPr/>
          <p:nvPr/>
        </p:nvSpPr>
        <p:spPr>
          <a:xfrm>
            <a:off x="7450372" y="3840480"/>
            <a:ext cx="3784821" cy="771278"/>
          </a:xfrm>
          <a:prstGeom prst="rect">
            <a:avLst/>
          </a:prstGeom>
          <a:solidFill>
            <a:srgbClr val="FFFF00">
              <a:alpha val="2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5087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en-US" dirty="0"/>
              <a:t>EXAMPLE: A MANCHESTER TRANSCEIVER (5)</a:t>
            </a:r>
          </a:p>
        </p:txBody>
      </p:sp>
      <p:sp>
        <p:nvSpPr>
          <p:cNvPr id="10"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267338" cy="441804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endParaRPr lang="en-US" dirty="0"/>
          </a:p>
        </p:txBody>
      </p:sp>
      <p:sp>
        <p:nvSpPr>
          <p:cNvPr id="5" name="Segnaposto contenuto 2">
            <a:extLst>
              <a:ext uri="{FF2B5EF4-FFF2-40B4-BE49-F238E27FC236}">
                <a16:creationId xmlns:a16="http://schemas.microsoft.com/office/drawing/2014/main" id="{1F1474C8-A9AC-B689-4504-675FB8CB6787}"/>
              </a:ext>
            </a:extLst>
          </p:cNvPr>
          <p:cNvSpPr txBox="1">
            <a:spLocks/>
          </p:cNvSpPr>
          <p:nvPr/>
        </p:nvSpPr>
        <p:spPr>
          <a:xfrm>
            <a:off x="1293814" y="1580017"/>
            <a:ext cx="5267338" cy="4828733"/>
          </a:xfrm>
          <a:prstGeom prst="rect">
            <a:avLst/>
          </a:prstGeom>
        </p:spPr>
        <p:txBody>
          <a:bodyPr vert="horz" lIns="91440" tIns="45720" rIns="91440" bIns="45720" rtlCol="0" anchor="ctr">
            <a:normAutofit fontScale="775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t>The </a:t>
            </a:r>
            <a:r>
              <a:rPr lang="en-US" dirty="0">
                <a:solidFill>
                  <a:srgbClr val="FFFF00"/>
                </a:solidFill>
              </a:rPr>
              <a:t>transmit section </a:t>
            </a:r>
            <a:r>
              <a:rPr lang="en-US" dirty="0"/>
              <a:t>is made up of four parts. The transmit block (block_tx) contains the Manchester modulator as seen earlier. It generates the output signal (man_tx) and uses two clocks (clk_4 and clk_2). </a:t>
            </a:r>
          </a:p>
          <a:p>
            <a:pPr marL="0" indent="0">
              <a:buNone/>
            </a:pPr>
            <a:r>
              <a:rPr lang="en-US" dirty="0"/>
              <a:t>A source (obtained from an </a:t>
            </a:r>
            <a:r>
              <a:rPr lang="en-US" dirty="0">
                <a:solidFill>
                  <a:srgbClr val="FFFF00"/>
                </a:solidFill>
              </a:rPr>
              <a:t>LFSR</a:t>
            </a:r>
            <a:r>
              <a:rPr lang="en-US" dirty="0"/>
              <a:t>) produces the parallel data (data) that block_tx will transmit serially. The LFSR will produce a new code whenever block_tx requests it with a positive edge through the net </a:t>
            </a:r>
            <a:r>
              <a:rPr lang="en-US" i="1" dirty="0" err="1"/>
              <a:t>read</a:t>
            </a:r>
            <a:r>
              <a:rPr lang="en-US" dirty="0"/>
              <a:t> that connects the two modules.</a:t>
            </a:r>
          </a:p>
          <a:p>
            <a:pPr marL="0" indent="0">
              <a:buNone/>
            </a:pPr>
            <a:r>
              <a:rPr lang="en-US" dirty="0"/>
              <a:t>One of the two buttons on the Tang Nano 9K is connected to a latch through which a transmission request (tx_start) is triggered for a 255-byte packet (generated by the LFSR). The data packet (payload) is preceded by a two-byte preamble (0xAA55) that will be used to synchronize the receiver. In all, the frame will be 257 bytes long.</a:t>
            </a:r>
          </a:p>
          <a:p>
            <a:pPr marL="0" indent="0">
              <a:buNone/>
            </a:pPr>
            <a:r>
              <a:rPr lang="en-US" dirty="0"/>
              <a:t>When block_tx has finished sending the data, it generates a pulse (tx_end) that clears the latch and resets data_source through the net </a:t>
            </a:r>
            <a:r>
              <a:rPr lang="en-US" i="1" dirty="0"/>
              <a:t>!start</a:t>
            </a:r>
            <a:r>
              <a:rPr lang="en-US" dirty="0"/>
              <a:t>.</a:t>
            </a:r>
          </a:p>
        </p:txBody>
      </p:sp>
      <p:pic>
        <p:nvPicPr>
          <p:cNvPr id="11" name="Elemento grafico 10">
            <a:extLst>
              <a:ext uri="{FF2B5EF4-FFF2-40B4-BE49-F238E27FC236}">
                <a16:creationId xmlns:a16="http://schemas.microsoft.com/office/drawing/2014/main" id="{5ECEB9B3-6A1E-EC5B-EE30-DF0DB8B20B3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25370" y="1522009"/>
            <a:ext cx="5110742" cy="4828733"/>
          </a:xfrm>
          <a:prstGeom prst="rect">
            <a:avLst/>
          </a:prstGeom>
        </p:spPr>
      </p:pic>
      <p:sp>
        <p:nvSpPr>
          <p:cNvPr id="12" name="Rettangolo 11">
            <a:extLst>
              <a:ext uri="{FF2B5EF4-FFF2-40B4-BE49-F238E27FC236}">
                <a16:creationId xmlns:a16="http://schemas.microsoft.com/office/drawing/2014/main" id="{57CA051C-165A-61FF-4940-40907FD9140E}"/>
              </a:ext>
            </a:extLst>
          </p:cNvPr>
          <p:cNvSpPr/>
          <p:nvPr/>
        </p:nvSpPr>
        <p:spPr>
          <a:xfrm>
            <a:off x="7331103" y="1741335"/>
            <a:ext cx="3999506" cy="1924215"/>
          </a:xfrm>
          <a:prstGeom prst="rect">
            <a:avLst/>
          </a:prstGeom>
          <a:solidFill>
            <a:srgbClr val="FFFF00">
              <a:alpha val="2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4997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E29A64-9CBD-D946-FBCB-F82F686EB094}"/>
              </a:ext>
            </a:extLst>
          </p:cNvPr>
          <p:cNvSpPr>
            <a:spLocks noGrp="1"/>
          </p:cNvSpPr>
          <p:nvPr>
            <p:ph type="title"/>
          </p:nvPr>
        </p:nvSpPr>
        <p:spPr>
          <a:xfrm>
            <a:off x="1141413" y="609601"/>
            <a:ext cx="9905998" cy="912410"/>
          </a:xfrm>
        </p:spPr>
        <p:txBody>
          <a:bodyPr/>
          <a:lstStyle/>
          <a:p>
            <a:r>
              <a:rPr lang="en-US" dirty="0"/>
              <a:t>EXAMPLE: A MANCHESTER TRANSCEIVER (6)</a:t>
            </a:r>
          </a:p>
        </p:txBody>
      </p:sp>
      <p:sp>
        <p:nvSpPr>
          <p:cNvPr id="10" name="Segnaposto contenuto 2">
            <a:extLst>
              <a:ext uri="{FF2B5EF4-FFF2-40B4-BE49-F238E27FC236}">
                <a16:creationId xmlns:a16="http://schemas.microsoft.com/office/drawing/2014/main" id="{110781C1-2218-12C9-EEA4-AD4790CAC742}"/>
              </a:ext>
            </a:extLst>
          </p:cNvPr>
          <p:cNvSpPr txBox="1">
            <a:spLocks/>
          </p:cNvSpPr>
          <p:nvPr/>
        </p:nvSpPr>
        <p:spPr>
          <a:xfrm>
            <a:off x="1141414" y="1932167"/>
            <a:ext cx="5267338" cy="441804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endParaRPr lang="en-US" dirty="0"/>
          </a:p>
        </p:txBody>
      </p:sp>
      <p:sp>
        <p:nvSpPr>
          <p:cNvPr id="5" name="Segnaposto contenuto 2">
            <a:extLst>
              <a:ext uri="{FF2B5EF4-FFF2-40B4-BE49-F238E27FC236}">
                <a16:creationId xmlns:a16="http://schemas.microsoft.com/office/drawing/2014/main" id="{1F1474C8-A9AC-B689-4504-675FB8CB6787}"/>
              </a:ext>
            </a:extLst>
          </p:cNvPr>
          <p:cNvSpPr txBox="1">
            <a:spLocks/>
          </p:cNvSpPr>
          <p:nvPr/>
        </p:nvSpPr>
        <p:spPr>
          <a:xfrm>
            <a:off x="1293814" y="2084568"/>
            <a:ext cx="5110745" cy="4093596"/>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t>The input signal (man_rx) reaches block_rx: this is the module in charge of decoding the Manchester protocol. It receives the faster clock (clk_pll) and produces two scalar signals (frame and stb) and an eight-bit vector (data_out).</a:t>
            </a:r>
          </a:p>
          <a:p>
            <a:pPr marL="0" indent="0">
              <a:buNone/>
            </a:pPr>
            <a:r>
              <a:rPr lang="en-US" dirty="0"/>
              <a:t>The task of block_rx is to synchronize with the transmitter, extract the actual data (the payload) and present it consecutively as bytes at the output.</a:t>
            </a:r>
          </a:p>
          <a:p>
            <a:pPr marL="0" indent="0">
              <a:buNone/>
            </a:pPr>
            <a:r>
              <a:rPr lang="en-US" dirty="0"/>
              <a:t>A Logic State Analyzer is connected to the output of block_rx, allowing us to see what was received.</a:t>
            </a:r>
          </a:p>
          <a:p>
            <a:endParaRPr lang="en-US" dirty="0"/>
          </a:p>
        </p:txBody>
      </p:sp>
      <p:pic>
        <p:nvPicPr>
          <p:cNvPr id="14" name="Elemento grafico 13">
            <a:extLst>
              <a:ext uri="{FF2B5EF4-FFF2-40B4-BE49-F238E27FC236}">
                <a16:creationId xmlns:a16="http://schemas.microsoft.com/office/drawing/2014/main" id="{AF23501E-B7CC-F68B-7137-412EBEAEFE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25370" y="1522008"/>
            <a:ext cx="5110745" cy="4828199"/>
          </a:xfrm>
          <a:prstGeom prst="rect">
            <a:avLst/>
          </a:prstGeom>
        </p:spPr>
      </p:pic>
      <p:sp>
        <p:nvSpPr>
          <p:cNvPr id="15" name="Rettangolo 14">
            <a:extLst>
              <a:ext uri="{FF2B5EF4-FFF2-40B4-BE49-F238E27FC236}">
                <a16:creationId xmlns:a16="http://schemas.microsoft.com/office/drawing/2014/main" id="{478176D7-3CCA-6CD0-F212-666F9B2E4F33}"/>
              </a:ext>
            </a:extLst>
          </p:cNvPr>
          <p:cNvSpPr/>
          <p:nvPr/>
        </p:nvSpPr>
        <p:spPr>
          <a:xfrm>
            <a:off x="7331103" y="4913905"/>
            <a:ext cx="3999506" cy="1017767"/>
          </a:xfrm>
          <a:prstGeom prst="rect">
            <a:avLst/>
          </a:prstGeom>
          <a:solidFill>
            <a:srgbClr val="FFFF00">
              <a:alpha val="20000"/>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08536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AD5A01-C759-5191-8759-30B5685DFB7F}"/>
              </a:ext>
            </a:extLst>
          </p:cNvPr>
          <p:cNvSpPr>
            <a:spLocks noGrp="1"/>
          </p:cNvSpPr>
          <p:nvPr>
            <p:ph type="title"/>
          </p:nvPr>
        </p:nvSpPr>
        <p:spPr>
          <a:xfrm>
            <a:off x="1141413" y="276110"/>
            <a:ext cx="9905998" cy="917691"/>
          </a:xfrm>
        </p:spPr>
        <p:txBody>
          <a:bodyPr/>
          <a:lstStyle/>
          <a:p>
            <a:r>
              <a:rPr lang="en-US" dirty="0"/>
              <a:t>BLOCK_TX MODULE</a:t>
            </a:r>
          </a:p>
        </p:txBody>
      </p:sp>
      <p:pic>
        <p:nvPicPr>
          <p:cNvPr id="5" name="Segnaposto contenuto 4">
            <a:extLst>
              <a:ext uri="{FF2B5EF4-FFF2-40B4-BE49-F238E27FC236}">
                <a16:creationId xmlns:a16="http://schemas.microsoft.com/office/drawing/2014/main" id="{902A6DE7-FBA7-6644-25C8-7651173B8152}"/>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6861975" y="2935578"/>
            <a:ext cx="4948761" cy="3519552"/>
          </a:xfrm>
        </p:spPr>
      </p:pic>
      <p:sp>
        <p:nvSpPr>
          <p:cNvPr id="3" name="Segnaposto contenuto 2">
            <a:extLst>
              <a:ext uri="{FF2B5EF4-FFF2-40B4-BE49-F238E27FC236}">
                <a16:creationId xmlns:a16="http://schemas.microsoft.com/office/drawing/2014/main" id="{0622B26F-3799-574F-DF9A-DDF6B22CCD97}"/>
              </a:ext>
            </a:extLst>
          </p:cNvPr>
          <p:cNvSpPr txBox="1">
            <a:spLocks/>
          </p:cNvSpPr>
          <p:nvPr/>
        </p:nvSpPr>
        <p:spPr>
          <a:xfrm>
            <a:off x="958538" y="1371600"/>
            <a:ext cx="7163011" cy="5270500"/>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t>The block_tx module uses three submodules: ser_8bit, man_encode and</a:t>
            </a:r>
            <a:br>
              <a:rPr lang="en-US" dirty="0"/>
            </a:br>
            <a:r>
              <a:rPr lang="en-US" dirty="0"/>
              <a:t>sequencer_tx. The ser8_bit module is a serializer (PISO) as already seen earlier. The man_encode module, already explained, generates the Manchester signal.</a:t>
            </a:r>
          </a:p>
          <a:p>
            <a:pPr marL="0" indent="0">
              <a:buNone/>
            </a:pPr>
            <a:r>
              <a:rPr lang="en-US" dirty="0"/>
              <a:t>The block_tx module receives the data (the payload) in parallel format from an eight-bit vector (data_in). The data enter a multiplexer (MUX) coded directly in the module. This multiplexer also selects, one at a time,</a:t>
            </a:r>
            <a:br>
              <a:rPr lang="en-US" dirty="0"/>
            </a:br>
            <a:r>
              <a:rPr lang="en-US" dirty="0"/>
              <a:t>the two bytes used for the synchronization preamble</a:t>
            </a:r>
            <a:br>
              <a:rPr lang="en-US" dirty="0"/>
            </a:br>
            <a:r>
              <a:rPr lang="en-US" dirty="0"/>
              <a:t>sequence.</a:t>
            </a:r>
          </a:p>
          <a:p>
            <a:pPr marL="0" indent="0">
              <a:buNone/>
            </a:pPr>
            <a:r>
              <a:rPr lang="en-US" dirty="0"/>
              <a:t>The sequencer_tx module is in charge of generating the signals </a:t>
            </a:r>
            <a:br>
              <a:rPr lang="en-US" dirty="0"/>
            </a:br>
            <a:r>
              <a:rPr lang="en-US" dirty="0"/>
              <a:t>that orchestrate the operation of the whole </a:t>
            </a:r>
            <a:r>
              <a:rPr lang="en-US" dirty="0" err="1"/>
              <a:t>block_tx</a:t>
            </a:r>
            <a:r>
              <a:rPr lang="en-US" dirty="0"/>
              <a:t> module. </a:t>
            </a:r>
            <a:br>
              <a:rPr lang="en-US" dirty="0"/>
            </a:br>
            <a:r>
              <a:rPr lang="en-US" dirty="0"/>
              <a:t>When the sequencer_tx module receives a high level on the </a:t>
            </a:r>
            <a:br>
              <a:rPr lang="en-US" dirty="0"/>
            </a:br>
            <a:r>
              <a:rPr lang="en-US" dirty="0" err="1"/>
              <a:t>tx_start</a:t>
            </a:r>
            <a:r>
              <a:rPr lang="en-US" dirty="0"/>
              <a:t> input, it first instructs the multiplexer to select the first byte </a:t>
            </a:r>
            <a:br>
              <a:rPr lang="en-US" dirty="0"/>
            </a:br>
            <a:r>
              <a:rPr lang="en-US" dirty="0"/>
              <a:t>of the synchronization preamble (0xAA). </a:t>
            </a:r>
            <a:br>
              <a:rPr lang="en-US" dirty="0"/>
            </a:br>
            <a:r>
              <a:rPr lang="en-US" dirty="0"/>
              <a:t>At the same time it enables the serializer (ser_8bit), which sends </a:t>
            </a:r>
            <a:br>
              <a:rPr lang="en-US" dirty="0"/>
            </a:br>
            <a:r>
              <a:rPr lang="en-US" dirty="0"/>
              <a:t>the bits one by one to the Manchester encoder (man_encoder),</a:t>
            </a:r>
            <a:br>
              <a:rPr lang="en-US" dirty="0"/>
            </a:br>
            <a:r>
              <a:rPr lang="en-US" dirty="0"/>
              <a:t>which generates the output signal. Next, sequencer_tx</a:t>
            </a:r>
            <a:br>
              <a:rPr lang="en-US" dirty="0"/>
            </a:br>
            <a:r>
              <a:rPr lang="en-US" dirty="0"/>
              <a:t>selects the second synchronization byte (0x55) and sends it.</a:t>
            </a:r>
            <a:br>
              <a:rPr lang="en-US" dirty="0"/>
            </a:br>
            <a:r>
              <a:rPr lang="en-US" dirty="0"/>
              <a:t>After that, it begins sending the whole payload that is</a:t>
            </a:r>
            <a:br>
              <a:rPr lang="en-US" dirty="0"/>
            </a:br>
            <a:r>
              <a:rPr lang="en-US" dirty="0"/>
              <a:t>requested, byte by byte, generating useful edges through the</a:t>
            </a:r>
            <a:br>
              <a:rPr lang="en-US" dirty="0"/>
            </a:br>
            <a:r>
              <a:rPr lang="en-US" dirty="0"/>
              <a:t>data_req signal.</a:t>
            </a:r>
          </a:p>
          <a:p>
            <a:pPr marL="0" indent="0">
              <a:buNone/>
            </a:pPr>
            <a:r>
              <a:rPr lang="en-US" dirty="0"/>
              <a:t>Finally, sequencer_tx will signal the end of the payload </a:t>
            </a:r>
            <a:br>
              <a:rPr lang="en-US" dirty="0"/>
            </a:br>
            <a:r>
              <a:rPr lang="en-US" dirty="0"/>
              <a:t>transmission with tx_end. At this point </a:t>
            </a:r>
            <a:r>
              <a:rPr lang="en-US" dirty="0" err="1"/>
              <a:t>sequencer_tx</a:t>
            </a:r>
            <a:r>
              <a:rPr lang="en-US" dirty="0"/>
              <a:t> will wait </a:t>
            </a:r>
            <a:br>
              <a:rPr lang="en-US" dirty="0"/>
            </a:br>
            <a:r>
              <a:rPr lang="en-US" dirty="0"/>
              <a:t>for the start_tx input to return to zero. </a:t>
            </a:r>
            <a:br>
              <a:rPr lang="en-US" dirty="0"/>
            </a:br>
            <a:r>
              <a:rPr lang="en-US" dirty="0"/>
              <a:t>When start_tx is deasserted, tx_end will also return to zero.</a:t>
            </a:r>
          </a:p>
        </p:txBody>
      </p:sp>
      <p:pic>
        <p:nvPicPr>
          <p:cNvPr id="9" name="Elemento grafico 8">
            <a:extLst>
              <a:ext uri="{FF2B5EF4-FFF2-40B4-BE49-F238E27FC236}">
                <a16:creationId xmlns:a16="http://schemas.microsoft.com/office/drawing/2014/main" id="{1592AA54-16A8-2ED0-3B63-FBE32F295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53740" y="276110"/>
            <a:ext cx="3456996" cy="2532886"/>
          </a:xfrm>
          <a:prstGeom prst="rect">
            <a:avLst/>
          </a:prstGeom>
        </p:spPr>
      </p:pic>
    </p:spTree>
    <p:extLst>
      <p:ext uri="{BB962C8B-B14F-4D97-AF65-F5344CB8AC3E}">
        <p14:creationId xmlns:p14="http://schemas.microsoft.com/office/powerpoint/2010/main" val="1949606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DA7EAA-9A57-2932-5817-C45EC0FAE025}"/>
              </a:ext>
            </a:extLst>
          </p:cNvPr>
          <p:cNvSpPr>
            <a:spLocks noGrp="1"/>
          </p:cNvSpPr>
          <p:nvPr>
            <p:ph type="title"/>
          </p:nvPr>
        </p:nvSpPr>
        <p:spPr>
          <a:xfrm>
            <a:off x="1141413" y="266700"/>
            <a:ext cx="9905998" cy="901700"/>
          </a:xfrm>
        </p:spPr>
        <p:txBody>
          <a:bodyPr>
            <a:normAutofit/>
          </a:bodyPr>
          <a:lstStyle/>
          <a:p>
            <a:r>
              <a:rPr lang="en-US" dirty="0"/>
              <a:t>BLOCK_RX MODULE</a:t>
            </a:r>
          </a:p>
        </p:txBody>
      </p:sp>
      <p:pic>
        <p:nvPicPr>
          <p:cNvPr id="19" name="Segnaposto contenuto 18">
            <a:extLst>
              <a:ext uri="{FF2B5EF4-FFF2-40B4-BE49-F238E27FC236}">
                <a16:creationId xmlns:a16="http://schemas.microsoft.com/office/drawing/2014/main" id="{841C056D-976B-2A9A-6614-F5573D387591}"/>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6490706" y="3108959"/>
            <a:ext cx="5387657" cy="3234855"/>
          </a:xfrm>
        </p:spPr>
      </p:pic>
      <p:pic>
        <p:nvPicPr>
          <p:cNvPr id="5" name="Elemento grafico 4">
            <a:extLst>
              <a:ext uri="{FF2B5EF4-FFF2-40B4-BE49-F238E27FC236}">
                <a16:creationId xmlns:a16="http://schemas.microsoft.com/office/drawing/2014/main" id="{51599702-E245-E9D0-ADCD-13355423A3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8078" y="1586148"/>
            <a:ext cx="4430286" cy="1363786"/>
          </a:xfrm>
          <a:prstGeom prst="rect">
            <a:avLst/>
          </a:prstGeom>
        </p:spPr>
      </p:pic>
      <p:sp>
        <p:nvSpPr>
          <p:cNvPr id="6" name="Segnaposto contenuto 2">
            <a:extLst>
              <a:ext uri="{FF2B5EF4-FFF2-40B4-BE49-F238E27FC236}">
                <a16:creationId xmlns:a16="http://schemas.microsoft.com/office/drawing/2014/main" id="{8462A9F9-9029-FCF8-DD7B-30418E03F742}"/>
              </a:ext>
            </a:extLst>
          </p:cNvPr>
          <p:cNvSpPr txBox="1">
            <a:spLocks/>
          </p:cNvSpPr>
          <p:nvPr/>
        </p:nvSpPr>
        <p:spPr>
          <a:xfrm>
            <a:off x="1141412" y="1168401"/>
            <a:ext cx="6245350" cy="5511799"/>
          </a:xfrm>
          <a:prstGeom prst="rect">
            <a:avLst/>
          </a:prstGeom>
        </p:spPr>
        <p:txBody>
          <a:bodyPr vert="horz" lIns="91440" tIns="45720" rIns="91440" bIns="45720" rtlCol="0" anchor="t">
            <a:normAutofit fontScale="700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none" baseline="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t>The block_rx module contains 5 submodules. The input signal (in) meets a first synchronization block (sync_meta) that produces a signal (in_d) synchronized with the clock (clk).</a:t>
            </a:r>
          </a:p>
          <a:p>
            <a:pPr marL="0" indent="0">
              <a:buNone/>
            </a:pPr>
            <a:r>
              <a:rPr lang="en-US" dirty="0"/>
              <a:t>The in_d signal arrives at the man_decoder module, which is responsible for extracting the information bits (man_out) and the clock related to them (man_clk).</a:t>
            </a:r>
          </a:p>
          <a:p>
            <a:pPr marL="0" indent="0">
              <a:buNone/>
            </a:pPr>
            <a:r>
              <a:rPr lang="en-US" dirty="0"/>
              <a:t>The man_out signal is fed to the des_n_bit module,</a:t>
            </a:r>
            <a:br>
              <a:rPr lang="en-US" dirty="0"/>
            </a:br>
            <a:r>
              <a:rPr lang="en-US" dirty="0"/>
              <a:t>which is a 16-bit deserializer (SIPO). The deserialized bits</a:t>
            </a:r>
            <a:br>
              <a:rPr lang="en-US" dirty="0"/>
            </a:br>
            <a:r>
              <a:rPr lang="en-US" dirty="0"/>
              <a:t>are propagated inside the module through a 16-bit bus</a:t>
            </a:r>
            <a:br>
              <a:rPr lang="en-US" dirty="0"/>
            </a:br>
            <a:r>
              <a:rPr lang="en-US" dirty="0"/>
              <a:t>(par_our) that reaches sequencer_rx, i.e. the state</a:t>
            </a:r>
            <a:br>
              <a:rPr lang="en-US" dirty="0"/>
            </a:br>
            <a:r>
              <a:rPr lang="en-US" dirty="0"/>
              <a:t>machine that controls the operation of the whole module.</a:t>
            </a:r>
          </a:p>
          <a:p>
            <a:pPr marL="0" indent="0">
              <a:buNone/>
            </a:pPr>
            <a:r>
              <a:rPr lang="en-US" dirty="0"/>
              <a:t>When sequencer_tx reads the 0xAA55 pattern (the</a:t>
            </a:r>
            <a:br>
              <a:rPr lang="en-US" dirty="0"/>
            </a:br>
            <a:r>
              <a:rPr lang="en-US" dirty="0"/>
              <a:t>preamble), it recognizes the following bits as payload.</a:t>
            </a:r>
            <a:br>
              <a:rPr lang="en-US" dirty="0"/>
            </a:br>
            <a:r>
              <a:rPr lang="en-US" dirty="0"/>
              <a:t>The rx signal is asserted to indicate that the</a:t>
            </a:r>
            <a:br>
              <a:rPr lang="en-US" dirty="0"/>
            </a:br>
            <a:r>
              <a:rPr lang="en-US" dirty="0"/>
              <a:t>block of bits carrying the payload is arriving.</a:t>
            </a:r>
          </a:p>
          <a:p>
            <a:pPr marL="0" indent="0">
              <a:buNone/>
            </a:pPr>
            <a:r>
              <a:rPr lang="en-US" dirty="0"/>
              <a:t>Every 8 bits of payload, sequencer_tx produces a</a:t>
            </a:r>
            <a:br>
              <a:rPr lang="en-US" dirty="0"/>
            </a:br>
            <a:r>
              <a:rPr lang="en-US" dirty="0"/>
              <a:t>pulse that instructs reg8 (an 8-bit register) to sample</a:t>
            </a:r>
            <a:br>
              <a:rPr lang="en-US" dirty="0"/>
            </a:br>
            <a:r>
              <a:rPr lang="en-US" dirty="0"/>
              <a:t>the eight most significant bits of par_out</a:t>
            </a:r>
            <a:br>
              <a:rPr lang="en-US" dirty="0"/>
            </a:br>
            <a:r>
              <a:rPr lang="en-US" dirty="0"/>
              <a:t>(par_out[15:8]).</a:t>
            </a:r>
          </a:p>
          <a:p>
            <a:pPr marL="0" indent="0">
              <a:buNone/>
            </a:pPr>
            <a:r>
              <a:rPr lang="en-US" dirty="0"/>
              <a:t>Next, sequencer_tx generates the data_strobe pulse</a:t>
            </a:r>
            <a:br>
              <a:rPr lang="en-US" dirty="0"/>
            </a:br>
            <a:r>
              <a:rPr lang="en-US" dirty="0"/>
              <a:t>that notifies the recipient of the data, in our case</a:t>
            </a:r>
            <a:br>
              <a:rPr lang="en-US" dirty="0"/>
            </a:br>
            <a:r>
              <a:rPr lang="en-US" dirty="0"/>
              <a:t>the Logic Analyzer, that a payload byte is ready to be</a:t>
            </a:r>
            <a:br>
              <a:rPr lang="en-US" dirty="0"/>
            </a:br>
            <a:r>
              <a:rPr lang="en-US" dirty="0"/>
              <a:t>read.</a:t>
            </a:r>
          </a:p>
          <a:p>
            <a:pPr marL="0" indent="0">
              <a:buNone/>
            </a:pPr>
            <a:r>
              <a:rPr lang="en-US" dirty="0"/>
              <a:t>At the end of the payload, sequencer_rx deasserts the rx</a:t>
            </a:r>
            <a:br>
              <a:rPr lang="en-US" dirty="0"/>
            </a:br>
            <a:r>
              <a:rPr lang="en-US" dirty="0"/>
              <a:t>signal, indicating that the whole frame has ended.</a:t>
            </a:r>
          </a:p>
        </p:txBody>
      </p:sp>
    </p:spTree>
    <p:extLst>
      <p:ext uri="{BB962C8B-B14F-4D97-AF65-F5344CB8AC3E}">
        <p14:creationId xmlns:p14="http://schemas.microsoft.com/office/powerpoint/2010/main" val="3070549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082FB230-EEC9-D9AE-8EA1-669E5A21B649}"/>
              </a:ext>
            </a:extLst>
          </p:cNvPr>
          <p:cNvSpPr>
            <a:spLocks noGrp="1"/>
          </p:cNvSpPr>
          <p:nvPr>
            <p:ph type="title"/>
          </p:nvPr>
        </p:nvSpPr>
        <p:spPr>
          <a:xfrm>
            <a:off x="1141413" y="618518"/>
            <a:ext cx="9905998" cy="1478570"/>
          </a:xfrm>
        </p:spPr>
        <p:txBody>
          <a:bodyPr/>
          <a:lstStyle/>
          <a:p>
            <a:r>
              <a:rPr lang="en-US" dirty="0"/>
              <a:t>Q&amp;A</a:t>
            </a:r>
          </a:p>
        </p:txBody>
      </p:sp>
      <p:sp>
        <p:nvSpPr>
          <p:cNvPr id="5" name="Segnaposto contenuto 2">
            <a:extLst>
              <a:ext uri="{FF2B5EF4-FFF2-40B4-BE49-F238E27FC236}">
                <a16:creationId xmlns:a16="http://schemas.microsoft.com/office/drawing/2014/main" id="{23187E27-707F-D284-5981-A2D887F3D26F}"/>
              </a:ext>
            </a:extLst>
          </p:cNvPr>
          <p:cNvSpPr>
            <a:spLocks noGrp="1"/>
          </p:cNvSpPr>
          <p:nvPr>
            <p:ph idx="1"/>
          </p:nvPr>
        </p:nvSpPr>
        <p:spPr>
          <a:xfrm>
            <a:off x="1141412" y="2249486"/>
            <a:ext cx="9905999" cy="2576955"/>
          </a:xfrm>
        </p:spPr>
        <p:txBody>
          <a:bodyPr>
            <a:normAutofit/>
          </a:bodyPr>
          <a:lstStyle/>
          <a:p>
            <a:r>
              <a:rPr lang="en-US" dirty="0"/>
              <a:t>Speakers:</a:t>
            </a:r>
          </a:p>
          <a:p>
            <a:pPr marL="457200" lvl="1" indent="0">
              <a:buNone/>
            </a:pPr>
            <a:r>
              <a:rPr lang="en-US" dirty="0"/>
              <a:t>Emanuel Conti (</a:t>
            </a:r>
            <a:r>
              <a:rPr lang="en-US" dirty="0">
                <a:hlinkClick r:id="rId2"/>
              </a:rPr>
              <a:t>e.conti@embedded.sm</a:t>
            </a:r>
            <a:r>
              <a:rPr lang="en-US" dirty="0"/>
              <a:t>)</a:t>
            </a:r>
          </a:p>
          <a:p>
            <a:pPr marL="457200" lvl="1" indent="0">
              <a:buNone/>
            </a:pPr>
            <a:r>
              <a:rPr lang="en-US" dirty="0"/>
              <a:t>Giuliano Cardinali (</a:t>
            </a:r>
            <a:r>
              <a:rPr lang="en-US" dirty="0">
                <a:hlinkClick r:id="rId3"/>
              </a:rPr>
              <a:t>giulicard@gmail.com</a:t>
            </a:r>
            <a:r>
              <a:rPr lang="en-US" dirty="0"/>
              <a:t>)</a:t>
            </a:r>
          </a:p>
          <a:p>
            <a:pPr marL="457200" lvl="1" indent="0">
              <a:buNone/>
            </a:pPr>
            <a:endParaRPr lang="en-US" dirty="0"/>
          </a:p>
          <a:p>
            <a:pPr marL="457200" lvl="1" indent="0">
              <a:buNone/>
            </a:pPr>
            <a:r>
              <a:rPr lang="en-US" dirty="0"/>
              <a:t>Source code download:</a:t>
            </a:r>
          </a:p>
          <a:p>
            <a:pPr marL="457200" lvl="1" indent="0">
              <a:buNone/>
            </a:pPr>
            <a:r>
              <a:rPr lang="en-US" dirty="0">
                <a:hlinkClick r:id="rId4"/>
              </a:rPr>
              <a:t>https://tinyurl.com/HDLParte2Code</a:t>
            </a:r>
            <a:endParaRPr lang="en-US" dirty="0"/>
          </a:p>
          <a:p>
            <a:pPr marL="0" indent="0">
              <a:buNone/>
            </a:pPr>
            <a:endParaRPr lang="en-US" dirty="0"/>
          </a:p>
          <a:p>
            <a:endParaRPr lang="en-US" dirty="0"/>
          </a:p>
        </p:txBody>
      </p:sp>
      <p:pic>
        <p:nvPicPr>
          <p:cNvPr id="3" name="Elemento grafico 2">
            <a:extLst>
              <a:ext uri="{FF2B5EF4-FFF2-40B4-BE49-F238E27FC236}">
                <a16:creationId xmlns:a16="http://schemas.microsoft.com/office/drawing/2014/main" id="{C33BD52F-F4BD-C146-334C-28143DB9C8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06194" y="1542553"/>
            <a:ext cx="3658759" cy="3658759"/>
          </a:xfrm>
          <a:prstGeom prst="rect">
            <a:avLst/>
          </a:prstGeom>
        </p:spPr>
      </p:pic>
    </p:spTree>
    <p:extLst>
      <p:ext uri="{BB962C8B-B14F-4D97-AF65-F5344CB8AC3E}">
        <p14:creationId xmlns:p14="http://schemas.microsoft.com/office/powerpoint/2010/main" val="4061944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345237E2-F0EA-237B-C753-BF912546E47B}"/>
              </a:ext>
            </a:extLst>
          </p:cNvPr>
          <p:cNvSpPr>
            <a:spLocks noGrp="1"/>
          </p:cNvSpPr>
          <p:nvPr>
            <p:ph type="title"/>
          </p:nvPr>
        </p:nvSpPr>
        <p:spPr>
          <a:xfrm>
            <a:off x="1141413" y="618518"/>
            <a:ext cx="9905998" cy="1478570"/>
          </a:xfrm>
        </p:spPr>
        <p:txBody>
          <a:bodyPr/>
          <a:lstStyle/>
          <a:p>
            <a:r>
              <a:rPr lang="en-US" dirty="0"/>
              <a:t>BIBLIOGRAPHY</a:t>
            </a:r>
          </a:p>
        </p:txBody>
      </p:sp>
      <p:sp>
        <p:nvSpPr>
          <p:cNvPr id="5" name="Segnaposto contenuto 2">
            <a:extLst>
              <a:ext uri="{FF2B5EF4-FFF2-40B4-BE49-F238E27FC236}">
                <a16:creationId xmlns:a16="http://schemas.microsoft.com/office/drawing/2014/main" id="{5E4D7F43-B230-F352-5CEA-C3017F212983}"/>
              </a:ext>
            </a:extLst>
          </p:cNvPr>
          <p:cNvSpPr>
            <a:spLocks noGrp="1"/>
          </p:cNvSpPr>
          <p:nvPr>
            <p:ph idx="1"/>
          </p:nvPr>
        </p:nvSpPr>
        <p:spPr>
          <a:xfrm>
            <a:off x="1141412" y="2027584"/>
            <a:ext cx="9905999" cy="4420924"/>
          </a:xfrm>
        </p:spPr>
        <p:txBody>
          <a:bodyPr>
            <a:normAutofit fontScale="92500" lnSpcReduction="20000"/>
          </a:bodyPr>
          <a:lstStyle/>
          <a:p>
            <a:r>
              <a:rPr lang="en-US" sz="1800" dirty="0"/>
              <a:t>Digital Design and Computer Architecture 2nd Edition </a:t>
            </a:r>
            <a:br>
              <a:rPr lang="en-US" sz="1800"/>
            </a:br>
            <a:r>
              <a:rPr lang="en-US" sz="1800"/>
              <a:t>David Harris, Sarah Harris - ISBN978-0123944245 </a:t>
            </a:r>
          </a:p>
          <a:p>
            <a:r>
              <a:rPr lang="en-US" sz="1800" dirty="0"/>
              <a:t>Reti logiche e calcolatori </a:t>
            </a:r>
            <a:br>
              <a:rPr lang="en-US" sz="1800" dirty="0"/>
            </a:br>
            <a:r>
              <a:rPr lang="en-US" sz="1800" dirty="0"/>
              <a:t>F. Luccio, L. Pagli – ISBN: 978-8833954870</a:t>
            </a:r>
          </a:p>
          <a:p>
            <a:r>
              <a:rPr lang="en-US" sz="1800" dirty="0" err="1"/>
              <a:t>FPGAs: Instant Access</a:t>
            </a:r>
            <a:br>
              <a:rPr lang="en-US" sz="1800" dirty="0"/>
            </a:br>
            <a:r>
              <a:rPr lang="en-US" sz="1800" dirty="0"/>
              <a:t>Clive Maxfield - ISBN: 978-0750689748</a:t>
            </a:r>
          </a:p>
          <a:p>
            <a:r>
              <a:rPr lang="en-US" sz="1800" dirty="0"/>
              <a:t>Bebop to the Boolean Boogie: An Unconventional Guide to Electronics</a:t>
            </a:r>
            <a:br>
              <a:rPr lang="en-US" sz="1800" dirty="0"/>
            </a:br>
            <a:r>
              <a:rPr lang="en-US" sz="1800" dirty="0"/>
              <a:t>Clive Maxfield - ISBN: 978-1856175074</a:t>
            </a:r>
          </a:p>
          <a:p>
            <a:r>
              <a:rPr lang="en-US" sz="1800" dirty="0" err="1"/>
              <a:t>Logic Circuit Design: Selected Topics and Methods, Second Ed. </a:t>
            </a:r>
            <a:br>
              <a:rPr lang="en-US" sz="1800" dirty="0"/>
            </a:br>
            <a:r>
              <a:rPr lang="en-US" sz="1800" dirty="0"/>
              <a:t>Shimon P. Vingron - ISBN: 978-3031406720</a:t>
            </a:r>
          </a:p>
          <a:p>
            <a:r>
              <a:rPr lang="en-US" sz="1800" dirty="0"/>
              <a:t>The Verilog® Hardware Description Language, 5th Ed.</a:t>
            </a:r>
            <a:br>
              <a:rPr lang="en-US" sz="1800" dirty="0"/>
            </a:br>
            <a:r>
              <a:rPr lang="en-US" sz="1800" dirty="0"/>
              <a:t>Donald E. Thomas, Philip R. Moorby - ISBN: 978-1402070896</a:t>
            </a:r>
          </a:p>
          <a:p>
            <a:r>
              <a:rPr lang="en-US" sz="1800" dirty="0"/>
              <a:t>Digital design : with an introduction to the verilog hdl</a:t>
            </a:r>
            <a:br>
              <a:rPr lang="en-US" sz="1800" dirty="0"/>
            </a:br>
            <a:r>
              <a:rPr lang="en-US" sz="1800" dirty="0"/>
              <a:t>M. Morris Mano, Michael D. Ciletti.—5th ed. - ISBN-13: 978-0132774208</a:t>
            </a:r>
          </a:p>
          <a:p>
            <a:r>
              <a:rPr lang="en-US" sz="1800" dirty="0"/>
              <a:t>Digital Design Principles and Practices</a:t>
            </a:r>
            <a:br>
              <a:rPr lang="en-US" sz="1800" dirty="0"/>
            </a:br>
            <a:r>
              <a:rPr lang="en-US" sz="1800" dirty="0"/>
              <a:t>John F. Wakerly - ISBN: 978-0134460093</a:t>
            </a:r>
          </a:p>
        </p:txBody>
      </p:sp>
    </p:spTree>
    <p:extLst>
      <p:ext uri="{BB962C8B-B14F-4D97-AF65-F5344CB8AC3E}">
        <p14:creationId xmlns:p14="http://schemas.microsoft.com/office/powerpoint/2010/main" val="5129236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ete">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TM03457485[[fn=Rete]]</Template>
  <TotalTime>5200</TotalTime>
  <Words>5786</Words>
  <Application>Microsoft Office PowerPoint</Application>
  <PresentationFormat>Widescreen</PresentationFormat>
  <Paragraphs>224</Paragraphs>
  <Slides>45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45</vt:i4>
      </vt:variant>
    </vt:vector>
  </HeadingPairs>
  <TitlesOfParts>
    <vt:vector size="50" baseType="lpstr">
      <vt:lpstr>Arial</vt:lpstr>
      <vt:lpstr>Calibri</vt:lpstr>
      <vt:lpstr>Cambria Math</vt:lpstr>
      <vt:lpstr>Century Gothic</vt:lpstr>
      <vt:lpstr>Rete</vt:lpstr>
      <vt:lpstr>Informational meeting on hardware description languages (HDL)</vt:lpstr>
      <vt:lpstr>HDL in practice: design, synthesis and simulation</vt:lpstr>
      <vt:lpstr>PRESENTATION OF THE DEVELOPMENT KIT</vt:lpstr>
      <vt:lpstr>TANG NANO 9K by Sipeed (GOWIN GW1NR FPGA)</vt:lpstr>
      <vt:lpstr>Development Systems (IDE)</vt:lpstr>
      <vt:lpstr>HDL in practice: DESIGN</vt:lpstr>
      <vt:lpstr>SHIFT REGISTERS</vt:lpstr>
      <vt:lpstr>A PRACTICAL EXAMPLE WITH THE DEVELOPMENT KIT (1)</vt:lpstr>
      <vt:lpstr>A PRACTICAL EXAMPLE WITH THE DEVELOPMENT KIT (2)</vt:lpstr>
      <vt:lpstr>A PRACTICAL EXAMPLE WITH THE DEVELOPMENT KIT (3)</vt:lpstr>
      <vt:lpstr>A PRACTICAL EXAMPLE WITH THE DEVELOPMENT KIT (4/1)</vt:lpstr>
      <vt:lpstr>A PRACTICAL EXAMPLE WITH THE DEVELOPMENT KIT (4/2)</vt:lpstr>
      <vt:lpstr>A PRACTICAL EXAMPLE WITH THE DEVELOPMENT KIT (5)</vt:lpstr>
      <vt:lpstr>Presentazione standard di PowerPoint</vt:lpstr>
      <vt:lpstr>DATA TRANSMISSION</vt:lpstr>
      <vt:lpstr>Presentazione standard di PowerPoint</vt:lpstr>
      <vt:lpstr>MODES OF SERIAL DATA TRANSMISSION (2)</vt:lpstr>
      <vt:lpstr>Presentazione standard di PowerPoint</vt:lpstr>
      <vt:lpstr>Presentazione standard di PowerPoint</vt:lpstr>
      <vt:lpstr>EXTERNAL ASYNCHRONOUS EVENTS (1)</vt:lpstr>
      <vt:lpstr>EXTERNAL ASYNCHRONOUS EVENTS (2)</vt:lpstr>
      <vt:lpstr>CLOCK SKEW</vt:lpstr>
      <vt:lpstr>METASTABLE CONDITION</vt:lpstr>
      <vt:lpstr>SYNCHRONIZERS (1)</vt:lpstr>
      <vt:lpstr>SYNCHRONIZERS (2)</vt:lpstr>
      <vt:lpstr>Presentazione standard di PowerPoint</vt:lpstr>
      <vt:lpstr>THE MANCHESTER ENCODING</vt:lpstr>
      <vt:lpstr>MANCHESTER ENCODER (1)</vt:lpstr>
      <vt:lpstr>MANCHESTER ENCODER (2)</vt:lpstr>
      <vt:lpstr>Manchester decoder</vt:lpstr>
      <vt:lpstr>Manchester decoder</vt:lpstr>
      <vt:lpstr>Presentazione standard di PowerPoint</vt:lpstr>
      <vt:lpstr>LFSR (Linear feedback shift register)</vt:lpstr>
      <vt:lpstr>LFSR TESTBENCH</vt:lpstr>
      <vt:lpstr>Presentazione standard di PowerPoint</vt:lpstr>
      <vt:lpstr>EXAMPLE: A MANCHESTER TRANSCEIVER (1)</vt:lpstr>
      <vt:lpstr>EXAMPLE: A MANCHESTER TRANSCEIVER (2)</vt:lpstr>
      <vt:lpstr>EXAMPLE: A MANCHESTER TRANSCEIVER (3)</vt:lpstr>
      <vt:lpstr>EXAMPLE: A MANCHESTER TRANSCEIVER (4)</vt:lpstr>
      <vt:lpstr>EXAMPLE: A MANCHESTER TRANSCEIVER (5)</vt:lpstr>
      <vt:lpstr>EXAMPLE: A MANCHESTER TRANSCEIVER (6)</vt:lpstr>
      <vt:lpstr>BLOCK_TX MODULE</vt:lpstr>
      <vt:lpstr>BLOCK_RX MODULE</vt:lpstr>
      <vt:lpstr>Q&amp;A</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Incontro informativo sui linguaggi di descrizione dell'hardware (HDL)</dc:title>
  <dc:creator>Giuliano Cardinali</dc:creator>
  <cp:lastModifiedBy>Giuliano Cardinali</cp:lastModifiedBy>
  <cp:revision>82</cp:revision>
  <cp:lastPrinted>2024-05-23T22:33:49Z</cp:lastPrinted>
  <dcterms:created xsi:type="dcterms:W3CDTF">2024-04-10T07:29:31Z</dcterms:created>
  <dcterms:modified xsi:type="dcterms:W3CDTF">2026-10-22T12:35:46Z</dcterms:modified>
</cp:coreProperties>
</file>