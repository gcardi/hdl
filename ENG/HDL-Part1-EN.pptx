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 id="2147483705" r:id="rId2"/>
  </p:sldMasterIdLst>
  <p:notesMasterIdLst>
    <p:notesMasterId r:id="rId134"/>
  </p:notesMasterIdLst>
  <p:sldIdLst>
    <p:sldId id="256" r:id="rId3"/>
    <p:sldId id="289" r:id="rId4"/>
    <p:sldId id="257" r:id="rId5"/>
    <p:sldId id="258" r:id="rId6"/>
    <p:sldId id="260" r:id="rId7"/>
    <p:sldId id="264" r:id="rId8"/>
    <p:sldId id="262" r:id="rId9"/>
    <p:sldId id="265" r:id="rId10"/>
    <p:sldId id="261" r:id="rId11"/>
    <p:sldId id="305" r:id="rId12"/>
    <p:sldId id="306" r:id="rId13"/>
    <p:sldId id="259" r:id="rId14"/>
    <p:sldId id="309" r:id="rId15"/>
    <p:sldId id="310" r:id="rId16"/>
    <p:sldId id="311" r:id="rId17"/>
    <p:sldId id="318" r:id="rId18"/>
    <p:sldId id="360" r:id="rId19"/>
    <p:sldId id="319" r:id="rId20"/>
    <p:sldId id="320" r:id="rId21"/>
    <p:sldId id="321" r:id="rId22"/>
    <p:sldId id="322" r:id="rId23"/>
    <p:sldId id="263" r:id="rId24"/>
    <p:sldId id="307" r:id="rId25"/>
    <p:sldId id="308" r:id="rId26"/>
    <p:sldId id="270" r:id="rId27"/>
    <p:sldId id="271" r:id="rId28"/>
    <p:sldId id="329" r:id="rId29"/>
    <p:sldId id="266" r:id="rId30"/>
    <p:sldId id="304" r:id="rId31"/>
    <p:sldId id="312" r:id="rId32"/>
    <p:sldId id="313" r:id="rId33"/>
    <p:sldId id="314" r:id="rId34"/>
    <p:sldId id="315" r:id="rId35"/>
    <p:sldId id="316" r:id="rId36"/>
    <p:sldId id="330" r:id="rId37"/>
    <p:sldId id="331" r:id="rId38"/>
    <p:sldId id="336" r:id="rId39"/>
    <p:sldId id="323" r:id="rId40"/>
    <p:sldId id="358" r:id="rId41"/>
    <p:sldId id="349" r:id="rId42"/>
    <p:sldId id="288" r:id="rId43"/>
    <p:sldId id="403" r:id="rId44"/>
    <p:sldId id="404" r:id="rId45"/>
    <p:sldId id="285" r:id="rId46"/>
    <p:sldId id="286" r:id="rId47"/>
    <p:sldId id="291" r:id="rId48"/>
    <p:sldId id="324" r:id="rId49"/>
    <p:sldId id="292" r:id="rId50"/>
    <p:sldId id="293" r:id="rId51"/>
    <p:sldId id="333" r:id="rId52"/>
    <p:sldId id="334" r:id="rId53"/>
    <p:sldId id="335" r:id="rId54"/>
    <p:sldId id="268" r:id="rId55"/>
    <p:sldId id="325" r:id="rId56"/>
    <p:sldId id="405" r:id="rId57"/>
    <p:sldId id="406" r:id="rId58"/>
    <p:sldId id="284" r:id="rId59"/>
    <p:sldId id="340" r:id="rId60"/>
    <p:sldId id="361" r:id="rId61"/>
    <p:sldId id="362" r:id="rId62"/>
    <p:sldId id="368" r:id="rId63"/>
    <p:sldId id="369" r:id="rId64"/>
    <p:sldId id="370" r:id="rId65"/>
    <p:sldId id="371" r:id="rId66"/>
    <p:sldId id="372" r:id="rId67"/>
    <p:sldId id="373" r:id="rId68"/>
    <p:sldId id="374" r:id="rId69"/>
    <p:sldId id="375" r:id="rId70"/>
    <p:sldId id="376" r:id="rId71"/>
    <p:sldId id="367" r:id="rId72"/>
    <p:sldId id="267" r:id="rId73"/>
    <p:sldId id="378" r:id="rId74"/>
    <p:sldId id="379" r:id="rId75"/>
    <p:sldId id="380" r:id="rId76"/>
    <p:sldId id="381" r:id="rId77"/>
    <p:sldId id="272" r:id="rId78"/>
    <p:sldId id="377" r:id="rId79"/>
    <p:sldId id="390" r:id="rId80"/>
    <p:sldId id="273" r:id="rId81"/>
    <p:sldId id="328" r:id="rId82"/>
    <p:sldId id="407" r:id="rId83"/>
    <p:sldId id="274" r:id="rId84"/>
    <p:sldId id="290" r:id="rId85"/>
    <p:sldId id="275" r:id="rId86"/>
    <p:sldId id="276" r:id="rId87"/>
    <p:sldId id="278" r:id="rId88"/>
    <p:sldId id="299" r:id="rId89"/>
    <p:sldId id="277" r:id="rId90"/>
    <p:sldId id="279" r:id="rId91"/>
    <p:sldId id="280" r:id="rId92"/>
    <p:sldId id="282" r:id="rId93"/>
    <p:sldId id="281" r:id="rId94"/>
    <p:sldId id="287" r:id="rId95"/>
    <p:sldId id="283" r:id="rId96"/>
    <p:sldId id="301" r:id="rId97"/>
    <p:sldId id="337" r:id="rId98"/>
    <p:sldId id="302" r:id="rId99"/>
    <p:sldId id="359" r:id="rId100"/>
    <p:sldId id="357" r:id="rId101"/>
    <p:sldId id="344" r:id="rId102"/>
    <p:sldId id="343" r:id="rId103"/>
    <p:sldId id="346" r:id="rId104"/>
    <p:sldId id="347" r:id="rId105"/>
    <p:sldId id="345" r:id="rId106"/>
    <p:sldId id="382" r:id="rId107"/>
    <p:sldId id="383" r:id="rId108"/>
    <p:sldId id="355" r:id="rId109"/>
    <p:sldId id="353" r:id="rId110"/>
    <p:sldId id="354" r:id="rId111"/>
    <p:sldId id="356" r:id="rId112"/>
    <p:sldId id="365" r:id="rId113"/>
    <p:sldId id="366" r:id="rId114"/>
    <p:sldId id="338" r:id="rId115"/>
    <p:sldId id="352" r:id="rId116"/>
    <p:sldId id="363" r:id="rId117"/>
    <p:sldId id="364" r:id="rId118"/>
    <p:sldId id="389" r:id="rId119"/>
    <p:sldId id="387" r:id="rId120"/>
    <p:sldId id="392" r:id="rId121"/>
    <p:sldId id="393" r:id="rId122"/>
    <p:sldId id="398" r:id="rId123"/>
    <p:sldId id="391" r:id="rId124"/>
    <p:sldId id="395" r:id="rId125"/>
    <p:sldId id="394" r:id="rId126"/>
    <p:sldId id="396" r:id="rId127"/>
    <p:sldId id="400" r:id="rId128"/>
    <p:sldId id="399" r:id="rId129"/>
    <p:sldId id="401" r:id="rId130"/>
    <p:sldId id="402" r:id="rId131"/>
    <p:sldId id="341" r:id="rId132"/>
    <p:sldId id="408" r:id="rId1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D7843"/>
    <a:srgbClr val="3D462A"/>
    <a:srgbClr val="404040"/>
    <a:srgbClr val="1F1F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6723" autoAdjust="0"/>
  </p:normalViewPr>
  <p:slideViewPr>
    <p:cSldViewPr snapToGrid="0">
      <p:cViewPr varScale="1">
        <p:scale>
          <a:sx n="76" d="100"/>
          <a:sy n="76" d="100"/>
        </p:scale>
        <p:origin x="522"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8216"/>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tableStyles" Target="tableStyle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notesMaster" Target="notesMasters/notesMaster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0A37DF-8C73-4677-AD4A-A76648540842}" type="datetimeFigureOut">
              <a:rPr lang="it-IT" smtClean="0"/>
              <a:t>28/10/2026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F3DE71-A9F2-44CF-ACC4-7F109010CE5E}" type="slidenum">
              <a:rPr lang="it-IT" smtClean="0"/>
              <a:t>‹N›</a:t>
            </a:fld>
            <a:endParaRPr lang="it-IT"/>
          </a:p>
        </p:txBody>
      </p:sp>
    </p:spTree>
    <p:extLst>
      <p:ext uri="{BB962C8B-B14F-4D97-AF65-F5344CB8AC3E}">
        <p14:creationId xmlns:p14="http://schemas.microsoft.com/office/powerpoint/2010/main" val="800207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15F3DE71-A9F2-44CF-ACC4-7F109010CE5E}" type="slidenum">
              <a:rPr lang="it-IT" smtClean="0"/>
              <a:t>27</a:t>
            </a:fld>
            <a:endParaRPr lang="it-IT"/>
          </a:p>
        </p:txBody>
      </p:sp>
    </p:spTree>
    <p:extLst>
      <p:ext uri="{BB962C8B-B14F-4D97-AF65-F5344CB8AC3E}">
        <p14:creationId xmlns:p14="http://schemas.microsoft.com/office/powerpoint/2010/main" val="1857364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15F3DE71-A9F2-44CF-ACC4-7F109010CE5E}" type="slidenum">
              <a:rPr lang="it-IT" smtClean="0"/>
              <a:t>81</a:t>
            </a:fld>
            <a:endParaRPr lang="it-IT"/>
          </a:p>
        </p:txBody>
      </p:sp>
    </p:spTree>
    <p:extLst>
      <p:ext uri="{BB962C8B-B14F-4D97-AF65-F5344CB8AC3E}">
        <p14:creationId xmlns:p14="http://schemas.microsoft.com/office/powerpoint/2010/main" val="36330903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10/28/2026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731177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786974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102585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831160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0" y="3073397"/>
            <a:ext cx="4878391"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2200" y="3073397"/>
            <a:ext cx="4875210"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786186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305713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347328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322624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410997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it-IT"/>
              <a:t>Fare clic sull'icona per inserire un'immagine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35765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9718748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34545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1261742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749409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984468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742674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3542823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75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10/28/2026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737358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2595245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1949589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7518893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0" y="3073397"/>
            <a:ext cx="4878391"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2200" y="3073397"/>
            <a:ext cx="4875210"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6710455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929721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8026750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41962113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4941691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it-IT"/>
              <a:t>Fare clic sull'icona per inserire un'immagine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4489083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4370286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195565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9181515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7487134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7290575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42348467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920938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21" Type="http://schemas.openxmlformats.org/officeDocument/2006/relationships/image" Target="../media/image3.png"/><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microsoft.com/office/2007/relationships/hdphoto" Target="../media/hdphoto1.wdp"/><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2.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duotone>
              <a:schemeClr val="bg2">
                <a:shade val="88000"/>
                <a:hueMod val="106000"/>
                <a:satMod val="140000"/>
                <a:lumMod val="54000"/>
              </a:schemeClr>
              <a:schemeClr val="bg2">
                <a:tint val="98000"/>
                <a:hueMod val="90000"/>
                <a:satMod val="150000"/>
                <a:lumMod val="160000"/>
              </a:schemeClr>
            </a:duotone>
            <a:extLst>
              <a:ext uri="{BEBA8EAE-BF5A-486C-A8C5-ECC9F3942E4B}">
                <a14:imgProps xmlns:a14="http://schemas.microsoft.com/office/drawing/2010/main">
                  <a14:imgLayer r:embed="rId20">
                    <a14:imgEffect>
                      <a14:brightnessContrast bright="-50000" contrast="40000"/>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1">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10/28/2026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149821719"/>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duotone>
              <a:schemeClr val="bg2">
                <a:shade val="88000"/>
                <a:hueMod val="106000"/>
                <a:satMod val="140000"/>
                <a:lumMod val="54000"/>
              </a:schemeClr>
              <a:schemeClr val="bg2">
                <a:tint val="98000"/>
                <a:hueMod val="90000"/>
                <a:satMod val="150000"/>
                <a:lumMod val="160000"/>
              </a:schemeClr>
            </a:duotone>
            <a:extLst>
              <a:ext uri="{BEBA8EAE-BF5A-486C-A8C5-ECC9F3942E4B}">
                <a14:imgProps xmlns:a14="http://schemas.microsoft.com/office/drawing/2010/main">
                  <a14:imgLayer r:embed="rId20">
                    <a14:imgEffect>
                      <a14:brightnessContrast bright="-50000" contrast="40000"/>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1">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10/28/2026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48898930"/>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Gigantua/Espresso"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sv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0.sv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1.sv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2.sv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77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83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89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95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5.sv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57.svg"/></Relationships>
</file>

<file path=ppt/slides/_rels/slide73.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1.sv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2.sv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3.sv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4.sv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2" Type="http://schemas.openxmlformats.org/officeDocument/2006/relationships/image" Target="../media/image66.svg"/><Relationship Id="rId1" Type="http://schemas.openxmlformats.org/officeDocument/2006/relationships/slideLayout" Target="../slideLayouts/slideLayout19.xml"/></Relationships>
</file>

<file path=ppt/slides/_rels/slide93.xml.rels><?xml version="1.0" encoding="UTF-8" standalone="yes"?>
<Relationships xmlns="http://schemas.openxmlformats.org/package/2006/relationships"><Relationship Id="rId2" Type="http://schemas.openxmlformats.org/officeDocument/2006/relationships/image" Target="../media/image66.svg"/><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2" Type="http://schemas.openxmlformats.org/officeDocument/2006/relationships/image" Target="../media/image67.svg"/><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2" Type="http://schemas.openxmlformats.org/officeDocument/2006/relationships/image" Target="../media/image68.svg"/><Relationship Id="rId1" Type="http://schemas.openxmlformats.org/officeDocument/2006/relationships/slideLayout" Target="../slideLayouts/slideLayout19.xml"/></Relationships>
</file>

<file path=ppt/slides/_rels/slide98.xml.rels><?xml version="1.0" encoding="UTF-8" standalone="yes"?>
<Relationships xmlns="http://schemas.openxmlformats.org/package/2006/relationships"><Relationship Id="rId2" Type="http://schemas.openxmlformats.org/officeDocument/2006/relationships/image" Target="../media/image68.svg"/><Relationship Id="rId1" Type="http://schemas.openxmlformats.org/officeDocument/2006/relationships/slideLayout" Target="../slideLayouts/slideLayout1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4.xml.rels><?xml version="1.0" encoding="UTF-8" standalone="yes"?>
<Relationships xmlns="http://schemas.openxmlformats.org/package/2006/relationships"><Relationship Id="rId2" Type="http://schemas.openxmlformats.org/officeDocument/2006/relationships/image" Target="../media/image69.svg"/><Relationship Id="rId1" Type="http://schemas.openxmlformats.org/officeDocument/2006/relationships/slideLayout" Target="../slideLayouts/slideLayout1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svg"/><Relationship Id="rId1" Type="http://schemas.openxmlformats.org/officeDocument/2006/relationships/slideLayout" Target="../slideLayouts/slideLayout19.xml"/></Relationships>
</file>

<file path=ppt/slides/_rels/slide11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9.xml"/></Relationships>
</file>

<file path=ppt/slides/_rels/slide115.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svg"/><Relationship Id="rId1" Type="http://schemas.openxmlformats.org/officeDocument/2006/relationships/slideLayout" Target="../slideLayouts/slideLayout1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9.xml"/></Relationships>
</file>

<file path=ppt/slides/_rels/slide120.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81.png"/><Relationship Id="rId1" Type="http://schemas.openxmlformats.org/officeDocument/2006/relationships/slideLayout" Target="../slideLayouts/slideLayout19.xml"/></Relationships>
</file>

<file path=ppt/slides/_rels/slide12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9.xml"/></Relationships>
</file>

<file path=ppt/slides/_rels/slide130.xml.rels><?xml version="1.0" encoding="UTF-8" standalone="yes"?>
<Relationships xmlns="http://schemas.openxmlformats.org/package/2006/relationships"><Relationship Id="rId3" Type="http://schemas.openxmlformats.org/officeDocument/2006/relationships/hyperlink" Target="mailto:giulicard@gmail.com" TargetMode="External"/><Relationship Id="rId2" Type="http://schemas.openxmlformats.org/officeDocument/2006/relationships/hyperlink" Target="mailto:e.conti@embedded.sm" TargetMode="External"/><Relationship Id="rId1" Type="http://schemas.openxmlformats.org/officeDocument/2006/relationships/slideLayout" Target="../slideLayouts/slideLayout1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D9E75A-63ED-E7FA-7C6A-F60918076DB4}"/>
              </a:ext>
            </a:extLst>
          </p:cNvPr>
          <p:cNvSpPr>
            <a:spLocks noGrp="1"/>
          </p:cNvSpPr>
          <p:nvPr>
            <p:ph type="ctrTitle"/>
          </p:nvPr>
        </p:nvSpPr>
        <p:spPr/>
        <p:txBody>
          <a:bodyPr/>
          <a:lstStyle/>
          <a:p>
            <a:r>
              <a:rPr lang="en-US" dirty="0"/>
              <a:t>Informational meeting on hardware description languages (HDL)</a:t>
            </a:r>
          </a:p>
        </p:txBody>
      </p:sp>
      <p:sp>
        <p:nvSpPr>
          <p:cNvPr id="3" name="Sottotitolo 2">
            <a:extLst>
              <a:ext uri="{FF2B5EF4-FFF2-40B4-BE49-F238E27FC236}">
                <a16:creationId xmlns:a16="http://schemas.microsoft.com/office/drawing/2014/main" id="{E4A22885-C48F-D361-8842-C58BF6F9576C}"/>
              </a:ext>
            </a:extLst>
          </p:cNvPr>
          <p:cNvSpPr>
            <a:spLocks noGrp="1"/>
          </p:cNvSpPr>
          <p:nvPr>
            <p:ph type="subTitle" idx="1"/>
          </p:nvPr>
        </p:nvSpPr>
        <p:spPr>
          <a:xfrm>
            <a:off x="1876424" y="3602038"/>
            <a:ext cx="8245585" cy="2648322"/>
          </a:xfrm>
        </p:spPr>
        <p:txBody>
          <a:bodyPr>
            <a:normAutofit/>
          </a:bodyPr>
          <a:lstStyle/>
          <a:p>
            <a:r>
              <a:rPr lang="en-US" dirty="0"/>
              <a:t>SPEAKERS:</a:t>
            </a:r>
          </a:p>
          <a:p>
            <a:pPr lvl="1" algn="l"/>
            <a:r>
              <a:rPr lang="en-US" dirty="0"/>
              <a:t>Giuliano Cardinali</a:t>
            </a:r>
            <a:br>
              <a:rPr lang="en-US" dirty="0"/>
            </a:br>
            <a:r>
              <a:rPr lang="en-US" dirty="0"/>
              <a:t>Emanuel Conti</a:t>
            </a:r>
          </a:p>
          <a:p>
            <a:r>
              <a:rPr lang="en-US" cap="none" dirty="0"/>
              <a:t>ORGANIZED BY:</a:t>
            </a:r>
          </a:p>
          <a:p>
            <a:pPr lvl="1" algn="l"/>
            <a:r>
              <a:rPr lang="en-US" cap="none" dirty="0"/>
              <a:t>https://www.pidrsm.sm</a:t>
            </a:r>
            <a:br>
              <a:rPr lang="en-US" cap="none" dirty="0"/>
            </a:br>
            <a:r>
              <a:rPr lang="en-US" cap="none" dirty="0"/>
              <a:t>https://www.facebook.com/professionistiperinnovazionedigitale</a:t>
            </a:r>
          </a:p>
        </p:txBody>
      </p:sp>
      <p:pic>
        <p:nvPicPr>
          <p:cNvPr id="7" name="Elemento grafico 6">
            <a:extLst>
              <a:ext uri="{FF2B5EF4-FFF2-40B4-BE49-F238E27FC236}">
                <a16:creationId xmlns:a16="http://schemas.microsoft.com/office/drawing/2014/main" id="{93E62197-BE12-1AC2-B062-9000BC92AE1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47193" y="3914753"/>
            <a:ext cx="5120806" cy="1365548"/>
          </a:xfrm>
          <a:prstGeom prst="rect">
            <a:avLst/>
          </a:prstGeom>
        </p:spPr>
      </p:pic>
    </p:spTree>
    <p:extLst>
      <p:ext uri="{BB962C8B-B14F-4D97-AF65-F5344CB8AC3E}">
        <p14:creationId xmlns:p14="http://schemas.microsoft.com/office/powerpoint/2010/main" val="1011569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7A9BEB0-721D-0E7F-FD79-2D85C8FDE9F4}"/>
              </a:ext>
            </a:extLst>
          </p:cNvPr>
          <p:cNvSpPr>
            <a:spLocks noGrp="1"/>
          </p:cNvSpPr>
          <p:nvPr>
            <p:ph type="title"/>
          </p:nvPr>
        </p:nvSpPr>
        <p:spPr>
          <a:xfrm>
            <a:off x="1141413" y="618518"/>
            <a:ext cx="9905998" cy="5710720"/>
          </a:xfrm>
        </p:spPr>
        <p:txBody>
          <a:bodyPr>
            <a:normAutofit/>
          </a:bodyPr>
          <a:lstStyle/>
          <a:p>
            <a:pPr algn="ctr"/>
            <a:r>
              <a:rPr lang="en-US" sz="8000" dirty="0"/>
              <a:t>PART ONE </a:t>
            </a:r>
            <a:br>
              <a:rPr lang="en-US" sz="8000" dirty="0"/>
            </a:br>
            <a:r>
              <a:rPr lang="en-US" sz="8000" dirty="0"/>
              <a:t>LOGIC</a:t>
            </a:r>
            <a:br>
              <a:rPr lang="en-US" sz="8000" dirty="0"/>
            </a:br>
            <a:r>
              <a:rPr lang="en-US" sz="8000" dirty="0"/>
              <a:t>NETWORKS</a:t>
            </a:r>
          </a:p>
        </p:txBody>
      </p:sp>
    </p:spTree>
    <p:extLst>
      <p:ext uri="{BB962C8B-B14F-4D97-AF65-F5344CB8AC3E}">
        <p14:creationId xmlns:p14="http://schemas.microsoft.com/office/powerpoint/2010/main" val="4204581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86AFC05-6A91-7263-0276-DB052BCA858E}"/>
              </a:ext>
            </a:extLst>
          </p:cNvPr>
          <p:cNvSpPr>
            <a:spLocks noGrp="1"/>
          </p:cNvSpPr>
          <p:nvPr>
            <p:ph type="title"/>
          </p:nvPr>
        </p:nvSpPr>
        <p:spPr/>
        <p:txBody>
          <a:bodyPr/>
          <a:lstStyle/>
          <a:p>
            <a:r>
              <a:rPr lang="en-US" dirty="0"/>
              <a:t>HISTORICAL NOTES</a:t>
            </a:r>
          </a:p>
        </p:txBody>
      </p:sp>
      <p:sp>
        <p:nvSpPr>
          <p:cNvPr id="3" name="Segnaposto contenuto 2">
            <a:extLst>
              <a:ext uri="{FF2B5EF4-FFF2-40B4-BE49-F238E27FC236}">
                <a16:creationId xmlns:a16="http://schemas.microsoft.com/office/drawing/2014/main" id="{B6E8821A-1F04-A9BC-668E-68D32590CC68}"/>
              </a:ext>
            </a:extLst>
          </p:cNvPr>
          <p:cNvSpPr>
            <a:spLocks noGrp="1"/>
          </p:cNvSpPr>
          <p:nvPr>
            <p:ph idx="1"/>
          </p:nvPr>
        </p:nvSpPr>
        <p:spPr/>
        <p:txBody>
          <a:bodyPr>
            <a:normAutofit fontScale="85000" lnSpcReduction="20000"/>
          </a:bodyPr>
          <a:lstStyle/>
          <a:p>
            <a:r>
              <a:rPr lang="en-US" dirty="0"/>
              <a:t>Binary system: Leibniz (1705).</a:t>
            </a:r>
          </a:p>
          <a:p>
            <a:r>
              <a:rPr lang="en-US" dirty="0"/>
              <a:t>Boolean algebra: Boole (1847).</a:t>
            </a:r>
          </a:p>
          <a:p>
            <a:r>
              <a:rPr lang="en-US" dirty="0"/>
              <a:t>Boolean algebra applied to electrical circuits: thanks to Peirce (1886), to the work of several nineteenth-century philosophers and mathematicians, and following the technological developments of the early twentieth century, the first digital logic circuits were built in 1924 by Walther Bothe.</a:t>
            </a:r>
          </a:p>
          <a:p>
            <a:r>
              <a:rPr lang="en-US" dirty="0"/>
              <a:t>Claude Shannon, the father of Information Theory, showed in 1938 that Boole's two-valued logic and Peirce's work were applicable to electrical circuits (relays) and electronic circuits (vacuum tubes), contributing strongly to the creation of digital circuits described by means of "Logic Network Theory".</a:t>
            </a:r>
          </a:p>
        </p:txBody>
      </p:sp>
    </p:spTree>
    <p:extLst>
      <p:ext uri="{BB962C8B-B14F-4D97-AF65-F5344CB8AC3E}">
        <p14:creationId xmlns:p14="http://schemas.microsoft.com/office/powerpoint/2010/main" val="3846859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8B9E26-6059-CFDB-F9E2-802B7FBD08B4}"/>
              </a:ext>
            </a:extLst>
          </p:cNvPr>
          <p:cNvSpPr>
            <a:spLocks noGrp="1"/>
          </p:cNvSpPr>
          <p:nvPr>
            <p:ph type="title"/>
          </p:nvPr>
        </p:nvSpPr>
        <p:spPr/>
        <p:txBody>
          <a:bodyPr/>
          <a:lstStyle/>
          <a:p>
            <a:r>
              <a:rPr lang="en-US" dirty="0"/>
              <a:t>Logic Networks</a:t>
            </a:r>
          </a:p>
        </p:txBody>
      </p:sp>
      <p:sp>
        <p:nvSpPr>
          <p:cNvPr id="3" name="Segnaposto contenuto 2">
            <a:extLst>
              <a:ext uri="{FF2B5EF4-FFF2-40B4-BE49-F238E27FC236}">
                <a16:creationId xmlns:a16="http://schemas.microsoft.com/office/drawing/2014/main" id="{FEE5514F-5892-58C2-2F1F-5176295932CD}"/>
              </a:ext>
            </a:extLst>
          </p:cNvPr>
          <p:cNvSpPr>
            <a:spLocks noGrp="1"/>
          </p:cNvSpPr>
          <p:nvPr>
            <p:ph idx="1"/>
          </p:nvPr>
        </p:nvSpPr>
        <p:spPr/>
        <p:txBody>
          <a:bodyPr>
            <a:normAutofit/>
          </a:bodyPr>
          <a:lstStyle/>
          <a:p>
            <a:r>
              <a:rPr lang="en-US" dirty="0"/>
              <a:t>Logic networks process information. They are the foundation of many electronic devices and the heart of modern digital computers.</a:t>
            </a:r>
          </a:p>
          <a:p>
            <a:r>
              <a:rPr lang="en-US" dirty="0"/>
              <a:t>Boolean algebra is used to describe their structure and behavior.</a:t>
            </a:r>
          </a:p>
          <a:p>
            <a:r>
              <a:rPr lang="en-US" dirty="0"/>
              <a:t>The values handled are normally symbols representing true and false (by convention 1 and 0). The variables take the values above and are therefore called binary.</a:t>
            </a:r>
          </a:p>
        </p:txBody>
      </p:sp>
    </p:spTree>
    <p:extLst>
      <p:ext uri="{BB962C8B-B14F-4D97-AF65-F5344CB8AC3E}">
        <p14:creationId xmlns:p14="http://schemas.microsoft.com/office/powerpoint/2010/main" val="3819616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4EA6D4-0A4E-1E59-CA47-52372BA4D6EE}"/>
              </a:ext>
            </a:extLst>
          </p:cNvPr>
          <p:cNvSpPr>
            <a:spLocks noGrp="1"/>
          </p:cNvSpPr>
          <p:nvPr>
            <p:ph type="title"/>
          </p:nvPr>
        </p:nvSpPr>
        <p:spPr/>
        <p:txBody>
          <a:bodyPr/>
          <a:lstStyle/>
          <a:p>
            <a:r>
              <a:rPr lang="en-US" dirty="0"/>
              <a:t>SIGNALS IN THE CONTEXT OF LOGIC NETWORKS</a:t>
            </a:r>
          </a:p>
        </p:txBody>
      </p:sp>
      <p:sp>
        <p:nvSpPr>
          <p:cNvPr id="3" name="Segnaposto contenuto 2">
            <a:extLst>
              <a:ext uri="{FF2B5EF4-FFF2-40B4-BE49-F238E27FC236}">
                <a16:creationId xmlns:a16="http://schemas.microsoft.com/office/drawing/2014/main" id="{33131127-4A98-A3BC-51C9-1283406F23DE}"/>
              </a:ext>
            </a:extLst>
          </p:cNvPr>
          <p:cNvSpPr>
            <a:spLocks noGrp="1"/>
          </p:cNvSpPr>
          <p:nvPr>
            <p:ph idx="1"/>
          </p:nvPr>
        </p:nvSpPr>
        <p:spPr>
          <a:xfrm>
            <a:off x="1141412" y="1703387"/>
            <a:ext cx="9905999" cy="3541714"/>
          </a:xfrm>
        </p:spPr>
        <p:txBody>
          <a:bodyPr>
            <a:normAutofit/>
          </a:bodyPr>
          <a:lstStyle/>
          <a:p>
            <a:r>
              <a:rPr lang="en-US" dirty="0"/>
              <a:t>In electronic digital circuits it is useful to regard binary variables as signals: voltages or currents that evolve over time.</a:t>
            </a:r>
          </a:p>
          <a:p>
            <a:r>
              <a:rPr lang="en-US" dirty="0"/>
              <a:t>When represented ideally, they show discontinuities in the transitions between the two values.</a:t>
            </a:r>
          </a:p>
          <a:p>
            <a:endParaRPr lang="en-US" dirty="0"/>
          </a:p>
        </p:txBody>
      </p:sp>
      <p:pic>
        <p:nvPicPr>
          <p:cNvPr id="10" name="Immagine 9">
            <a:extLst>
              <a:ext uri="{FF2B5EF4-FFF2-40B4-BE49-F238E27FC236}">
                <a16:creationId xmlns:a16="http://schemas.microsoft.com/office/drawing/2014/main" id="{C10682CD-F995-8E02-A27F-03B1190F3ADE}"/>
              </a:ext>
            </a:extLst>
          </p:cNvPr>
          <p:cNvPicPr>
            <a:picLocks noChangeAspect="1"/>
          </p:cNvPicPr>
          <p:nvPr/>
        </p:nvPicPr>
        <p:blipFill>
          <a:blip r:embed="rId2"/>
          <a:stretch>
            <a:fillRect/>
          </a:stretch>
        </p:blipFill>
        <p:spPr>
          <a:xfrm>
            <a:off x="3123825" y="3877282"/>
            <a:ext cx="7343775" cy="2362200"/>
          </a:xfrm>
          <a:prstGeom prst="rect">
            <a:avLst/>
          </a:prstGeom>
        </p:spPr>
      </p:pic>
    </p:spTree>
    <p:extLst>
      <p:ext uri="{BB962C8B-B14F-4D97-AF65-F5344CB8AC3E}">
        <p14:creationId xmlns:p14="http://schemas.microsoft.com/office/powerpoint/2010/main" val="862747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4EA6D4-0A4E-1E59-CA47-52372BA4D6EE}"/>
              </a:ext>
            </a:extLst>
          </p:cNvPr>
          <p:cNvSpPr>
            <a:spLocks noGrp="1"/>
          </p:cNvSpPr>
          <p:nvPr>
            <p:ph type="title"/>
          </p:nvPr>
        </p:nvSpPr>
        <p:spPr>
          <a:xfrm>
            <a:off x="1141413" y="618518"/>
            <a:ext cx="9905998" cy="1083015"/>
          </a:xfrm>
        </p:spPr>
        <p:txBody>
          <a:bodyPr/>
          <a:lstStyle/>
          <a:p>
            <a:r>
              <a:rPr lang="en-US" dirty="0"/>
              <a:t>REAL SIGNALS AND LOGIC NETWORKS</a:t>
            </a:r>
          </a:p>
        </p:txBody>
      </p:sp>
      <p:sp>
        <p:nvSpPr>
          <p:cNvPr id="3" name="Segnaposto contenuto 2">
            <a:extLst>
              <a:ext uri="{FF2B5EF4-FFF2-40B4-BE49-F238E27FC236}">
                <a16:creationId xmlns:a16="http://schemas.microsoft.com/office/drawing/2014/main" id="{33131127-4A98-A3BC-51C9-1283406F23DE}"/>
              </a:ext>
            </a:extLst>
          </p:cNvPr>
          <p:cNvSpPr>
            <a:spLocks noGrp="1"/>
          </p:cNvSpPr>
          <p:nvPr>
            <p:ph idx="1"/>
          </p:nvPr>
        </p:nvSpPr>
        <p:spPr>
          <a:xfrm>
            <a:off x="1141412" y="1930400"/>
            <a:ext cx="9905999" cy="4309081"/>
          </a:xfrm>
        </p:spPr>
        <p:txBody>
          <a:bodyPr>
            <a:normAutofit/>
          </a:bodyPr>
          <a:lstStyle/>
          <a:p>
            <a:r>
              <a:rPr lang="en-US" dirty="0"/>
              <a:t>In the real world, the function that</a:t>
            </a:r>
            <a:br>
              <a:rPr lang="en-US" dirty="0"/>
            </a:br>
            <a:r>
              <a:rPr lang="en-US" dirty="0"/>
              <a:t>represents the evolution of values</a:t>
            </a:r>
            <a:br>
              <a:rPr lang="en-US" dirty="0"/>
            </a:br>
            <a:r>
              <a:rPr lang="en-US" dirty="0"/>
              <a:t>over time is continuous.</a:t>
            </a:r>
          </a:p>
          <a:p>
            <a:r>
              <a:rPr lang="en-US" dirty="0"/>
              <a:t>Signals can be degraded by</a:t>
            </a:r>
            <a:br>
              <a:rPr lang="en-US" dirty="0"/>
            </a:br>
            <a:r>
              <a:rPr lang="en-US" dirty="0"/>
              <a:t>physical factors or phenomena,</a:t>
            </a:r>
            <a:br>
              <a:rPr lang="en-US" dirty="0"/>
            </a:br>
            <a:r>
              <a:rPr lang="en-US" dirty="0"/>
              <a:t>either internal or external to</a:t>
            </a:r>
            <a:br>
              <a:rPr lang="en-US" dirty="0"/>
            </a:br>
            <a:r>
              <a:rPr lang="en-US" dirty="0"/>
              <a:t>the logic network itself, which may</a:t>
            </a:r>
            <a:br>
              <a:rPr lang="en-US" dirty="0"/>
            </a:br>
            <a:r>
              <a:rPr lang="en-US" dirty="0"/>
              <a:t>compromise their integrity.</a:t>
            </a:r>
          </a:p>
          <a:p>
            <a:pPr marL="0" indent="0">
              <a:buNone/>
            </a:pPr>
            <a:endParaRPr lang="en-US" dirty="0"/>
          </a:p>
        </p:txBody>
      </p:sp>
      <p:pic>
        <p:nvPicPr>
          <p:cNvPr id="9" name="Immagine 8">
            <a:extLst>
              <a:ext uri="{FF2B5EF4-FFF2-40B4-BE49-F238E27FC236}">
                <a16:creationId xmlns:a16="http://schemas.microsoft.com/office/drawing/2014/main" id="{4C2EB942-0589-06F6-8062-95DFFC17A7A4}"/>
              </a:ext>
            </a:extLst>
          </p:cNvPr>
          <p:cNvPicPr>
            <a:picLocks noChangeAspect="1"/>
          </p:cNvPicPr>
          <p:nvPr/>
        </p:nvPicPr>
        <p:blipFill>
          <a:blip r:embed="rId2"/>
          <a:stretch>
            <a:fillRect/>
          </a:stretch>
        </p:blipFill>
        <p:spPr>
          <a:xfrm>
            <a:off x="6890867" y="1701533"/>
            <a:ext cx="3623144" cy="2717358"/>
          </a:xfrm>
          <a:prstGeom prst="rect">
            <a:avLst/>
          </a:prstGeom>
        </p:spPr>
      </p:pic>
      <p:pic>
        <p:nvPicPr>
          <p:cNvPr id="11" name="Immagine 10">
            <a:extLst>
              <a:ext uri="{FF2B5EF4-FFF2-40B4-BE49-F238E27FC236}">
                <a16:creationId xmlns:a16="http://schemas.microsoft.com/office/drawing/2014/main" id="{98A1B878-4962-4E0D-D71D-EB81F73465C4}"/>
              </a:ext>
            </a:extLst>
          </p:cNvPr>
          <p:cNvPicPr>
            <a:picLocks noChangeAspect="1"/>
          </p:cNvPicPr>
          <p:nvPr/>
        </p:nvPicPr>
        <p:blipFill>
          <a:blip r:embed="rId3"/>
          <a:stretch>
            <a:fillRect/>
          </a:stretch>
        </p:blipFill>
        <p:spPr>
          <a:xfrm>
            <a:off x="6890867" y="4517885"/>
            <a:ext cx="3623146" cy="1924796"/>
          </a:xfrm>
          <a:prstGeom prst="rect">
            <a:avLst/>
          </a:prstGeom>
        </p:spPr>
      </p:pic>
    </p:spTree>
    <p:extLst>
      <p:ext uri="{BB962C8B-B14F-4D97-AF65-F5344CB8AC3E}">
        <p14:creationId xmlns:p14="http://schemas.microsoft.com/office/powerpoint/2010/main" val="1936814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A99057B-7C5B-49E4-1B08-2F72FB50DC96}"/>
              </a:ext>
            </a:extLst>
          </p:cNvPr>
          <p:cNvSpPr>
            <a:spLocks noGrp="1"/>
          </p:cNvSpPr>
          <p:nvPr>
            <p:ph type="title"/>
          </p:nvPr>
        </p:nvSpPr>
        <p:spPr/>
        <p:txBody>
          <a:bodyPr/>
          <a:lstStyle/>
          <a:p>
            <a:r>
              <a:rPr lang="en-US" dirty="0"/>
              <a:t>SIGNAL INTEGRITY: THEY CAN DEGRADE DUE TO…</a:t>
            </a:r>
          </a:p>
        </p:txBody>
      </p:sp>
      <p:sp>
        <p:nvSpPr>
          <p:cNvPr id="3" name="Segnaposto contenuto 2">
            <a:extLst>
              <a:ext uri="{FF2B5EF4-FFF2-40B4-BE49-F238E27FC236}">
                <a16:creationId xmlns:a16="http://schemas.microsoft.com/office/drawing/2014/main" id="{DC48C1F2-92E2-32F7-CEC4-2C8F2CB14146}"/>
              </a:ext>
            </a:extLst>
          </p:cNvPr>
          <p:cNvSpPr>
            <a:spLocks noGrp="1"/>
          </p:cNvSpPr>
          <p:nvPr>
            <p:ph idx="1"/>
          </p:nvPr>
        </p:nvSpPr>
        <p:spPr/>
        <p:txBody>
          <a:bodyPr>
            <a:normAutofit fontScale="77500" lnSpcReduction="20000"/>
          </a:bodyPr>
          <a:lstStyle/>
          <a:p>
            <a:r>
              <a:rPr lang="en-US" dirty="0"/>
              <a:t>Attenuation due to (thermal) energy dissipation in devices and electrical connections.</a:t>
            </a:r>
          </a:p>
          <a:p>
            <a:r>
              <a:rPr lang="en-US" dirty="0" err="1"/>
              <a:t>Overshoot/Undershoot, i.e. signals may take values that "exceed" the absolute permissible limits because of second-order effects due to the reactive components distributed in the circuit (parasitic inductances and capacitances).</a:t>
            </a:r>
          </a:p>
          <a:p>
            <a:r>
              <a:rPr lang="en-US" dirty="0"/>
              <a:t>In the distributed-parameter regime, propagation delays for unavoidable physical reasons (non-negligible propagation times along lines).</a:t>
            </a:r>
          </a:p>
          <a:p>
            <a:r>
              <a:rPr lang="en-US" dirty="0"/>
              <a:t>Reflections between the two ends of a transmission line due to impedance mismatches between the signal source, the load and the line itself.</a:t>
            </a:r>
          </a:p>
          <a:p>
            <a:r>
              <a:rPr lang="en-US" dirty="0"/>
              <a:t>Electrical noise of various kinds: intrinsic thermal noise such as the Johnson effect, or induced noise (from inductive/capacitive coupling or external electromagnetic fields).</a:t>
            </a:r>
          </a:p>
        </p:txBody>
      </p:sp>
    </p:spTree>
    <p:extLst>
      <p:ext uri="{BB962C8B-B14F-4D97-AF65-F5344CB8AC3E}">
        <p14:creationId xmlns:p14="http://schemas.microsoft.com/office/powerpoint/2010/main" val="3331935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4EA6D4-0A4E-1E59-CA47-52372BA4D6EE}"/>
              </a:ext>
            </a:extLst>
          </p:cNvPr>
          <p:cNvSpPr>
            <a:spLocks noGrp="1"/>
          </p:cNvSpPr>
          <p:nvPr>
            <p:ph type="title"/>
          </p:nvPr>
        </p:nvSpPr>
        <p:spPr/>
        <p:txBody>
          <a:bodyPr/>
          <a:lstStyle/>
          <a:p>
            <a:r>
              <a:rPr lang="en-US" dirty="0"/>
              <a:t>SIGNAL INTERPRETATION IN LOGIC NETWORKS</a:t>
            </a:r>
          </a:p>
        </p:txBody>
      </p:sp>
      <p:sp>
        <p:nvSpPr>
          <p:cNvPr id="3" name="Segnaposto contenuto 2">
            <a:extLst>
              <a:ext uri="{FF2B5EF4-FFF2-40B4-BE49-F238E27FC236}">
                <a16:creationId xmlns:a16="http://schemas.microsoft.com/office/drawing/2014/main" id="{33131127-4A98-A3BC-51C9-1283406F23DE}"/>
              </a:ext>
            </a:extLst>
          </p:cNvPr>
          <p:cNvSpPr>
            <a:spLocks noGrp="1"/>
          </p:cNvSpPr>
          <p:nvPr>
            <p:ph idx="1"/>
          </p:nvPr>
        </p:nvSpPr>
        <p:spPr>
          <a:xfrm>
            <a:off x="1141412" y="2249486"/>
            <a:ext cx="9905999" cy="4151314"/>
          </a:xfrm>
        </p:spPr>
        <p:txBody>
          <a:bodyPr>
            <a:normAutofit fontScale="77500" lnSpcReduction="20000"/>
          </a:bodyPr>
          <a:lstStyle/>
          <a:p>
            <a:r>
              <a:rPr lang="en-US" dirty="0"/>
              <a:t>To mitigate errors in interpreting</a:t>
            </a:r>
            <a:br>
              <a:rPr lang="en-US" dirty="0"/>
            </a:br>
            <a:r>
              <a:rPr lang="en-US" dirty="0"/>
              <a:t>signals as binary variables, two thresholds</a:t>
            </a:r>
            <a:br>
              <a:rPr lang="en-US" dirty="0"/>
            </a:br>
            <a:r>
              <a:rPr lang="en-US" dirty="0"/>
              <a:t>(conventional levels) S</a:t>
            </a:r>
            <a:r>
              <a:rPr lang="en-US" sz="1400" dirty="0"/>
              <a:t>0  </a:t>
            </a:r>
            <a:r>
              <a:rPr lang="en-US" dirty="0"/>
              <a:t>and S</a:t>
            </a:r>
            <a:r>
              <a:rPr lang="en-US" sz="1400" dirty="0"/>
              <a:t>1</a:t>
            </a:r>
            <a:r>
              <a:rPr lang="en-US" dirty="0"/>
              <a:t> are</a:t>
            </a:r>
            <a:br>
              <a:rPr lang="en-US" dirty="0"/>
            </a:br>
            <a:r>
              <a:rPr lang="en-US" dirty="0"/>
              <a:t>usually defined. When the input signal</a:t>
            </a:r>
            <a:br>
              <a:rPr lang="en-US" sz="1400" dirty="0"/>
            </a:br>
            <a:r>
              <a:rPr lang="en-US" dirty="0"/>
              <a:t>exceeds threshold S</a:t>
            </a:r>
            <a:r>
              <a:rPr lang="en-US" sz="1400" dirty="0"/>
              <a:t>1</a:t>
            </a:r>
            <a:br>
              <a:rPr lang="en-US" dirty="0"/>
            </a:br>
            <a:r>
              <a:rPr lang="en-US" dirty="0"/>
              <a:t>the output takes the value 1. For the output</a:t>
            </a:r>
            <a:br>
              <a:rPr lang="en-US" dirty="0"/>
            </a:br>
            <a:r>
              <a:rPr lang="en-US" dirty="0"/>
              <a:t>to return to 0, the input must fall</a:t>
            </a:r>
            <a:br>
              <a:rPr lang="en-US" dirty="0"/>
            </a:br>
            <a:r>
              <a:rPr lang="en-US" dirty="0"/>
              <a:t>below threshold S</a:t>
            </a:r>
            <a:r>
              <a:rPr lang="en-US" sz="1400" dirty="0"/>
              <a:t>0. </a:t>
            </a:r>
            <a:r>
              <a:rPr lang="en-US" dirty="0"/>
              <a:t>The hysteresis defined by the thresholds and by the output state yields an output free of uncertainty (spikes) in the presence of small amounts of noise or disturbance.</a:t>
            </a:r>
          </a:p>
          <a:p>
            <a:r>
              <a:rPr lang="en-US" dirty="0"/>
              <a:t>The discretization performed by the thresholds on disturbed or degraded signals still produces jitter (time fluctuations at value changes). The thresholds also cause a pulse to be slightly distorted in duration and delayed in time. In practice, discretizing a signal never produces ideal outputs like the one in the figure.</a:t>
            </a:r>
          </a:p>
          <a:p>
            <a:endParaRPr lang="en-US" dirty="0"/>
          </a:p>
        </p:txBody>
      </p:sp>
      <p:pic>
        <p:nvPicPr>
          <p:cNvPr id="11" name="Immagine 10">
            <a:extLst>
              <a:ext uri="{FF2B5EF4-FFF2-40B4-BE49-F238E27FC236}">
                <a16:creationId xmlns:a16="http://schemas.microsoft.com/office/drawing/2014/main" id="{73B6BF8D-372F-B18C-2A2A-981BC4CCE04D}"/>
              </a:ext>
            </a:extLst>
          </p:cNvPr>
          <p:cNvPicPr>
            <a:picLocks noChangeAspect="1"/>
          </p:cNvPicPr>
          <p:nvPr/>
        </p:nvPicPr>
        <p:blipFill>
          <a:blip r:embed="rId2"/>
          <a:stretch>
            <a:fillRect/>
          </a:stretch>
        </p:blipFill>
        <p:spPr>
          <a:xfrm>
            <a:off x="6288266" y="1834696"/>
            <a:ext cx="5048250" cy="2219325"/>
          </a:xfrm>
          <a:prstGeom prst="rect">
            <a:avLst/>
          </a:prstGeom>
        </p:spPr>
      </p:pic>
      <p:sp>
        <p:nvSpPr>
          <p:cNvPr id="16" name="Rettangolo 15">
            <a:extLst>
              <a:ext uri="{FF2B5EF4-FFF2-40B4-BE49-F238E27FC236}">
                <a16:creationId xmlns:a16="http://schemas.microsoft.com/office/drawing/2014/main" id="{EC9FCA8E-E3A0-6EDD-9271-1BAE17B854FA}"/>
              </a:ext>
            </a:extLst>
          </p:cNvPr>
          <p:cNvSpPr/>
          <p:nvPr/>
        </p:nvSpPr>
        <p:spPr>
          <a:xfrm>
            <a:off x="6288266" y="1834695"/>
            <a:ext cx="5048250" cy="2219325"/>
          </a:xfrm>
          <a:prstGeom prst="rect">
            <a:avLst/>
          </a:prstGeom>
          <a:noFill/>
          <a:ln w="19050">
            <a:solidFill>
              <a:schemeClr val="bg1">
                <a:lumMod val="95000"/>
                <a:lumOff val="5000"/>
              </a:schemeClr>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2437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en-US" dirty="0"/>
              <a:t>Logic networks as blackboxes</a:t>
            </a:r>
          </a:p>
        </p:txBody>
      </p:sp>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a:xfrm>
            <a:off x="1141412" y="2249487"/>
            <a:ext cx="9905999" cy="3777602"/>
          </a:xfrm>
        </p:spPr>
        <p:txBody>
          <a:bodyPr>
            <a:normAutofit fontScale="85000" lnSpcReduction="20000"/>
          </a:bodyPr>
          <a:lstStyle/>
          <a:p>
            <a:r>
              <a:rPr lang="en-US" dirty="0"/>
              <a:t>Logic networks can be regarded as "black</a:t>
            </a:r>
            <a:br>
              <a:rPr lang="en-US" dirty="0"/>
            </a:br>
            <a:r>
              <a:rPr lang="en-US" dirty="0"/>
              <a:t>boxes" that may have an input state and</a:t>
            </a:r>
            <a:br>
              <a:rPr lang="en-US" dirty="0"/>
            </a:br>
            <a:r>
              <a:rPr lang="en-US" dirty="0"/>
              <a:t>an output state.</a:t>
            </a:r>
          </a:p>
          <a:p>
            <a:r>
              <a:rPr lang="en-US" dirty="0"/>
              <a:t>Grouping several related signals (binary</a:t>
            </a:r>
            <a:br>
              <a:rPr lang="en-US" dirty="0"/>
            </a:br>
            <a:r>
              <a:rPr lang="en-US" dirty="0"/>
              <a:t>variables) can be seen as a "vector"</a:t>
            </a:r>
            <a:br>
              <a:rPr lang="en-US" dirty="0"/>
            </a:br>
            <a:r>
              <a:rPr lang="en-US" dirty="0"/>
              <a:t>representing a so-called "state"; a state may in turn represent several values at once and thus correspond to familiar "objects", such as numbers or characters. A single binary variable can itself be considered a state.</a:t>
            </a:r>
          </a:p>
          <a:p>
            <a:r>
              <a:rPr lang="en-US" dirty="0"/>
              <a:t>Observable states are used to study them and therefore, when possible, to describe how they work. They may also have internal, unobservable states that are nevertheless necessary for their operation.</a:t>
            </a:r>
          </a:p>
        </p:txBody>
      </p:sp>
      <p:sp>
        <p:nvSpPr>
          <p:cNvPr id="4" name="Ovale 3">
            <a:extLst>
              <a:ext uri="{FF2B5EF4-FFF2-40B4-BE49-F238E27FC236}">
                <a16:creationId xmlns:a16="http://schemas.microsoft.com/office/drawing/2014/main" id="{6F792200-333C-D12F-1910-269752B77976}"/>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8" name="Immagine 7">
            <a:extLst>
              <a:ext uri="{FF2B5EF4-FFF2-40B4-BE49-F238E27FC236}">
                <a16:creationId xmlns:a16="http://schemas.microsoft.com/office/drawing/2014/main" id="{8EB6768F-D514-C9DF-45C6-E2FF43623B8B}"/>
              </a:ext>
            </a:extLst>
          </p:cNvPr>
          <p:cNvPicPr>
            <a:picLocks noChangeAspect="1"/>
          </p:cNvPicPr>
          <p:nvPr/>
        </p:nvPicPr>
        <p:blipFill>
          <a:blip r:embed="rId2"/>
          <a:stretch>
            <a:fillRect/>
          </a:stretch>
        </p:blipFill>
        <p:spPr>
          <a:xfrm>
            <a:off x="6962692" y="1858549"/>
            <a:ext cx="4248150" cy="2028825"/>
          </a:xfrm>
          <a:prstGeom prst="rect">
            <a:avLst/>
          </a:prstGeom>
        </p:spPr>
      </p:pic>
      <p:sp>
        <p:nvSpPr>
          <p:cNvPr id="11" name="Rettangolo 10">
            <a:extLst>
              <a:ext uri="{FF2B5EF4-FFF2-40B4-BE49-F238E27FC236}">
                <a16:creationId xmlns:a16="http://schemas.microsoft.com/office/drawing/2014/main" id="{9F8A738E-42D6-DB15-ABEB-A91A40DC88C6}"/>
              </a:ext>
            </a:extLst>
          </p:cNvPr>
          <p:cNvSpPr/>
          <p:nvPr/>
        </p:nvSpPr>
        <p:spPr>
          <a:xfrm>
            <a:off x="6962692" y="1858549"/>
            <a:ext cx="4248150" cy="2028825"/>
          </a:xfrm>
          <a:prstGeom prst="rect">
            <a:avLst/>
          </a:prstGeom>
          <a:noFill/>
          <a:ln w="19050">
            <a:solidFill>
              <a:schemeClr val="bg1">
                <a:lumMod val="95000"/>
                <a:lumOff val="5000"/>
              </a:schemeClr>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5448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33E0C1D-088E-D001-88E0-E04E024CE16B}"/>
              </a:ext>
            </a:extLst>
          </p:cNvPr>
          <p:cNvSpPr>
            <a:spLocks noGrp="1"/>
          </p:cNvSpPr>
          <p:nvPr>
            <p:ph type="title"/>
          </p:nvPr>
        </p:nvSpPr>
        <p:spPr/>
        <p:txBody>
          <a:bodyPr/>
          <a:lstStyle/>
          <a:p>
            <a:r>
              <a:rPr lang="en-US" dirty="0"/>
              <a:t>LOGIC DESIGN (1)</a:t>
            </a:r>
          </a:p>
        </p:txBody>
      </p:sp>
      <p:sp>
        <p:nvSpPr>
          <p:cNvPr id="3" name="Segnaposto contenuto 2">
            <a:extLst>
              <a:ext uri="{FF2B5EF4-FFF2-40B4-BE49-F238E27FC236}">
                <a16:creationId xmlns:a16="http://schemas.microsoft.com/office/drawing/2014/main" id="{61A72672-5822-8FC5-695B-DBE75F61733A}"/>
              </a:ext>
            </a:extLst>
          </p:cNvPr>
          <p:cNvSpPr>
            <a:spLocks noGrp="1"/>
          </p:cNvSpPr>
          <p:nvPr>
            <p:ph idx="1"/>
          </p:nvPr>
        </p:nvSpPr>
        <p:spPr/>
        <p:txBody>
          <a:bodyPr>
            <a:normAutofit fontScale="92500" lnSpcReduction="20000"/>
          </a:bodyPr>
          <a:lstStyle/>
          <a:p>
            <a:r>
              <a:rPr lang="en-US" dirty="0"/>
              <a:t>Logic design aims at building digital devices that process input signals and produce output signals. The process of defining the structure of a logic network starting from its specifications is called "Synthesis". The opposite operation is called "Analysis".</a:t>
            </a:r>
          </a:p>
          <a:p>
            <a:r>
              <a:rPr lang="en-US" dirty="0"/>
              <a:t>There are several methodologies for Synthesis, from "manual" methods to automatic procedures. Nowadays manual synthesis is performed very rarely.</a:t>
            </a:r>
          </a:p>
          <a:p>
            <a:r>
              <a:rPr lang="en-US" dirty="0"/>
              <a:t>To design a logic network, the verbal specifications must be translated into formal specifications, using ideal signal diagrams, truth tables and Boolean equations for so-called "combinational networks". For so-called "sequential" networks, flow tables, state diagrams or so-called ASM charts will generally be needed.</a:t>
            </a:r>
          </a:p>
        </p:txBody>
      </p:sp>
    </p:spTree>
    <p:extLst>
      <p:ext uri="{BB962C8B-B14F-4D97-AF65-F5344CB8AC3E}">
        <p14:creationId xmlns:p14="http://schemas.microsoft.com/office/powerpoint/2010/main" val="3612664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33E0C1D-088E-D001-88E0-E04E024CE16B}"/>
              </a:ext>
            </a:extLst>
          </p:cNvPr>
          <p:cNvSpPr>
            <a:spLocks noGrp="1"/>
          </p:cNvSpPr>
          <p:nvPr>
            <p:ph type="title"/>
          </p:nvPr>
        </p:nvSpPr>
        <p:spPr/>
        <p:txBody>
          <a:bodyPr/>
          <a:lstStyle/>
          <a:p>
            <a:r>
              <a:rPr lang="en-US" dirty="0"/>
              <a:t>LOGIC DESIGN (2)</a:t>
            </a:r>
          </a:p>
        </p:txBody>
      </p:sp>
      <p:sp>
        <p:nvSpPr>
          <p:cNvPr id="3" name="Segnaposto contenuto 2">
            <a:extLst>
              <a:ext uri="{FF2B5EF4-FFF2-40B4-BE49-F238E27FC236}">
                <a16:creationId xmlns:a16="http://schemas.microsoft.com/office/drawing/2014/main" id="{61A72672-5822-8FC5-695B-DBE75F61733A}"/>
              </a:ext>
            </a:extLst>
          </p:cNvPr>
          <p:cNvSpPr>
            <a:spLocks noGrp="1"/>
          </p:cNvSpPr>
          <p:nvPr>
            <p:ph idx="1"/>
          </p:nvPr>
        </p:nvSpPr>
        <p:spPr/>
        <p:txBody>
          <a:bodyPr>
            <a:normAutofit/>
          </a:bodyPr>
          <a:lstStyle/>
          <a:p>
            <a:r>
              <a:rPr lang="en-US" dirty="0"/>
              <a:t>The specifications will determine a possible architecture for the system to be designed.</a:t>
            </a:r>
          </a:p>
          <a:p>
            <a:r>
              <a:rPr lang="en-US" dirty="0"/>
              <a:t>With the specifications in hand, the technologies to adopt can be chosen based on the architecture and on purely technical or commercial requirements.</a:t>
            </a:r>
          </a:p>
          <a:p>
            <a:r>
              <a:rPr lang="en-US" dirty="0"/>
              <a:t>Technologies can influence the type of development tools needed; in</a:t>
            </a:r>
            <a:br>
              <a:rPr lang="en-US" dirty="0"/>
            </a:br>
            <a:r>
              <a:rPr lang="en-US" dirty="0"/>
              <a:t>turn, depending on availability and cost, they may redefine technologies and architecture.</a:t>
            </a:r>
          </a:p>
          <a:p>
            <a:endParaRPr lang="en-US" dirty="0"/>
          </a:p>
          <a:p>
            <a:endParaRPr lang="en-US" dirty="0"/>
          </a:p>
          <a:p>
            <a:endParaRPr lang="en-US" dirty="0"/>
          </a:p>
        </p:txBody>
      </p:sp>
    </p:spTree>
    <p:extLst>
      <p:ext uri="{BB962C8B-B14F-4D97-AF65-F5344CB8AC3E}">
        <p14:creationId xmlns:p14="http://schemas.microsoft.com/office/powerpoint/2010/main" val="1856334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en-US" dirty="0"/>
              <a:t>Logic networks: FUNDAMENTAL OPERATORS (1)</a:t>
            </a:r>
          </a:p>
        </p:txBody>
      </p:sp>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fontScale="92500" lnSpcReduction="10000"/>
          </a:bodyPr>
          <a:lstStyle/>
          <a:p>
            <a:r>
              <a:rPr lang="en-US" dirty="0"/>
              <a:t>Using the three fundamental operators</a:t>
            </a:r>
            <a:br>
              <a:rPr lang="en-US" dirty="0"/>
            </a:br>
            <a:r>
              <a:rPr lang="en-US" dirty="0"/>
              <a:t>(negation, intersection and union) to</a:t>
            </a:r>
            <a:br>
              <a:rPr lang="en-US" dirty="0"/>
            </a:br>
            <a:r>
              <a:rPr lang="en-US" dirty="0"/>
              <a:t>"combine" binary variables, any desired</a:t>
            </a:r>
            <a:br>
              <a:rPr lang="en-US" dirty="0"/>
            </a:br>
            <a:r>
              <a:rPr lang="en-US" dirty="0"/>
              <a:t>expression can be composed.</a:t>
            </a:r>
          </a:p>
          <a:p>
            <a:r>
              <a:rPr lang="en-US" dirty="0"/>
              <a:t>In the context of logic networks,</a:t>
            </a:r>
            <a:br>
              <a:rPr lang="en-US" dirty="0"/>
            </a:br>
            <a:r>
              <a:rPr lang="en-US" dirty="0"/>
              <a:t>expressions always represent predicates. Predicates, in turn, can be defined as expressions whose result is only true or false. The only exception is the "simulation" or analysis scenario, where logic is extended to three values (three-valued logic), so that a predicate may fail to provide a certain answer given undefined inputs.</a:t>
            </a:r>
          </a:p>
        </p:txBody>
      </p:sp>
      <p:sp>
        <p:nvSpPr>
          <p:cNvPr id="4" name="Ovale 3">
            <a:extLst>
              <a:ext uri="{FF2B5EF4-FFF2-40B4-BE49-F238E27FC236}">
                <a16:creationId xmlns:a16="http://schemas.microsoft.com/office/drawing/2014/main" id="{2C809B02-6809-DF51-4686-505575D89D33}"/>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9" name="Immagine 8">
            <a:extLst>
              <a:ext uri="{FF2B5EF4-FFF2-40B4-BE49-F238E27FC236}">
                <a16:creationId xmlns:a16="http://schemas.microsoft.com/office/drawing/2014/main" id="{C9071372-F45A-E459-EB42-31AAB330096B}"/>
              </a:ext>
            </a:extLst>
          </p:cNvPr>
          <p:cNvPicPr>
            <a:picLocks noChangeAspect="1"/>
          </p:cNvPicPr>
          <p:nvPr/>
        </p:nvPicPr>
        <p:blipFill>
          <a:blip r:embed="rId2"/>
          <a:stretch>
            <a:fillRect/>
          </a:stretch>
        </p:blipFill>
        <p:spPr>
          <a:xfrm>
            <a:off x="7077612" y="2023407"/>
            <a:ext cx="3486150" cy="2076450"/>
          </a:xfrm>
          <a:prstGeom prst="rect">
            <a:avLst/>
          </a:prstGeom>
        </p:spPr>
      </p:pic>
      <p:sp>
        <p:nvSpPr>
          <p:cNvPr id="11" name="Rettangolo 10">
            <a:extLst>
              <a:ext uri="{FF2B5EF4-FFF2-40B4-BE49-F238E27FC236}">
                <a16:creationId xmlns:a16="http://schemas.microsoft.com/office/drawing/2014/main" id="{F2F79DE5-6F2E-67C1-FE7E-3B2E5CDCB1A9}"/>
              </a:ext>
            </a:extLst>
          </p:cNvPr>
          <p:cNvSpPr/>
          <p:nvPr/>
        </p:nvSpPr>
        <p:spPr>
          <a:xfrm>
            <a:off x="7077612" y="2023407"/>
            <a:ext cx="3486150" cy="2076450"/>
          </a:xfrm>
          <a:prstGeom prst="rect">
            <a:avLst/>
          </a:prstGeom>
          <a:noFill/>
          <a:ln w="19050">
            <a:solidFill>
              <a:schemeClr val="bg1">
                <a:lumMod val="95000"/>
                <a:lumOff val="5000"/>
              </a:schemeClr>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4093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272BAA-BAF4-29CD-AD90-5A75E05E60B4}"/>
              </a:ext>
            </a:extLst>
          </p:cNvPr>
          <p:cNvSpPr>
            <a:spLocks noGrp="1"/>
          </p:cNvSpPr>
          <p:nvPr>
            <p:ph type="title"/>
          </p:nvPr>
        </p:nvSpPr>
        <p:spPr/>
        <p:txBody>
          <a:bodyPr/>
          <a:lstStyle/>
          <a:p>
            <a:r>
              <a:rPr lang="en-US" dirty="0"/>
              <a:t>Logic networks: FUNDAMENTAL OPERATORS (2)</a:t>
            </a:r>
          </a:p>
        </p:txBody>
      </p:sp>
      <p:pic>
        <p:nvPicPr>
          <p:cNvPr id="5" name="Immagine 4">
            <a:extLst>
              <a:ext uri="{FF2B5EF4-FFF2-40B4-BE49-F238E27FC236}">
                <a16:creationId xmlns:a16="http://schemas.microsoft.com/office/drawing/2014/main" id="{FBE6A5B9-B56C-CF9F-4997-EDE33711323F}"/>
              </a:ext>
            </a:extLst>
          </p:cNvPr>
          <p:cNvPicPr>
            <a:picLocks noChangeAspect="1"/>
          </p:cNvPicPr>
          <p:nvPr/>
        </p:nvPicPr>
        <p:blipFill>
          <a:blip r:embed="rId2"/>
          <a:stretch>
            <a:fillRect/>
          </a:stretch>
        </p:blipFill>
        <p:spPr>
          <a:xfrm>
            <a:off x="1438661" y="1948070"/>
            <a:ext cx="9311502" cy="4158532"/>
          </a:xfrm>
          <a:prstGeom prst="rect">
            <a:avLst/>
          </a:prstGeom>
        </p:spPr>
      </p:pic>
      <p:sp>
        <p:nvSpPr>
          <p:cNvPr id="8" name="Rettangolo 7">
            <a:extLst>
              <a:ext uri="{FF2B5EF4-FFF2-40B4-BE49-F238E27FC236}">
                <a16:creationId xmlns:a16="http://schemas.microsoft.com/office/drawing/2014/main" id="{DE3152E9-51E6-8B84-DC13-B52A96388100}"/>
              </a:ext>
            </a:extLst>
          </p:cNvPr>
          <p:cNvSpPr/>
          <p:nvPr/>
        </p:nvSpPr>
        <p:spPr>
          <a:xfrm>
            <a:off x="1438662" y="1948070"/>
            <a:ext cx="9311502" cy="4158532"/>
          </a:xfrm>
          <a:prstGeom prst="rect">
            <a:avLst/>
          </a:prstGeom>
          <a:noFill/>
          <a:ln w="127000">
            <a:solidFill>
              <a:srgbClr val="8D7843"/>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017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272BAA-BAF4-29CD-AD90-5A75E05E60B4}"/>
              </a:ext>
            </a:extLst>
          </p:cNvPr>
          <p:cNvSpPr>
            <a:spLocks noGrp="1"/>
          </p:cNvSpPr>
          <p:nvPr>
            <p:ph type="title"/>
          </p:nvPr>
        </p:nvSpPr>
        <p:spPr>
          <a:xfrm>
            <a:off x="1141413" y="618518"/>
            <a:ext cx="9905998" cy="990862"/>
          </a:xfrm>
        </p:spPr>
        <p:txBody>
          <a:bodyPr/>
          <a:lstStyle/>
          <a:p>
            <a:r>
              <a:rPr lang="en-US" dirty="0" err="1"/>
              <a:t>ALGEBRAIC PROPERTIES (1)</a:t>
            </a:r>
            <a:endParaRPr lang="en-US" dirty="0"/>
          </a:p>
        </p:txBody>
      </p:sp>
      <p:pic>
        <p:nvPicPr>
          <p:cNvPr id="8" name="Immagine 7">
            <a:extLst>
              <a:ext uri="{FF2B5EF4-FFF2-40B4-BE49-F238E27FC236}">
                <a16:creationId xmlns:a16="http://schemas.microsoft.com/office/drawing/2014/main" id="{B55DF3C9-3AEC-992B-D654-BE657262FBB2}"/>
              </a:ext>
            </a:extLst>
          </p:cNvPr>
          <p:cNvPicPr>
            <a:picLocks noChangeAspect="1"/>
          </p:cNvPicPr>
          <p:nvPr/>
        </p:nvPicPr>
        <p:blipFill>
          <a:blip r:embed="rId2"/>
          <a:stretch>
            <a:fillRect/>
          </a:stretch>
        </p:blipFill>
        <p:spPr>
          <a:xfrm>
            <a:off x="1456415" y="1609380"/>
            <a:ext cx="9279750" cy="4820334"/>
          </a:xfrm>
          <a:prstGeom prst="rect">
            <a:avLst/>
          </a:prstGeom>
        </p:spPr>
      </p:pic>
      <p:sp>
        <p:nvSpPr>
          <p:cNvPr id="7" name="Rettangolo 6">
            <a:extLst>
              <a:ext uri="{FF2B5EF4-FFF2-40B4-BE49-F238E27FC236}">
                <a16:creationId xmlns:a16="http://schemas.microsoft.com/office/drawing/2014/main" id="{322752D7-9225-26EC-058A-BF7A6A3338F9}"/>
              </a:ext>
            </a:extLst>
          </p:cNvPr>
          <p:cNvSpPr/>
          <p:nvPr/>
        </p:nvSpPr>
        <p:spPr>
          <a:xfrm>
            <a:off x="1456415" y="1609383"/>
            <a:ext cx="9277846" cy="4820334"/>
          </a:xfrm>
          <a:prstGeom prst="rect">
            <a:avLst/>
          </a:prstGeom>
          <a:noFill/>
          <a:ln w="127000">
            <a:solidFill>
              <a:srgbClr val="8D7843"/>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132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272BAA-BAF4-29CD-AD90-5A75E05E60B4}"/>
              </a:ext>
            </a:extLst>
          </p:cNvPr>
          <p:cNvSpPr>
            <a:spLocks noGrp="1"/>
          </p:cNvSpPr>
          <p:nvPr>
            <p:ph type="title"/>
          </p:nvPr>
        </p:nvSpPr>
        <p:spPr>
          <a:xfrm>
            <a:off x="1141413" y="618518"/>
            <a:ext cx="9905998" cy="971743"/>
          </a:xfrm>
        </p:spPr>
        <p:txBody>
          <a:bodyPr/>
          <a:lstStyle/>
          <a:p>
            <a:r>
              <a:rPr lang="en-US" dirty="0" err="1"/>
              <a:t>ALGEBRAIC PROPERTIES (2)</a:t>
            </a:r>
            <a:endParaRPr lang="en-US" dirty="0"/>
          </a:p>
        </p:txBody>
      </p:sp>
      <p:pic>
        <p:nvPicPr>
          <p:cNvPr id="4" name="Immagine 3">
            <a:extLst>
              <a:ext uri="{FF2B5EF4-FFF2-40B4-BE49-F238E27FC236}">
                <a16:creationId xmlns:a16="http://schemas.microsoft.com/office/drawing/2014/main" id="{D7A51B42-AE09-D53E-A09C-E34CAEC5BCA8}"/>
              </a:ext>
            </a:extLst>
          </p:cNvPr>
          <p:cNvPicPr>
            <a:picLocks noChangeAspect="1"/>
          </p:cNvPicPr>
          <p:nvPr/>
        </p:nvPicPr>
        <p:blipFill>
          <a:blip r:embed="rId2"/>
          <a:stretch>
            <a:fillRect/>
          </a:stretch>
        </p:blipFill>
        <p:spPr>
          <a:xfrm>
            <a:off x="1480505" y="1590261"/>
            <a:ext cx="9227811" cy="4966357"/>
          </a:xfrm>
          <a:prstGeom prst="rect">
            <a:avLst/>
          </a:prstGeom>
        </p:spPr>
      </p:pic>
      <p:sp>
        <p:nvSpPr>
          <p:cNvPr id="5" name="Rettangolo 4">
            <a:extLst>
              <a:ext uri="{FF2B5EF4-FFF2-40B4-BE49-F238E27FC236}">
                <a16:creationId xmlns:a16="http://schemas.microsoft.com/office/drawing/2014/main" id="{B3D13454-AE9B-9FCE-1CCB-21E394C93CEC}"/>
              </a:ext>
            </a:extLst>
          </p:cNvPr>
          <p:cNvSpPr/>
          <p:nvPr/>
        </p:nvSpPr>
        <p:spPr>
          <a:xfrm>
            <a:off x="1480506" y="1590261"/>
            <a:ext cx="9227811" cy="4963064"/>
          </a:xfrm>
          <a:prstGeom prst="rect">
            <a:avLst/>
          </a:prstGeom>
          <a:noFill/>
          <a:ln w="127000">
            <a:solidFill>
              <a:srgbClr val="8D7843"/>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239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en-US" dirty="0"/>
              <a:t>ENUMERATION OF FUNCTIONS (1)</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en-US" dirty="0"/>
                  <a:t>There are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up>
                    </m:sSup>
                  </m:oMath>
                </a14:m>
                <a:r>
                  <a:rPr lang="en-US" dirty="0"/>
                  <a:t> possible functions that can be obtained from the combination </a:t>
                </a:r>
                <a:br>
                  <a:rPr lang="en-US" dirty="0"/>
                </a:br>
                <a:r>
                  <a:rPr lang="en-US" dirty="0"/>
                  <a:t>of </a:t>
                </a:r>
                <a:r>
                  <a:rPr lang="en-US" i="1" dirty="0"/>
                  <a:t>n</a:t>
                </a:r>
                <a:r>
                  <a:rPr lang="en-US" dirty="0"/>
                  <a:t> binary variables. For </a:t>
                </a:r>
                <a:r>
                  <a:rPr lang="en-US" i="1" dirty="0"/>
                  <a:t>n</a:t>
                </a:r>
                <a:r>
                  <a:rPr lang="en-US" dirty="0"/>
                  <a:t>=2 they are the following:</a:t>
                </a:r>
              </a:p>
              <a:p>
                <a:pPr marL="0" indent="0">
                  <a:buNone/>
                </a:pPr>
                <a:endParaRPr lang="en-US"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US">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6" y="3346385"/>
            <a:ext cx="6297970" cy="2893097"/>
          </a:xfrm>
          <a:prstGeom prst="rect">
            <a:avLst/>
          </a:prstGeom>
        </p:spPr>
      </p:pic>
    </p:spTree>
    <p:extLst>
      <p:ext uri="{BB962C8B-B14F-4D97-AF65-F5344CB8AC3E}">
        <p14:creationId xmlns:p14="http://schemas.microsoft.com/office/powerpoint/2010/main" val="2016130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en-US" dirty="0"/>
              <a:t>ENUMERATION OF FUNCTIONS (2)</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en-US" dirty="0"/>
                  <a:t>There are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up>
                    </m:sSup>
                  </m:oMath>
                </a14:m>
                <a:r>
                  <a:rPr lang="en-US" dirty="0"/>
                  <a:t> possible functions that can be obtained from the combination </a:t>
                </a:r>
                <a:br>
                  <a:rPr lang="en-US" dirty="0"/>
                </a:br>
                <a:r>
                  <a:rPr lang="en-US" dirty="0"/>
                  <a:t>of </a:t>
                </a:r>
                <a:r>
                  <a:rPr lang="en-US" i="1" dirty="0"/>
                  <a:t>n</a:t>
                </a:r>
                <a:r>
                  <a:rPr lang="en-US" dirty="0"/>
                  <a:t> binary variables. For </a:t>
                </a:r>
                <a:r>
                  <a:rPr lang="en-US" i="1" dirty="0"/>
                  <a:t>n</a:t>
                </a:r>
                <a:r>
                  <a:rPr lang="en-US" dirty="0"/>
                  <a:t>=2 they are the following:</a:t>
                </a:r>
              </a:p>
              <a:p>
                <a:pPr marL="0" indent="0">
                  <a:buNone/>
                </a:pPr>
                <a:endParaRPr lang="en-US"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US">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6" y="3346385"/>
            <a:ext cx="6297970" cy="2893097"/>
          </a:xfrm>
          <a:prstGeom prst="rect">
            <a:avLst/>
          </a:prstGeom>
        </p:spPr>
      </p:pic>
      <p:cxnSp>
        <p:nvCxnSpPr>
          <p:cNvPr id="10" name="Connettore 2 9">
            <a:extLst>
              <a:ext uri="{FF2B5EF4-FFF2-40B4-BE49-F238E27FC236}">
                <a16:creationId xmlns:a16="http://schemas.microsoft.com/office/drawing/2014/main" id="{782192A9-9411-737C-1514-050DD2D7D351}"/>
              </a:ext>
            </a:extLst>
          </p:cNvPr>
          <p:cNvCxnSpPr/>
          <p:nvPr/>
        </p:nvCxnSpPr>
        <p:spPr>
          <a:xfrm>
            <a:off x="4412973" y="3617843"/>
            <a:ext cx="0" cy="318053"/>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sp>
        <p:nvSpPr>
          <p:cNvPr id="11" name="CasellaDiTesto 10">
            <a:extLst>
              <a:ext uri="{FF2B5EF4-FFF2-40B4-BE49-F238E27FC236}">
                <a16:creationId xmlns:a16="http://schemas.microsoft.com/office/drawing/2014/main" id="{AF3C7341-935C-D655-865B-D19CCAD39EF5}"/>
              </a:ext>
            </a:extLst>
          </p:cNvPr>
          <p:cNvSpPr txBox="1"/>
          <p:nvPr/>
        </p:nvSpPr>
        <p:spPr>
          <a:xfrm>
            <a:off x="4104235" y="3297448"/>
            <a:ext cx="617477" cy="369332"/>
          </a:xfrm>
          <a:prstGeom prst="rect">
            <a:avLst/>
          </a:prstGeom>
          <a:noFill/>
        </p:spPr>
        <p:txBody>
          <a:bodyPr wrap="none" rtlCol="0">
            <a:spAutoFit/>
          </a:bodyPr>
          <a:lstStyle/>
          <a:p>
            <a:pPr algn="ctr"/>
            <a:r>
              <a:rPr lang="en-US" dirty="0">
                <a:solidFill>
                  <a:srgbClr val="FF0000"/>
                </a:solidFill>
              </a:rPr>
              <a:t>AND</a:t>
            </a:r>
          </a:p>
        </p:txBody>
      </p:sp>
      <p:cxnSp>
        <p:nvCxnSpPr>
          <p:cNvPr id="12" name="Connettore 2 11">
            <a:extLst>
              <a:ext uri="{FF2B5EF4-FFF2-40B4-BE49-F238E27FC236}">
                <a16:creationId xmlns:a16="http://schemas.microsoft.com/office/drawing/2014/main" id="{755450DA-8843-D65E-348A-A43CC4F3839D}"/>
              </a:ext>
            </a:extLst>
          </p:cNvPr>
          <p:cNvCxnSpPr/>
          <p:nvPr/>
        </p:nvCxnSpPr>
        <p:spPr>
          <a:xfrm>
            <a:off x="6282855" y="3617843"/>
            <a:ext cx="0" cy="318053"/>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sp>
        <p:nvSpPr>
          <p:cNvPr id="13" name="CasellaDiTesto 12">
            <a:extLst>
              <a:ext uri="{FF2B5EF4-FFF2-40B4-BE49-F238E27FC236}">
                <a16:creationId xmlns:a16="http://schemas.microsoft.com/office/drawing/2014/main" id="{681C0C95-1B03-098C-CBE0-37B2BC439FD2}"/>
              </a:ext>
            </a:extLst>
          </p:cNvPr>
          <p:cNvSpPr txBox="1"/>
          <p:nvPr/>
        </p:nvSpPr>
        <p:spPr>
          <a:xfrm>
            <a:off x="6043847" y="3297448"/>
            <a:ext cx="478016" cy="369332"/>
          </a:xfrm>
          <a:prstGeom prst="rect">
            <a:avLst/>
          </a:prstGeom>
          <a:noFill/>
        </p:spPr>
        <p:txBody>
          <a:bodyPr wrap="none" rtlCol="0">
            <a:spAutoFit/>
          </a:bodyPr>
          <a:lstStyle/>
          <a:p>
            <a:pPr algn="ctr"/>
            <a:r>
              <a:rPr lang="en-US" dirty="0">
                <a:solidFill>
                  <a:srgbClr val="FF0000"/>
                </a:solidFill>
              </a:rPr>
              <a:t>OR</a:t>
            </a:r>
          </a:p>
        </p:txBody>
      </p:sp>
      <p:cxnSp>
        <p:nvCxnSpPr>
          <p:cNvPr id="14" name="Connettore 2 13">
            <a:extLst>
              <a:ext uri="{FF2B5EF4-FFF2-40B4-BE49-F238E27FC236}">
                <a16:creationId xmlns:a16="http://schemas.microsoft.com/office/drawing/2014/main" id="{61BA5AFF-1DD3-FBF5-39B6-EB40EA9375D9}"/>
              </a:ext>
            </a:extLst>
          </p:cNvPr>
          <p:cNvCxnSpPr>
            <a:cxnSpLocks/>
          </p:cNvCxnSpPr>
          <p:nvPr/>
        </p:nvCxnSpPr>
        <p:spPr>
          <a:xfrm>
            <a:off x="7684535" y="3617843"/>
            <a:ext cx="136817" cy="540689"/>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cxnSp>
        <p:nvCxnSpPr>
          <p:cNvPr id="16" name="Connettore 2 15">
            <a:extLst>
              <a:ext uri="{FF2B5EF4-FFF2-40B4-BE49-F238E27FC236}">
                <a16:creationId xmlns:a16="http://schemas.microsoft.com/office/drawing/2014/main" id="{EC20F342-C9A0-E284-6AB0-B068F7F2D954}"/>
              </a:ext>
            </a:extLst>
          </p:cNvPr>
          <p:cNvCxnSpPr>
            <a:cxnSpLocks/>
          </p:cNvCxnSpPr>
          <p:nvPr/>
        </p:nvCxnSpPr>
        <p:spPr>
          <a:xfrm flipH="1">
            <a:off x="7225824" y="3617843"/>
            <a:ext cx="160472" cy="540689"/>
          </a:xfrm>
          <a:prstGeom prst="straightConnector1">
            <a:avLst/>
          </a:prstGeom>
          <a:ln w="38100">
            <a:tailEnd type="triangle"/>
          </a:ln>
        </p:spPr>
        <p:style>
          <a:lnRef idx="1">
            <a:schemeClr val="accent3"/>
          </a:lnRef>
          <a:fillRef idx="0">
            <a:schemeClr val="accent3"/>
          </a:fillRef>
          <a:effectRef idx="0">
            <a:schemeClr val="accent3"/>
          </a:effectRef>
          <a:fontRef idx="minor">
            <a:schemeClr val="tx1"/>
          </a:fontRef>
        </p:style>
      </p:cxnSp>
      <p:sp>
        <p:nvSpPr>
          <p:cNvPr id="17" name="CasellaDiTesto 16">
            <a:extLst>
              <a:ext uri="{FF2B5EF4-FFF2-40B4-BE49-F238E27FC236}">
                <a16:creationId xmlns:a16="http://schemas.microsoft.com/office/drawing/2014/main" id="{02CC024D-575C-FC6F-977D-17CB8A9CE544}"/>
              </a:ext>
            </a:extLst>
          </p:cNvPr>
          <p:cNvSpPr txBox="1"/>
          <p:nvPr/>
        </p:nvSpPr>
        <p:spPr>
          <a:xfrm>
            <a:off x="7240296" y="3297448"/>
            <a:ext cx="612860" cy="369332"/>
          </a:xfrm>
          <a:prstGeom prst="rect">
            <a:avLst/>
          </a:prstGeom>
          <a:noFill/>
        </p:spPr>
        <p:txBody>
          <a:bodyPr wrap="none" rtlCol="0">
            <a:spAutoFit/>
          </a:bodyPr>
          <a:lstStyle/>
          <a:p>
            <a:pPr algn="ctr"/>
            <a:r>
              <a:rPr lang="en-US" dirty="0">
                <a:solidFill>
                  <a:srgbClr val="FF0000"/>
                </a:solidFill>
              </a:rPr>
              <a:t>NOT</a:t>
            </a:r>
          </a:p>
        </p:txBody>
      </p:sp>
    </p:spTree>
    <p:extLst>
      <p:ext uri="{BB962C8B-B14F-4D97-AF65-F5344CB8AC3E}">
        <p14:creationId xmlns:p14="http://schemas.microsoft.com/office/powerpoint/2010/main" val="3029844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en-US" dirty="0"/>
              <a:t>ENUMERATION OF FUNCTIONS (3)</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en-US" dirty="0"/>
                  <a:t>There are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up>
                    </m:sSup>
                  </m:oMath>
                </a14:m>
                <a:r>
                  <a:rPr lang="en-US" dirty="0"/>
                  <a:t> possible functions that can be obtained from the combination </a:t>
                </a:r>
                <a:br>
                  <a:rPr lang="en-US" dirty="0"/>
                </a:br>
                <a:r>
                  <a:rPr lang="en-US" dirty="0"/>
                  <a:t>of </a:t>
                </a:r>
                <a:r>
                  <a:rPr lang="en-US" i="1" dirty="0"/>
                  <a:t>n</a:t>
                </a:r>
                <a:r>
                  <a:rPr lang="en-US" dirty="0"/>
                  <a:t> binary variables. For </a:t>
                </a:r>
                <a:r>
                  <a:rPr lang="en-US" i="1" dirty="0"/>
                  <a:t>n</a:t>
                </a:r>
                <a:r>
                  <a:rPr lang="en-US" dirty="0"/>
                  <a:t>=2 they are the following:</a:t>
                </a:r>
              </a:p>
              <a:p>
                <a:pPr marL="0" indent="0">
                  <a:buNone/>
                </a:pPr>
                <a:endParaRPr lang="en-US"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US">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6" y="3346385"/>
            <a:ext cx="6297970" cy="2893097"/>
          </a:xfrm>
          <a:prstGeom prst="rect">
            <a:avLst/>
          </a:prstGeom>
        </p:spPr>
      </p:pic>
      <p:cxnSp>
        <p:nvCxnSpPr>
          <p:cNvPr id="10" name="Connettore 2 9">
            <a:extLst>
              <a:ext uri="{FF2B5EF4-FFF2-40B4-BE49-F238E27FC236}">
                <a16:creationId xmlns:a16="http://schemas.microsoft.com/office/drawing/2014/main" id="{782192A9-9411-737C-1514-050DD2D7D351}"/>
              </a:ext>
            </a:extLst>
          </p:cNvPr>
          <p:cNvCxnSpPr>
            <a:cxnSpLocks/>
          </p:cNvCxnSpPr>
          <p:nvPr/>
        </p:nvCxnSpPr>
        <p:spPr>
          <a:xfrm>
            <a:off x="6610877" y="3589869"/>
            <a:ext cx="0" cy="139295"/>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11" name="CasellaDiTesto 10">
            <a:extLst>
              <a:ext uri="{FF2B5EF4-FFF2-40B4-BE49-F238E27FC236}">
                <a16:creationId xmlns:a16="http://schemas.microsoft.com/office/drawing/2014/main" id="{AF3C7341-935C-D655-865B-D19CCAD39EF5}"/>
              </a:ext>
            </a:extLst>
          </p:cNvPr>
          <p:cNvSpPr txBox="1"/>
          <p:nvPr/>
        </p:nvSpPr>
        <p:spPr>
          <a:xfrm>
            <a:off x="6319772" y="3325131"/>
            <a:ext cx="582212" cy="338554"/>
          </a:xfrm>
          <a:prstGeom prst="rect">
            <a:avLst/>
          </a:prstGeom>
          <a:noFill/>
        </p:spPr>
        <p:txBody>
          <a:bodyPr wrap="none" rtlCol="0">
            <a:spAutoFit/>
          </a:bodyPr>
          <a:lstStyle/>
          <a:p>
            <a:pPr algn="ctr"/>
            <a:r>
              <a:rPr lang="en-US" sz="1600" dirty="0">
                <a:solidFill>
                  <a:srgbClr val="FF0000"/>
                </a:solidFill>
              </a:rPr>
              <a:t>NOR</a:t>
            </a:r>
          </a:p>
        </p:txBody>
      </p:sp>
      <p:cxnSp>
        <p:nvCxnSpPr>
          <p:cNvPr id="4" name="Connettore 2 3">
            <a:extLst>
              <a:ext uri="{FF2B5EF4-FFF2-40B4-BE49-F238E27FC236}">
                <a16:creationId xmlns:a16="http://schemas.microsoft.com/office/drawing/2014/main" id="{4D047C82-128B-BA76-7615-A82823181FB8}"/>
              </a:ext>
            </a:extLst>
          </p:cNvPr>
          <p:cNvCxnSpPr>
            <a:cxnSpLocks/>
          </p:cNvCxnSpPr>
          <p:nvPr/>
        </p:nvCxnSpPr>
        <p:spPr>
          <a:xfrm>
            <a:off x="8459167" y="3584930"/>
            <a:ext cx="1" cy="102608"/>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6" name="CasellaDiTesto 5">
            <a:extLst>
              <a:ext uri="{FF2B5EF4-FFF2-40B4-BE49-F238E27FC236}">
                <a16:creationId xmlns:a16="http://schemas.microsoft.com/office/drawing/2014/main" id="{75912CC6-24C0-4645-8A58-9EED62BFDB86}"/>
              </a:ext>
            </a:extLst>
          </p:cNvPr>
          <p:cNvSpPr txBox="1"/>
          <p:nvPr/>
        </p:nvSpPr>
        <p:spPr>
          <a:xfrm>
            <a:off x="8107148" y="3325131"/>
            <a:ext cx="704039" cy="338554"/>
          </a:xfrm>
          <a:prstGeom prst="rect">
            <a:avLst/>
          </a:prstGeom>
          <a:noFill/>
        </p:spPr>
        <p:txBody>
          <a:bodyPr wrap="none" rtlCol="0">
            <a:spAutoFit/>
          </a:bodyPr>
          <a:lstStyle/>
          <a:p>
            <a:pPr algn="ctr"/>
            <a:r>
              <a:rPr lang="en-US" sz="1600" dirty="0">
                <a:solidFill>
                  <a:srgbClr val="FF0000"/>
                </a:solidFill>
              </a:rPr>
              <a:t>NAND</a:t>
            </a:r>
          </a:p>
        </p:txBody>
      </p:sp>
    </p:spTree>
    <p:extLst>
      <p:ext uri="{BB962C8B-B14F-4D97-AF65-F5344CB8AC3E}">
        <p14:creationId xmlns:p14="http://schemas.microsoft.com/office/powerpoint/2010/main" val="831934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en-US" dirty="0"/>
              <a:t>ENUMERATION OF FUNCTIONS (4)</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en-US" dirty="0"/>
                  <a:t>There are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up>
                    </m:sSup>
                  </m:oMath>
                </a14:m>
                <a:r>
                  <a:rPr lang="en-US" dirty="0"/>
                  <a:t> possible functions that can be obtained from the combination </a:t>
                </a:r>
                <a:br>
                  <a:rPr lang="en-US" dirty="0"/>
                </a:br>
                <a:r>
                  <a:rPr lang="en-US" dirty="0"/>
                  <a:t>of </a:t>
                </a:r>
                <a:r>
                  <a:rPr lang="en-US" i="1" dirty="0"/>
                  <a:t>n</a:t>
                </a:r>
                <a:r>
                  <a:rPr lang="en-US" dirty="0"/>
                  <a:t> binary variables. For </a:t>
                </a:r>
                <a:r>
                  <a:rPr lang="en-US" i="1" dirty="0"/>
                  <a:t>n</a:t>
                </a:r>
                <a:r>
                  <a:rPr lang="en-US" dirty="0"/>
                  <a:t>=2 they are the following:</a:t>
                </a:r>
              </a:p>
              <a:p>
                <a:pPr marL="0" indent="0">
                  <a:buNone/>
                </a:pPr>
                <a:endParaRPr lang="en-US"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US">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6" y="3346385"/>
            <a:ext cx="6297970" cy="2893097"/>
          </a:xfrm>
          <a:prstGeom prst="rect">
            <a:avLst/>
          </a:prstGeom>
        </p:spPr>
      </p:pic>
      <p:cxnSp>
        <p:nvCxnSpPr>
          <p:cNvPr id="12" name="Connettore 2 11">
            <a:extLst>
              <a:ext uri="{FF2B5EF4-FFF2-40B4-BE49-F238E27FC236}">
                <a16:creationId xmlns:a16="http://schemas.microsoft.com/office/drawing/2014/main" id="{755450DA-8843-D65E-348A-A43CC4F3839D}"/>
              </a:ext>
            </a:extLst>
          </p:cNvPr>
          <p:cNvCxnSpPr>
            <a:cxnSpLocks/>
          </p:cNvCxnSpPr>
          <p:nvPr/>
        </p:nvCxnSpPr>
        <p:spPr>
          <a:xfrm>
            <a:off x="5964797" y="3570133"/>
            <a:ext cx="0" cy="326006"/>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13" name="CasellaDiTesto 12">
            <a:extLst>
              <a:ext uri="{FF2B5EF4-FFF2-40B4-BE49-F238E27FC236}">
                <a16:creationId xmlns:a16="http://schemas.microsoft.com/office/drawing/2014/main" id="{681C0C95-1B03-098C-CBE0-37B2BC439FD2}"/>
              </a:ext>
            </a:extLst>
          </p:cNvPr>
          <p:cNvSpPr txBox="1"/>
          <p:nvPr/>
        </p:nvSpPr>
        <p:spPr>
          <a:xfrm>
            <a:off x="5687958" y="3297448"/>
            <a:ext cx="553677" cy="338554"/>
          </a:xfrm>
          <a:prstGeom prst="rect">
            <a:avLst/>
          </a:prstGeom>
          <a:noFill/>
          <a:ln w="28575">
            <a:noFill/>
          </a:ln>
        </p:spPr>
        <p:txBody>
          <a:bodyPr wrap="none" rtlCol="0">
            <a:spAutoFit/>
          </a:bodyPr>
          <a:lstStyle/>
          <a:p>
            <a:pPr algn="ctr"/>
            <a:r>
              <a:rPr lang="en-US" sz="1600" dirty="0">
                <a:solidFill>
                  <a:srgbClr val="FF0000"/>
                </a:solidFill>
              </a:rPr>
              <a:t>XOR</a:t>
            </a:r>
          </a:p>
        </p:txBody>
      </p:sp>
      <p:cxnSp>
        <p:nvCxnSpPr>
          <p:cNvPr id="7" name="Connettore 2 6">
            <a:extLst>
              <a:ext uri="{FF2B5EF4-FFF2-40B4-BE49-F238E27FC236}">
                <a16:creationId xmlns:a16="http://schemas.microsoft.com/office/drawing/2014/main" id="{FB3B7446-AA22-C487-8F41-5CE50F45FDF9}"/>
              </a:ext>
            </a:extLst>
          </p:cNvPr>
          <p:cNvCxnSpPr>
            <a:cxnSpLocks/>
          </p:cNvCxnSpPr>
          <p:nvPr/>
        </p:nvCxnSpPr>
        <p:spPr>
          <a:xfrm>
            <a:off x="6890659" y="3570133"/>
            <a:ext cx="0" cy="365763"/>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9" name="CasellaDiTesto 8">
            <a:extLst>
              <a:ext uri="{FF2B5EF4-FFF2-40B4-BE49-F238E27FC236}">
                <a16:creationId xmlns:a16="http://schemas.microsoft.com/office/drawing/2014/main" id="{55A41154-7728-45E9-59B6-5FC546BCFD34}"/>
              </a:ext>
            </a:extLst>
          </p:cNvPr>
          <p:cNvSpPr txBox="1"/>
          <p:nvPr/>
        </p:nvSpPr>
        <p:spPr>
          <a:xfrm>
            <a:off x="6334257" y="3297448"/>
            <a:ext cx="1112805" cy="338554"/>
          </a:xfrm>
          <a:prstGeom prst="rect">
            <a:avLst/>
          </a:prstGeom>
          <a:noFill/>
          <a:ln w="28575">
            <a:noFill/>
          </a:ln>
        </p:spPr>
        <p:txBody>
          <a:bodyPr wrap="none" rtlCol="0">
            <a:spAutoFit/>
          </a:bodyPr>
          <a:lstStyle/>
          <a:p>
            <a:pPr algn="ctr"/>
            <a:r>
              <a:rPr lang="en-US" sz="1600" dirty="0">
                <a:solidFill>
                  <a:srgbClr val="FF0000"/>
                </a:solidFill>
              </a:rPr>
              <a:t>XNOR (EQ)</a:t>
            </a:r>
          </a:p>
        </p:txBody>
      </p:sp>
    </p:spTree>
    <p:extLst>
      <p:ext uri="{BB962C8B-B14F-4D97-AF65-F5344CB8AC3E}">
        <p14:creationId xmlns:p14="http://schemas.microsoft.com/office/powerpoint/2010/main" val="2921810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en-US" dirty="0"/>
              <a:t>ENUMERATION OF FUNCTIONS (5)</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en-US" dirty="0"/>
                  <a:t>There are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up>
                    </m:sSup>
                  </m:oMath>
                </a14:m>
                <a:r>
                  <a:rPr lang="en-US" dirty="0"/>
                  <a:t> possible functions that can be obtained from the combination </a:t>
                </a:r>
                <a:br>
                  <a:rPr lang="en-US" dirty="0"/>
                </a:br>
                <a:r>
                  <a:rPr lang="en-US" dirty="0"/>
                  <a:t>of </a:t>
                </a:r>
                <a:r>
                  <a:rPr lang="en-US" i="1" dirty="0"/>
                  <a:t>n</a:t>
                </a:r>
                <a:r>
                  <a:rPr lang="en-US" dirty="0"/>
                  <a:t> binary variables. For </a:t>
                </a:r>
                <a:r>
                  <a:rPr lang="en-US" i="1" dirty="0"/>
                  <a:t>n</a:t>
                </a:r>
                <a:r>
                  <a:rPr lang="en-US" dirty="0"/>
                  <a:t>=2 they are the following:</a:t>
                </a:r>
              </a:p>
              <a:p>
                <a:pPr marL="0" indent="0">
                  <a:buNone/>
                </a:pPr>
                <a:endParaRPr lang="en-US"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US">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6" y="3346385"/>
            <a:ext cx="6297970" cy="2893097"/>
          </a:xfrm>
          <a:prstGeom prst="rect">
            <a:avLst/>
          </a:prstGeom>
        </p:spPr>
      </p:pic>
      <p:sp>
        <p:nvSpPr>
          <p:cNvPr id="9" name="CasellaDiTesto 8">
            <a:extLst>
              <a:ext uri="{FF2B5EF4-FFF2-40B4-BE49-F238E27FC236}">
                <a16:creationId xmlns:a16="http://schemas.microsoft.com/office/drawing/2014/main" id="{55A41154-7728-45E9-59B6-5FC546BCFD34}"/>
              </a:ext>
            </a:extLst>
          </p:cNvPr>
          <p:cNvSpPr txBox="1"/>
          <p:nvPr/>
        </p:nvSpPr>
        <p:spPr>
          <a:xfrm>
            <a:off x="6170140" y="3297448"/>
            <a:ext cx="1393331" cy="338554"/>
          </a:xfrm>
          <a:prstGeom prst="rect">
            <a:avLst/>
          </a:prstGeom>
          <a:noFill/>
          <a:ln w="28575">
            <a:noFill/>
          </a:ln>
        </p:spPr>
        <p:txBody>
          <a:bodyPr wrap="none" rtlCol="0">
            <a:spAutoFit/>
          </a:bodyPr>
          <a:lstStyle/>
          <a:p>
            <a:pPr algn="r"/>
            <a:r>
              <a:rPr lang="en-US" sz="1600" dirty="0">
                <a:solidFill>
                  <a:srgbClr val="FF0000"/>
                </a:solidFill>
              </a:rPr>
              <a:t>IMPLICATION</a:t>
            </a:r>
          </a:p>
        </p:txBody>
      </p:sp>
      <p:sp>
        <p:nvSpPr>
          <p:cNvPr id="23" name="Arco 22">
            <a:extLst>
              <a:ext uri="{FF2B5EF4-FFF2-40B4-BE49-F238E27FC236}">
                <a16:creationId xmlns:a16="http://schemas.microsoft.com/office/drawing/2014/main" id="{4CA135B0-F485-0D98-ACB4-A861A25E3A0D}"/>
              </a:ext>
            </a:extLst>
          </p:cNvPr>
          <p:cNvSpPr/>
          <p:nvPr/>
        </p:nvSpPr>
        <p:spPr>
          <a:xfrm>
            <a:off x="6941491" y="3472379"/>
            <a:ext cx="1192694" cy="654347"/>
          </a:xfrm>
          <a:prstGeom prst="arc">
            <a:avLst>
              <a:gd name="adj1" fmla="val 16200000"/>
              <a:gd name="adj2" fmla="val 157297"/>
            </a:avLst>
          </a:prstGeom>
          <a:ln w="28575">
            <a:solidFill>
              <a:schemeClr val="accent3">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213990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EAECE2-8F38-B74D-F3F6-EFD10FF9E0D5}"/>
              </a:ext>
            </a:extLst>
          </p:cNvPr>
          <p:cNvSpPr>
            <a:spLocks noGrp="1"/>
          </p:cNvSpPr>
          <p:nvPr>
            <p:ph type="title"/>
          </p:nvPr>
        </p:nvSpPr>
        <p:spPr/>
        <p:txBody>
          <a:bodyPr/>
          <a:lstStyle/>
          <a:p>
            <a:r>
              <a:rPr lang="en-US" dirty="0"/>
              <a:t>ENUMERATION OF FUNCTIONS (6)</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C0C0B84-F1BD-F261-2979-D53C997F0538}"/>
                  </a:ext>
                </a:extLst>
              </p:cNvPr>
              <p:cNvSpPr>
                <a:spLocks noGrp="1"/>
              </p:cNvSpPr>
              <p:nvPr>
                <p:ph idx="1"/>
              </p:nvPr>
            </p:nvSpPr>
            <p:spPr/>
            <p:txBody>
              <a:bodyPr>
                <a:normAutofit/>
              </a:bodyPr>
              <a:lstStyle/>
              <a:p>
                <a:pPr marL="0" indent="0">
                  <a:buNone/>
                </a:pPr>
                <a:r>
                  <a:rPr lang="en-US" dirty="0"/>
                  <a:t>There are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sup>
                    </m:sSup>
                  </m:oMath>
                </a14:m>
                <a:r>
                  <a:rPr lang="en-US" dirty="0"/>
                  <a:t> possible functions that can be obtained from the combination </a:t>
                </a:r>
                <a:br>
                  <a:rPr lang="en-US" dirty="0"/>
                </a:br>
                <a:r>
                  <a:rPr lang="en-US" dirty="0"/>
                  <a:t>of </a:t>
                </a:r>
                <a:r>
                  <a:rPr lang="en-US" i="1" dirty="0"/>
                  <a:t>n</a:t>
                </a:r>
                <a:r>
                  <a:rPr lang="en-US" dirty="0"/>
                  <a:t> binary variables. For </a:t>
                </a:r>
                <a:r>
                  <a:rPr lang="en-US" i="1" dirty="0"/>
                  <a:t>n</a:t>
                </a:r>
                <a:r>
                  <a:rPr lang="en-US" dirty="0"/>
                  <a:t>=2 they are the following:</a:t>
                </a:r>
              </a:p>
              <a:p>
                <a:pPr marL="0" indent="0">
                  <a:buNone/>
                </a:pPr>
                <a:endParaRPr lang="en-US" dirty="0"/>
              </a:p>
            </p:txBody>
          </p:sp>
        </mc:Choice>
        <mc:Fallback xmlns="">
          <p:sp>
            <p:nvSpPr>
              <p:cNvPr id="3" name="Segnaposto contenuto 2">
                <a:extLst>
                  <a:ext uri="{FF2B5EF4-FFF2-40B4-BE49-F238E27FC236}">
                    <a16:creationId xmlns:a16="http://schemas.microsoft.com/office/drawing/2014/main" id="{2C0C0B84-F1BD-F261-2979-D53C997F0538}"/>
                  </a:ext>
                </a:extLst>
              </p:cNvPr>
              <p:cNvSpPr>
                <a:spLocks noGrp="1" noRot="1" noChangeAspect="1" noMove="1" noResize="1" noEditPoints="1" noAdjustHandles="1" noChangeArrowheads="1" noChangeShapeType="1" noTextEdit="1"/>
              </p:cNvSpPr>
              <p:nvPr>
                <p:ph idx="1"/>
              </p:nvPr>
            </p:nvSpPr>
            <p:spPr>
              <a:blipFill>
                <a:blip r:embed="rId2"/>
                <a:stretch>
                  <a:fillRect l="-923"/>
                </a:stretch>
              </a:blipFill>
            </p:spPr>
            <p:txBody>
              <a:bodyPr/>
              <a:lstStyle/>
              <a:p>
                <a:r>
                  <a:rPr lang="en-US">
                    <a:noFill/>
                  </a:rPr>
                  <a:t> </a:t>
                </a:r>
              </a:p>
            </p:txBody>
          </p:sp>
        </mc:Fallback>
      </mc:AlternateContent>
      <p:pic>
        <p:nvPicPr>
          <p:cNvPr id="8" name="Elemento grafico 7">
            <a:extLst>
              <a:ext uri="{FF2B5EF4-FFF2-40B4-BE49-F238E27FC236}">
                <a16:creationId xmlns:a16="http://schemas.microsoft.com/office/drawing/2014/main" id="{40591EAB-3D6F-295B-34A5-85BC75B496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45426" y="3346385"/>
            <a:ext cx="6297970" cy="2893097"/>
          </a:xfrm>
          <a:prstGeom prst="rect">
            <a:avLst/>
          </a:prstGeom>
        </p:spPr>
      </p:pic>
      <p:cxnSp>
        <p:nvCxnSpPr>
          <p:cNvPr id="12" name="Connettore 2 11">
            <a:extLst>
              <a:ext uri="{FF2B5EF4-FFF2-40B4-BE49-F238E27FC236}">
                <a16:creationId xmlns:a16="http://schemas.microsoft.com/office/drawing/2014/main" id="{755450DA-8843-D65E-348A-A43CC4F3839D}"/>
              </a:ext>
            </a:extLst>
          </p:cNvPr>
          <p:cNvCxnSpPr>
            <a:cxnSpLocks/>
          </p:cNvCxnSpPr>
          <p:nvPr/>
        </p:nvCxnSpPr>
        <p:spPr>
          <a:xfrm>
            <a:off x="4113140" y="3567792"/>
            <a:ext cx="0" cy="65869"/>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13" name="CasellaDiTesto 12">
            <a:extLst>
              <a:ext uri="{FF2B5EF4-FFF2-40B4-BE49-F238E27FC236}">
                <a16:creationId xmlns:a16="http://schemas.microsoft.com/office/drawing/2014/main" id="{681C0C95-1B03-098C-CBE0-37B2BC439FD2}"/>
              </a:ext>
            </a:extLst>
          </p:cNvPr>
          <p:cNvSpPr txBox="1"/>
          <p:nvPr/>
        </p:nvSpPr>
        <p:spPr>
          <a:xfrm>
            <a:off x="3241749" y="3295107"/>
            <a:ext cx="1742786" cy="338554"/>
          </a:xfrm>
          <a:prstGeom prst="rect">
            <a:avLst/>
          </a:prstGeom>
          <a:noFill/>
          <a:ln w="28575">
            <a:noFill/>
          </a:ln>
        </p:spPr>
        <p:txBody>
          <a:bodyPr wrap="none" rtlCol="0">
            <a:spAutoFit/>
          </a:bodyPr>
          <a:lstStyle/>
          <a:p>
            <a:pPr algn="ctr"/>
            <a:r>
              <a:rPr lang="en-US" sz="1600" dirty="0">
                <a:solidFill>
                  <a:srgbClr val="FF0000"/>
                </a:solidFill>
              </a:rPr>
              <a:t>CONTRADICTION</a:t>
            </a:r>
          </a:p>
        </p:txBody>
      </p:sp>
      <p:cxnSp>
        <p:nvCxnSpPr>
          <p:cNvPr id="4" name="Connettore 2 3">
            <a:extLst>
              <a:ext uri="{FF2B5EF4-FFF2-40B4-BE49-F238E27FC236}">
                <a16:creationId xmlns:a16="http://schemas.microsoft.com/office/drawing/2014/main" id="{703A4FCA-2EF2-4972-A6DA-B320F3A2065B}"/>
              </a:ext>
            </a:extLst>
          </p:cNvPr>
          <p:cNvCxnSpPr>
            <a:cxnSpLocks/>
          </p:cNvCxnSpPr>
          <p:nvPr/>
        </p:nvCxnSpPr>
        <p:spPr>
          <a:xfrm>
            <a:off x="8760430" y="3567792"/>
            <a:ext cx="0" cy="65869"/>
          </a:xfrm>
          <a:prstGeom prst="straightConnector1">
            <a:avLst/>
          </a:prstGeom>
          <a:ln w="28575">
            <a:tailEnd type="triangle"/>
          </a:ln>
        </p:spPr>
        <p:style>
          <a:lnRef idx="1">
            <a:schemeClr val="accent3"/>
          </a:lnRef>
          <a:fillRef idx="0">
            <a:schemeClr val="accent3"/>
          </a:fillRef>
          <a:effectRef idx="0">
            <a:schemeClr val="accent3"/>
          </a:effectRef>
          <a:fontRef idx="minor">
            <a:schemeClr val="tx1"/>
          </a:fontRef>
        </p:style>
      </p:cxnSp>
      <p:sp>
        <p:nvSpPr>
          <p:cNvPr id="5" name="CasellaDiTesto 4">
            <a:extLst>
              <a:ext uri="{FF2B5EF4-FFF2-40B4-BE49-F238E27FC236}">
                <a16:creationId xmlns:a16="http://schemas.microsoft.com/office/drawing/2014/main" id="{32692E44-29A0-B87F-E134-1C117D24869A}"/>
              </a:ext>
            </a:extLst>
          </p:cNvPr>
          <p:cNvSpPr txBox="1"/>
          <p:nvPr/>
        </p:nvSpPr>
        <p:spPr>
          <a:xfrm>
            <a:off x="7966386" y="3295107"/>
            <a:ext cx="1317733" cy="338554"/>
          </a:xfrm>
          <a:prstGeom prst="rect">
            <a:avLst/>
          </a:prstGeom>
          <a:noFill/>
          <a:ln w="28575">
            <a:noFill/>
          </a:ln>
        </p:spPr>
        <p:txBody>
          <a:bodyPr wrap="none" rtlCol="0">
            <a:spAutoFit/>
          </a:bodyPr>
          <a:lstStyle/>
          <a:p>
            <a:pPr algn="ctr"/>
            <a:r>
              <a:rPr lang="en-US" sz="1600" dirty="0">
                <a:solidFill>
                  <a:srgbClr val="FF0000"/>
                </a:solidFill>
              </a:rPr>
              <a:t>TAUTOLOGY</a:t>
            </a:r>
          </a:p>
        </p:txBody>
      </p:sp>
    </p:spTree>
    <p:extLst>
      <p:ext uri="{BB962C8B-B14F-4D97-AF65-F5344CB8AC3E}">
        <p14:creationId xmlns:p14="http://schemas.microsoft.com/office/powerpoint/2010/main" val="661838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CF4F405-C8EB-7932-E16E-4882C7B5CEFD}"/>
              </a:ext>
            </a:extLst>
          </p:cNvPr>
          <p:cNvSpPr>
            <a:spLocks noGrp="1"/>
          </p:cNvSpPr>
          <p:nvPr>
            <p:ph type="title"/>
          </p:nvPr>
        </p:nvSpPr>
        <p:spPr/>
        <p:txBody>
          <a:bodyPr/>
          <a:lstStyle/>
          <a:p>
            <a:r>
              <a:rPr lang="en-US" dirty="0"/>
              <a:t>STRUCTURE OF LOGIC NETWORKS</a:t>
            </a:r>
          </a:p>
        </p:txBody>
      </p:sp>
      <p:sp>
        <p:nvSpPr>
          <p:cNvPr id="3" name="Segnaposto contenuto 2">
            <a:extLst>
              <a:ext uri="{FF2B5EF4-FFF2-40B4-BE49-F238E27FC236}">
                <a16:creationId xmlns:a16="http://schemas.microsoft.com/office/drawing/2014/main" id="{0AEA8FA0-C640-7301-F847-0A23AD277512}"/>
              </a:ext>
            </a:extLst>
          </p:cNvPr>
          <p:cNvSpPr>
            <a:spLocks noGrp="1"/>
          </p:cNvSpPr>
          <p:nvPr>
            <p:ph idx="1"/>
          </p:nvPr>
        </p:nvSpPr>
        <p:spPr/>
        <p:txBody>
          <a:bodyPr>
            <a:normAutofit lnSpcReduction="10000"/>
          </a:bodyPr>
          <a:lstStyle/>
          <a:p>
            <a:r>
              <a:rPr lang="en-US" b="1" dirty="0"/>
              <a:t>Combinational Networks</a:t>
            </a:r>
            <a:br>
              <a:rPr lang="en-US" dirty="0"/>
            </a:br>
            <a:r>
              <a:rPr lang="en-US" dirty="0"/>
              <a:t>Comparable to "pure" functions, the output state depends solely on the values of the input state (one-to-one or onto function).</a:t>
            </a:r>
          </a:p>
          <a:p>
            <a:r>
              <a:rPr lang="en-US" b="1" dirty="0"/>
              <a:t>Sequential Networks</a:t>
            </a:r>
            <a:br>
              <a:rPr lang="en-US" dirty="0"/>
            </a:br>
            <a:r>
              <a:rPr lang="en-US" dirty="0"/>
              <a:t>The outputs depend on the "history" of the input states up to the instant of observation considered. They are defined in terms of combinational networks equipped with feedback on themselves or with the addition of memory elements.</a:t>
            </a:r>
          </a:p>
        </p:txBody>
      </p:sp>
      <p:sp>
        <p:nvSpPr>
          <p:cNvPr id="4" name="Ovale 3">
            <a:extLst>
              <a:ext uri="{FF2B5EF4-FFF2-40B4-BE49-F238E27FC236}">
                <a16:creationId xmlns:a16="http://schemas.microsoft.com/office/drawing/2014/main" id="{7926033D-59C5-06A2-BA2E-02AA01428FBA}"/>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853410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C9882F-3970-C83D-B539-38B4AC5A925B}"/>
              </a:ext>
            </a:extLst>
          </p:cNvPr>
          <p:cNvSpPr>
            <a:spLocks noGrp="1"/>
          </p:cNvSpPr>
          <p:nvPr>
            <p:ph type="title"/>
          </p:nvPr>
        </p:nvSpPr>
        <p:spPr/>
        <p:txBody>
          <a:bodyPr/>
          <a:lstStyle/>
          <a:p>
            <a:r>
              <a:rPr lang="en-US" dirty="0"/>
              <a:t>MANUAL SYNTHESIS OF COMBINATIONAL NETWORKS (1)</a:t>
            </a:r>
          </a:p>
        </p:txBody>
      </p:sp>
      <p:sp>
        <p:nvSpPr>
          <p:cNvPr id="3" name="Segnaposto contenuto 2">
            <a:extLst>
              <a:ext uri="{FF2B5EF4-FFF2-40B4-BE49-F238E27FC236}">
                <a16:creationId xmlns:a16="http://schemas.microsoft.com/office/drawing/2014/main" id="{E23D7325-9749-5D1A-DDAC-FC4AA0418BF2}"/>
              </a:ext>
            </a:extLst>
          </p:cNvPr>
          <p:cNvSpPr>
            <a:spLocks noGrp="1"/>
          </p:cNvSpPr>
          <p:nvPr>
            <p:ph idx="1"/>
          </p:nvPr>
        </p:nvSpPr>
        <p:spPr/>
        <p:txBody>
          <a:bodyPr>
            <a:normAutofit/>
          </a:bodyPr>
          <a:lstStyle/>
          <a:p>
            <a:r>
              <a:rPr lang="en-US" dirty="0"/>
              <a:t>With the formal definitions of the network's operation given in truth tables or as expressions, </a:t>
            </a:r>
            <a:r>
              <a:rPr lang="en-US" u="sng" dirty="0"/>
              <a:t>transformations</a:t>
            </a:r>
            <a:r>
              <a:rPr lang="en-US" dirty="0"/>
              <a:t> can be applied to produce structures suitable for practical implementation: that is, this process involves their </a:t>
            </a:r>
            <a:r>
              <a:rPr lang="en-US" u="sng" dirty="0"/>
              <a:t>rearrangement</a:t>
            </a:r>
            <a:r>
              <a:rPr lang="en-US" dirty="0"/>
              <a:t>, for example to adapt them to the technology to be used.</a:t>
            </a:r>
          </a:p>
          <a:p>
            <a:r>
              <a:rPr lang="en-US" dirty="0"/>
              <a:t>Reorganizing the specifications also entails seeking the lowest cost in terms of network size, consistent with the required performance. Here the network is</a:t>
            </a:r>
            <a:br>
              <a:rPr lang="en-US" dirty="0"/>
            </a:br>
            <a:r>
              <a:rPr lang="en-US" dirty="0"/>
              <a:t>minimized while always keeping the desired performance in mind.</a:t>
            </a:r>
          </a:p>
          <a:p>
            <a:endParaRPr lang="en-US" dirty="0"/>
          </a:p>
        </p:txBody>
      </p:sp>
    </p:spTree>
    <p:extLst>
      <p:ext uri="{BB962C8B-B14F-4D97-AF65-F5344CB8AC3E}">
        <p14:creationId xmlns:p14="http://schemas.microsoft.com/office/powerpoint/2010/main" val="2108118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C9882F-3970-C83D-B539-38B4AC5A925B}"/>
              </a:ext>
            </a:extLst>
          </p:cNvPr>
          <p:cNvSpPr>
            <a:spLocks noGrp="1"/>
          </p:cNvSpPr>
          <p:nvPr>
            <p:ph type="title"/>
          </p:nvPr>
        </p:nvSpPr>
        <p:spPr/>
        <p:txBody>
          <a:bodyPr/>
          <a:lstStyle/>
          <a:p>
            <a:r>
              <a:rPr lang="en-US" dirty="0"/>
              <a:t>MANUAL SYNTHESIS OF COMBINATIONAL NETWORKS (2)</a:t>
            </a:r>
          </a:p>
        </p:txBody>
      </p:sp>
      <p:sp>
        <p:nvSpPr>
          <p:cNvPr id="3" name="Segnaposto contenuto 2">
            <a:extLst>
              <a:ext uri="{FF2B5EF4-FFF2-40B4-BE49-F238E27FC236}">
                <a16:creationId xmlns:a16="http://schemas.microsoft.com/office/drawing/2014/main" id="{E23D7325-9749-5D1A-DDAC-FC4AA0418BF2}"/>
              </a:ext>
            </a:extLst>
          </p:cNvPr>
          <p:cNvSpPr>
            <a:spLocks noGrp="1"/>
          </p:cNvSpPr>
          <p:nvPr>
            <p:ph idx="1"/>
          </p:nvPr>
        </p:nvSpPr>
        <p:spPr/>
        <p:txBody>
          <a:bodyPr>
            <a:normAutofit/>
          </a:bodyPr>
          <a:lstStyle/>
          <a:p>
            <a:r>
              <a:rPr lang="en-US" dirty="0"/>
              <a:t>Manually designing a logic network involves direct algebraic manipulation of the equations, "graphical" techniques on suitably rearranged truth tables, such as Veitch-Karnaugh maps, or a mix of these and other techniques.</a:t>
            </a:r>
          </a:p>
          <a:p>
            <a:r>
              <a:rPr lang="en-US" dirty="0"/>
              <a:t>A relatively complex logic network may consist of several subnetworks that can be handled separately.</a:t>
            </a:r>
          </a:p>
          <a:p>
            <a:r>
              <a:rPr lang="en-US" dirty="0"/>
              <a:t>The "logic minimizer" </a:t>
            </a:r>
            <a:r>
              <a:rPr lang="en-US" i="1" dirty="0"/>
              <a:t>Espresso</a:t>
            </a:r>
            <a:r>
              <a:rPr lang="en-US" dirty="0"/>
              <a:t> (or other similar tools) can be considered an aid to manual design. </a:t>
            </a:r>
          </a:p>
          <a:p>
            <a:endParaRPr lang="en-US" dirty="0"/>
          </a:p>
        </p:txBody>
      </p:sp>
    </p:spTree>
    <p:extLst>
      <p:ext uri="{BB962C8B-B14F-4D97-AF65-F5344CB8AC3E}">
        <p14:creationId xmlns:p14="http://schemas.microsoft.com/office/powerpoint/2010/main" val="32265299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886AB51-6EBA-34E7-5838-6DBCEE9F1BDD}"/>
              </a:ext>
            </a:extLst>
          </p:cNvPr>
          <p:cNvSpPr>
            <a:spLocks noGrp="1"/>
          </p:cNvSpPr>
          <p:nvPr>
            <p:ph type="title"/>
          </p:nvPr>
        </p:nvSpPr>
        <p:spPr/>
        <p:txBody>
          <a:bodyPr/>
          <a:lstStyle/>
          <a:p>
            <a:r>
              <a:rPr lang="en-US" dirty="0"/>
              <a:t>SYNTHESIS AND MINIMIZATION OF COMBINATIONAL NETWORKS</a:t>
            </a:r>
          </a:p>
        </p:txBody>
      </p:sp>
      <p:sp>
        <p:nvSpPr>
          <p:cNvPr id="3" name="Segnaposto contenuto 2">
            <a:extLst>
              <a:ext uri="{FF2B5EF4-FFF2-40B4-BE49-F238E27FC236}">
                <a16:creationId xmlns:a16="http://schemas.microsoft.com/office/drawing/2014/main" id="{DE897A40-DC37-08BC-8E2E-852437177BD0}"/>
              </a:ext>
            </a:extLst>
          </p:cNvPr>
          <p:cNvSpPr>
            <a:spLocks noGrp="1"/>
          </p:cNvSpPr>
          <p:nvPr>
            <p:ph idx="1"/>
          </p:nvPr>
        </p:nvSpPr>
        <p:spPr>
          <a:xfrm>
            <a:off x="1141411" y="2249486"/>
            <a:ext cx="10265021" cy="4057045"/>
          </a:xfrm>
        </p:spPr>
        <p:txBody>
          <a:bodyPr>
            <a:normAutofit/>
          </a:bodyPr>
          <a:lstStyle/>
          <a:p>
            <a:r>
              <a:rPr lang="en-US" dirty="0"/>
              <a:t>Definition of the network with truth tables or Boolean equations (or equivalent)</a:t>
            </a:r>
          </a:p>
          <a:p>
            <a:r>
              <a:rPr lang="en-US" dirty="0"/>
              <a:t>Optional minimization:</a:t>
            </a:r>
          </a:p>
          <a:p>
            <a:pPr lvl="1">
              <a:buFont typeface="Tw Cen MT" panose="020B0602020104020603" pitchFamily="34" charset="0"/>
              <a:buChar char="–"/>
            </a:pPr>
            <a:r>
              <a:rPr lang="en-US" dirty="0"/>
              <a:t>Manual minimization of combinational networks</a:t>
            </a:r>
          </a:p>
          <a:p>
            <a:pPr marL="914400" lvl="2" indent="0">
              <a:buNone/>
            </a:pPr>
            <a:r>
              <a:rPr lang="en-US" dirty="0"/>
              <a:t>With Boolean algebra (algebraic manipulation, tedious and error-prone).</a:t>
            </a:r>
          </a:p>
          <a:p>
            <a:pPr marL="914400" lvl="2" indent="0">
              <a:buNone/>
            </a:pPr>
            <a:r>
              <a:rPr lang="en-US" dirty="0"/>
              <a:t>With Veitch-Karnaugh maps (limited to six variables).</a:t>
            </a:r>
          </a:p>
          <a:p>
            <a:pPr marL="914400" lvl="2" indent="0">
              <a:buNone/>
            </a:pPr>
            <a:r>
              <a:rPr lang="en-US" dirty="0"/>
              <a:t>With Reed-Müller maps (using the XOR operator).</a:t>
            </a:r>
          </a:p>
          <a:p>
            <a:pPr lvl="1">
              <a:buFont typeface="Tw Cen MT" panose="020B0602020104020603" pitchFamily="34" charset="0"/>
              <a:buChar char="–"/>
            </a:pPr>
            <a:r>
              <a:rPr lang="en-US" dirty="0"/>
              <a:t>Automatic minimization (by computer)</a:t>
            </a:r>
          </a:p>
          <a:p>
            <a:pPr marL="914400" lvl="2" indent="0">
              <a:buNone/>
            </a:pPr>
            <a:r>
              <a:rPr lang="en-US" dirty="0"/>
              <a:t>With the Quine-McCluskey tabular method (prohibitive with a large number of variables).</a:t>
            </a:r>
          </a:p>
          <a:p>
            <a:pPr marL="914400" lvl="2" indent="0">
              <a:buNone/>
            </a:pPr>
            <a:r>
              <a:rPr lang="en-US" dirty="0"/>
              <a:t>With the </a:t>
            </a:r>
            <a:r>
              <a:rPr lang="en-US" i="1" dirty="0"/>
              <a:t>Espresso</a:t>
            </a:r>
            <a:r>
              <a:rPr lang="en-US" dirty="0"/>
              <a:t> heuristic minimizer or similar tools.</a:t>
            </a:r>
          </a:p>
          <a:p>
            <a:endParaRPr lang="en-US" dirty="0"/>
          </a:p>
        </p:txBody>
      </p:sp>
    </p:spTree>
    <p:extLst>
      <p:ext uri="{BB962C8B-B14F-4D97-AF65-F5344CB8AC3E}">
        <p14:creationId xmlns:p14="http://schemas.microsoft.com/office/powerpoint/2010/main" val="3787382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6A9AF0-DBC5-C9EC-E4A1-9C6E95EA80CD}"/>
              </a:ext>
            </a:extLst>
          </p:cNvPr>
          <p:cNvSpPr>
            <a:spLocks noGrp="1"/>
          </p:cNvSpPr>
          <p:nvPr>
            <p:ph type="title"/>
          </p:nvPr>
        </p:nvSpPr>
        <p:spPr/>
        <p:txBody>
          <a:bodyPr/>
          <a:lstStyle/>
          <a:p>
            <a:r>
              <a:rPr lang="en-US" dirty="0"/>
              <a:t>From equations to</a:t>
            </a:r>
            <a:br>
              <a:rPr lang="en-US" dirty="0"/>
            </a:br>
            <a:r>
              <a:rPr lang="en-US" dirty="0"/>
              <a:t>circuits</a:t>
            </a:r>
          </a:p>
        </p:txBody>
      </p:sp>
      <p:sp>
        <p:nvSpPr>
          <p:cNvPr id="3" name="Segnaposto contenuto 2">
            <a:extLst>
              <a:ext uri="{FF2B5EF4-FFF2-40B4-BE49-F238E27FC236}">
                <a16:creationId xmlns:a16="http://schemas.microsoft.com/office/drawing/2014/main" id="{1194126D-CFBB-5879-F508-1B0748C9F82C}"/>
              </a:ext>
            </a:extLst>
          </p:cNvPr>
          <p:cNvSpPr>
            <a:spLocks noGrp="1"/>
          </p:cNvSpPr>
          <p:nvPr>
            <p:ph idx="1"/>
          </p:nvPr>
        </p:nvSpPr>
        <p:spPr>
          <a:xfrm>
            <a:off x="1141413" y="2249487"/>
            <a:ext cx="5959102" cy="3541714"/>
          </a:xfrm>
        </p:spPr>
        <p:txBody>
          <a:bodyPr>
            <a:normAutofit fontScale="92500"/>
          </a:bodyPr>
          <a:lstStyle/>
          <a:p>
            <a:pPr marL="0" indent="0">
              <a:buNone/>
            </a:pPr>
            <a:r>
              <a:rPr lang="en-US" dirty="0"/>
              <a:t>Expressions are manipulated in order to exploit predefined logic blocks, such as AND, OR and NOT gates, gates with intrinsic functional completeness such as NAND, NOR and XOR, or more complex functions such as DECODER, MUX, DEMUX, HALF-ADDER, FULL-ADDER, and others. These functions are embedded in low-density chips (SSI) and known as "discrete logic".</a:t>
            </a:r>
          </a:p>
        </p:txBody>
      </p:sp>
      <p:pic>
        <p:nvPicPr>
          <p:cNvPr id="9" name="Elemento grafico 8">
            <a:extLst>
              <a:ext uri="{FF2B5EF4-FFF2-40B4-BE49-F238E27FC236}">
                <a16:creationId xmlns:a16="http://schemas.microsoft.com/office/drawing/2014/main" id="{99CACFFF-2988-9C97-8885-D8D1B088C00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48149" y="2011913"/>
            <a:ext cx="3979091" cy="3455888"/>
          </a:xfrm>
          <a:prstGeom prst="rect">
            <a:avLst/>
          </a:prstGeom>
        </p:spPr>
      </p:pic>
    </p:spTree>
    <p:extLst>
      <p:ext uri="{BB962C8B-B14F-4D97-AF65-F5344CB8AC3E}">
        <p14:creationId xmlns:p14="http://schemas.microsoft.com/office/powerpoint/2010/main" val="1470728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BA17D36-8643-62CC-38E7-5A94F636C206}"/>
              </a:ext>
            </a:extLst>
          </p:cNvPr>
          <p:cNvSpPr>
            <a:spLocks noGrp="1"/>
          </p:cNvSpPr>
          <p:nvPr>
            <p:ph type="title"/>
          </p:nvPr>
        </p:nvSpPr>
        <p:spPr>
          <a:xfrm>
            <a:off x="1141413" y="618518"/>
            <a:ext cx="9905998" cy="1031173"/>
          </a:xfrm>
        </p:spPr>
        <p:txBody>
          <a:bodyPr/>
          <a:lstStyle/>
          <a:p>
            <a:r>
              <a:rPr lang="en-US" dirty="0"/>
              <a:t>CATEGORIES OF COMBINATIONAL LOGIC</a:t>
            </a:r>
          </a:p>
        </p:txBody>
      </p:sp>
      <p:sp>
        <p:nvSpPr>
          <p:cNvPr id="3" name="Segnaposto contenuto 2">
            <a:extLst>
              <a:ext uri="{FF2B5EF4-FFF2-40B4-BE49-F238E27FC236}">
                <a16:creationId xmlns:a16="http://schemas.microsoft.com/office/drawing/2014/main" id="{74CE0C05-CEDB-6415-6B3D-87BB455881BD}"/>
              </a:ext>
            </a:extLst>
          </p:cNvPr>
          <p:cNvSpPr>
            <a:spLocks noGrp="1"/>
          </p:cNvSpPr>
          <p:nvPr>
            <p:ph idx="1"/>
          </p:nvPr>
        </p:nvSpPr>
        <p:spPr>
          <a:xfrm>
            <a:off x="1141412" y="1616226"/>
            <a:ext cx="10001070" cy="5095470"/>
          </a:xfrm>
        </p:spPr>
        <p:txBody>
          <a:bodyPr>
            <a:normAutofit fontScale="85000" lnSpcReduction="20000"/>
          </a:bodyPr>
          <a:lstStyle/>
          <a:p>
            <a:r>
              <a:rPr lang="en-US" b="1" dirty="0"/>
              <a:t>Combinational logic network in canonical (or normal) form </a:t>
            </a:r>
            <a:br>
              <a:rPr lang="en-US" dirty="0"/>
            </a:br>
            <a:r>
              <a:rPr lang="en-US" dirty="0"/>
              <a:t>It has two forms:</a:t>
            </a:r>
          </a:p>
          <a:p>
            <a:pPr marL="457200" lvl="1" indent="0">
              <a:buNone/>
            </a:pPr>
            <a:r>
              <a:rPr lang="en-US" dirty="0"/>
              <a:t>- Disjunctive normal form (sum of products, or SOP)</a:t>
            </a:r>
          </a:p>
          <a:p>
            <a:pPr marL="457200" lvl="1" indent="0">
              <a:buNone/>
            </a:pPr>
            <a:r>
              <a:rPr lang="en-US" dirty="0"/>
              <a:t>- Conjunctive normal form (product of sums, or POS)</a:t>
            </a:r>
            <a:br>
              <a:rPr lang="en-US" dirty="0"/>
            </a:br>
            <a:br>
              <a:rPr lang="en-US" sz="1800" dirty="0"/>
            </a:br>
            <a:r>
              <a:rPr lang="en-US" sz="1800" dirty="0"/>
              <a:t>NB: "product" means conjunction (AND) and "sum" means disjunction (OR)</a:t>
            </a:r>
          </a:p>
          <a:p>
            <a:pPr>
              <a:buFont typeface="Tw Cen MT" panose="020B0602020104020603" pitchFamily="34" charset="0"/>
              <a:buChar char=" "/>
            </a:pPr>
            <a:r>
              <a:rPr lang="en-US" dirty="0"/>
              <a:t>A network in canonical form is characterized by two levels of logic (NOTs are not counted): this means that an input signal passes through two operators before reaching the output.</a:t>
            </a:r>
          </a:p>
          <a:p>
            <a:r>
              <a:rPr lang="en-US" b="1" dirty="0"/>
              <a:t>Multilevel combinational logic network</a:t>
            </a:r>
            <a:br>
              <a:rPr lang="en-US" dirty="0"/>
            </a:br>
            <a:r>
              <a:rPr lang="en-US" dirty="0"/>
              <a:t>This is a network in which at least one input signal passes through more than two operators before reaching the output. It is generally a more compact form than the previous one, but usually exhibits longer propagation times. With this category of networks it is also possible to build circuits based on a single type of operator, provided it is functionally complete (that is, the operator includes the negation of at least one variable); examples of such operators are NAND, NOR and XOR.</a:t>
            </a:r>
          </a:p>
        </p:txBody>
      </p:sp>
      <p:sp>
        <p:nvSpPr>
          <p:cNvPr id="4" name="Ovale 3">
            <a:extLst>
              <a:ext uri="{FF2B5EF4-FFF2-40B4-BE49-F238E27FC236}">
                <a16:creationId xmlns:a16="http://schemas.microsoft.com/office/drawing/2014/main" id="{FC789516-4FF5-20CA-84EE-583C98FEFC56}"/>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724306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CF58CA-1342-2C55-F125-847E3FE83C40}"/>
              </a:ext>
            </a:extLst>
          </p:cNvPr>
          <p:cNvSpPr>
            <a:spLocks noGrp="1"/>
          </p:cNvSpPr>
          <p:nvPr>
            <p:ph type="title"/>
          </p:nvPr>
        </p:nvSpPr>
        <p:spPr>
          <a:xfrm>
            <a:off x="1141412" y="618518"/>
            <a:ext cx="10221001" cy="1478570"/>
          </a:xfrm>
        </p:spPr>
        <p:txBody>
          <a:bodyPr/>
          <a:lstStyle/>
          <a:p>
            <a:r>
              <a:rPr lang="en-US" dirty="0"/>
              <a:t>COMBINATIONAL LOGIC NETWORKS (CANONICAL forms)</a:t>
            </a:r>
          </a:p>
        </p:txBody>
      </p:sp>
      <p:sp>
        <p:nvSpPr>
          <p:cNvPr id="3" name="Segnaposto contenuto 2">
            <a:extLst>
              <a:ext uri="{FF2B5EF4-FFF2-40B4-BE49-F238E27FC236}">
                <a16:creationId xmlns:a16="http://schemas.microsoft.com/office/drawing/2014/main" id="{3E6B0A45-4DDC-18C7-8A30-181D572B645F}"/>
              </a:ext>
            </a:extLst>
          </p:cNvPr>
          <p:cNvSpPr>
            <a:spLocks noGrp="1"/>
          </p:cNvSpPr>
          <p:nvPr>
            <p:ph idx="1"/>
          </p:nvPr>
        </p:nvSpPr>
        <p:spPr>
          <a:xfrm>
            <a:off x="1141412" y="1879600"/>
            <a:ext cx="9433823" cy="4359881"/>
          </a:xfrm>
        </p:spPr>
        <p:txBody>
          <a:bodyPr>
            <a:normAutofit fontScale="92500" lnSpcReduction="20000"/>
          </a:bodyPr>
          <a:lstStyle/>
          <a:p>
            <a:r>
              <a:rPr lang="en-US" dirty="0"/>
              <a:t>These are networks made up of two levels of logic.</a:t>
            </a:r>
          </a:p>
          <a:p>
            <a:r>
              <a:rPr lang="en-US" dirty="0"/>
              <a:t>They define the function by joining the</a:t>
            </a:r>
            <a:br>
              <a:rPr lang="en-US" dirty="0"/>
            </a:br>
            <a:r>
              <a:rPr lang="en-US" dirty="0"/>
              <a:t>intersections of several signals or</a:t>
            </a:r>
            <a:br>
              <a:rPr lang="en-US" dirty="0"/>
            </a:br>
            <a:r>
              <a:rPr lang="en-US" dirty="0"/>
              <a:t>their negations (sums of products or sums</a:t>
            </a:r>
            <a:br>
              <a:rPr lang="en-US" dirty="0"/>
            </a:br>
            <a:r>
              <a:rPr lang="en-US" dirty="0"/>
              <a:t>of minterms) or by intersecting the</a:t>
            </a:r>
            <a:br>
              <a:rPr lang="en-US" dirty="0"/>
            </a:br>
            <a:r>
              <a:rPr lang="en-US" dirty="0"/>
              <a:t>unions of several signals or their</a:t>
            </a:r>
            <a:br>
              <a:rPr lang="en-US" dirty="0"/>
            </a:br>
            <a:r>
              <a:rPr lang="en-US" dirty="0"/>
              <a:t>negations (products of sums or products</a:t>
            </a:r>
            <a:br>
              <a:rPr lang="en-US" dirty="0"/>
            </a:br>
            <a:r>
              <a:rPr lang="en-US" dirty="0"/>
              <a:t>of maxterms).</a:t>
            </a:r>
          </a:p>
          <a:p>
            <a:r>
              <a:rPr lang="en-US" dirty="0"/>
              <a:t>The Products P</a:t>
            </a:r>
            <a:r>
              <a:rPr lang="en-US" baseline="-25000" dirty="0" err="1"/>
              <a:t>n</a:t>
            </a:r>
            <a:r>
              <a:rPr lang="en-US" dirty="0"/>
              <a:t> (minterms) identify the input combinations (the terms T</a:t>
            </a:r>
            <a:r>
              <a:rPr lang="en-US" baseline="-25000" dirty="0"/>
              <a:t>n</a:t>
            </a:r>
            <a:r>
              <a:rPr lang="en-US" dirty="0"/>
              <a:t>) for which the function equals 1. The Sums S</a:t>
            </a:r>
            <a:r>
              <a:rPr lang="en-US" baseline="-25000" dirty="0"/>
              <a:t>n</a:t>
            </a:r>
            <a:r>
              <a:rPr lang="en-US" dirty="0"/>
              <a:t> (maxterms) identify the terms for which the function equals 0.</a:t>
            </a:r>
          </a:p>
          <a:p>
            <a:pPr marL="0" indent="0">
              <a:buNone/>
            </a:pPr>
            <a:endParaRPr lang="en-US" dirty="0"/>
          </a:p>
        </p:txBody>
      </p:sp>
      <p:pic>
        <p:nvPicPr>
          <p:cNvPr id="8" name="Elemento grafico 7">
            <a:extLst>
              <a:ext uri="{FF2B5EF4-FFF2-40B4-BE49-F238E27FC236}">
                <a16:creationId xmlns:a16="http://schemas.microsoft.com/office/drawing/2014/main" id="{815CD84F-CC34-10CB-7DB9-0DFC82CBF80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2664" y="2448411"/>
            <a:ext cx="4150580" cy="2019201"/>
          </a:xfrm>
          <a:prstGeom prst="rect">
            <a:avLst/>
          </a:prstGeom>
        </p:spPr>
      </p:pic>
      <p:sp>
        <p:nvSpPr>
          <p:cNvPr id="4" name="Rettangolo 3">
            <a:extLst>
              <a:ext uri="{FF2B5EF4-FFF2-40B4-BE49-F238E27FC236}">
                <a16:creationId xmlns:a16="http://schemas.microsoft.com/office/drawing/2014/main" id="{308D94B5-70DD-5336-8930-6D28140CE40E}"/>
              </a:ext>
            </a:extLst>
          </p:cNvPr>
          <p:cNvSpPr/>
          <p:nvPr/>
        </p:nvSpPr>
        <p:spPr>
          <a:xfrm>
            <a:off x="7720717" y="2424560"/>
            <a:ext cx="1311965" cy="204305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2FBA3958-C45D-1FE4-4F86-489D8E9F8845}"/>
                  </a:ext>
                </a:extLst>
              </p:cNvPr>
              <p:cNvSpPr txBox="1"/>
              <p:nvPr/>
            </p:nvSpPr>
            <p:spPr>
              <a:xfrm>
                <a:off x="8142135" y="1676735"/>
                <a:ext cx="1140056" cy="369332"/>
              </a:xfrm>
              <a:prstGeom prst="rect">
                <a:avLst/>
              </a:prstGeom>
              <a:noFill/>
            </p:spPr>
            <p:txBody>
              <a:bodyPr wrap="none" rtlCol="0">
                <a:spAutoFit/>
              </a:bodyPr>
              <a:lstStyle/>
              <a:p>
                <a:pPr/>
                <a14:m>
                  <m:oMathPara xmlns:m="http://schemas.openxmlformats.org/officeDocument/2006/math">
                    <m:oMath>
                      <m:r>
                        <a:rPr lang="en-US" b="1" i="1" smtClean="0">
                          <a:solidFill>
                            <a:srgbClr val="FF0000"/>
                          </a:solidFill>
                          <a:latin typeface="Cambria Math" panose="02040503050406030204" pitchFamily="18" charset="0"/>
                        </a:rPr>
                        <m:t>𝒇</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𝒂</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𝒃</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𝒄</m:t>
                      </m:r>
                      <m:r>
                        <a:rPr lang="en-US" b="1" i="1" smtClean="0">
                          <a:solidFill>
                            <a:srgbClr val="FF0000"/>
                          </a:solidFill>
                          <a:latin typeface="Cambria Math" panose="02040503050406030204" pitchFamily="18" charset="0"/>
                        </a:rPr>
                        <m:t>)</m:t>
                      </m:r>
                    </m:oMath>
                  </m:oMathPara>
                </a14:m>
                <a:endParaRPr lang="en-US" b="1" dirty="0">
                  <a:solidFill>
                    <a:srgbClr val="FF0000"/>
                  </a:solidFill>
                </a:endParaRPr>
              </a:p>
            </p:txBody>
          </p:sp>
        </mc:Choice>
        <mc:Fallback xmlns="">
          <p:sp>
            <p:nvSpPr>
              <p:cNvPr id="9" name="CasellaDiTesto 8">
                <a:extLst>
                  <a:ext uri="{FF2B5EF4-FFF2-40B4-BE49-F238E27FC236}">
                    <a16:creationId xmlns:a16="http://schemas.microsoft.com/office/drawing/2014/main" id="{2FBA3958-C45D-1FE4-4F86-489D8E9F8845}"/>
                  </a:ext>
                </a:extLst>
              </p:cNvPr>
              <p:cNvSpPr txBox="1">
                <a:spLocks noRot="1" noChangeAspect="1" noMove="1" noResize="1" noEditPoints="1" noAdjustHandles="1" noChangeArrowheads="1" noChangeShapeType="1" noTextEdit="1"/>
              </p:cNvSpPr>
              <p:nvPr/>
            </p:nvSpPr>
            <p:spPr>
              <a:xfrm>
                <a:off x="8142135" y="1676735"/>
                <a:ext cx="1140056" cy="369332"/>
              </a:xfrm>
              <a:prstGeom prst="rect">
                <a:avLst/>
              </a:prstGeom>
              <a:blipFill>
                <a:blip r:embed="rId4"/>
                <a:stretch>
                  <a:fillRect b="-13115"/>
                </a:stretch>
              </a:blipFill>
            </p:spPr>
            <p:txBody>
              <a:bodyPr/>
              <a:lstStyle/>
              <a:p>
                <a:r>
                  <a:rPr lang="en-US">
                    <a:noFill/>
                  </a:rPr>
                  <a:t> </a:t>
                </a:r>
              </a:p>
            </p:txBody>
          </p:sp>
        </mc:Fallback>
      </mc:AlternateContent>
      <p:cxnSp>
        <p:nvCxnSpPr>
          <p:cNvPr id="11" name="Connettore 2 10">
            <a:extLst>
              <a:ext uri="{FF2B5EF4-FFF2-40B4-BE49-F238E27FC236}">
                <a16:creationId xmlns:a16="http://schemas.microsoft.com/office/drawing/2014/main" id="{37FB5029-B26E-9455-ECF0-9D0724259BDC}"/>
              </a:ext>
            </a:extLst>
          </p:cNvPr>
          <p:cNvCxnSpPr>
            <a:cxnSpLocks/>
          </p:cNvCxnSpPr>
          <p:nvPr/>
        </p:nvCxnSpPr>
        <p:spPr>
          <a:xfrm>
            <a:off x="8712163" y="1990412"/>
            <a:ext cx="0" cy="41029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Ovale 4">
            <a:extLst>
              <a:ext uri="{FF2B5EF4-FFF2-40B4-BE49-F238E27FC236}">
                <a16:creationId xmlns:a16="http://schemas.microsoft.com/office/drawing/2014/main" id="{34F0E616-56AB-50C8-8FBB-4842351224D4}"/>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00868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8E36ED7-57A1-6CE0-32E4-D18349A653BD}"/>
              </a:ext>
            </a:extLst>
          </p:cNvPr>
          <p:cNvSpPr>
            <a:spLocks noGrp="1"/>
          </p:cNvSpPr>
          <p:nvPr>
            <p:ph type="title"/>
          </p:nvPr>
        </p:nvSpPr>
        <p:spPr/>
        <p:txBody>
          <a:bodyPr/>
          <a:lstStyle/>
          <a:p>
            <a:r>
              <a:rPr lang="en-US" dirty="0"/>
              <a:t>DESIGN EXAMPLE</a:t>
            </a:r>
          </a:p>
        </p:txBody>
      </p:sp>
      <p:sp>
        <p:nvSpPr>
          <p:cNvPr id="3" name="Segnaposto contenuto 2">
            <a:extLst>
              <a:ext uri="{FF2B5EF4-FFF2-40B4-BE49-F238E27FC236}">
                <a16:creationId xmlns:a16="http://schemas.microsoft.com/office/drawing/2014/main" id="{12B6C4FD-7E03-C879-B6F6-16E937EB9AC4}"/>
              </a:ext>
            </a:extLst>
          </p:cNvPr>
          <p:cNvSpPr>
            <a:spLocks noGrp="1"/>
          </p:cNvSpPr>
          <p:nvPr>
            <p:ph idx="1"/>
          </p:nvPr>
        </p:nvSpPr>
        <p:spPr>
          <a:xfrm>
            <a:off x="1141413" y="2011680"/>
            <a:ext cx="6642914" cy="4484544"/>
          </a:xfrm>
        </p:spPr>
        <p:txBody>
          <a:bodyPr>
            <a:normAutofit fontScale="77500" lnSpcReduction="20000"/>
          </a:bodyPr>
          <a:lstStyle/>
          <a:p>
            <a:r>
              <a:rPr lang="en-US" dirty="0"/>
              <a:t>The function z described by the table at the side can be written as a Boolean expression using one of the two canonical forms. In this example the SOP (Sum of Products) form was used.</a:t>
            </a:r>
          </a:p>
          <a:p>
            <a:r>
              <a:rPr lang="en-US" dirty="0"/>
              <a:t>From the tabular description of 'z', the terms where the function equals 1 (the minterms only) are selected; in the predicate z = f( a, b, c ) the terms for the products P</a:t>
            </a:r>
            <a:r>
              <a:rPr lang="en-US" baseline="-25000" dirty="0"/>
              <a:t>0</a:t>
            </a:r>
            <a:r>
              <a:rPr lang="en-US" dirty="0"/>
              <a:t>, P</a:t>
            </a:r>
            <a:r>
              <a:rPr lang="en-US" baseline="-25000" dirty="0"/>
              <a:t>3</a:t>
            </a:r>
            <a:r>
              <a:rPr lang="en-US" dirty="0"/>
              <a:t>, P</a:t>
            </a:r>
            <a:r>
              <a:rPr lang="en-US" baseline="-25000" dirty="0"/>
              <a:t>6</a:t>
            </a:r>
            <a:r>
              <a:rPr lang="en-US" dirty="0"/>
              <a:t> and P</a:t>
            </a:r>
            <a:r>
              <a:rPr lang="en-US" baseline="-25000" dirty="0"/>
              <a:t>7</a:t>
            </a:r>
            <a:r>
              <a:rPr lang="en-US" dirty="0"/>
              <a:t> are listed, taking care to negate the arguments (a, b or c) that are zero for a given product P</a:t>
            </a:r>
            <a:r>
              <a:rPr lang="en-US" baseline="-25000" dirty="0" err="1"/>
              <a:t>n</a:t>
            </a:r>
            <a:r>
              <a:rPr lang="en-US" dirty="0"/>
              <a:t>.</a:t>
            </a:r>
          </a:p>
          <a:p>
            <a:r>
              <a:rPr lang="en-US" dirty="0"/>
              <a:t>By applying the algebraic properties seen earlier, a reduced or alternative form of the original expression can be obtained (note that the last version of function z in the box at the bottom right is not in canonical form, i.e. we will see later that it represents logic with more than two levels).</a:t>
            </a:r>
          </a:p>
        </p:txBody>
      </p:sp>
      <p:pic>
        <p:nvPicPr>
          <p:cNvPr id="9" name="Elemento grafico 8">
            <a:extLst>
              <a:ext uri="{FF2B5EF4-FFF2-40B4-BE49-F238E27FC236}">
                <a16:creationId xmlns:a16="http://schemas.microsoft.com/office/drawing/2014/main" id="{5CC0866D-1817-8DF8-215D-4E25B838136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47935" y="1147136"/>
            <a:ext cx="3554236" cy="1729088"/>
          </a:xfrm>
          <a:prstGeom prst="rect">
            <a:avLst/>
          </a:prstGeom>
        </p:spPr>
      </p:pic>
      <p:pic>
        <p:nvPicPr>
          <p:cNvPr id="11" name="Immagine 10">
            <a:extLst>
              <a:ext uri="{FF2B5EF4-FFF2-40B4-BE49-F238E27FC236}">
                <a16:creationId xmlns:a16="http://schemas.microsoft.com/office/drawing/2014/main" id="{C2F32DE6-B36F-80CB-1D1C-0AD42DF3EC73}"/>
              </a:ext>
            </a:extLst>
          </p:cNvPr>
          <p:cNvPicPr>
            <a:picLocks noChangeAspect="1"/>
          </p:cNvPicPr>
          <p:nvPr/>
        </p:nvPicPr>
        <p:blipFill>
          <a:blip r:embed="rId3"/>
          <a:stretch>
            <a:fillRect/>
          </a:stretch>
        </p:blipFill>
        <p:spPr>
          <a:xfrm>
            <a:off x="7849345" y="3048607"/>
            <a:ext cx="3552825" cy="3190875"/>
          </a:xfrm>
          <a:prstGeom prst="rect">
            <a:avLst/>
          </a:prstGeom>
        </p:spPr>
      </p:pic>
      <p:sp>
        <p:nvSpPr>
          <p:cNvPr id="13" name="Rettangolo 12">
            <a:extLst>
              <a:ext uri="{FF2B5EF4-FFF2-40B4-BE49-F238E27FC236}">
                <a16:creationId xmlns:a16="http://schemas.microsoft.com/office/drawing/2014/main" id="{3031BE53-3CAA-D2C2-21F1-21C33C1E3664}"/>
              </a:ext>
            </a:extLst>
          </p:cNvPr>
          <p:cNvSpPr/>
          <p:nvPr/>
        </p:nvSpPr>
        <p:spPr>
          <a:xfrm>
            <a:off x="7847934" y="1147137"/>
            <a:ext cx="3554236" cy="1729088"/>
          </a:xfrm>
          <a:prstGeom prst="rect">
            <a:avLst/>
          </a:prstGeom>
          <a:noFill/>
          <a:ln w="19050">
            <a:solidFill>
              <a:schemeClr val="bg1">
                <a:lumMod val="95000"/>
                <a:lumOff val="5000"/>
              </a:schemeClr>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ttangolo 16">
            <a:extLst>
              <a:ext uri="{FF2B5EF4-FFF2-40B4-BE49-F238E27FC236}">
                <a16:creationId xmlns:a16="http://schemas.microsoft.com/office/drawing/2014/main" id="{89B18676-784A-7346-7919-EA079EA624BC}"/>
              </a:ext>
            </a:extLst>
          </p:cNvPr>
          <p:cNvSpPr/>
          <p:nvPr/>
        </p:nvSpPr>
        <p:spPr>
          <a:xfrm>
            <a:off x="7847934" y="3048606"/>
            <a:ext cx="3554236" cy="3190874"/>
          </a:xfrm>
          <a:prstGeom prst="rect">
            <a:avLst/>
          </a:prstGeom>
          <a:noFill/>
          <a:ln w="19050">
            <a:solidFill>
              <a:schemeClr val="bg1">
                <a:lumMod val="95000"/>
                <a:lumOff val="5000"/>
              </a:schemeClr>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1856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C5E3003-1AE5-EF35-80F9-3A09838B0BA3}"/>
              </a:ext>
            </a:extLst>
          </p:cNvPr>
          <p:cNvSpPr>
            <a:spLocks noGrp="1"/>
          </p:cNvSpPr>
          <p:nvPr>
            <p:ph type="title"/>
          </p:nvPr>
        </p:nvSpPr>
        <p:spPr/>
        <p:txBody>
          <a:bodyPr/>
          <a:lstStyle/>
          <a:p>
            <a:r>
              <a:rPr lang="en-US" dirty="0"/>
              <a:t>Implementation with logic gates</a:t>
            </a:r>
          </a:p>
        </p:txBody>
      </p:sp>
      <p:sp>
        <p:nvSpPr>
          <p:cNvPr id="12" name="Segnaposto contenuto 2">
            <a:extLst>
              <a:ext uri="{FF2B5EF4-FFF2-40B4-BE49-F238E27FC236}">
                <a16:creationId xmlns:a16="http://schemas.microsoft.com/office/drawing/2014/main" id="{FBE80DC5-BD07-77B1-1901-934FF841C5FC}"/>
              </a:ext>
            </a:extLst>
          </p:cNvPr>
          <p:cNvSpPr txBox="1">
            <a:spLocks/>
          </p:cNvSpPr>
          <p:nvPr/>
        </p:nvSpPr>
        <p:spPr>
          <a:xfrm>
            <a:off x="1141413" y="2249486"/>
            <a:ext cx="5744418" cy="412745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t>A </a:t>
            </a:r>
            <a:r>
              <a:rPr lang="en-US" u="sng" dirty="0"/>
              <a:t>non-minimized</a:t>
            </a:r>
            <a:r>
              <a:rPr lang="en-US" dirty="0"/>
              <a:t> canonical SOP version of function </a:t>
            </a:r>
            <a:r>
              <a:rPr lang="en-US" i="1" dirty="0"/>
              <a:t>z</a:t>
            </a:r>
            <a:r>
              <a:rPr lang="en-US" dirty="0"/>
              <a:t> can be built using only logic gates corresponding to the negation, intersection and union operators.</a:t>
            </a:r>
          </a:p>
          <a:p>
            <a:r>
              <a:rPr lang="en-US" dirty="0"/>
              <a:t>Note that some terms going into the AND gates, all of which have three inputs, pass through a negation operator (shown as an empty circle).</a:t>
            </a:r>
          </a:p>
          <a:p>
            <a:r>
              <a:rPr lang="en-US" dirty="0"/>
              <a:t>Canonical forms are ideal for building reliable logic circuits and naturally fit the structures of the simplest programmable logic devices, allowing direct technology mapping.</a:t>
            </a:r>
          </a:p>
        </p:txBody>
      </p:sp>
      <p:pic>
        <p:nvPicPr>
          <p:cNvPr id="9" name="Immagine 8">
            <a:extLst>
              <a:ext uri="{FF2B5EF4-FFF2-40B4-BE49-F238E27FC236}">
                <a16:creationId xmlns:a16="http://schemas.microsoft.com/office/drawing/2014/main" id="{987236D5-76E4-642E-734F-43F7DF6E1C8A}"/>
              </a:ext>
            </a:extLst>
          </p:cNvPr>
          <p:cNvPicPr>
            <a:picLocks noChangeAspect="1"/>
          </p:cNvPicPr>
          <p:nvPr/>
        </p:nvPicPr>
        <p:blipFill>
          <a:blip r:embed="rId2"/>
          <a:stretch>
            <a:fillRect/>
          </a:stretch>
        </p:blipFill>
        <p:spPr>
          <a:xfrm>
            <a:off x="6950831" y="2385388"/>
            <a:ext cx="4248150" cy="3381375"/>
          </a:xfrm>
          <a:prstGeom prst="rect">
            <a:avLst/>
          </a:prstGeom>
        </p:spPr>
      </p:pic>
      <p:sp>
        <p:nvSpPr>
          <p:cNvPr id="11" name="Rettangolo 10">
            <a:extLst>
              <a:ext uri="{FF2B5EF4-FFF2-40B4-BE49-F238E27FC236}">
                <a16:creationId xmlns:a16="http://schemas.microsoft.com/office/drawing/2014/main" id="{B35D0503-969F-6F08-48C7-575486C84D52}"/>
              </a:ext>
            </a:extLst>
          </p:cNvPr>
          <p:cNvSpPr/>
          <p:nvPr/>
        </p:nvSpPr>
        <p:spPr>
          <a:xfrm>
            <a:off x="6950831" y="2385388"/>
            <a:ext cx="4248150" cy="3381374"/>
          </a:xfrm>
          <a:prstGeom prst="rect">
            <a:avLst/>
          </a:prstGeom>
          <a:noFill/>
          <a:ln w="19050">
            <a:solidFill>
              <a:schemeClr val="bg1">
                <a:lumMod val="95000"/>
                <a:lumOff val="5000"/>
              </a:schemeClr>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8528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8E36ED7-57A1-6CE0-32E4-D18349A653BD}"/>
              </a:ext>
            </a:extLst>
          </p:cNvPr>
          <p:cNvSpPr>
            <a:spLocks noGrp="1"/>
          </p:cNvSpPr>
          <p:nvPr>
            <p:ph type="title"/>
          </p:nvPr>
        </p:nvSpPr>
        <p:spPr/>
        <p:txBody>
          <a:bodyPr/>
          <a:lstStyle/>
          <a:p>
            <a:r>
              <a:rPr lang="en-US" dirty="0"/>
              <a:t>MINIMIZATION WITH THE GRAPHICAL method (1)</a:t>
            </a:r>
          </a:p>
        </p:txBody>
      </p:sp>
      <p:sp>
        <p:nvSpPr>
          <p:cNvPr id="3" name="Segnaposto contenuto 2">
            <a:extLst>
              <a:ext uri="{FF2B5EF4-FFF2-40B4-BE49-F238E27FC236}">
                <a16:creationId xmlns:a16="http://schemas.microsoft.com/office/drawing/2014/main" id="{12B6C4FD-7E03-C879-B6F6-16E937EB9AC4}"/>
              </a:ext>
            </a:extLst>
          </p:cNvPr>
          <p:cNvSpPr>
            <a:spLocks noGrp="1"/>
          </p:cNvSpPr>
          <p:nvPr>
            <p:ph idx="1"/>
          </p:nvPr>
        </p:nvSpPr>
        <p:spPr>
          <a:xfrm>
            <a:off x="1141413" y="1691640"/>
            <a:ext cx="6960171" cy="4809744"/>
          </a:xfrm>
        </p:spPr>
        <p:txBody>
          <a:bodyPr>
            <a:normAutofit fontScale="85000" lnSpcReduction="10000"/>
          </a:bodyPr>
          <a:lstStyle/>
          <a:p>
            <a:r>
              <a:rPr lang="en-US" dirty="0"/>
              <a:t>Besides the algebraic manipulation seen earlier, an alternative way to minimize a function is to use Veitch-Karnaugh maps, mainly known as Karnaugh maps or K-Maps. They exploit properties P</a:t>
            </a:r>
            <a:r>
              <a:rPr lang="en-US" baseline="-25000" dirty="0"/>
              <a:t>9</a:t>
            </a:r>
            <a:r>
              <a:rPr lang="en-US" dirty="0"/>
              <a:t> or P’</a:t>
            </a:r>
            <a:r>
              <a:rPr lang="en-US" baseline="-25000" dirty="0"/>
              <a:t>9</a:t>
            </a:r>
            <a:r>
              <a:rPr lang="en-US" dirty="0"/>
              <a:t> seen earlier, highlighting the so-called logical adjacency of two or more </a:t>
            </a:r>
            <a:r>
              <a:rPr lang="en-US" i="1" dirty="0" err="1"/>
              <a:t>minterms</a:t>
            </a:r>
            <a:r>
              <a:rPr lang="en-US" dirty="0"/>
              <a:t> (SOP) or of two or more </a:t>
            </a:r>
            <a:r>
              <a:rPr lang="en-US" i="1" dirty="0"/>
              <a:t>maxterms</a:t>
            </a:r>
            <a:r>
              <a:rPr lang="en-US" dirty="0"/>
              <a:t> (POS).</a:t>
            </a:r>
          </a:p>
          <a:p>
            <a:r>
              <a:rPr lang="en-US" dirty="0"/>
              <a:t>For SOP forms, K-Maps are used to group all the </a:t>
            </a:r>
            <a:r>
              <a:rPr lang="en-US" i="1" dirty="0" err="1"/>
              <a:t>minterms</a:t>
            </a:r>
            <a:r>
              <a:rPr lang="en-US" dirty="0"/>
              <a:t> that can geometrically form squares or rectangles whose sides have a height or width equal to a power of two cells. For POS forms the maxterms are grouped in the same way. Grouping terms into regular areas with the characteristics above is called a "cover". The larger a cover, the fewer variables are involved and therefore the "smaller" the operator required.</a:t>
            </a:r>
          </a:p>
        </p:txBody>
      </p:sp>
      <p:pic>
        <p:nvPicPr>
          <p:cNvPr id="7" name="Elemento grafico 6">
            <a:extLst>
              <a:ext uri="{FF2B5EF4-FFF2-40B4-BE49-F238E27FC236}">
                <a16:creationId xmlns:a16="http://schemas.microsoft.com/office/drawing/2014/main" id="{886C74CC-0DEE-C543-0DAC-0BFD6235CD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52481" y="1835762"/>
            <a:ext cx="3314680" cy="4662234"/>
          </a:xfrm>
          <a:prstGeom prst="rect">
            <a:avLst/>
          </a:prstGeom>
        </p:spPr>
      </p:pic>
    </p:spTree>
    <p:extLst>
      <p:ext uri="{BB962C8B-B14F-4D97-AF65-F5344CB8AC3E}">
        <p14:creationId xmlns:p14="http://schemas.microsoft.com/office/powerpoint/2010/main" val="4237257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8E36ED7-57A1-6CE0-32E4-D18349A653BD}"/>
              </a:ext>
            </a:extLst>
          </p:cNvPr>
          <p:cNvSpPr>
            <a:spLocks noGrp="1"/>
          </p:cNvSpPr>
          <p:nvPr>
            <p:ph type="title"/>
          </p:nvPr>
        </p:nvSpPr>
        <p:spPr/>
        <p:txBody>
          <a:bodyPr/>
          <a:lstStyle/>
          <a:p>
            <a:r>
              <a:rPr lang="en-US" dirty="0"/>
              <a:t>MINIMIZATION WITH THE GRAPHICAL METHOD (2)</a:t>
            </a:r>
          </a:p>
        </p:txBody>
      </p:sp>
      <p:sp>
        <p:nvSpPr>
          <p:cNvPr id="3" name="Segnaposto contenuto 2">
            <a:extLst>
              <a:ext uri="{FF2B5EF4-FFF2-40B4-BE49-F238E27FC236}">
                <a16:creationId xmlns:a16="http://schemas.microsoft.com/office/drawing/2014/main" id="{12B6C4FD-7E03-C879-B6F6-16E937EB9AC4}"/>
              </a:ext>
            </a:extLst>
          </p:cNvPr>
          <p:cNvSpPr>
            <a:spLocks noGrp="1"/>
          </p:cNvSpPr>
          <p:nvPr>
            <p:ph idx="1"/>
          </p:nvPr>
        </p:nvSpPr>
        <p:spPr>
          <a:xfrm>
            <a:off x="1141413" y="2249486"/>
            <a:ext cx="7088187" cy="3989995"/>
          </a:xfrm>
        </p:spPr>
        <p:txBody>
          <a:bodyPr>
            <a:normAutofit fontScale="85000" lnSpcReduction="10000"/>
          </a:bodyPr>
          <a:lstStyle/>
          <a:p>
            <a:r>
              <a:rPr lang="en-US" dirty="0"/>
              <a:t>In some cases the tables representing the functions may be </a:t>
            </a:r>
            <a:r>
              <a:rPr lang="en-US" u="sng" dirty="0"/>
              <a:t>not completely specified</a:t>
            </a:r>
            <a:r>
              <a:rPr lang="en-US" dirty="0"/>
              <a:t>. That is, for some terms the result is a don't-care and can be considered either zero or one depending on convenience. In the example at the side, term T</a:t>
            </a:r>
            <a:r>
              <a:rPr lang="en-US" baseline="-25000" dirty="0"/>
              <a:t>7</a:t>
            </a:r>
            <a:r>
              <a:rPr lang="en-US" dirty="0"/>
              <a:t> is considered a </a:t>
            </a:r>
            <a:r>
              <a:rPr lang="en-US" i="1" dirty="0" err="1"/>
              <a:t>minterm</a:t>
            </a:r>
            <a:r>
              <a:rPr lang="en-US" dirty="0"/>
              <a:t> (one) because it allows two overlapping covers larger than a single cell. That is, only two variables are involved for those covers instead of three, yielding a "smaller" function and therefore a simpler circuit.</a:t>
            </a:r>
          </a:p>
          <a:p>
            <a:r>
              <a:rPr lang="en-US" dirty="0"/>
              <a:t>K-Maps are useful for minimizing functions </a:t>
            </a:r>
            <a:r>
              <a:rPr lang="en-US" u="sng" dirty="0"/>
              <a:t>of up to six variables</a:t>
            </a:r>
            <a:r>
              <a:rPr lang="en-US" dirty="0"/>
              <a:t>. Beyond six variables logical adjacency is hard to perceive, so using them is no longer convenient.</a:t>
            </a:r>
          </a:p>
          <a:p>
            <a:endParaRPr lang="en-US" dirty="0"/>
          </a:p>
        </p:txBody>
      </p:sp>
      <p:pic>
        <p:nvPicPr>
          <p:cNvPr id="6" name="Elemento grafico 5">
            <a:extLst>
              <a:ext uri="{FF2B5EF4-FFF2-40B4-BE49-F238E27FC236}">
                <a16:creationId xmlns:a16="http://schemas.microsoft.com/office/drawing/2014/main" id="{7AD69267-EA58-429E-9384-0B5A90D0C5B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52481" y="1835762"/>
            <a:ext cx="3314679" cy="4662235"/>
          </a:xfrm>
          <a:prstGeom prst="rect">
            <a:avLst/>
          </a:prstGeom>
        </p:spPr>
      </p:pic>
    </p:spTree>
    <p:extLst>
      <p:ext uri="{BB962C8B-B14F-4D97-AF65-F5344CB8AC3E}">
        <p14:creationId xmlns:p14="http://schemas.microsoft.com/office/powerpoint/2010/main" val="2215340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AFEF903-721F-F32E-437D-8187C0A05CA1}"/>
              </a:ext>
            </a:extLst>
          </p:cNvPr>
          <p:cNvSpPr>
            <a:spLocks noGrp="1"/>
          </p:cNvSpPr>
          <p:nvPr>
            <p:ph type="title"/>
          </p:nvPr>
        </p:nvSpPr>
        <p:spPr/>
        <p:txBody>
          <a:bodyPr/>
          <a:lstStyle/>
          <a:p>
            <a:r>
              <a:rPr lang="en-US" dirty="0"/>
              <a:t>Minimization with ESPRESSO software (1)</a:t>
            </a:r>
          </a:p>
        </p:txBody>
      </p:sp>
      <p:sp>
        <p:nvSpPr>
          <p:cNvPr id="3" name="Segnaposto contenuto 2">
            <a:extLst>
              <a:ext uri="{FF2B5EF4-FFF2-40B4-BE49-F238E27FC236}">
                <a16:creationId xmlns:a16="http://schemas.microsoft.com/office/drawing/2014/main" id="{79BF8866-5359-313B-C3D1-41F1B1F6AFE1}"/>
              </a:ext>
            </a:extLst>
          </p:cNvPr>
          <p:cNvSpPr>
            <a:spLocks noGrp="1"/>
          </p:cNvSpPr>
          <p:nvPr>
            <p:ph idx="1"/>
          </p:nvPr>
        </p:nvSpPr>
        <p:spPr>
          <a:xfrm>
            <a:off x="1141412" y="2249486"/>
            <a:ext cx="9905999" cy="3989995"/>
          </a:xfrm>
        </p:spPr>
        <p:txBody>
          <a:bodyPr>
            <a:normAutofit fontScale="85000" lnSpcReduction="10000"/>
          </a:bodyPr>
          <a:lstStyle/>
          <a:p>
            <a:r>
              <a:rPr lang="en-US" dirty="0"/>
              <a:t>The Espresso logic minimizer can be considered an aid to manual synthesis. It</a:t>
            </a:r>
            <a:br>
              <a:rPr lang="en-US" dirty="0"/>
            </a:br>
            <a:r>
              <a:rPr lang="en-US" dirty="0"/>
              <a:t>has also been used as a minimizer inside CAE software. It originated at the </a:t>
            </a:r>
            <a:r>
              <a:rPr lang="en-US" b="0" i="0" dirty="0">
                <a:solidFill>
                  <a:srgbClr val="E6EDF3"/>
                </a:solidFill>
                <a:effectLst/>
                <a:latin typeface="-apple-system"/>
              </a:rPr>
              <a:t>University of California, Berkeley </a:t>
            </a:r>
            <a:r>
              <a:rPr lang="en-US" dirty="0"/>
              <a:t>as an aid to minimizing combinational networks with many input variables.</a:t>
            </a:r>
          </a:p>
          <a:p>
            <a:r>
              <a:rPr lang="en-US" dirty="0"/>
              <a:t>Espresso is a heuristic minimizer that bases the minimization process on a few empirical rules in addition to the properties of Boolean algebra. The result may be sub-optimal, yet it can quickly produce excellent-quality results even for networks with a large number of input variables.</a:t>
            </a:r>
          </a:p>
          <a:p>
            <a:r>
              <a:rPr lang="en-US" dirty="0"/>
              <a:t>The Espresso logic minimizer is widely available online and can be found both as source code and as a </a:t>
            </a:r>
            <a:r>
              <a:rPr lang="en-US" i="1" dirty="0"/>
              <a:t>build</a:t>
            </a:r>
            <a:r>
              <a:rPr lang="en-US" dirty="0"/>
              <a:t> for various platforms (</a:t>
            </a:r>
            <a:r>
              <a:rPr lang="en-US" dirty="0">
                <a:hlinkClick r:id="rId2"/>
              </a:rPr>
              <a:t>https://github.com/Gigantua/Espresso</a:t>
            </a:r>
            <a:r>
              <a:rPr lang="en-US" dirty="0"/>
              <a:t>).</a:t>
            </a:r>
          </a:p>
        </p:txBody>
      </p:sp>
    </p:spTree>
    <p:extLst>
      <p:ext uri="{BB962C8B-B14F-4D97-AF65-F5344CB8AC3E}">
        <p14:creationId xmlns:p14="http://schemas.microsoft.com/office/powerpoint/2010/main" val="1263084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5A41D0-5D26-FE86-85C2-C2665475AFF1}"/>
              </a:ext>
            </a:extLst>
          </p:cNvPr>
          <p:cNvSpPr>
            <a:spLocks noGrp="1"/>
          </p:cNvSpPr>
          <p:nvPr>
            <p:ph type="title"/>
          </p:nvPr>
        </p:nvSpPr>
        <p:spPr/>
        <p:txBody>
          <a:bodyPr/>
          <a:lstStyle/>
          <a:p>
            <a:r>
              <a:rPr lang="en-US" dirty="0"/>
              <a:t>Minimization with ESPRESSO software (2)</a:t>
            </a:r>
          </a:p>
        </p:txBody>
      </p:sp>
      <p:sp>
        <p:nvSpPr>
          <p:cNvPr id="3" name="Segnaposto contenuto 2">
            <a:extLst>
              <a:ext uri="{FF2B5EF4-FFF2-40B4-BE49-F238E27FC236}">
                <a16:creationId xmlns:a16="http://schemas.microsoft.com/office/drawing/2014/main" id="{2D52FB5A-8075-2F87-0726-6027249E2D44}"/>
              </a:ext>
            </a:extLst>
          </p:cNvPr>
          <p:cNvSpPr>
            <a:spLocks noGrp="1"/>
          </p:cNvSpPr>
          <p:nvPr>
            <p:ph idx="1"/>
          </p:nvPr>
        </p:nvSpPr>
        <p:spPr>
          <a:xfrm>
            <a:off x="1141413" y="2249487"/>
            <a:ext cx="4352938" cy="4139580"/>
          </a:xfrm>
        </p:spPr>
        <p:txBody>
          <a:bodyPr/>
          <a:lstStyle/>
          <a:p>
            <a:r>
              <a:rPr lang="en-US" dirty="0"/>
              <a:t>Minimization of function z.</a:t>
            </a:r>
            <a:br>
              <a:rPr lang="en-US" dirty="0"/>
            </a:br>
            <a:r>
              <a:rPr lang="en-US" dirty="0"/>
              <a:t>File z_sp.pla	    File</a:t>
            </a:r>
            <a:br>
              <a:rPr lang="en-US" dirty="0"/>
            </a:br>
            <a:r>
              <a:rPr lang="en-US" dirty="0"/>
              <a:t>z_ps.pla</a:t>
            </a:r>
          </a:p>
        </p:txBody>
      </p:sp>
      <p:sp>
        <p:nvSpPr>
          <p:cNvPr id="7" name="CasellaDiTesto 6">
            <a:extLst>
              <a:ext uri="{FF2B5EF4-FFF2-40B4-BE49-F238E27FC236}">
                <a16:creationId xmlns:a16="http://schemas.microsoft.com/office/drawing/2014/main" id="{BD1AEC5B-A7B4-D69F-9D15-52AEBBB06D7C}"/>
              </a:ext>
            </a:extLst>
          </p:cNvPr>
          <p:cNvSpPr txBox="1"/>
          <p:nvPr/>
        </p:nvSpPr>
        <p:spPr>
          <a:xfrm>
            <a:off x="1463039" y="3249475"/>
            <a:ext cx="1526651" cy="2677656"/>
          </a:xfrm>
          <a:prstGeom prst="rect">
            <a:avLst/>
          </a:prstGeom>
          <a:solidFill>
            <a:schemeClr val="bg1"/>
          </a:solidFill>
          <a:ln w="38100">
            <a:solidFill>
              <a:schemeClr val="accent5">
                <a:lumMod val="75000"/>
              </a:schemeClr>
            </a:solidFill>
          </a:ln>
        </p:spPr>
        <p:txBody>
          <a:bodyPr wrap="square" rtlCol="0">
            <a:spAutoFit/>
          </a:bodyPr>
          <a:lstStyle/>
          <a:p>
            <a:r>
              <a:rPr lang="en-US" sz="1400" noProof="1">
                <a:solidFill>
                  <a:schemeClr val="accent1">
                    <a:lumMod val="60000"/>
                    <a:lumOff val="40000"/>
                  </a:schemeClr>
                </a:solidFill>
                <a:latin typeface="Consolas" panose="020B0609020204030204" pitchFamily="49" charset="0"/>
              </a:rPr>
              <a:t>.i 3</a:t>
            </a:r>
          </a:p>
          <a:p>
            <a:r>
              <a:rPr lang="en-US" sz="1400" noProof="1">
                <a:solidFill>
                  <a:schemeClr val="accent1">
                    <a:lumMod val="60000"/>
                    <a:lumOff val="40000"/>
                  </a:schemeClr>
                </a:solidFill>
                <a:latin typeface="Consolas" panose="020B0609020204030204" pitchFamily="49" charset="0"/>
              </a:rPr>
              <a:t>.o 1</a:t>
            </a:r>
          </a:p>
          <a:p>
            <a:r>
              <a:rPr lang="en-US" sz="1400" noProof="1">
                <a:solidFill>
                  <a:schemeClr val="accent1">
                    <a:lumMod val="60000"/>
                    <a:lumOff val="40000"/>
                  </a:schemeClr>
                </a:solidFill>
                <a:latin typeface="Consolas" panose="020B0609020204030204" pitchFamily="49" charset="0"/>
              </a:rPr>
              <a:t>.p 4</a:t>
            </a:r>
            <a:br>
              <a:rPr lang="en-US" sz="1400" noProof="1">
                <a:solidFill>
                  <a:schemeClr val="accent1">
                    <a:lumMod val="60000"/>
                    <a:lumOff val="40000"/>
                  </a:schemeClr>
                </a:solidFill>
                <a:latin typeface="Consolas" panose="020B0609020204030204" pitchFamily="49" charset="0"/>
              </a:rPr>
            </a:br>
            <a:endParaRPr lang="en-US" sz="1400" noProof="1">
              <a:solidFill>
                <a:schemeClr val="accent1">
                  <a:lumMod val="60000"/>
                  <a:lumOff val="40000"/>
                </a:schemeClr>
              </a:solidFill>
              <a:latin typeface="Consolas" panose="020B0609020204030204" pitchFamily="49" charset="0"/>
            </a:endParaRPr>
          </a:p>
          <a:p>
            <a:r>
              <a:rPr lang="en-US" sz="1400" noProof="1">
                <a:solidFill>
                  <a:schemeClr val="accent1">
                    <a:lumMod val="60000"/>
                    <a:lumOff val="40000"/>
                  </a:schemeClr>
                </a:solidFill>
                <a:latin typeface="Consolas" panose="020B0609020204030204" pitchFamily="49" charset="0"/>
              </a:rPr>
              <a:t>.ilb a b c </a:t>
            </a:r>
          </a:p>
          <a:p>
            <a:r>
              <a:rPr lang="en-US" sz="1400" noProof="1">
                <a:solidFill>
                  <a:schemeClr val="accent1">
                    <a:lumMod val="60000"/>
                    <a:lumOff val="40000"/>
                  </a:schemeClr>
                </a:solidFill>
                <a:latin typeface="Consolas" panose="020B0609020204030204" pitchFamily="49" charset="0"/>
              </a:rPr>
              <a:t>.ob z</a:t>
            </a:r>
            <a:br>
              <a:rPr lang="en-US" sz="1400" noProof="1">
                <a:solidFill>
                  <a:schemeClr val="accent1">
                    <a:lumMod val="60000"/>
                    <a:lumOff val="40000"/>
                  </a:schemeClr>
                </a:solidFill>
                <a:latin typeface="Consolas" panose="020B0609020204030204" pitchFamily="49" charset="0"/>
              </a:rPr>
            </a:br>
            <a:endParaRPr lang="en-US" sz="1400" noProof="1">
              <a:solidFill>
                <a:schemeClr val="accent1">
                  <a:lumMod val="60000"/>
                  <a:lumOff val="40000"/>
                </a:schemeClr>
              </a:solidFill>
              <a:latin typeface="Consolas" panose="020B0609020204030204" pitchFamily="49" charset="0"/>
            </a:endParaRPr>
          </a:p>
          <a:p>
            <a:r>
              <a:rPr lang="en-US" sz="1400" noProof="1">
                <a:solidFill>
                  <a:schemeClr val="accent4">
                    <a:lumMod val="60000"/>
                    <a:lumOff val="40000"/>
                  </a:schemeClr>
                </a:solidFill>
                <a:latin typeface="Consolas" panose="020B0609020204030204" pitchFamily="49" charset="0"/>
              </a:rPr>
              <a:t>000 1</a:t>
            </a:r>
          </a:p>
          <a:p>
            <a:r>
              <a:rPr lang="en-US" sz="1400" noProof="1">
                <a:solidFill>
                  <a:schemeClr val="accent4">
                    <a:lumMod val="60000"/>
                    <a:lumOff val="40000"/>
                  </a:schemeClr>
                </a:solidFill>
                <a:latin typeface="Consolas" panose="020B0609020204030204" pitchFamily="49" charset="0"/>
              </a:rPr>
              <a:t>011 1</a:t>
            </a:r>
          </a:p>
          <a:p>
            <a:r>
              <a:rPr lang="en-US" sz="1400" noProof="1">
                <a:solidFill>
                  <a:schemeClr val="accent4">
                    <a:lumMod val="60000"/>
                    <a:lumOff val="40000"/>
                  </a:schemeClr>
                </a:solidFill>
                <a:latin typeface="Consolas" panose="020B0609020204030204" pitchFamily="49" charset="0"/>
              </a:rPr>
              <a:t>110 1</a:t>
            </a:r>
          </a:p>
          <a:p>
            <a:r>
              <a:rPr lang="en-US" sz="1400" noProof="1">
                <a:solidFill>
                  <a:schemeClr val="accent4">
                    <a:lumMod val="60000"/>
                    <a:lumOff val="40000"/>
                  </a:schemeClr>
                </a:solidFill>
                <a:latin typeface="Consolas" panose="020B0609020204030204" pitchFamily="49" charset="0"/>
              </a:rPr>
              <a:t>111 -</a:t>
            </a:r>
          </a:p>
          <a:p>
            <a:r>
              <a:rPr lang="en-US" sz="1400" noProof="1">
                <a:solidFill>
                  <a:schemeClr val="accent1">
                    <a:lumMod val="60000"/>
                    <a:lumOff val="40000"/>
                  </a:schemeClr>
                </a:solidFill>
                <a:latin typeface="Consolas" panose="020B0609020204030204" pitchFamily="49" charset="0"/>
              </a:rPr>
              <a:t>.e</a:t>
            </a:r>
          </a:p>
        </p:txBody>
      </p:sp>
      <p:sp>
        <p:nvSpPr>
          <p:cNvPr id="10" name="CasellaDiTesto 9">
            <a:extLst>
              <a:ext uri="{FF2B5EF4-FFF2-40B4-BE49-F238E27FC236}">
                <a16:creationId xmlns:a16="http://schemas.microsoft.com/office/drawing/2014/main" id="{1CB7632B-2AFE-A6B2-7664-D4314521708E}"/>
              </a:ext>
            </a:extLst>
          </p:cNvPr>
          <p:cNvSpPr txBox="1"/>
          <p:nvPr/>
        </p:nvSpPr>
        <p:spPr>
          <a:xfrm>
            <a:off x="3424004" y="3267365"/>
            <a:ext cx="1526651" cy="3108543"/>
          </a:xfrm>
          <a:prstGeom prst="rect">
            <a:avLst/>
          </a:prstGeom>
          <a:solidFill>
            <a:schemeClr val="bg1"/>
          </a:solidFill>
          <a:ln w="38100">
            <a:solidFill>
              <a:schemeClr val="accent5">
                <a:lumMod val="75000"/>
              </a:schemeClr>
            </a:solidFill>
          </a:ln>
        </p:spPr>
        <p:txBody>
          <a:bodyPr wrap="square" rtlCol="0">
            <a:spAutoFit/>
          </a:bodyPr>
          <a:lstStyle/>
          <a:p>
            <a:r>
              <a:rPr lang="pt-BR" sz="1400" dirty="0">
                <a:solidFill>
                  <a:schemeClr val="accent1">
                    <a:lumMod val="60000"/>
                    <a:lumOff val="40000"/>
                  </a:schemeClr>
                </a:solidFill>
                <a:latin typeface="Consolas" panose="020B0609020204030204" pitchFamily="49" charset="0"/>
              </a:rPr>
              <a:t>.i 3</a:t>
            </a:r>
          </a:p>
          <a:p>
            <a:r>
              <a:rPr lang="pt-BR" sz="1400" dirty="0">
                <a:solidFill>
                  <a:schemeClr val="accent1">
                    <a:lumMod val="60000"/>
                    <a:lumOff val="40000"/>
                  </a:schemeClr>
                </a:solidFill>
                <a:latin typeface="Consolas" panose="020B0609020204030204" pitchFamily="49" charset="0"/>
              </a:rPr>
              <a:t>.o 1</a:t>
            </a:r>
          </a:p>
          <a:p>
            <a:r>
              <a:rPr lang="pt-BR" sz="1400" dirty="0">
                <a:solidFill>
                  <a:schemeClr val="accent1">
                    <a:lumMod val="60000"/>
                    <a:lumOff val="40000"/>
                  </a:schemeClr>
                </a:solidFill>
                <a:latin typeface="Consolas" panose="020B0609020204030204" pitchFamily="49" charset="0"/>
              </a:rPr>
              <a:t>.p 5</a:t>
            </a:r>
          </a:p>
          <a:p>
            <a:r>
              <a:rPr lang="pt-BR" sz="1400" dirty="0">
                <a:solidFill>
                  <a:schemeClr val="accent1">
                    <a:lumMod val="60000"/>
                    <a:lumOff val="40000"/>
                  </a:schemeClr>
                </a:solidFill>
                <a:latin typeface="Consolas" panose="020B0609020204030204" pitchFamily="49" charset="0"/>
              </a:rPr>
              <a:t>.type r</a:t>
            </a:r>
          </a:p>
          <a:p>
            <a:endParaRPr lang="pt-BR" sz="1400" dirty="0">
              <a:solidFill>
                <a:schemeClr val="accent1">
                  <a:lumMod val="60000"/>
                  <a:lumOff val="40000"/>
                </a:schemeClr>
              </a:solidFill>
              <a:latin typeface="Consolas" panose="020B0609020204030204" pitchFamily="49" charset="0"/>
            </a:endParaRPr>
          </a:p>
          <a:p>
            <a:r>
              <a:rPr lang="pt-BR" sz="1400" dirty="0">
                <a:solidFill>
                  <a:schemeClr val="accent1">
                    <a:lumMod val="60000"/>
                    <a:lumOff val="40000"/>
                  </a:schemeClr>
                </a:solidFill>
                <a:latin typeface="Consolas" panose="020B0609020204030204" pitchFamily="49" charset="0"/>
              </a:rPr>
              <a:t>.ilb a b c </a:t>
            </a:r>
          </a:p>
          <a:p>
            <a:r>
              <a:rPr lang="pt-BR" sz="1400" dirty="0">
                <a:solidFill>
                  <a:schemeClr val="accent1">
                    <a:lumMod val="60000"/>
                    <a:lumOff val="40000"/>
                  </a:schemeClr>
                </a:solidFill>
                <a:latin typeface="Consolas" panose="020B0609020204030204" pitchFamily="49" charset="0"/>
              </a:rPr>
              <a:t>.ob z</a:t>
            </a:r>
          </a:p>
          <a:p>
            <a:endParaRPr lang="pt-BR" sz="1400" dirty="0">
              <a:solidFill>
                <a:schemeClr val="accent1">
                  <a:lumMod val="60000"/>
                  <a:lumOff val="40000"/>
                </a:schemeClr>
              </a:solidFill>
              <a:latin typeface="Consolas" panose="020B0609020204030204" pitchFamily="49" charset="0"/>
            </a:endParaRPr>
          </a:p>
          <a:p>
            <a:r>
              <a:rPr lang="pt-BR" sz="1400" dirty="0">
                <a:solidFill>
                  <a:schemeClr val="accent2">
                    <a:lumMod val="75000"/>
                  </a:schemeClr>
                </a:solidFill>
                <a:latin typeface="Consolas" panose="020B0609020204030204" pitchFamily="49" charset="0"/>
              </a:rPr>
              <a:t>001 0</a:t>
            </a:r>
          </a:p>
          <a:p>
            <a:r>
              <a:rPr lang="pt-BR" sz="1400" dirty="0">
                <a:solidFill>
                  <a:schemeClr val="accent2">
                    <a:lumMod val="75000"/>
                  </a:schemeClr>
                </a:solidFill>
                <a:latin typeface="Consolas" panose="020B0609020204030204" pitchFamily="49" charset="0"/>
              </a:rPr>
              <a:t>010 0</a:t>
            </a:r>
          </a:p>
          <a:p>
            <a:r>
              <a:rPr lang="pt-BR" sz="1400" dirty="0">
                <a:solidFill>
                  <a:schemeClr val="accent2">
                    <a:lumMod val="75000"/>
                  </a:schemeClr>
                </a:solidFill>
                <a:latin typeface="Consolas" panose="020B0609020204030204" pitchFamily="49" charset="0"/>
              </a:rPr>
              <a:t>100 0</a:t>
            </a:r>
          </a:p>
          <a:p>
            <a:r>
              <a:rPr lang="pt-BR" sz="1400" dirty="0">
                <a:solidFill>
                  <a:schemeClr val="accent2">
                    <a:lumMod val="75000"/>
                  </a:schemeClr>
                </a:solidFill>
                <a:latin typeface="Consolas" panose="020B0609020204030204" pitchFamily="49" charset="0"/>
              </a:rPr>
              <a:t>101 0</a:t>
            </a:r>
          </a:p>
          <a:p>
            <a:r>
              <a:rPr lang="pt-BR" sz="1400" dirty="0">
                <a:solidFill>
                  <a:schemeClr val="accent2">
                    <a:lumMod val="75000"/>
                  </a:schemeClr>
                </a:solidFill>
                <a:latin typeface="Consolas" panose="020B0609020204030204" pitchFamily="49" charset="0"/>
              </a:rPr>
              <a:t>111 -</a:t>
            </a:r>
          </a:p>
          <a:p>
            <a:r>
              <a:rPr lang="pt-BR" sz="1400" dirty="0">
                <a:solidFill>
                  <a:schemeClr val="accent1">
                    <a:lumMod val="60000"/>
                    <a:lumOff val="40000"/>
                  </a:schemeClr>
                </a:solidFill>
                <a:latin typeface="Consolas" panose="020B0609020204030204" pitchFamily="49" charset="0"/>
              </a:rPr>
              <a:t>.e</a:t>
            </a:r>
          </a:p>
        </p:txBody>
      </p:sp>
      <p:sp>
        <p:nvSpPr>
          <p:cNvPr id="4" name="Ovale 3">
            <a:extLst>
              <a:ext uri="{FF2B5EF4-FFF2-40B4-BE49-F238E27FC236}">
                <a16:creationId xmlns:a16="http://schemas.microsoft.com/office/drawing/2014/main" id="{EAA26F49-DBE7-69C5-4CDF-007DB74F7322}"/>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 </a:t>
            </a:r>
          </a:p>
        </p:txBody>
      </p:sp>
      <p:pic>
        <p:nvPicPr>
          <p:cNvPr id="6" name="Elemento grafico 5">
            <a:extLst>
              <a:ext uri="{FF2B5EF4-FFF2-40B4-BE49-F238E27FC236}">
                <a16:creationId xmlns:a16="http://schemas.microsoft.com/office/drawing/2014/main" id="{DDEB9ECD-3604-6237-13FB-4B710E1D35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690611" y="2399072"/>
            <a:ext cx="2836740" cy="3989994"/>
          </a:xfrm>
          <a:prstGeom prst="rect">
            <a:avLst/>
          </a:prstGeom>
        </p:spPr>
      </p:pic>
      <p:pic>
        <p:nvPicPr>
          <p:cNvPr id="11" name="Elemento grafico 10">
            <a:extLst>
              <a:ext uri="{FF2B5EF4-FFF2-40B4-BE49-F238E27FC236}">
                <a16:creationId xmlns:a16="http://schemas.microsoft.com/office/drawing/2014/main" id="{330FC890-11EC-3948-503E-BBAFFCB6EF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2851" y="2399072"/>
            <a:ext cx="2836741" cy="3989996"/>
          </a:xfrm>
          <a:prstGeom prst="rect">
            <a:avLst/>
          </a:prstGeom>
        </p:spPr>
      </p:pic>
    </p:spTree>
    <p:extLst>
      <p:ext uri="{BB962C8B-B14F-4D97-AF65-F5344CB8AC3E}">
        <p14:creationId xmlns:p14="http://schemas.microsoft.com/office/powerpoint/2010/main" val="3267097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5A41D0-5D26-FE86-85C2-C2665475AFF1}"/>
              </a:ext>
            </a:extLst>
          </p:cNvPr>
          <p:cNvSpPr>
            <a:spLocks noGrp="1"/>
          </p:cNvSpPr>
          <p:nvPr>
            <p:ph type="title"/>
          </p:nvPr>
        </p:nvSpPr>
        <p:spPr/>
        <p:txBody>
          <a:bodyPr/>
          <a:lstStyle/>
          <a:p>
            <a:r>
              <a:rPr lang="en-US" dirty="0"/>
              <a:t>Minimization with ESPRESSO software (3)</a:t>
            </a:r>
          </a:p>
        </p:txBody>
      </p:sp>
      <p:sp>
        <p:nvSpPr>
          <p:cNvPr id="3" name="Segnaposto contenuto 2">
            <a:extLst>
              <a:ext uri="{FF2B5EF4-FFF2-40B4-BE49-F238E27FC236}">
                <a16:creationId xmlns:a16="http://schemas.microsoft.com/office/drawing/2014/main" id="{2D52FB5A-8075-2F87-0726-6027249E2D44}"/>
              </a:ext>
            </a:extLst>
          </p:cNvPr>
          <p:cNvSpPr>
            <a:spLocks noGrp="1"/>
          </p:cNvSpPr>
          <p:nvPr>
            <p:ph idx="1"/>
          </p:nvPr>
        </p:nvSpPr>
        <p:spPr>
          <a:xfrm>
            <a:off x="1141413" y="1804801"/>
            <a:ext cx="9905998" cy="3541714"/>
          </a:xfrm>
        </p:spPr>
        <p:txBody>
          <a:bodyPr/>
          <a:lstStyle/>
          <a:p>
            <a:r>
              <a:rPr lang="en-US" dirty="0"/>
              <a:t>Minimization of function z defined on the</a:t>
            </a:r>
            <a:br>
              <a:rPr lang="en-US" dirty="0"/>
            </a:br>
            <a:r>
              <a:rPr lang="en-US" dirty="0"/>
              <a:t>minterms. Minimizer output for z_sp.pla</a:t>
            </a:r>
          </a:p>
        </p:txBody>
      </p:sp>
      <p:sp>
        <p:nvSpPr>
          <p:cNvPr id="6" name="CasellaDiTesto 5">
            <a:extLst>
              <a:ext uri="{FF2B5EF4-FFF2-40B4-BE49-F238E27FC236}">
                <a16:creationId xmlns:a16="http://schemas.microsoft.com/office/drawing/2014/main" id="{266F72EC-CEC0-C617-2650-B7610AA9B527}"/>
              </a:ext>
            </a:extLst>
          </p:cNvPr>
          <p:cNvSpPr txBox="1"/>
          <p:nvPr/>
        </p:nvSpPr>
        <p:spPr>
          <a:xfrm>
            <a:off x="3753729" y="2828050"/>
            <a:ext cx="4301657" cy="3323987"/>
          </a:xfrm>
          <a:prstGeom prst="rect">
            <a:avLst/>
          </a:prstGeom>
          <a:solidFill>
            <a:schemeClr val="bg1"/>
          </a:solidFill>
          <a:ln w="38100">
            <a:solidFill>
              <a:schemeClr val="accent5">
                <a:lumMod val="75000"/>
              </a:schemeClr>
            </a:solidFill>
          </a:ln>
        </p:spPr>
        <p:txBody>
          <a:bodyPr wrap="square" rtlCol="0">
            <a:spAutoFit/>
          </a:bodyPr>
          <a:lstStyle/>
          <a:p>
            <a:r>
              <a:rPr lang="en-US" sz="1400" noProof="1">
                <a:solidFill>
                  <a:schemeClr val="tx1">
                    <a:lumMod val="50000"/>
                  </a:schemeClr>
                </a:solidFill>
                <a:latin typeface="Consolas" panose="020B0609020204030204" pitchFamily="49" charset="0"/>
              </a:rPr>
              <a:t>C:\Espresso&gt;</a:t>
            </a:r>
            <a:r>
              <a:rPr lang="en-US" sz="1400" noProof="1">
                <a:solidFill>
                  <a:schemeClr val="accent4">
                    <a:lumMod val="60000"/>
                    <a:lumOff val="40000"/>
                  </a:schemeClr>
                </a:solidFill>
                <a:latin typeface="Consolas" panose="020B0609020204030204" pitchFamily="49" charset="0"/>
              </a:rPr>
              <a:t>espresso </a:t>
            </a:r>
            <a:r>
              <a:rPr lang="en-US" sz="1400" noProof="1">
                <a:solidFill>
                  <a:srgbClr val="FFC000"/>
                </a:solidFill>
                <a:latin typeface="Consolas" panose="020B0609020204030204" pitchFamily="49" charset="0"/>
              </a:rPr>
              <a:t>z_sp.pla</a:t>
            </a:r>
          </a:p>
          <a:p>
            <a:r>
              <a:rPr lang="en-US" sz="1400" noProof="1">
                <a:solidFill>
                  <a:schemeClr val="accent1">
                    <a:lumMod val="60000"/>
                    <a:lumOff val="40000"/>
                  </a:schemeClr>
                </a:solidFill>
                <a:latin typeface="Consolas" panose="020B0609020204030204" pitchFamily="49" charset="0"/>
              </a:rPr>
              <a:t>.i 3</a:t>
            </a:r>
          </a:p>
          <a:p>
            <a:r>
              <a:rPr lang="en-US" sz="1400" noProof="1">
                <a:solidFill>
                  <a:schemeClr val="accent1">
                    <a:lumMod val="60000"/>
                    <a:lumOff val="40000"/>
                  </a:schemeClr>
                </a:solidFill>
                <a:latin typeface="Consolas" panose="020B0609020204030204" pitchFamily="49" charset="0"/>
              </a:rPr>
              <a:t>.o 1</a:t>
            </a:r>
          </a:p>
          <a:p>
            <a:r>
              <a:rPr lang="en-US" sz="1400" noProof="1">
                <a:solidFill>
                  <a:schemeClr val="accent1">
                    <a:lumMod val="60000"/>
                    <a:lumOff val="40000"/>
                  </a:schemeClr>
                </a:solidFill>
                <a:latin typeface="Consolas" panose="020B0609020204030204" pitchFamily="49" charset="0"/>
              </a:rPr>
              <a:t>.ilb a b c</a:t>
            </a:r>
          </a:p>
          <a:p>
            <a:r>
              <a:rPr lang="en-US" sz="1400" noProof="1">
                <a:solidFill>
                  <a:schemeClr val="accent1">
                    <a:lumMod val="60000"/>
                    <a:lumOff val="40000"/>
                  </a:schemeClr>
                </a:solidFill>
                <a:latin typeface="Consolas" panose="020B0609020204030204" pitchFamily="49" charset="0"/>
              </a:rPr>
              <a:t>.ob z</a:t>
            </a:r>
          </a:p>
          <a:p>
            <a:r>
              <a:rPr lang="en-US" sz="1400" noProof="1">
                <a:solidFill>
                  <a:schemeClr val="accent1">
                    <a:lumMod val="60000"/>
                    <a:lumOff val="40000"/>
                  </a:schemeClr>
                </a:solidFill>
                <a:latin typeface="Consolas" panose="020B0609020204030204" pitchFamily="49" charset="0"/>
              </a:rPr>
              <a:t>.p 3</a:t>
            </a:r>
          </a:p>
          <a:p>
            <a:r>
              <a:rPr lang="en-US" sz="1400" noProof="1">
                <a:solidFill>
                  <a:schemeClr val="accent1">
                    <a:lumMod val="60000"/>
                    <a:lumOff val="40000"/>
                  </a:schemeClr>
                </a:solidFill>
                <a:latin typeface="Consolas" panose="020B0609020204030204" pitchFamily="49" charset="0"/>
              </a:rPr>
              <a:t>000 1</a:t>
            </a:r>
          </a:p>
          <a:p>
            <a:r>
              <a:rPr lang="en-US" sz="1400" noProof="1">
                <a:solidFill>
                  <a:schemeClr val="accent1">
                    <a:lumMod val="60000"/>
                    <a:lumOff val="40000"/>
                  </a:schemeClr>
                </a:solidFill>
                <a:latin typeface="Consolas" panose="020B0609020204030204" pitchFamily="49" charset="0"/>
              </a:rPr>
              <a:t>11- 1</a:t>
            </a:r>
          </a:p>
          <a:p>
            <a:r>
              <a:rPr lang="en-US" sz="1400" noProof="1">
                <a:solidFill>
                  <a:schemeClr val="accent1">
                    <a:lumMod val="60000"/>
                    <a:lumOff val="40000"/>
                  </a:schemeClr>
                </a:solidFill>
                <a:latin typeface="Consolas" panose="020B0609020204030204" pitchFamily="49" charset="0"/>
              </a:rPr>
              <a:t>-11 1</a:t>
            </a:r>
          </a:p>
          <a:p>
            <a:r>
              <a:rPr lang="en-US" sz="1400" noProof="1">
                <a:solidFill>
                  <a:schemeClr val="accent1">
                    <a:lumMod val="60000"/>
                    <a:lumOff val="40000"/>
                  </a:schemeClr>
                </a:solidFill>
                <a:latin typeface="Consolas" panose="020B0609020204030204" pitchFamily="49" charset="0"/>
              </a:rPr>
              <a:t>.e</a:t>
            </a:r>
          </a:p>
          <a:p>
            <a:endParaRPr lang="en-US" sz="1400" noProof="1">
              <a:solidFill>
                <a:schemeClr val="accent1">
                  <a:lumMod val="60000"/>
                  <a:lumOff val="40000"/>
                </a:schemeClr>
              </a:solidFill>
              <a:latin typeface="Consolas" panose="020B0609020204030204" pitchFamily="49" charset="0"/>
            </a:endParaRPr>
          </a:p>
          <a:p>
            <a:r>
              <a:rPr lang="en-US" sz="1400" noProof="1">
                <a:solidFill>
                  <a:schemeClr val="tx1">
                    <a:lumMod val="50000"/>
                  </a:schemeClr>
                </a:solidFill>
                <a:latin typeface="Consolas" panose="020B0609020204030204" pitchFamily="49" charset="0"/>
              </a:rPr>
              <a:t>C:\Espresso&gt;</a:t>
            </a:r>
            <a:r>
              <a:rPr lang="en-US" sz="1400" noProof="1">
                <a:solidFill>
                  <a:schemeClr val="accent4">
                    <a:lumMod val="60000"/>
                    <a:lumOff val="40000"/>
                  </a:schemeClr>
                </a:solidFill>
                <a:latin typeface="Consolas" panose="020B0609020204030204" pitchFamily="49" charset="0"/>
              </a:rPr>
              <a:t>espresso –o eqntott </a:t>
            </a:r>
            <a:r>
              <a:rPr lang="en-US" sz="1400" noProof="1">
                <a:solidFill>
                  <a:srgbClr val="FFC000"/>
                </a:solidFill>
                <a:latin typeface="Consolas" panose="020B0609020204030204" pitchFamily="49" charset="0"/>
              </a:rPr>
              <a:t>z_sp.pla</a:t>
            </a:r>
          </a:p>
          <a:p>
            <a:r>
              <a:rPr lang="en-US" sz="1400" noProof="1">
                <a:solidFill>
                  <a:schemeClr val="accent1">
                    <a:lumMod val="60000"/>
                    <a:lumOff val="40000"/>
                  </a:schemeClr>
                </a:solidFill>
                <a:latin typeface="Consolas" panose="020B0609020204030204" pitchFamily="49" charset="0"/>
              </a:rPr>
              <a:t>z = (!a &amp; !b &amp; !c) | (a &amp; b) | (b &amp; c);</a:t>
            </a:r>
          </a:p>
          <a:p>
            <a:endParaRPr lang="en-US" sz="1400" noProof="1">
              <a:solidFill>
                <a:schemeClr val="accent4">
                  <a:lumMod val="60000"/>
                  <a:lumOff val="40000"/>
                </a:schemeClr>
              </a:solidFill>
              <a:latin typeface="Consolas" panose="020B0609020204030204" pitchFamily="49" charset="0"/>
            </a:endParaRPr>
          </a:p>
          <a:p>
            <a:r>
              <a:rPr lang="en-US" sz="1400" noProof="1">
                <a:solidFill>
                  <a:schemeClr val="tx1">
                    <a:lumMod val="50000"/>
                  </a:schemeClr>
                </a:solidFill>
                <a:latin typeface="Consolas" panose="020B0609020204030204" pitchFamily="49" charset="0"/>
              </a:rPr>
              <a:t>C:\Espresso&gt;</a:t>
            </a:r>
          </a:p>
        </p:txBody>
      </p:sp>
      <p:sp>
        <p:nvSpPr>
          <p:cNvPr id="4" name="CasellaDiTesto 3">
            <a:extLst>
              <a:ext uri="{FF2B5EF4-FFF2-40B4-BE49-F238E27FC236}">
                <a16:creationId xmlns:a16="http://schemas.microsoft.com/office/drawing/2014/main" id="{2FB02C9C-5D4F-F302-F31F-CC7A3556C091}"/>
              </a:ext>
            </a:extLst>
          </p:cNvPr>
          <p:cNvSpPr txBox="1"/>
          <p:nvPr/>
        </p:nvSpPr>
        <p:spPr>
          <a:xfrm>
            <a:off x="1479736" y="2828050"/>
            <a:ext cx="1526651" cy="2677656"/>
          </a:xfrm>
          <a:prstGeom prst="rect">
            <a:avLst/>
          </a:prstGeom>
          <a:solidFill>
            <a:schemeClr val="bg1"/>
          </a:solidFill>
          <a:ln w="38100">
            <a:solidFill>
              <a:schemeClr val="accent5">
                <a:lumMod val="75000"/>
              </a:schemeClr>
            </a:solidFill>
          </a:ln>
        </p:spPr>
        <p:txBody>
          <a:bodyPr wrap="square" rtlCol="0">
            <a:spAutoFit/>
          </a:bodyPr>
          <a:lstStyle/>
          <a:p>
            <a:r>
              <a:rPr lang="en-US" sz="1400" dirty="0">
                <a:solidFill>
                  <a:schemeClr val="accent1">
                    <a:lumMod val="60000"/>
                    <a:lumOff val="40000"/>
                  </a:schemeClr>
                </a:solidFill>
                <a:latin typeface="Consolas" panose="020B0609020204030204" pitchFamily="49" charset="0"/>
              </a:rPr>
              <a:t>.i 3</a:t>
            </a:r>
          </a:p>
          <a:p>
            <a:r>
              <a:rPr lang="en-US" sz="1400" dirty="0">
                <a:solidFill>
                  <a:schemeClr val="accent1">
                    <a:lumMod val="60000"/>
                    <a:lumOff val="40000"/>
                  </a:schemeClr>
                </a:solidFill>
                <a:latin typeface="Consolas" panose="020B0609020204030204" pitchFamily="49" charset="0"/>
              </a:rPr>
              <a:t>.o 1</a:t>
            </a:r>
          </a:p>
          <a:p>
            <a:r>
              <a:rPr lang="en-US" sz="1400" dirty="0">
                <a:solidFill>
                  <a:schemeClr val="accent1">
                    <a:lumMod val="60000"/>
                    <a:lumOff val="40000"/>
                  </a:schemeClr>
                </a:solidFill>
                <a:latin typeface="Consolas" panose="020B0609020204030204" pitchFamily="49" charset="0"/>
              </a:rPr>
              <a:t>.p 4</a:t>
            </a:r>
            <a:br>
              <a:rPr lang="en-US" sz="1400" dirty="0">
                <a:solidFill>
                  <a:schemeClr val="accent1">
                    <a:lumMod val="60000"/>
                    <a:lumOff val="40000"/>
                  </a:schemeClr>
                </a:solidFill>
                <a:latin typeface="Consolas" panose="020B0609020204030204" pitchFamily="49" charset="0"/>
              </a:rPr>
            </a:br>
            <a:endParaRPr lang="en-US" sz="1400" dirty="0">
              <a:solidFill>
                <a:schemeClr val="accent1">
                  <a:lumMod val="60000"/>
                  <a:lumOff val="40000"/>
                </a:schemeClr>
              </a:solidFill>
              <a:latin typeface="Consolas" panose="020B0609020204030204" pitchFamily="49" charset="0"/>
            </a:endParaRPr>
          </a:p>
          <a:p>
            <a:r>
              <a:rPr lang="en-US" sz="1400" dirty="0">
                <a:solidFill>
                  <a:schemeClr val="accent1">
                    <a:lumMod val="60000"/>
                    <a:lumOff val="40000"/>
                  </a:schemeClr>
                </a:solidFill>
                <a:latin typeface="Consolas" panose="020B0609020204030204" pitchFamily="49" charset="0"/>
              </a:rPr>
              <a:t>.ilb a b c </a:t>
            </a:r>
          </a:p>
          <a:p>
            <a:r>
              <a:rPr lang="en-US" sz="1400" dirty="0">
                <a:solidFill>
                  <a:schemeClr val="accent1">
                    <a:lumMod val="60000"/>
                    <a:lumOff val="40000"/>
                  </a:schemeClr>
                </a:solidFill>
                <a:latin typeface="Consolas" panose="020B0609020204030204" pitchFamily="49" charset="0"/>
              </a:rPr>
              <a:t>.ob z</a:t>
            </a:r>
            <a:br>
              <a:rPr lang="en-US" sz="1400" dirty="0">
                <a:solidFill>
                  <a:schemeClr val="accent1">
                    <a:lumMod val="60000"/>
                    <a:lumOff val="40000"/>
                  </a:schemeClr>
                </a:solidFill>
                <a:latin typeface="Consolas" panose="020B0609020204030204" pitchFamily="49" charset="0"/>
              </a:rPr>
            </a:br>
            <a:endParaRPr lang="en-US" sz="1400" dirty="0">
              <a:solidFill>
                <a:schemeClr val="accent1">
                  <a:lumMod val="60000"/>
                  <a:lumOff val="40000"/>
                </a:schemeClr>
              </a:solidFill>
              <a:latin typeface="Consolas" panose="020B0609020204030204" pitchFamily="49" charset="0"/>
            </a:endParaRPr>
          </a:p>
          <a:p>
            <a:r>
              <a:rPr lang="en-US" sz="1400" dirty="0">
                <a:solidFill>
                  <a:schemeClr val="accent4">
                    <a:lumMod val="60000"/>
                    <a:lumOff val="40000"/>
                  </a:schemeClr>
                </a:solidFill>
                <a:latin typeface="Consolas" panose="020B0609020204030204" pitchFamily="49" charset="0"/>
              </a:rPr>
              <a:t>000 1</a:t>
            </a:r>
          </a:p>
          <a:p>
            <a:r>
              <a:rPr lang="en-US" sz="1400" dirty="0">
                <a:solidFill>
                  <a:schemeClr val="accent4">
                    <a:lumMod val="60000"/>
                    <a:lumOff val="40000"/>
                  </a:schemeClr>
                </a:solidFill>
                <a:latin typeface="Consolas" panose="020B0609020204030204" pitchFamily="49" charset="0"/>
              </a:rPr>
              <a:t>011 1</a:t>
            </a:r>
          </a:p>
          <a:p>
            <a:r>
              <a:rPr lang="en-US" sz="1400" dirty="0">
                <a:solidFill>
                  <a:schemeClr val="accent4">
                    <a:lumMod val="60000"/>
                    <a:lumOff val="40000"/>
                  </a:schemeClr>
                </a:solidFill>
                <a:latin typeface="Consolas" panose="020B0609020204030204" pitchFamily="49" charset="0"/>
              </a:rPr>
              <a:t>110 1</a:t>
            </a:r>
          </a:p>
          <a:p>
            <a:r>
              <a:rPr lang="en-US" sz="1400" dirty="0">
                <a:solidFill>
                  <a:schemeClr val="accent4">
                    <a:lumMod val="60000"/>
                    <a:lumOff val="40000"/>
                  </a:schemeClr>
                </a:solidFill>
                <a:latin typeface="Consolas" panose="020B0609020204030204" pitchFamily="49" charset="0"/>
              </a:rPr>
              <a:t>111 -</a:t>
            </a:r>
          </a:p>
          <a:p>
            <a:r>
              <a:rPr lang="en-US" sz="1400" dirty="0">
                <a:solidFill>
                  <a:schemeClr val="accent1">
                    <a:lumMod val="60000"/>
                    <a:lumOff val="40000"/>
                  </a:schemeClr>
                </a:solidFill>
                <a:latin typeface="Consolas" panose="020B0609020204030204" pitchFamily="49" charset="0"/>
              </a:rPr>
              <a:t>.e</a:t>
            </a:r>
          </a:p>
        </p:txBody>
      </p:sp>
      <p:sp>
        <p:nvSpPr>
          <p:cNvPr id="7" name="Freccia a destra 6">
            <a:extLst>
              <a:ext uri="{FF2B5EF4-FFF2-40B4-BE49-F238E27FC236}">
                <a16:creationId xmlns:a16="http://schemas.microsoft.com/office/drawing/2014/main" id="{813B4FD7-C8BA-10D1-9214-67DF3F46000C}"/>
              </a:ext>
            </a:extLst>
          </p:cNvPr>
          <p:cNvSpPr/>
          <p:nvPr/>
        </p:nvSpPr>
        <p:spPr>
          <a:xfrm>
            <a:off x="3182112" y="4041648"/>
            <a:ext cx="420624" cy="4297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e 7">
            <a:extLst>
              <a:ext uri="{FF2B5EF4-FFF2-40B4-BE49-F238E27FC236}">
                <a16:creationId xmlns:a16="http://schemas.microsoft.com/office/drawing/2014/main" id="{80DEEF3C-E773-BFAC-9459-38CA62AD6F21}"/>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3" name="Elemento grafico 12">
            <a:extLst>
              <a:ext uri="{FF2B5EF4-FFF2-40B4-BE49-F238E27FC236}">
                <a16:creationId xmlns:a16="http://schemas.microsoft.com/office/drawing/2014/main" id="{57F97A98-8A9A-A27A-37DD-813DDE5BE17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38272" y="2097097"/>
            <a:ext cx="2943090" cy="4139580"/>
          </a:xfrm>
          <a:prstGeom prst="rect">
            <a:avLst/>
          </a:prstGeom>
        </p:spPr>
      </p:pic>
    </p:spTree>
    <p:extLst>
      <p:ext uri="{BB962C8B-B14F-4D97-AF65-F5344CB8AC3E}">
        <p14:creationId xmlns:p14="http://schemas.microsoft.com/office/powerpoint/2010/main" val="15635759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5A41D0-5D26-FE86-85C2-C2665475AFF1}"/>
              </a:ext>
            </a:extLst>
          </p:cNvPr>
          <p:cNvSpPr>
            <a:spLocks noGrp="1"/>
          </p:cNvSpPr>
          <p:nvPr>
            <p:ph type="title"/>
          </p:nvPr>
        </p:nvSpPr>
        <p:spPr/>
        <p:txBody>
          <a:bodyPr/>
          <a:lstStyle/>
          <a:p>
            <a:r>
              <a:rPr lang="en-US" dirty="0"/>
              <a:t>Minimization with ESPRESSO software (4)</a:t>
            </a:r>
          </a:p>
        </p:txBody>
      </p:sp>
      <p:sp>
        <p:nvSpPr>
          <p:cNvPr id="3" name="Segnaposto contenuto 2">
            <a:extLst>
              <a:ext uri="{FF2B5EF4-FFF2-40B4-BE49-F238E27FC236}">
                <a16:creationId xmlns:a16="http://schemas.microsoft.com/office/drawing/2014/main" id="{2D52FB5A-8075-2F87-0726-6027249E2D44}"/>
              </a:ext>
            </a:extLst>
          </p:cNvPr>
          <p:cNvSpPr>
            <a:spLocks noGrp="1"/>
          </p:cNvSpPr>
          <p:nvPr>
            <p:ph idx="1"/>
          </p:nvPr>
        </p:nvSpPr>
        <p:spPr>
          <a:xfrm>
            <a:off x="1141413" y="1804801"/>
            <a:ext cx="9905998" cy="3541714"/>
          </a:xfrm>
        </p:spPr>
        <p:txBody>
          <a:bodyPr/>
          <a:lstStyle/>
          <a:p>
            <a:r>
              <a:rPr lang="en-US" dirty="0"/>
              <a:t>Minimization of function z defined on the</a:t>
            </a:r>
            <a:br>
              <a:rPr lang="en-US" dirty="0"/>
            </a:br>
            <a:r>
              <a:rPr lang="en-US" dirty="0"/>
              <a:t>maxterms. Minimizer output for z_ps.pla</a:t>
            </a:r>
          </a:p>
        </p:txBody>
      </p:sp>
      <p:cxnSp>
        <p:nvCxnSpPr>
          <p:cNvPr id="12" name="Connettore 2 11">
            <a:extLst>
              <a:ext uri="{FF2B5EF4-FFF2-40B4-BE49-F238E27FC236}">
                <a16:creationId xmlns:a16="http://schemas.microsoft.com/office/drawing/2014/main" id="{6252A177-80C4-A77E-1726-CFFE5679C191}"/>
              </a:ext>
            </a:extLst>
          </p:cNvPr>
          <p:cNvCxnSpPr>
            <a:cxnSpLocks/>
          </p:cNvCxnSpPr>
          <p:nvPr/>
        </p:nvCxnSpPr>
        <p:spPr>
          <a:xfrm flipH="1" flipV="1">
            <a:off x="4823659" y="4071068"/>
            <a:ext cx="434141" cy="126028"/>
          </a:xfrm>
          <a:prstGeom prst="straightConnector1">
            <a:avLst/>
          </a:prstGeom>
          <a:ln w="57150">
            <a:solidFill>
              <a:schemeClr val="accent1">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CasellaDiTesto 12">
            <a:extLst>
              <a:ext uri="{FF2B5EF4-FFF2-40B4-BE49-F238E27FC236}">
                <a16:creationId xmlns:a16="http://schemas.microsoft.com/office/drawing/2014/main" id="{267AEECF-FDC4-F29F-44FE-9E85E595E3DD}"/>
              </a:ext>
            </a:extLst>
          </p:cNvPr>
          <p:cNvSpPr txBox="1"/>
          <p:nvPr/>
        </p:nvSpPr>
        <p:spPr>
          <a:xfrm>
            <a:off x="5303281" y="3429000"/>
            <a:ext cx="2706624" cy="1569660"/>
          </a:xfrm>
          <a:prstGeom prst="rect">
            <a:avLst/>
          </a:prstGeom>
          <a:noFill/>
        </p:spPr>
        <p:txBody>
          <a:bodyPr wrap="square" rtlCol="0">
            <a:spAutoFit/>
          </a:bodyPr>
          <a:lstStyle/>
          <a:p>
            <a:r>
              <a:rPr lang="en-US" sz="1600" dirty="0"/>
              <a:t>This comment reminds us that inputs and functions must be</a:t>
            </a:r>
            <a:br>
              <a:rPr lang="en-US" sz="1600" dirty="0"/>
            </a:br>
            <a:r>
              <a:rPr lang="en-US" sz="1600" dirty="0"/>
              <a:t>complemented to</a:t>
            </a:r>
            <a:br>
              <a:rPr lang="en-US" sz="1600" dirty="0"/>
            </a:br>
            <a:r>
              <a:rPr lang="en-US" sz="1600" dirty="0"/>
              <a:t>determine the</a:t>
            </a:r>
            <a:br>
              <a:rPr lang="en-US" sz="1600" dirty="0"/>
            </a:br>
            <a:r>
              <a:rPr lang="en-US" sz="1600" dirty="0"/>
              <a:t>resulting maxterms manually</a:t>
            </a:r>
          </a:p>
        </p:txBody>
      </p:sp>
      <p:sp>
        <p:nvSpPr>
          <p:cNvPr id="8" name="Freccia a destra 7">
            <a:extLst>
              <a:ext uri="{FF2B5EF4-FFF2-40B4-BE49-F238E27FC236}">
                <a16:creationId xmlns:a16="http://schemas.microsoft.com/office/drawing/2014/main" id="{23733393-CEDE-7C63-F0FF-F5F954D238DC}"/>
              </a:ext>
            </a:extLst>
          </p:cNvPr>
          <p:cNvSpPr/>
          <p:nvPr/>
        </p:nvSpPr>
        <p:spPr>
          <a:xfrm>
            <a:off x="3182112" y="4041648"/>
            <a:ext cx="420624" cy="4297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sellaDiTesto 10">
            <a:extLst>
              <a:ext uri="{FF2B5EF4-FFF2-40B4-BE49-F238E27FC236}">
                <a16:creationId xmlns:a16="http://schemas.microsoft.com/office/drawing/2014/main" id="{6F667FAF-2506-ACFF-A846-F8773CCC5109}"/>
              </a:ext>
            </a:extLst>
          </p:cNvPr>
          <p:cNvSpPr txBox="1"/>
          <p:nvPr/>
        </p:nvSpPr>
        <p:spPr>
          <a:xfrm>
            <a:off x="3753729" y="2828050"/>
            <a:ext cx="4301657" cy="3539430"/>
          </a:xfrm>
          <a:prstGeom prst="rect">
            <a:avLst/>
          </a:prstGeom>
          <a:solidFill>
            <a:schemeClr val="bg1"/>
          </a:solidFill>
          <a:ln w="38100">
            <a:solidFill>
              <a:schemeClr val="accent5">
                <a:lumMod val="75000"/>
              </a:schemeClr>
            </a:solidFill>
          </a:ln>
        </p:spPr>
        <p:txBody>
          <a:bodyPr wrap="square" rtlCol="0">
            <a:spAutoFit/>
          </a:bodyPr>
          <a:lstStyle/>
          <a:p>
            <a:r>
              <a:rPr lang="en-US" sz="1400" dirty="0">
                <a:solidFill>
                  <a:schemeClr val="tx1">
                    <a:lumMod val="50000"/>
                  </a:schemeClr>
                </a:solidFill>
                <a:latin typeface="Consolas" panose="020B0609020204030204" pitchFamily="49" charset="0"/>
              </a:rPr>
              <a:t>C:\Espresso&gt;</a:t>
            </a:r>
            <a:r>
              <a:rPr lang="en-US" sz="1400" dirty="0">
                <a:solidFill>
                  <a:schemeClr val="accent4">
                    <a:lumMod val="60000"/>
                    <a:lumOff val="40000"/>
                  </a:schemeClr>
                </a:solidFill>
                <a:latin typeface="Consolas" panose="020B0609020204030204" pitchFamily="49" charset="0"/>
              </a:rPr>
              <a:t>espresso </a:t>
            </a:r>
            <a:r>
              <a:rPr lang="en-US" sz="1400" noProof="1">
                <a:solidFill>
                  <a:srgbClr val="FFC000"/>
                </a:solidFill>
                <a:latin typeface="Consolas" panose="020B0609020204030204" pitchFamily="49" charset="0"/>
              </a:rPr>
              <a:t>z_ps.pla</a:t>
            </a:r>
          </a:p>
          <a:p>
            <a:r>
              <a:rPr lang="en-US" sz="1400" dirty="0">
                <a:solidFill>
                  <a:schemeClr val="accent1">
                    <a:lumMod val="60000"/>
                    <a:lumOff val="40000"/>
                  </a:schemeClr>
                </a:solidFill>
                <a:latin typeface="Consolas" panose="020B0609020204030204" pitchFamily="49" charset="0"/>
              </a:rPr>
              <a:t>.i 3</a:t>
            </a:r>
          </a:p>
          <a:p>
            <a:r>
              <a:rPr lang="pt-BR" sz="1400" dirty="0">
                <a:solidFill>
                  <a:schemeClr val="accent1">
                    <a:lumMod val="60000"/>
                    <a:lumOff val="40000"/>
                  </a:schemeClr>
                </a:solidFill>
                <a:latin typeface="Consolas" panose="020B0609020204030204" pitchFamily="49" charset="0"/>
              </a:rPr>
              <a:t>.o 1</a:t>
            </a:r>
          </a:p>
          <a:p>
            <a:r>
              <a:rPr lang="pt-BR" sz="1400" dirty="0">
                <a:solidFill>
                  <a:schemeClr val="accent1">
                    <a:lumMod val="60000"/>
                    <a:lumOff val="40000"/>
                  </a:schemeClr>
                </a:solidFill>
                <a:latin typeface="Consolas" panose="020B0609020204030204" pitchFamily="49" charset="0"/>
              </a:rPr>
              <a:t>.ilb a b c</a:t>
            </a:r>
          </a:p>
          <a:p>
            <a:r>
              <a:rPr lang="pt-BR" sz="1400" dirty="0">
                <a:solidFill>
                  <a:schemeClr val="accent1">
                    <a:lumMod val="60000"/>
                    <a:lumOff val="40000"/>
                  </a:schemeClr>
                </a:solidFill>
                <a:latin typeface="Consolas" panose="020B0609020204030204" pitchFamily="49" charset="0"/>
              </a:rPr>
              <a:t>.ob z</a:t>
            </a:r>
          </a:p>
          <a:p>
            <a:r>
              <a:rPr lang="pt-BR" sz="1400" dirty="0">
                <a:solidFill>
                  <a:srgbClr val="FFFF00"/>
                </a:solidFill>
                <a:latin typeface="Consolas" panose="020B0609020204030204" pitchFamily="49" charset="0"/>
              </a:rPr>
              <a:t>#.phase 0</a:t>
            </a:r>
          </a:p>
          <a:p>
            <a:r>
              <a:rPr lang="pt-BR" sz="1400" dirty="0">
                <a:solidFill>
                  <a:schemeClr val="accent1">
                    <a:lumMod val="60000"/>
                    <a:lumOff val="40000"/>
                  </a:schemeClr>
                </a:solidFill>
                <a:latin typeface="Consolas" panose="020B0609020204030204" pitchFamily="49" charset="0"/>
              </a:rPr>
              <a:t>.p 3</a:t>
            </a:r>
          </a:p>
          <a:p>
            <a:r>
              <a:rPr lang="pt-BR" sz="1400" dirty="0">
                <a:solidFill>
                  <a:schemeClr val="accent1">
                    <a:lumMod val="60000"/>
                    <a:lumOff val="40000"/>
                  </a:schemeClr>
                </a:solidFill>
                <a:latin typeface="Consolas" panose="020B0609020204030204" pitchFamily="49" charset="0"/>
              </a:rPr>
              <a:t>010 1</a:t>
            </a:r>
          </a:p>
          <a:p>
            <a:r>
              <a:rPr lang="pt-BR" sz="1400" dirty="0">
                <a:solidFill>
                  <a:schemeClr val="accent1">
                    <a:lumMod val="60000"/>
                    <a:lumOff val="40000"/>
                  </a:schemeClr>
                </a:solidFill>
                <a:latin typeface="Consolas" panose="020B0609020204030204" pitchFamily="49" charset="0"/>
              </a:rPr>
              <a:t>10- 1</a:t>
            </a:r>
          </a:p>
          <a:p>
            <a:r>
              <a:rPr lang="pt-BR" sz="1400" dirty="0">
                <a:solidFill>
                  <a:schemeClr val="accent1">
                    <a:lumMod val="60000"/>
                    <a:lumOff val="40000"/>
                  </a:schemeClr>
                </a:solidFill>
                <a:latin typeface="Consolas" panose="020B0609020204030204" pitchFamily="49" charset="0"/>
              </a:rPr>
              <a:t>-01 1</a:t>
            </a:r>
          </a:p>
          <a:p>
            <a:r>
              <a:rPr lang="pt-BR" sz="1400" dirty="0">
                <a:solidFill>
                  <a:schemeClr val="accent1">
                    <a:lumMod val="60000"/>
                    <a:lumOff val="40000"/>
                  </a:schemeClr>
                </a:solidFill>
                <a:latin typeface="Consolas" panose="020B0609020204030204" pitchFamily="49" charset="0"/>
              </a:rPr>
              <a:t>.e</a:t>
            </a:r>
            <a:endParaRPr lang="en-US" sz="1400" dirty="0">
              <a:solidFill>
                <a:schemeClr val="accent1">
                  <a:lumMod val="60000"/>
                  <a:lumOff val="40000"/>
                </a:schemeClr>
              </a:solidFill>
              <a:latin typeface="Consolas" panose="020B0609020204030204" pitchFamily="49" charset="0"/>
            </a:endParaRPr>
          </a:p>
          <a:p>
            <a:endParaRPr lang="en-US" sz="1400" dirty="0">
              <a:solidFill>
                <a:schemeClr val="accent4">
                  <a:lumMod val="60000"/>
                  <a:lumOff val="40000"/>
                </a:schemeClr>
              </a:solidFill>
              <a:latin typeface="Consolas" panose="020B0609020204030204" pitchFamily="49" charset="0"/>
            </a:endParaRPr>
          </a:p>
          <a:p>
            <a:r>
              <a:rPr lang="en-US" sz="1400" dirty="0">
                <a:solidFill>
                  <a:schemeClr val="tx1">
                    <a:lumMod val="50000"/>
                  </a:schemeClr>
                </a:solidFill>
                <a:latin typeface="Consolas" panose="020B0609020204030204" pitchFamily="49" charset="0"/>
              </a:rPr>
              <a:t>C:\Espresso&gt;</a:t>
            </a:r>
            <a:r>
              <a:rPr lang="en-US" sz="1400" dirty="0">
                <a:solidFill>
                  <a:schemeClr val="accent4">
                    <a:lumMod val="60000"/>
                    <a:lumOff val="40000"/>
                  </a:schemeClr>
                </a:solidFill>
                <a:latin typeface="Consolas" panose="020B0609020204030204" pitchFamily="49" charset="0"/>
              </a:rPr>
              <a:t>espresso –o eqntott </a:t>
            </a:r>
            <a:r>
              <a:rPr lang="en-US" sz="1400" noProof="1">
                <a:solidFill>
                  <a:srgbClr val="FFC000"/>
                </a:solidFill>
                <a:latin typeface="Consolas" panose="020B0609020204030204" pitchFamily="49" charset="0"/>
              </a:rPr>
              <a:t>z_ps.pla</a:t>
            </a:r>
          </a:p>
          <a:p>
            <a:r>
              <a:rPr lang="en-US" sz="1400" dirty="0">
                <a:solidFill>
                  <a:schemeClr val="accent1">
                    <a:lumMod val="60000"/>
                    <a:lumOff val="40000"/>
                  </a:schemeClr>
                </a:solidFill>
                <a:latin typeface="Consolas" panose="020B0609020204030204" pitchFamily="49" charset="0"/>
              </a:rPr>
              <a:t>z = (!a &amp; b &amp; !c) | (a &amp; !b) | (!b &amp; c);</a:t>
            </a:r>
          </a:p>
          <a:p>
            <a:endParaRPr lang="en-US" sz="1400" dirty="0">
              <a:solidFill>
                <a:schemeClr val="accent4">
                  <a:lumMod val="60000"/>
                  <a:lumOff val="40000"/>
                </a:schemeClr>
              </a:solidFill>
              <a:latin typeface="Consolas" panose="020B0609020204030204" pitchFamily="49" charset="0"/>
            </a:endParaRPr>
          </a:p>
          <a:p>
            <a:r>
              <a:rPr lang="en-US" sz="1400" dirty="0">
                <a:solidFill>
                  <a:schemeClr val="tx1">
                    <a:lumMod val="50000"/>
                  </a:schemeClr>
                </a:solidFill>
                <a:latin typeface="Consolas" panose="020B0609020204030204" pitchFamily="49" charset="0"/>
              </a:rPr>
              <a:t>C:\Espresso&gt;</a:t>
            </a:r>
          </a:p>
        </p:txBody>
      </p:sp>
      <p:sp>
        <p:nvSpPr>
          <p:cNvPr id="14" name="CasellaDiTesto 13">
            <a:extLst>
              <a:ext uri="{FF2B5EF4-FFF2-40B4-BE49-F238E27FC236}">
                <a16:creationId xmlns:a16="http://schemas.microsoft.com/office/drawing/2014/main" id="{A2A9F2E4-85D1-8F2D-9C87-FAE4A079BDBC}"/>
              </a:ext>
            </a:extLst>
          </p:cNvPr>
          <p:cNvSpPr txBox="1"/>
          <p:nvPr/>
        </p:nvSpPr>
        <p:spPr>
          <a:xfrm>
            <a:off x="1479736" y="2828050"/>
            <a:ext cx="1526651" cy="3323987"/>
          </a:xfrm>
          <a:prstGeom prst="rect">
            <a:avLst/>
          </a:prstGeom>
          <a:solidFill>
            <a:schemeClr val="bg1"/>
          </a:solidFill>
          <a:ln w="38100">
            <a:solidFill>
              <a:schemeClr val="accent5">
                <a:lumMod val="75000"/>
              </a:schemeClr>
            </a:solidFill>
          </a:ln>
        </p:spPr>
        <p:txBody>
          <a:bodyPr wrap="square" rtlCol="0">
            <a:spAutoFit/>
          </a:bodyPr>
          <a:lstStyle/>
          <a:p>
            <a:r>
              <a:rPr lang="pt-BR" sz="1400" dirty="0">
                <a:solidFill>
                  <a:schemeClr val="accent1">
                    <a:lumMod val="60000"/>
                    <a:lumOff val="40000"/>
                  </a:schemeClr>
                </a:solidFill>
                <a:latin typeface="Consolas" panose="020B0609020204030204" pitchFamily="49" charset="0"/>
              </a:rPr>
              <a:t>.i 3</a:t>
            </a:r>
          </a:p>
          <a:p>
            <a:r>
              <a:rPr lang="pt-BR" sz="1400" dirty="0">
                <a:solidFill>
                  <a:schemeClr val="accent1">
                    <a:lumMod val="60000"/>
                    <a:lumOff val="40000"/>
                  </a:schemeClr>
                </a:solidFill>
                <a:latin typeface="Consolas" panose="020B0609020204030204" pitchFamily="49" charset="0"/>
              </a:rPr>
              <a:t>.o 1</a:t>
            </a:r>
          </a:p>
          <a:p>
            <a:r>
              <a:rPr lang="pt-BR" sz="1400" dirty="0">
                <a:solidFill>
                  <a:schemeClr val="accent1">
                    <a:lumMod val="60000"/>
                    <a:lumOff val="40000"/>
                  </a:schemeClr>
                </a:solidFill>
                <a:latin typeface="Consolas" panose="020B0609020204030204" pitchFamily="49" charset="0"/>
              </a:rPr>
              <a:t>.p 5</a:t>
            </a:r>
          </a:p>
          <a:p>
            <a:r>
              <a:rPr lang="pt-BR" sz="1400" dirty="0">
                <a:solidFill>
                  <a:schemeClr val="accent1">
                    <a:lumMod val="60000"/>
                    <a:lumOff val="40000"/>
                  </a:schemeClr>
                </a:solidFill>
                <a:latin typeface="Consolas" panose="020B0609020204030204" pitchFamily="49" charset="0"/>
              </a:rPr>
              <a:t>.type r</a:t>
            </a:r>
          </a:p>
          <a:p>
            <a:r>
              <a:rPr lang="pt-BR" sz="1400" dirty="0">
                <a:solidFill>
                  <a:schemeClr val="accent1">
                    <a:lumMod val="60000"/>
                    <a:lumOff val="40000"/>
                  </a:schemeClr>
                </a:solidFill>
                <a:latin typeface="Consolas" panose="020B0609020204030204" pitchFamily="49" charset="0"/>
              </a:rPr>
              <a:t>.phase 0</a:t>
            </a:r>
          </a:p>
          <a:p>
            <a:endParaRPr lang="pt-BR" sz="1400" dirty="0">
              <a:solidFill>
                <a:schemeClr val="accent1">
                  <a:lumMod val="60000"/>
                  <a:lumOff val="40000"/>
                </a:schemeClr>
              </a:solidFill>
              <a:latin typeface="Consolas" panose="020B0609020204030204" pitchFamily="49" charset="0"/>
            </a:endParaRPr>
          </a:p>
          <a:p>
            <a:r>
              <a:rPr lang="pt-BR" sz="1400" dirty="0">
                <a:solidFill>
                  <a:schemeClr val="accent1">
                    <a:lumMod val="60000"/>
                    <a:lumOff val="40000"/>
                  </a:schemeClr>
                </a:solidFill>
                <a:latin typeface="Consolas" panose="020B0609020204030204" pitchFamily="49" charset="0"/>
              </a:rPr>
              <a:t>.ilb a b c </a:t>
            </a:r>
          </a:p>
          <a:p>
            <a:r>
              <a:rPr lang="pt-BR" sz="1400" dirty="0">
                <a:solidFill>
                  <a:schemeClr val="accent1">
                    <a:lumMod val="60000"/>
                    <a:lumOff val="40000"/>
                  </a:schemeClr>
                </a:solidFill>
                <a:latin typeface="Consolas" panose="020B0609020204030204" pitchFamily="49" charset="0"/>
              </a:rPr>
              <a:t>.ob z</a:t>
            </a:r>
          </a:p>
          <a:p>
            <a:endParaRPr lang="pt-BR" sz="1400" dirty="0">
              <a:solidFill>
                <a:schemeClr val="accent1">
                  <a:lumMod val="60000"/>
                  <a:lumOff val="40000"/>
                </a:schemeClr>
              </a:solidFill>
              <a:latin typeface="Consolas" panose="020B0609020204030204" pitchFamily="49" charset="0"/>
            </a:endParaRPr>
          </a:p>
          <a:p>
            <a:r>
              <a:rPr lang="pt-BR" sz="1400" dirty="0">
                <a:solidFill>
                  <a:schemeClr val="accent2">
                    <a:lumMod val="75000"/>
                  </a:schemeClr>
                </a:solidFill>
                <a:latin typeface="Consolas" panose="020B0609020204030204" pitchFamily="49" charset="0"/>
              </a:rPr>
              <a:t>001 0</a:t>
            </a:r>
          </a:p>
          <a:p>
            <a:r>
              <a:rPr lang="pt-BR" sz="1400" dirty="0">
                <a:solidFill>
                  <a:schemeClr val="accent2">
                    <a:lumMod val="75000"/>
                  </a:schemeClr>
                </a:solidFill>
                <a:latin typeface="Consolas" panose="020B0609020204030204" pitchFamily="49" charset="0"/>
              </a:rPr>
              <a:t>010 0</a:t>
            </a:r>
          </a:p>
          <a:p>
            <a:r>
              <a:rPr lang="pt-BR" sz="1400" dirty="0">
                <a:solidFill>
                  <a:schemeClr val="accent2">
                    <a:lumMod val="75000"/>
                  </a:schemeClr>
                </a:solidFill>
                <a:latin typeface="Consolas" panose="020B0609020204030204" pitchFamily="49" charset="0"/>
              </a:rPr>
              <a:t>100 0</a:t>
            </a:r>
          </a:p>
          <a:p>
            <a:r>
              <a:rPr lang="pt-BR" sz="1400" dirty="0">
                <a:solidFill>
                  <a:schemeClr val="accent2">
                    <a:lumMod val="75000"/>
                  </a:schemeClr>
                </a:solidFill>
                <a:latin typeface="Consolas" panose="020B0609020204030204" pitchFamily="49" charset="0"/>
              </a:rPr>
              <a:t>101 0</a:t>
            </a:r>
          </a:p>
          <a:p>
            <a:r>
              <a:rPr lang="pt-BR" sz="1400" dirty="0">
                <a:solidFill>
                  <a:schemeClr val="accent2">
                    <a:lumMod val="75000"/>
                  </a:schemeClr>
                </a:solidFill>
                <a:latin typeface="Consolas" panose="020B0609020204030204" pitchFamily="49" charset="0"/>
              </a:rPr>
              <a:t>111 -</a:t>
            </a:r>
          </a:p>
          <a:p>
            <a:r>
              <a:rPr lang="pt-BR" sz="1400" dirty="0">
                <a:solidFill>
                  <a:schemeClr val="accent1">
                    <a:lumMod val="60000"/>
                    <a:lumOff val="40000"/>
                  </a:schemeClr>
                </a:solidFill>
                <a:latin typeface="Consolas" panose="020B0609020204030204" pitchFamily="49" charset="0"/>
              </a:rPr>
              <a:t>.e</a:t>
            </a:r>
          </a:p>
        </p:txBody>
      </p:sp>
      <p:pic>
        <p:nvPicPr>
          <p:cNvPr id="5" name="Elemento grafico 4">
            <a:extLst>
              <a:ext uri="{FF2B5EF4-FFF2-40B4-BE49-F238E27FC236}">
                <a16:creationId xmlns:a16="http://schemas.microsoft.com/office/drawing/2014/main" id="{A5A6FC03-6C7B-6A21-AE41-1A81339569C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38270" y="2097088"/>
            <a:ext cx="2943091" cy="4139581"/>
          </a:xfrm>
          <a:prstGeom prst="rect">
            <a:avLst/>
          </a:prstGeom>
        </p:spPr>
      </p:pic>
      <p:sp>
        <p:nvSpPr>
          <p:cNvPr id="6" name="Ovale 5">
            <a:extLst>
              <a:ext uri="{FF2B5EF4-FFF2-40B4-BE49-F238E27FC236}">
                <a16:creationId xmlns:a16="http://schemas.microsoft.com/office/drawing/2014/main" id="{CB96E6EC-A054-8A6B-5D23-8DA9270A866B}"/>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013933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gnaposto contenuto 4">
            <a:extLst>
              <a:ext uri="{FF2B5EF4-FFF2-40B4-BE49-F238E27FC236}">
                <a16:creationId xmlns:a16="http://schemas.microsoft.com/office/drawing/2014/main" id="{5B58AF0F-461E-EFFB-3E66-11B441E68BB9}"/>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5752766" y="339936"/>
            <a:ext cx="5804454" cy="1541202"/>
          </a:xfrm>
        </p:spPr>
      </p:pic>
      <p:sp>
        <p:nvSpPr>
          <p:cNvPr id="7" name="CasellaDiTesto 6">
            <a:extLst>
              <a:ext uri="{FF2B5EF4-FFF2-40B4-BE49-F238E27FC236}">
                <a16:creationId xmlns:a16="http://schemas.microsoft.com/office/drawing/2014/main" id="{7A31A842-662F-EB03-96A7-AADFE20180B9}"/>
              </a:ext>
            </a:extLst>
          </p:cNvPr>
          <p:cNvSpPr txBox="1"/>
          <p:nvPr/>
        </p:nvSpPr>
        <p:spPr>
          <a:xfrm>
            <a:off x="788378" y="2158123"/>
            <a:ext cx="1895985" cy="4339650"/>
          </a:xfrm>
          <a:prstGeom prst="rect">
            <a:avLst/>
          </a:prstGeom>
          <a:solidFill>
            <a:schemeClr val="bg1"/>
          </a:solidFill>
          <a:ln w="38100">
            <a:solidFill>
              <a:schemeClr val="accent5">
                <a:lumMod val="75000"/>
              </a:schemeClr>
            </a:solidFill>
          </a:ln>
        </p:spPr>
        <p:txBody>
          <a:bodyPr wrap="square" rtlCol="0">
            <a:spAutoFit/>
          </a:bodyPr>
          <a:lstStyle/>
          <a:p>
            <a:r>
              <a:rPr lang="en-US" sz="1200" dirty="0">
                <a:solidFill>
                  <a:schemeClr val="accent1">
                    <a:lumMod val="60000"/>
                    <a:lumOff val="40000"/>
                  </a:schemeClr>
                </a:solidFill>
                <a:latin typeface="Consolas" panose="020B0609020204030204" pitchFamily="49" charset="0"/>
              </a:rPr>
              <a:t># 7seg.pla</a:t>
            </a:r>
            <a:br>
              <a:rPr lang="en-US" sz="1200" dirty="0">
                <a:solidFill>
                  <a:schemeClr val="accent1">
                    <a:lumMod val="60000"/>
                    <a:lumOff val="40000"/>
                  </a:schemeClr>
                </a:solidFill>
                <a:latin typeface="Consolas" panose="020B0609020204030204" pitchFamily="49" charset="0"/>
              </a:rPr>
            </a:br>
            <a:r>
              <a:rPr lang="en-US" sz="1200" dirty="0">
                <a:solidFill>
                  <a:schemeClr val="accent1">
                    <a:lumMod val="60000"/>
                    <a:lumOff val="40000"/>
                  </a:schemeClr>
                </a:solidFill>
                <a:latin typeface="Consolas" panose="020B0609020204030204" pitchFamily="49" charset="0"/>
              </a:rPr>
              <a:t>.i 4</a:t>
            </a:r>
          </a:p>
          <a:p>
            <a:r>
              <a:rPr lang="en-US" sz="1200" dirty="0">
                <a:solidFill>
                  <a:schemeClr val="accent1">
                    <a:lumMod val="60000"/>
                    <a:lumOff val="40000"/>
                  </a:schemeClr>
                </a:solidFill>
                <a:latin typeface="Consolas" panose="020B0609020204030204" pitchFamily="49" charset="0"/>
              </a:rPr>
              <a:t>.o 7</a:t>
            </a:r>
          </a:p>
          <a:p>
            <a:r>
              <a:rPr lang="en-US" sz="1200" dirty="0">
                <a:solidFill>
                  <a:schemeClr val="accent1">
                    <a:lumMod val="60000"/>
                    <a:lumOff val="40000"/>
                  </a:schemeClr>
                </a:solidFill>
                <a:latin typeface="Consolas" panose="020B0609020204030204" pitchFamily="49" charset="0"/>
              </a:rPr>
              <a:t>.p 16</a:t>
            </a:r>
          </a:p>
          <a:p>
            <a:r>
              <a:rPr lang="en-US" sz="1200" dirty="0">
                <a:solidFill>
                  <a:schemeClr val="accent1">
                    <a:lumMod val="60000"/>
                    <a:lumOff val="40000"/>
                  </a:schemeClr>
                </a:solidFill>
                <a:latin typeface="Consolas" panose="020B0609020204030204" pitchFamily="49" charset="0"/>
              </a:rPr>
              <a:t>.ilb i3 i2 i1 i0 </a:t>
            </a:r>
          </a:p>
          <a:p>
            <a:r>
              <a:rPr lang="en-US" sz="1200" dirty="0">
                <a:solidFill>
                  <a:schemeClr val="accent1">
                    <a:lumMod val="60000"/>
                    <a:lumOff val="40000"/>
                  </a:schemeClr>
                </a:solidFill>
                <a:latin typeface="Consolas" panose="020B0609020204030204" pitchFamily="49" charset="0"/>
              </a:rPr>
              <a:t>.ob a b c d e f g </a:t>
            </a:r>
          </a:p>
          <a:p>
            <a:r>
              <a:rPr lang="en-US" sz="1200" dirty="0">
                <a:solidFill>
                  <a:schemeClr val="accent1">
                    <a:lumMod val="60000"/>
                    <a:lumOff val="40000"/>
                  </a:schemeClr>
                </a:solidFill>
                <a:latin typeface="Consolas" panose="020B0609020204030204" pitchFamily="49" charset="0"/>
              </a:rPr>
              <a:t>0000 1111110</a:t>
            </a:r>
          </a:p>
          <a:p>
            <a:r>
              <a:rPr lang="en-US" sz="1200" dirty="0">
                <a:solidFill>
                  <a:schemeClr val="accent1">
                    <a:lumMod val="60000"/>
                    <a:lumOff val="40000"/>
                  </a:schemeClr>
                </a:solidFill>
                <a:latin typeface="Consolas" panose="020B0609020204030204" pitchFamily="49" charset="0"/>
              </a:rPr>
              <a:t>0001 0110000</a:t>
            </a:r>
          </a:p>
          <a:p>
            <a:r>
              <a:rPr lang="en-US" sz="1200" dirty="0">
                <a:solidFill>
                  <a:schemeClr val="accent1">
                    <a:lumMod val="60000"/>
                    <a:lumOff val="40000"/>
                  </a:schemeClr>
                </a:solidFill>
                <a:latin typeface="Consolas" panose="020B0609020204030204" pitchFamily="49" charset="0"/>
              </a:rPr>
              <a:t>0010 1101101</a:t>
            </a:r>
          </a:p>
          <a:p>
            <a:r>
              <a:rPr lang="en-US" sz="1200" dirty="0">
                <a:solidFill>
                  <a:schemeClr val="accent1">
                    <a:lumMod val="60000"/>
                    <a:lumOff val="40000"/>
                  </a:schemeClr>
                </a:solidFill>
                <a:latin typeface="Consolas" panose="020B0609020204030204" pitchFamily="49" charset="0"/>
              </a:rPr>
              <a:t>0011 1111001</a:t>
            </a:r>
          </a:p>
          <a:p>
            <a:r>
              <a:rPr lang="en-US" sz="1200" dirty="0">
                <a:solidFill>
                  <a:schemeClr val="accent1">
                    <a:lumMod val="60000"/>
                    <a:lumOff val="40000"/>
                  </a:schemeClr>
                </a:solidFill>
                <a:latin typeface="Consolas" panose="020B0609020204030204" pitchFamily="49" charset="0"/>
              </a:rPr>
              <a:t>0100 0110011</a:t>
            </a:r>
          </a:p>
          <a:p>
            <a:r>
              <a:rPr lang="en-US" sz="1200" dirty="0">
                <a:solidFill>
                  <a:schemeClr val="accent1">
                    <a:lumMod val="60000"/>
                    <a:lumOff val="40000"/>
                  </a:schemeClr>
                </a:solidFill>
                <a:latin typeface="Consolas" panose="020B0609020204030204" pitchFamily="49" charset="0"/>
              </a:rPr>
              <a:t>0101 1011011</a:t>
            </a:r>
          </a:p>
          <a:p>
            <a:r>
              <a:rPr lang="en-US" sz="1200" dirty="0">
                <a:solidFill>
                  <a:schemeClr val="accent1">
                    <a:lumMod val="60000"/>
                    <a:lumOff val="40000"/>
                  </a:schemeClr>
                </a:solidFill>
                <a:latin typeface="Consolas" panose="020B0609020204030204" pitchFamily="49" charset="0"/>
              </a:rPr>
              <a:t>0110 1011111</a:t>
            </a:r>
          </a:p>
          <a:p>
            <a:r>
              <a:rPr lang="en-US" sz="1200" dirty="0">
                <a:solidFill>
                  <a:schemeClr val="accent1">
                    <a:lumMod val="60000"/>
                    <a:lumOff val="40000"/>
                  </a:schemeClr>
                </a:solidFill>
                <a:latin typeface="Consolas" panose="020B0609020204030204" pitchFamily="49" charset="0"/>
              </a:rPr>
              <a:t>0111 1110000</a:t>
            </a:r>
          </a:p>
          <a:p>
            <a:r>
              <a:rPr lang="en-US" sz="1200" dirty="0">
                <a:solidFill>
                  <a:schemeClr val="accent1">
                    <a:lumMod val="60000"/>
                    <a:lumOff val="40000"/>
                  </a:schemeClr>
                </a:solidFill>
                <a:latin typeface="Consolas" panose="020B0609020204030204" pitchFamily="49" charset="0"/>
              </a:rPr>
              <a:t>1000 1111111</a:t>
            </a:r>
          </a:p>
          <a:p>
            <a:r>
              <a:rPr lang="en-US" sz="1200" dirty="0">
                <a:solidFill>
                  <a:schemeClr val="accent1">
                    <a:lumMod val="60000"/>
                    <a:lumOff val="40000"/>
                  </a:schemeClr>
                </a:solidFill>
                <a:latin typeface="Consolas" panose="020B0609020204030204" pitchFamily="49" charset="0"/>
              </a:rPr>
              <a:t>1001 1110011</a:t>
            </a:r>
          </a:p>
          <a:p>
            <a:r>
              <a:rPr lang="en-US" sz="1200" dirty="0">
                <a:solidFill>
                  <a:schemeClr val="accent1">
                    <a:lumMod val="60000"/>
                    <a:lumOff val="40000"/>
                  </a:schemeClr>
                </a:solidFill>
                <a:latin typeface="Consolas" panose="020B0609020204030204" pitchFamily="49" charset="0"/>
              </a:rPr>
              <a:t>1010 1110111</a:t>
            </a:r>
          </a:p>
          <a:p>
            <a:r>
              <a:rPr lang="en-US" sz="1200" dirty="0">
                <a:solidFill>
                  <a:schemeClr val="accent1">
                    <a:lumMod val="60000"/>
                    <a:lumOff val="40000"/>
                  </a:schemeClr>
                </a:solidFill>
                <a:latin typeface="Consolas" panose="020B0609020204030204" pitchFamily="49" charset="0"/>
              </a:rPr>
              <a:t>1011 0011111</a:t>
            </a:r>
          </a:p>
          <a:p>
            <a:r>
              <a:rPr lang="en-US" sz="1200" dirty="0">
                <a:solidFill>
                  <a:schemeClr val="accent1">
                    <a:lumMod val="60000"/>
                    <a:lumOff val="40000"/>
                  </a:schemeClr>
                </a:solidFill>
                <a:latin typeface="Consolas" panose="020B0609020204030204" pitchFamily="49" charset="0"/>
              </a:rPr>
              <a:t>1100 1001110</a:t>
            </a:r>
          </a:p>
          <a:p>
            <a:r>
              <a:rPr lang="en-US" sz="1200" dirty="0">
                <a:solidFill>
                  <a:schemeClr val="accent1">
                    <a:lumMod val="60000"/>
                    <a:lumOff val="40000"/>
                  </a:schemeClr>
                </a:solidFill>
                <a:latin typeface="Consolas" panose="020B0609020204030204" pitchFamily="49" charset="0"/>
              </a:rPr>
              <a:t>1101 0111101</a:t>
            </a:r>
          </a:p>
          <a:p>
            <a:r>
              <a:rPr lang="en-US" sz="1200" dirty="0">
                <a:solidFill>
                  <a:schemeClr val="accent1">
                    <a:lumMod val="60000"/>
                    <a:lumOff val="40000"/>
                  </a:schemeClr>
                </a:solidFill>
                <a:latin typeface="Consolas" panose="020B0609020204030204" pitchFamily="49" charset="0"/>
              </a:rPr>
              <a:t>1110 1001111</a:t>
            </a:r>
          </a:p>
          <a:p>
            <a:r>
              <a:rPr lang="en-US" sz="1200" dirty="0">
                <a:solidFill>
                  <a:schemeClr val="accent1">
                    <a:lumMod val="60000"/>
                    <a:lumOff val="40000"/>
                  </a:schemeClr>
                </a:solidFill>
                <a:latin typeface="Consolas" panose="020B0609020204030204" pitchFamily="49" charset="0"/>
              </a:rPr>
              <a:t>1111 1000111</a:t>
            </a:r>
          </a:p>
          <a:p>
            <a:r>
              <a:rPr lang="en-US" sz="1200" dirty="0">
                <a:solidFill>
                  <a:schemeClr val="accent1">
                    <a:lumMod val="60000"/>
                    <a:lumOff val="40000"/>
                  </a:schemeClr>
                </a:solidFill>
                <a:latin typeface="Consolas" panose="020B0609020204030204" pitchFamily="49" charset="0"/>
              </a:rPr>
              <a:t>.e</a:t>
            </a:r>
          </a:p>
        </p:txBody>
      </p:sp>
      <p:sp>
        <p:nvSpPr>
          <p:cNvPr id="8" name="CasellaDiTesto 7">
            <a:extLst>
              <a:ext uri="{FF2B5EF4-FFF2-40B4-BE49-F238E27FC236}">
                <a16:creationId xmlns:a16="http://schemas.microsoft.com/office/drawing/2014/main" id="{EAD35DF0-90EC-691F-B1EF-215EBF2A3433}"/>
              </a:ext>
            </a:extLst>
          </p:cNvPr>
          <p:cNvSpPr txBox="1"/>
          <p:nvPr/>
        </p:nvSpPr>
        <p:spPr>
          <a:xfrm>
            <a:off x="3192522" y="2179669"/>
            <a:ext cx="2085917" cy="4154984"/>
          </a:xfrm>
          <a:prstGeom prst="rect">
            <a:avLst/>
          </a:prstGeom>
          <a:solidFill>
            <a:schemeClr val="bg1"/>
          </a:solidFill>
          <a:ln w="38100">
            <a:solidFill>
              <a:schemeClr val="accent5">
                <a:lumMod val="75000"/>
              </a:schemeClr>
            </a:solidFill>
          </a:ln>
        </p:spPr>
        <p:txBody>
          <a:bodyPr wrap="square" rtlCol="0">
            <a:spAutoFit/>
          </a:bodyPr>
          <a:lstStyle/>
          <a:p>
            <a:r>
              <a:rPr lang="pt-BR" sz="1200" dirty="0">
                <a:solidFill>
                  <a:schemeClr val="tx1">
                    <a:lumMod val="65000"/>
                  </a:schemeClr>
                </a:solidFill>
                <a:latin typeface="Consolas" panose="020B0609020204030204" pitchFamily="49" charset="0"/>
              </a:rPr>
              <a:t>C:&gt;</a:t>
            </a:r>
            <a:r>
              <a:rPr lang="pt-BR" sz="1200" dirty="0">
                <a:solidFill>
                  <a:schemeClr val="accent4">
                    <a:lumMod val="60000"/>
                    <a:lumOff val="40000"/>
                  </a:schemeClr>
                </a:solidFill>
                <a:latin typeface="Consolas" panose="020B0609020204030204" pitchFamily="49" charset="0"/>
              </a:rPr>
              <a:t>espresso</a:t>
            </a:r>
            <a:r>
              <a:rPr lang="pt-BR" sz="1200" dirty="0">
                <a:solidFill>
                  <a:schemeClr val="accent1">
                    <a:lumMod val="60000"/>
                    <a:lumOff val="40000"/>
                  </a:schemeClr>
                </a:solidFill>
                <a:latin typeface="Consolas" panose="020B0609020204030204" pitchFamily="49" charset="0"/>
              </a:rPr>
              <a:t> </a:t>
            </a:r>
            <a:r>
              <a:rPr lang="pt-BR" sz="1200" dirty="0">
                <a:solidFill>
                  <a:srgbClr val="FFFF00"/>
                </a:solidFill>
                <a:latin typeface="Consolas" panose="020B0609020204030204" pitchFamily="49" charset="0"/>
              </a:rPr>
              <a:t>7seg.pla</a:t>
            </a:r>
          </a:p>
          <a:p>
            <a:endParaRPr lang="en-US" sz="1200" noProof="1">
              <a:solidFill>
                <a:schemeClr val="accent1">
                  <a:lumMod val="60000"/>
                  <a:lumOff val="40000"/>
                </a:schemeClr>
              </a:solidFill>
              <a:latin typeface="Consolas" panose="020B0609020204030204" pitchFamily="49" charset="0"/>
            </a:endParaRPr>
          </a:p>
          <a:p>
            <a:r>
              <a:rPr lang="en-US" sz="1200" dirty="0">
                <a:solidFill>
                  <a:schemeClr val="accent1">
                    <a:lumMod val="60000"/>
                    <a:lumOff val="40000"/>
                  </a:schemeClr>
                </a:solidFill>
                <a:latin typeface="Consolas" panose="020B0609020204030204" pitchFamily="49" charset="0"/>
              </a:rPr>
              <a:t>.i 4</a:t>
            </a:r>
          </a:p>
          <a:p>
            <a:r>
              <a:rPr lang="en-US" sz="1200" dirty="0">
                <a:solidFill>
                  <a:schemeClr val="accent1">
                    <a:lumMod val="60000"/>
                    <a:lumOff val="40000"/>
                  </a:schemeClr>
                </a:solidFill>
                <a:latin typeface="Consolas" panose="020B0609020204030204" pitchFamily="49" charset="0"/>
              </a:rPr>
              <a:t>.o 7</a:t>
            </a:r>
          </a:p>
          <a:p>
            <a:r>
              <a:rPr lang="en-US" sz="1200" dirty="0">
                <a:solidFill>
                  <a:schemeClr val="accent1">
                    <a:lumMod val="60000"/>
                    <a:lumOff val="40000"/>
                  </a:schemeClr>
                </a:solidFill>
                <a:latin typeface="Consolas" panose="020B0609020204030204" pitchFamily="49" charset="0"/>
              </a:rPr>
              <a:t>.ilb i3 i2 i1 i0</a:t>
            </a:r>
          </a:p>
          <a:p>
            <a:r>
              <a:rPr lang="en-US" sz="1200" dirty="0">
                <a:solidFill>
                  <a:schemeClr val="accent1">
                    <a:lumMod val="60000"/>
                    <a:lumOff val="40000"/>
                  </a:schemeClr>
                </a:solidFill>
                <a:latin typeface="Consolas" panose="020B0609020204030204" pitchFamily="49" charset="0"/>
              </a:rPr>
              <a:t>.ob a b c d e f g</a:t>
            </a:r>
          </a:p>
          <a:p>
            <a:r>
              <a:rPr lang="en-US" sz="1200" dirty="0">
                <a:solidFill>
                  <a:schemeClr val="accent1">
                    <a:lumMod val="60000"/>
                    <a:lumOff val="40000"/>
                  </a:schemeClr>
                </a:solidFill>
                <a:latin typeface="Consolas" panose="020B0609020204030204" pitchFamily="49" charset="0"/>
              </a:rPr>
              <a:t>.p 14</a:t>
            </a:r>
          </a:p>
          <a:p>
            <a:r>
              <a:rPr lang="en-US" sz="1200" dirty="0">
                <a:solidFill>
                  <a:schemeClr val="accent1">
                    <a:lumMod val="60000"/>
                    <a:lumOff val="40000"/>
                  </a:schemeClr>
                </a:solidFill>
                <a:latin typeface="Consolas" panose="020B0609020204030204" pitchFamily="49" charset="0"/>
              </a:rPr>
              <a:t>1011 0001100</a:t>
            </a:r>
          </a:p>
          <a:p>
            <a:r>
              <a:rPr lang="en-US" sz="1200" dirty="0">
                <a:solidFill>
                  <a:schemeClr val="accent1">
                    <a:lumMod val="60000"/>
                    <a:lumOff val="40000"/>
                  </a:schemeClr>
                </a:solidFill>
                <a:latin typeface="Consolas" panose="020B0609020204030204" pitchFamily="49" charset="0"/>
              </a:rPr>
              <a:t>100- 1000000</a:t>
            </a:r>
          </a:p>
          <a:p>
            <a:r>
              <a:rPr lang="en-US" sz="1200" dirty="0">
                <a:solidFill>
                  <a:schemeClr val="accent1">
                    <a:lumMod val="60000"/>
                    <a:lumOff val="40000"/>
                  </a:schemeClr>
                </a:solidFill>
                <a:latin typeface="Consolas" panose="020B0609020204030204" pitchFamily="49" charset="0"/>
              </a:rPr>
              <a:t>001- 0001001</a:t>
            </a:r>
          </a:p>
          <a:p>
            <a:r>
              <a:rPr lang="en-US" sz="1200" dirty="0">
                <a:solidFill>
                  <a:schemeClr val="accent1">
                    <a:lumMod val="60000"/>
                    <a:lumOff val="40000"/>
                  </a:schemeClr>
                </a:solidFill>
                <a:latin typeface="Consolas" panose="020B0609020204030204" pitchFamily="49" charset="0"/>
              </a:rPr>
              <a:t>-000 0001010</a:t>
            </a:r>
          </a:p>
          <a:p>
            <a:r>
              <a:rPr lang="en-US" sz="1200" dirty="0">
                <a:solidFill>
                  <a:schemeClr val="accent1">
                    <a:lumMod val="60000"/>
                    <a:lumOff val="40000"/>
                  </a:schemeClr>
                </a:solidFill>
                <a:latin typeface="Consolas" panose="020B0609020204030204" pitchFamily="49" charset="0"/>
              </a:rPr>
              <a:t>0-11 1110000</a:t>
            </a:r>
          </a:p>
          <a:p>
            <a:r>
              <a:rPr lang="en-US" sz="1200" dirty="0">
                <a:solidFill>
                  <a:schemeClr val="accent1">
                    <a:lumMod val="60000"/>
                    <a:lumOff val="40000"/>
                  </a:schemeClr>
                </a:solidFill>
                <a:latin typeface="Consolas" panose="020B0609020204030204" pitchFamily="49" charset="0"/>
              </a:rPr>
              <a:t>0100 0110011</a:t>
            </a:r>
          </a:p>
          <a:p>
            <a:r>
              <a:rPr lang="en-US" sz="1200" dirty="0">
                <a:solidFill>
                  <a:schemeClr val="accent1">
                    <a:lumMod val="60000"/>
                    <a:lumOff val="40000"/>
                  </a:schemeClr>
                </a:solidFill>
                <a:latin typeface="Consolas" panose="020B0609020204030204" pitchFamily="49" charset="0"/>
              </a:rPr>
              <a:t>-00- 0110000</a:t>
            </a:r>
          </a:p>
          <a:p>
            <a:r>
              <a:rPr lang="en-US" sz="1200" dirty="0">
                <a:solidFill>
                  <a:schemeClr val="accent1">
                    <a:lumMod val="60000"/>
                    <a:lumOff val="40000"/>
                  </a:schemeClr>
                </a:solidFill>
                <a:latin typeface="Consolas" panose="020B0609020204030204" pitchFamily="49" charset="0"/>
              </a:rPr>
              <a:t>1101 0111101</a:t>
            </a:r>
          </a:p>
          <a:p>
            <a:r>
              <a:rPr lang="en-US" sz="1200" dirty="0">
                <a:solidFill>
                  <a:schemeClr val="accent1">
                    <a:lumMod val="60000"/>
                    <a:lumOff val="40000"/>
                  </a:schemeClr>
                </a:solidFill>
                <a:latin typeface="Consolas" panose="020B0609020204030204" pitchFamily="49" charset="0"/>
              </a:rPr>
              <a:t>0101 1011011</a:t>
            </a:r>
          </a:p>
          <a:p>
            <a:r>
              <a:rPr lang="en-US" sz="1200" dirty="0">
                <a:solidFill>
                  <a:schemeClr val="accent1">
                    <a:lumMod val="60000"/>
                    <a:lumOff val="40000"/>
                  </a:schemeClr>
                </a:solidFill>
                <a:latin typeface="Consolas" panose="020B0609020204030204" pitchFamily="49" charset="0"/>
              </a:rPr>
              <a:t>-0-0 1100100</a:t>
            </a:r>
          </a:p>
          <a:p>
            <a:r>
              <a:rPr lang="en-US" sz="1200" dirty="0">
                <a:solidFill>
                  <a:schemeClr val="accent1">
                    <a:lumMod val="60000"/>
                    <a:lumOff val="40000"/>
                  </a:schemeClr>
                </a:solidFill>
                <a:latin typeface="Consolas" panose="020B0609020204030204" pitchFamily="49" charset="0"/>
              </a:rPr>
              <a:t>11-0 1001110</a:t>
            </a:r>
          </a:p>
          <a:p>
            <a:r>
              <a:rPr lang="en-US" sz="1200" dirty="0">
                <a:solidFill>
                  <a:schemeClr val="accent1">
                    <a:lumMod val="60000"/>
                    <a:lumOff val="40000"/>
                  </a:schemeClr>
                </a:solidFill>
                <a:latin typeface="Consolas" panose="020B0609020204030204" pitchFamily="49" charset="0"/>
              </a:rPr>
              <a:t>111- 1000111</a:t>
            </a:r>
          </a:p>
          <a:p>
            <a:r>
              <a:rPr lang="en-US" sz="1200" dirty="0">
                <a:solidFill>
                  <a:schemeClr val="accent1">
                    <a:lumMod val="60000"/>
                    <a:lumOff val="40000"/>
                  </a:schemeClr>
                </a:solidFill>
                <a:latin typeface="Consolas" panose="020B0609020204030204" pitchFamily="49" charset="0"/>
              </a:rPr>
              <a:t>10-- 0010011</a:t>
            </a:r>
          </a:p>
          <a:p>
            <a:r>
              <a:rPr lang="en-US" sz="1200" dirty="0">
                <a:solidFill>
                  <a:schemeClr val="accent1">
                    <a:lumMod val="60000"/>
                    <a:lumOff val="40000"/>
                  </a:schemeClr>
                </a:solidFill>
                <a:latin typeface="Consolas" panose="020B0609020204030204" pitchFamily="49" charset="0"/>
              </a:rPr>
              <a:t>0110 1011111</a:t>
            </a:r>
          </a:p>
          <a:p>
            <a:r>
              <a:rPr lang="en-US" sz="1200" dirty="0">
                <a:solidFill>
                  <a:schemeClr val="accent1">
                    <a:lumMod val="60000"/>
                    <a:lumOff val="40000"/>
                  </a:schemeClr>
                </a:solidFill>
                <a:latin typeface="Consolas" panose="020B0609020204030204" pitchFamily="49" charset="0"/>
              </a:rPr>
              <a:t>.e</a:t>
            </a:r>
          </a:p>
        </p:txBody>
      </p:sp>
      <p:sp>
        <p:nvSpPr>
          <p:cNvPr id="9" name="Freccia a destra 8">
            <a:extLst>
              <a:ext uri="{FF2B5EF4-FFF2-40B4-BE49-F238E27FC236}">
                <a16:creationId xmlns:a16="http://schemas.microsoft.com/office/drawing/2014/main" id="{DC9DA353-E547-E341-23F9-A985C5815C17}"/>
              </a:ext>
            </a:extLst>
          </p:cNvPr>
          <p:cNvSpPr/>
          <p:nvPr/>
        </p:nvSpPr>
        <p:spPr>
          <a:xfrm>
            <a:off x="2785778" y="4008455"/>
            <a:ext cx="321230" cy="3127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asellaDiTesto 9">
            <a:extLst>
              <a:ext uri="{FF2B5EF4-FFF2-40B4-BE49-F238E27FC236}">
                <a16:creationId xmlns:a16="http://schemas.microsoft.com/office/drawing/2014/main" id="{3A9F1E8B-40D2-AC6E-E004-8E30E58A9621}"/>
              </a:ext>
            </a:extLst>
          </p:cNvPr>
          <p:cNvSpPr txBox="1"/>
          <p:nvPr/>
        </p:nvSpPr>
        <p:spPr>
          <a:xfrm>
            <a:off x="5701084" y="2168390"/>
            <a:ext cx="5907819" cy="4131900"/>
          </a:xfrm>
          <a:prstGeom prst="rect">
            <a:avLst/>
          </a:prstGeom>
          <a:solidFill>
            <a:schemeClr val="bg1"/>
          </a:solidFill>
          <a:ln w="38100">
            <a:solidFill>
              <a:schemeClr val="accent5">
                <a:lumMod val="75000"/>
              </a:schemeClr>
            </a:solidFill>
          </a:ln>
        </p:spPr>
        <p:txBody>
          <a:bodyPr wrap="square" rtlCol="0">
            <a:spAutoFit/>
          </a:bodyPr>
          <a:lstStyle/>
          <a:p>
            <a:r>
              <a:rPr lang="pt-BR" sz="1050" dirty="0">
                <a:solidFill>
                  <a:schemeClr val="tx1">
                    <a:lumMod val="65000"/>
                  </a:schemeClr>
                </a:solidFill>
                <a:latin typeface="Consolas" panose="020B0609020204030204" pitchFamily="49" charset="0"/>
              </a:rPr>
              <a:t>C:&gt;</a:t>
            </a:r>
            <a:r>
              <a:rPr lang="pt-BR" sz="1050" dirty="0">
                <a:solidFill>
                  <a:schemeClr val="accent4">
                    <a:lumMod val="60000"/>
                    <a:lumOff val="40000"/>
                  </a:schemeClr>
                </a:solidFill>
                <a:latin typeface="Consolas" panose="020B0609020204030204" pitchFamily="49" charset="0"/>
              </a:rPr>
              <a:t>espresso</a:t>
            </a:r>
            <a:r>
              <a:rPr lang="pt-BR" sz="1050" dirty="0">
                <a:solidFill>
                  <a:schemeClr val="accent1">
                    <a:lumMod val="60000"/>
                    <a:lumOff val="40000"/>
                  </a:schemeClr>
                </a:solidFill>
                <a:latin typeface="Consolas" panose="020B0609020204030204" pitchFamily="49" charset="0"/>
              </a:rPr>
              <a:t> </a:t>
            </a:r>
            <a:r>
              <a:rPr lang="pt-BR" sz="1050" dirty="0">
                <a:solidFill>
                  <a:schemeClr val="accent4">
                    <a:lumMod val="60000"/>
                    <a:lumOff val="40000"/>
                  </a:schemeClr>
                </a:solidFill>
                <a:latin typeface="Consolas" panose="020B0609020204030204" pitchFamily="49" charset="0"/>
              </a:rPr>
              <a:t>-o eqntott</a:t>
            </a:r>
            <a:r>
              <a:rPr lang="pt-BR" sz="1050" dirty="0">
                <a:solidFill>
                  <a:schemeClr val="accent1">
                    <a:lumMod val="60000"/>
                    <a:lumOff val="40000"/>
                  </a:schemeClr>
                </a:solidFill>
                <a:latin typeface="Consolas" panose="020B0609020204030204" pitchFamily="49" charset="0"/>
              </a:rPr>
              <a:t> </a:t>
            </a:r>
            <a:r>
              <a:rPr lang="pt-BR" sz="1050" dirty="0">
                <a:solidFill>
                  <a:srgbClr val="FFFF00"/>
                </a:solidFill>
                <a:latin typeface="Consolas" panose="020B0609020204030204" pitchFamily="49" charset="0"/>
              </a:rPr>
              <a:t>7seg.pla</a:t>
            </a:r>
          </a:p>
          <a:p>
            <a:endParaRPr lang="pt-BR"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a = (i3 &amp; !i2 &amp; !i1) | (!i3 &amp; i1 &amp; i0) | (!i3 &amp; i2 &amp;! i1 &amp; i0) | (!i2 &amp; !i0) </a:t>
            </a:r>
          </a:p>
          <a:p>
            <a:r>
              <a:rPr lang="nn-NO" sz="1050" dirty="0">
                <a:solidFill>
                  <a:schemeClr val="accent1">
                    <a:lumMod val="60000"/>
                    <a:lumOff val="40000"/>
                  </a:schemeClr>
                </a:solidFill>
                <a:latin typeface="Consolas" panose="020B0609020204030204" pitchFamily="49" charset="0"/>
              </a:rPr>
              <a:t>  | (i3 &amp; i2 &amp; !i0 ) | (i3 &amp; i2 &amp; i1) | (!i3 &amp; i2 &amp; i1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b = (!i3 &amp; i1 &amp; i0) | (!i3 &amp; i2 &amp; !i1 &amp; !i0) | (!i2 &amp; !i1)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 | (!i2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c = (!i3 &amp; i1 &amp; i0) | (!i3 &amp; i2 &amp; !i1 &amp; !i0) | (!i2 &amp; !i1)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 | (!i3 &amp; i2 &amp; !i1 &amp; i0) | (i3 &amp;! i2)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d = (i3 &amp; !i2 &amp;i1 &amp; i0) | (!i3 &amp; !i2 &amp; i1) | (!i2 &amp; !i1 &amp; !i0)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 | (!i3 &amp; i2 &amp; !i1 &amp; i0 ) | (i3&amp;i2&amp;!i0)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e = (i3 &amp; !i2 &amp; i1 &amp; i0) | (i3 &amp; i2 &amp; !i1 &amp; i0) | (!i2 &amp; !i0)</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!i0) | (i3 &amp; i2 &amp; i1) | (!i3 &amp; i2 &amp; i1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f = (!i2 &amp; !i1 &amp; !i0) | (!i3 &amp; i2 &amp; !i1 &amp; !i0) | (!i3 &amp; i2 &amp; !i1 &amp; i0) </a:t>
            </a:r>
          </a:p>
          <a:p>
            <a:r>
              <a:rPr lang="nn-NO" sz="1050" dirty="0">
                <a:solidFill>
                  <a:schemeClr val="accent1">
                    <a:lumMod val="60000"/>
                    <a:lumOff val="40000"/>
                  </a:schemeClr>
                </a:solidFill>
                <a:latin typeface="Consolas" panose="020B0609020204030204" pitchFamily="49" charset="0"/>
              </a:rPr>
              <a:t>  | (i3 &amp; i2 &amp; !i0) | (i3 &amp; i2 &amp; i1) | (i3 &amp; !i2) | (!i3 &amp; i2 &amp; i1 &amp; !i0);</a:t>
            </a:r>
          </a:p>
          <a:p>
            <a:endParaRPr lang="nn-NO" sz="1050" dirty="0">
              <a:solidFill>
                <a:schemeClr val="accent1">
                  <a:lumMod val="60000"/>
                  <a:lumOff val="40000"/>
                </a:schemeClr>
              </a:solidFill>
              <a:latin typeface="Consolas" panose="020B0609020204030204" pitchFamily="49" charset="0"/>
            </a:endParaRPr>
          </a:p>
          <a:p>
            <a:r>
              <a:rPr lang="nn-NO" sz="1050" dirty="0">
                <a:solidFill>
                  <a:schemeClr val="accent1">
                    <a:lumMod val="60000"/>
                    <a:lumOff val="40000"/>
                  </a:schemeClr>
                </a:solidFill>
                <a:latin typeface="Consolas" panose="020B0609020204030204" pitchFamily="49" charset="0"/>
              </a:rPr>
              <a:t>g = (!i3 &amp; !i2 &amp; i1) | (!i3 &amp; i2 &amp; !i1 &amp; !i0) | (i3 &amp; i2 &amp; !i1 &amp; i0)</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 | (i3 &amp; i2 &amp; i1) | (i3 &amp; !i2) </a:t>
            </a:r>
            <a:br>
              <a:rPr lang="nn-NO" sz="1050" dirty="0">
                <a:solidFill>
                  <a:schemeClr val="accent1">
                    <a:lumMod val="60000"/>
                    <a:lumOff val="40000"/>
                  </a:schemeClr>
                </a:solidFill>
                <a:latin typeface="Consolas" panose="020B0609020204030204" pitchFamily="49" charset="0"/>
              </a:rPr>
            </a:br>
            <a:r>
              <a:rPr lang="nn-NO" sz="1050" dirty="0">
                <a:solidFill>
                  <a:schemeClr val="accent1">
                    <a:lumMod val="60000"/>
                    <a:lumOff val="40000"/>
                  </a:schemeClr>
                </a:solidFill>
                <a:latin typeface="Consolas" panose="020B0609020204030204" pitchFamily="49" charset="0"/>
              </a:rPr>
              <a:t>  | (!i3 &amp; i2 &amp; i1 &amp; !i0);</a:t>
            </a:r>
            <a:endParaRPr lang="en-US" sz="1050" dirty="0">
              <a:solidFill>
                <a:schemeClr val="accent1">
                  <a:lumMod val="60000"/>
                  <a:lumOff val="40000"/>
                </a:schemeClr>
              </a:solidFill>
              <a:latin typeface="Consolas" panose="020B0609020204030204" pitchFamily="49" charset="0"/>
            </a:endParaRPr>
          </a:p>
        </p:txBody>
      </p:sp>
      <p:sp>
        <p:nvSpPr>
          <p:cNvPr id="2" name="Titolo 1">
            <a:extLst>
              <a:ext uri="{FF2B5EF4-FFF2-40B4-BE49-F238E27FC236}">
                <a16:creationId xmlns:a16="http://schemas.microsoft.com/office/drawing/2014/main" id="{4026AD8F-2C59-4479-6585-6EC313AC721C}"/>
              </a:ext>
            </a:extLst>
          </p:cNvPr>
          <p:cNvSpPr>
            <a:spLocks noGrp="1"/>
          </p:cNvSpPr>
          <p:nvPr>
            <p:ph type="title"/>
          </p:nvPr>
        </p:nvSpPr>
        <p:spPr>
          <a:xfrm>
            <a:off x="1141413" y="618518"/>
            <a:ext cx="9905998" cy="984039"/>
          </a:xfrm>
        </p:spPr>
        <p:txBody>
          <a:bodyPr/>
          <a:lstStyle/>
          <a:p>
            <a:r>
              <a:rPr lang="en-US" dirty="0"/>
              <a:t>why ESPRESSO?</a:t>
            </a:r>
          </a:p>
        </p:txBody>
      </p:sp>
    </p:spTree>
    <p:extLst>
      <p:ext uri="{BB962C8B-B14F-4D97-AF65-F5344CB8AC3E}">
        <p14:creationId xmlns:p14="http://schemas.microsoft.com/office/powerpoint/2010/main" val="1297711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2FC9D1-DF6C-C25D-83FF-3223339411FB}"/>
              </a:ext>
            </a:extLst>
          </p:cNvPr>
          <p:cNvSpPr>
            <a:spLocks noGrp="1"/>
          </p:cNvSpPr>
          <p:nvPr>
            <p:ph type="title"/>
          </p:nvPr>
        </p:nvSpPr>
        <p:spPr>
          <a:xfrm>
            <a:off x="1141413" y="618518"/>
            <a:ext cx="9905998" cy="1226185"/>
          </a:xfrm>
        </p:spPr>
        <p:txBody>
          <a:bodyPr/>
          <a:lstStyle/>
          <a:p>
            <a:r>
              <a:rPr lang="en-US" dirty="0"/>
              <a:t>ASICs (1)</a:t>
            </a:r>
          </a:p>
        </p:txBody>
      </p:sp>
      <p:sp>
        <p:nvSpPr>
          <p:cNvPr id="3" name="Segnaposto contenuto 2">
            <a:extLst>
              <a:ext uri="{FF2B5EF4-FFF2-40B4-BE49-F238E27FC236}">
                <a16:creationId xmlns:a16="http://schemas.microsoft.com/office/drawing/2014/main" id="{7312F6ED-A11A-AA04-4950-E2A7F928D849}"/>
              </a:ext>
            </a:extLst>
          </p:cNvPr>
          <p:cNvSpPr>
            <a:spLocks noGrp="1"/>
          </p:cNvSpPr>
          <p:nvPr>
            <p:ph idx="1"/>
          </p:nvPr>
        </p:nvSpPr>
        <p:spPr>
          <a:xfrm>
            <a:off x="1141412" y="1924216"/>
            <a:ext cx="9905999" cy="3760148"/>
          </a:xfrm>
        </p:spPr>
        <p:txBody>
          <a:bodyPr>
            <a:normAutofit lnSpcReduction="10000"/>
          </a:bodyPr>
          <a:lstStyle/>
          <a:p>
            <a:r>
              <a:rPr lang="en-US" dirty="0"/>
              <a:t>ASIC is the acronym of Application Specific Integrated Circuit.</a:t>
            </a:r>
          </a:p>
          <a:p>
            <a:r>
              <a:rPr lang="en-US" dirty="0"/>
              <a:t>In the field of digital logic, these are devices designed specifically to optimize, in terms of speed and efficiency, a specific computation or processing task.</a:t>
            </a:r>
          </a:p>
          <a:p>
            <a:r>
              <a:rPr lang="en-US" dirty="0"/>
              <a:t>These devices are historically developed by semiconductor companies on commission from the customer, or by the customer itself with very significant support from the manufacturer.</a:t>
            </a:r>
          </a:p>
          <a:p>
            <a:r>
              <a:rPr lang="en-US" dirty="0"/>
              <a:t>Designing an ASIC is usually a long and expensive process.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2156121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2FC9D1-DF6C-C25D-83FF-3223339411FB}"/>
              </a:ext>
            </a:extLst>
          </p:cNvPr>
          <p:cNvSpPr>
            <a:spLocks noGrp="1"/>
          </p:cNvSpPr>
          <p:nvPr>
            <p:ph type="title"/>
          </p:nvPr>
        </p:nvSpPr>
        <p:spPr>
          <a:xfrm>
            <a:off x="1141413" y="618518"/>
            <a:ext cx="9905998" cy="1226185"/>
          </a:xfrm>
        </p:spPr>
        <p:txBody>
          <a:bodyPr/>
          <a:lstStyle/>
          <a:p>
            <a:r>
              <a:rPr lang="en-US" dirty="0"/>
              <a:t>ASICs (2)</a:t>
            </a:r>
          </a:p>
        </p:txBody>
      </p:sp>
      <p:sp>
        <p:nvSpPr>
          <p:cNvPr id="3" name="Segnaposto contenuto 2">
            <a:extLst>
              <a:ext uri="{FF2B5EF4-FFF2-40B4-BE49-F238E27FC236}">
                <a16:creationId xmlns:a16="http://schemas.microsoft.com/office/drawing/2014/main" id="{7312F6ED-A11A-AA04-4950-E2A7F928D849}"/>
              </a:ext>
            </a:extLst>
          </p:cNvPr>
          <p:cNvSpPr>
            <a:spLocks noGrp="1"/>
          </p:cNvSpPr>
          <p:nvPr>
            <p:ph idx="1"/>
          </p:nvPr>
        </p:nvSpPr>
        <p:spPr>
          <a:xfrm>
            <a:off x="1141412" y="1924215"/>
            <a:ext cx="9905999" cy="4240915"/>
          </a:xfrm>
        </p:spPr>
        <p:txBody>
          <a:bodyPr>
            <a:normAutofit fontScale="92500"/>
          </a:bodyPr>
          <a:lstStyle/>
          <a:p>
            <a:r>
              <a:rPr lang="en-US" dirty="0"/>
              <a:t>ASICs minimize the cost of the final product and are therefore justified only by very large production volumes.</a:t>
            </a:r>
          </a:p>
          <a:p>
            <a:r>
              <a:rPr lang="en-US" dirty="0"/>
              <a:t>When the ASIC implements functions generic enough to be used in several products or by several customers, we speak of an ASSP (Application Specific Standard Product/Part). Because they are used in several designs, ASSPs help reduce the "non-recurring engineering costs" (NRE cost) in the development cycle.</a:t>
            </a:r>
          </a:p>
          <a:p>
            <a:r>
              <a:rPr lang="en-US" dirty="0"/>
              <a:t>The impossibility of resorting every time to completely custom solutions (ASICs) or to specific standard functions (ASSPs) led semiconductor companies to develop the so-called </a:t>
            </a:r>
            <a:r>
              <a:rPr lang="en-US" u="sng" dirty="0"/>
              <a:t>Programmable Logic</a:t>
            </a: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194330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2FC9D1-DF6C-C25D-83FF-3223339411FB}"/>
              </a:ext>
            </a:extLst>
          </p:cNvPr>
          <p:cNvSpPr>
            <a:spLocks noGrp="1"/>
          </p:cNvSpPr>
          <p:nvPr>
            <p:ph type="title"/>
          </p:nvPr>
        </p:nvSpPr>
        <p:spPr>
          <a:xfrm>
            <a:off x="1143001" y="481359"/>
            <a:ext cx="9905998" cy="926818"/>
          </a:xfrm>
        </p:spPr>
        <p:txBody>
          <a:bodyPr/>
          <a:lstStyle/>
          <a:p>
            <a:r>
              <a:rPr lang="en-US" dirty="0"/>
              <a:t>PROGRAMMABLE LOGIC (PLD)</a:t>
            </a:r>
          </a:p>
        </p:txBody>
      </p:sp>
      <p:sp>
        <p:nvSpPr>
          <p:cNvPr id="3" name="Segnaposto contenuto 2">
            <a:extLst>
              <a:ext uri="{FF2B5EF4-FFF2-40B4-BE49-F238E27FC236}">
                <a16:creationId xmlns:a16="http://schemas.microsoft.com/office/drawing/2014/main" id="{7312F6ED-A11A-AA04-4950-E2A7F928D849}"/>
              </a:ext>
            </a:extLst>
          </p:cNvPr>
          <p:cNvSpPr>
            <a:spLocks noGrp="1"/>
          </p:cNvSpPr>
          <p:nvPr>
            <p:ph idx="1"/>
          </p:nvPr>
        </p:nvSpPr>
        <p:spPr>
          <a:xfrm>
            <a:off x="1141412" y="1673353"/>
            <a:ext cx="9905999" cy="5102351"/>
          </a:xfrm>
        </p:spPr>
        <p:txBody>
          <a:bodyPr>
            <a:normAutofit fontScale="92500" lnSpcReduction="20000"/>
          </a:bodyPr>
          <a:lstStyle/>
          <a:p>
            <a:r>
              <a:rPr lang="en-US" dirty="0"/>
              <a:t>Programmable Logic Devices (PLDs) are devices whose internal architecture is predefined by the manufacturer.</a:t>
            </a:r>
          </a:p>
          <a:p>
            <a:r>
              <a:rPr lang="en-US" dirty="0"/>
              <a:t>Compared with ASICs, PLDs have the advantage of greatly reduced development costs and times, and of not requiring large minimum quantities of parts to be ordered from the manufacturer.</a:t>
            </a:r>
          </a:p>
          <a:p>
            <a:r>
              <a:rPr lang="en-US" dirty="0"/>
              <a:t>PLD technology has evolved in step with the manufacturing of other types of chips, following their evolution in terms of integration density as well.</a:t>
            </a:r>
          </a:p>
          <a:p>
            <a:r>
              <a:rPr lang="en-US" dirty="0"/>
              <a:t>In the early days of the technology, PLDs existed with SSI (Small Scale Integration) levels of integration, which implemented fairly limited functionality. Ever higher densities were then adopted, such as MSI (Medium Scale Integration), LSI (Large Scale Integration) and then VLSI (Very Large Scale Integration). The latter is used in modern programmable logic. The largest modern user-programmable PLDs can easily host over 100 million simple logic functions (called gates).</a:t>
            </a:r>
          </a:p>
          <a:p>
            <a:pPr marL="0" indent="0">
              <a:buNone/>
            </a:pPr>
            <a:endParaRPr lang="en-US" dirty="0"/>
          </a:p>
        </p:txBody>
      </p:sp>
    </p:spTree>
    <p:extLst>
      <p:ext uri="{BB962C8B-B14F-4D97-AF65-F5344CB8AC3E}">
        <p14:creationId xmlns:p14="http://schemas.microsoft.com/office/powerpoint/2010/main" val="2721721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9E7CB66-2E56-121C-EC40-E49C8684B6CE}"/>
              </a:ext>
            </a:extLst>
          </p:cNvPr>
          <p:cNvSpPr>
            <a:spLocks noGrp="1"/>
          </p:cNvSpPr>
          <p:nvPr>
            <p:ph type="title"/>
          </p:nvPr>
        </p:nvSpPr>
        <p:spPr>
          <a:xfrm>
            <a:off x="1029444" y="618518"/>
            <a:ext cx="9905998" cy="771370"/>
          </a:xfrm>
        </p:spPr>
        <p:txBody>
          <a:bodyPr/>
          <a:lstStyle/>
          <a:p>
            <a:r>
              <a:rPr lang="en-US" dirty="0"/>
              <a:t>TAXONOMY OF PROGRAMMABLE LOGIC (1)</a:t>
            </a:r>
          </a:p>
        </p:txBody>
      </p:sp>
      <p:sp>
        <p:nvSpPr>
          <p:cNvPr id="6" name="Segnaposto contenuto 5">
            <a:extLst>
              <a:ext uri="{FF2B5EF4-FFF2-40B4-BE49-F238E27FC236}">
                <a16:creationId xmlns:a16="http://schemas.microsoft.com/office/drawing/2014/main" id="{58A696AF-EBE5-E98C-B715-B806F235398B}"/>
              </a:ext>
            </a:extLst>
          </p:cNvPr>
          <p:cNvSpPr>
            <a:spLocks noGrp="1"/>
          </p:cNvSpPr>
          <p:nvPr>
            <p:ph idx="1"/>
          </p:nvPr>
        </p:nvSpPr>
        <p:spPr>
          <a:xfrm>
            <a:off x="947148" y="1691640"/>
            <a:ext cx="4237500" cy="4910327"/>
          </a:xfrm>
        </p:spPr>
        <p:txBody>
          <a:bodyPr>
            <a:normAutofit fontScale="62500" lnSpcReduction="20000"/>
          </a:bodyPr>
          <a:lstStyle/>
          <a:p>
            <a:pPr marL="0" indent="0">
              <a:buNone/>
            </a:pPr>
            <a:r>
              <a:rPr lang="en-US" dirty="0"/>
              <a:t>Programmable logic can be divided into:</a:t>
            </a:r>
          </a:p>
          <a:p>
            <a:r>
              <a:rPr lang="en-US" dirty="0"/>
              <a:t>"Field" programmable logic (FPDs, Field Programmable Devices), i.e. programmable on the production line only the first time, or programmable/updatable when already mounted on the printed circuit board (PCB).</a:t>
            </a:r>
          </a:p>
          <a:p>
            <a:r>
              <a:rPr lang="en-US" dirty="0"/>
              <a:t>Logic pre-programmed by the manufacturer (Factory Programmable Devices). In general these are "Gate Arrays", i.e. devices with many logic functions that lack only the interconnections (the metallizations). They are logic to consider when the required production volumes are significant but not large enough to justify the development cost of a true ASIC. During prototyping the customer uses an FPD, then asks the manufacturer for equivalent devices pre-programmed to their specification.</a:t>
            </a:r>
          </a:p>
        </p:txBody>
      </p:sp>
      <p:pic>
        <p:nvPicPr>
          <p:cNvPr id="7" name="Segnaposto contenuto 4">
            <a:extLst>
              <a:ext uri="{FF2B5EF4-FFF2-40B4-BE49-F238E27FC236}">
                <a16:creationId xmlns:a16="http://schemas.microsoft.com/office/drawing/2014/main" id="{368776CC-D9ED-F634-8329-3287016437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76088" y="1773330"/>
            <a:ext cx="6616518" cy="3694781"/>
          </a:xfrm>
          <a:prstGeom prst="rect">
            <a:avLst/>
          </a:prstGeom>
        </p:spPr>
      </p:pic>
    </p:spTree>
    <p:extLst>
      <p:ext uri="{BB962C8B-B14F-4D97-AF65-F5344CB8AC3E}">
        <p14:creationId xmlns:p14="http://schemas.microsoft.com/office/powerpoint/2010/main" val="20596845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120D7C-8CFD-9222-C1E0-FDB5DB1EEFB6}"/>
              </a:ext>
            </a:extLst>
          </p:cNvPr>
          <p:cNvSpPr>
            <a:spLocks noGrp="1"/>
          </p:cNvSpPr>
          <p:nvPr>
            <p:ph type="title"/>
          </p:nvPr>
        </p:nvSpPr>
        <p:spPr>
          <a:xfrm>
            <a:off x="1141413" y="289334"/>
            <a:ext cx="9905998" cy="1478570"/>
          </a:xfrm>
        </p:spPr>
        <p:txBody>
          <a:bodyPr/>
          <a:lstStyle/>
          <a:p>
            <a:r>
              <a:rPr lang="en-US" dirty="0"/>
              <a:t>FIELD PROGRAMMABLE LOGIC (1)</a:t>
            </a:r>
          </a:p>
        </p:txBody>
      </p:sp>
      <p:pic>
        <p:nvPicPr>
          <p:cNvPr id="5" name="Segnaposto contenuto 4">
            <a:extLst>
              <a:ext uri="{FF2B5EF4-FFF2-40B4-BE49-F238E27FC236}">
                <a16:creationId xmlns:a16="http://schemas.microsoft.com/office/drawing/2014/main" id="{950FB3E0-1228-68A5-10FD-5B889BFDD195}"/>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8497926" y="1924215"/>
            <a:ext cx="3141547" cy="4231711"/>
          </a:xfrm>
        </p:spPr>
      </p:pic>
      <p:sp>
        <p:nvSpPr>
          <p:cNvPr id="3" name="Segnaposto contenuto 2">
            <a:extLst>
              <a:ext uri="{FF2B5EF4-FFF2-40B4-BE49-F238E27FC236}">
                <a16:creationId xmlns:a16="http://schemas.microsoft.com/office/drawing/2014/main" id="{3558966A-8608-5F7B-63B5-79A7F6E337BD}"/>
              </a:ext>
            </a:extLst>
          </p:cNvPr>
          <p:cNvSpPr txBox="1">
            <a:spLocks/>
          </p:cNvSpPr>
          <p:nvPr/>
        </p:nvSpPr>
        <p:spPr>
          <a:xfrm>
            <a:off x="1141413" y="1595031"/>
            <a:ext cx="7280212" cy="493378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t>SPLD: Simple Programmable Logic Devices</a:t>
            </a:r>
          </a:p>
          <a:p>
            <a:pPr marL="457200" lvl="1" indent="0">
              <a:buNone/>
            </a:pPr>
            <a:r>
              <a:rPr lang="en-US" dirty="0"/>
              <a:t>This group includes devices that can be programmed only once (OTP, One Time Programmable): PROMs (Programmable Read Only Memory), PLAs (Programmable Logic Array) and PALs (Programmable Array Logic). More modern, reprogrammable versions of PALs also exist: the best known are GAL and PALCE.</a:t>
            </a:r>
          </a:p>
          <a:p>
            <a:pPr marL="0" indent="0">
              <a:buNone/>
            </a:pPr>
            <a:r>
              <a:rPr lang="en-US" dirty="0"/>
              <a:t>CPLD</a:t>
            </a:r>
          </a:p>
          <a:p>
            <a:pPr marL="457200" lvl="1" indent="0">
              <a:buNone/>
            </a:pPr>
            <a:r>
              <a:rPr lang="en-US" dirty="0"/>
              <a:t>That is, Complex Programmable Logic Devices. These are devices that host several interconnected macro-blocks implementing the disjunctive normal form (SP canonical form), similar to erasable PALs.</a:t>
            </a:r>
          </a:p>
        </p:txBody>
      </p:sp>
    </p:spTree>
    <p:extLst>
      <p:ext uri="{BB962C8B-B14F-4D97-AF65-F5344CB8AC3E}">
        <p14:creationId xmlns:p14="http://schemas.microsoft.com/office/powerpoint/2010/main" val="4477073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120D7C-8CFD-9222-C1E0-FDB5DB1EEFB6}"/>
              </a:ext>
            </a:extLst>
          </p:cNvPr>
          <p:cNvSpPr>
            <a:spLocks noGrp="1"/>
          </p:cNvSpPr>
          <p:nvPr>
            <p:ph type="title"/>
          </p:nvPr>
        </p:nvSpPr>
        <p:spPr>
          <a:xfrm>
            <a:off x="1141413" y="289334"/>
            <a:ext cx="9905998" cy="1478570"/>
          </a:xfrm>
        </p:spPr>
        <p:txBody>
          <a:bodyPr/>
          <a:lstStyle/>
          <a:p>
            <a:r>
              <a:rPr lang="en-US" dirty="0"/>
              <a:t>FIELD PROGRAMMABLE LOGIC (2)</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3558966A-8608-5F7B-63B5-79A7F6E337BD}"/>
                  </a:ext>
                </a:extLst>
              </p:cNvPr>
              <p:cNvSpPr txBox="1">
                <a:spLocks/>
              </p:cNvSpPr>
              <p:nvPr/>
            </p:nvSpPr>
            <p:spPr>
              <a:xfrm>
                <a:off x="1141413" y="1595031"/>
                <a:ext cx="7280212" cy="493378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t>FPGA: Field Programmable Gate Array</a:t>
                </a:r>
              </a:p>
              <a:p>
                <a:pPr marL="457200" lvl="1" indent="0">
                  <a:buNone/>
                </a:pPr>
                <a:r>
                  <a:rPr lang="en-US" dirty="0"/>
                  <a:t>As the name itself suggests, these are programmable Gate Arrays. There are three types:</a:t>
                </a:r>
              </a:p>
              <a:p>
                <a:pPr lvl="1">
                  <a:buFont typeface="Tw Cen MT" panose="020B0602020104020603" pitchFamily="34" charset="0"/>
                  <a:buChar char="–"/>
                </a:pPr>
                <a:r>
                  <a:rPr lang="en-US" dirty="0"/>
                  <a:t>Antifuse: the connections between metallizations are made using a tiny segment of amorphous (non-crystalline) silicon that normally exhibits a very high resistance (</a:t>
                </a:r>
                <a14:m>
                  <m:oMath xmlns:m="http://schemas.openxmlformats.org/officeDocument/2006/math">
                    <m:r>
                      <a:rPr lang="pt-BR" i="1" smtClean="0">
                        <a:latin typeface="Cambria Math" panose="02040503050406030204" pitchFamily="18" charset="0"/>
                        <a:ea typeface="Cambria Math" panose="02040503050406030204" pitchFamily="18" charset="0"/>
                      </a:rPr>
                      <m:t>&gt;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6</m:t>
                        </m:r>
                      </m:sup>
                    </m:sSup>
                    <m:r>
                      <m:rPr>
                        <m:nor/>
                      </m:rPr>
                      <a:rPr lang="en-US" b="0" i="0" smtClean="0">
                        <a:latin typeface="Cambria Math" panose="02040503050406030204" pitchFamily="18" charset="0"/>
                        <a:ea typeface="Cambria Math" panose="02040503050406030204" pitchFamily="18" charset="0"/>
                      </a:rPr>
                      <m:t> </m:t>
                    </m:r>
                    <m:r>
                      <m:rPr>
                        <m:nor/>
                      </m:rPr>
                      <a:rPr lang="el-GR" i="0" dirty="0"/>
                      <m:t>Ω</m:t>
                    </m:r>
                  </m:oMath>
                </a14:m>
                <a:r>
                  <a:rPr lang="en-US" dirty="0"/>
                  <a:t>). As soon as appropriate voltages and currents are applied, the amorphous silicon converts into conductive polycrystalline silicon.</a:t>
                </a:r>
                <a:endParaRPr lang="pt-BR" dirty="0"/>
              </a:p>
              <a:p>
                <a:pPr lvl="1">
                  <a:buFont typeface="Tw Cen MT" panose="020B0602020104020603" pitchFamily="34" charset="0"/>
                  <a:buChar char="–"/>
                </a:pPr>
                <a:r>
                  <a:rPr lang="pt-BR" dirty="0"/>
                  <a:t>Static RAM: once a configuration is loaded, the RAM bits drive transistors that act as switches connecting the metallizations and configure the LUTs (LookUp Tables).</a:t>
                </a:r>
              </a:p>
              <a:p>
                <a:pPr lvl="1">
                  <a:buFont typeface="Tw Cen MT" panose="020B0602020104020603" pitchFamily="34" charset="0"/>
                  <a:buChar char="–"/>
                </a:pPr>
                <a:r>
                  <a:rPr lang="pt-BR" dirty="0"/>
                  <a:t>FLASH/EPROM: like the static RAM versions, the non-volatile memory bits are used to enable the connections between the metallizations and to configure the LUTs.</a:t>
                </a:r>
                <a:endParaRPr lang="en-US" dirty="0"/>
              </a:p>
            </p:txBody>
          </p:sp>
        </mc:Choice>
        <mc:Fallback xmlns="">
          <p:sp>
            <p:nvSpPr>
              <p:cNvPr id="3" name="Segnaposto contenuto 2">
                <a:extLst>
                  <a:ext uri="{FF2B5EF4-FFF2-40B4-BE49-F238E27FC236}">
                    <a16:creationId xmlns:a16="http://schemas.microsoft.com/office/drawing/2014/main" id="{3558966A-8608-5F7B-63B5-79A7F6E337BD}"/>
                  </a:ext>
                </a:extLst>
              </p:cNvPr>
              <p:cNvSpPr txBox="1">
                <a:spLocks noRot="1" noChangeAspect="1" noMove="1" noResize="1" noEditPoints="1" noAdjustHandles="1" noChangeArrowheads="1" noChangeShapeType="1" noTextEdit="1"/>
              </p:cNvSpPr>
              <p:nvPr/>
            </p:nvSpPr>
            <p:spPr>
              <a:xfrm>
                <a:off x="1141413" y="1595031"/>
                <a:ext cx="7280212" cy="4933785"/>
              </a:xfrm>
              <a:prstGeom prst="rect">
                <a:avLst/>
              </a:prstGeom>
              <a:blipFill>
                <a:blip r:embed="rId2"/>
                <a:stretch>
                  <a:fillRect l="-1088" t="-618" r="-335" b="-124"/>
                </a:stretch>
              </a:blipFill>
            </p:spPr>
            <p:txBody>
              <a:bodyPr/>
              <a:lstStyle/>
              <a:p>
                <a:r>
                  <a:rPr lang="en-US">
                    <a:noFill/>
                  </a:rPr>
                  <a:t> </a:t>
                </a:r>
              </a:p>
            </p:txBody>
          </p:sp>
        </mc:Fallback>
      </mc:AlternateContent>
      <p:pic>
        <p:nvPicPr>
          <p:cNvPr id="7" name="Segnaposto contenuto 4">
            <a:extLst>
              <a:ext uri="{FF2B5EF4-FFF2-40B4-BE49-F238E27FC236}">
                <a16:creationId xmlns:a16="http://schemas.microsoft.com/office/drawing/2014/main" id="{B78676E9-0B60-3114-6E6B-9526B1A050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97926" y="1924215"/>
            <a:ext cx="3141547" cy="4231711"/>
          </a:xfrm>
          <a:prstGeom prst="rect">
            <a:avLst/>
          </a:prstGeom>
        </p:spPr>
      </p:pic>
    </p:spTree>
    <p:extLst>
      <p:ext uri="{BB962C8B-B14F-4D97-AF65-F5344CB8AC3E}">
        <p14:creationId xmlns:p14="http://schemas.microsoft.com/office/powerpoint/2010/main" val="23873243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C4F0F-650B-D1F2-637A-7397B4906A1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EA815FE-528B-4B7C-F44B-DCFBBF113A61}"/>
              </a:ext>
            </a:extLst>
          </p:cNvPr>
          <p:cNvSpPr>
            <a:spLocks noGrp="1"/>
          </p:cNvSpPr>
          <p:nvPr>
            <p:ph type="title"/>
          </p:nvPr>
        </p:nvSpPr>
        <p:spPr>
          <a:xfrm>
            <a:off x="1141412" y="618518"/>
            <a:ext cx="10221001" cy="1478570"/>
          </a:xfrm>
        </p:spPr>
        <p:txBody>
          <a:bodyPr/>
          <a:lstStyle/>
          <a:p>
            <a:r>
              <a:rPr lang="en-US" dirty="0"/>
              <a:t>CLASSIC DEVICES IMPLEMENTING THE</a:t>
            </a:r>
            <a:br>
              <a:rPr lang="en-US" dirty="0"/>
            </a:br>
            <a:r>
              <a:rPr lang="en-US" dirty="0"/>
              <a:t>SOP CANONICAL FORMS (SSI)</a:t>
            </a:r>
          </a:p>
        </p:txBody>
      </p:sp>
      <p:sp>
        <p:nvSpPr>
          <p:cNvPr id="3" name="Segnaposto contenuto 2">
            <a:extLst>
              <a:ext uri="{FF2B5EF4-FFF2-40B4-BE49-F238E27FC236}">
                <a16:creationId xmlns:a16="http://schemas.microsoft.com/office/drawing/2014/main" id="{F7E9B900-4638-6ECB-9016-F005C3D02FE8}"/>
              </a:ext>
            </a:extLst>
          </p:cNvPr>
          <p:cNvSpPr>
            <a:spLocks noGrp="1"/>
          </p:cNvSpPr>
          <p:nvPr>
            <p:ph idx="1"/>
          </p:nvPr>
        </p:nvSpPr>
        <p:spPr>
          <a:xfrm>
            <a:off x="1141412" y="2249486"/>
            <a:ext cx="6102226" cy="3989995"/>
          </a:xfrm>
        </p:spPr>
        <p:txBody>
          <a:bodyPr>
            <a:normAutofit fontScale="85000" lnSpcReduction="20000"/>
          </a:bodyPr>
          <a:lstStyle/>
          <a:p>
            <a:r>
              <a:rPr lang="en-US" dirty="0"/>
              <a:t>ROM: Read Only Memory</a:t>
            </a:r>
          </a:p>
          <a:p>
            <a:pPr marL="457200" lvl="1" indent="0">
              <a:buNone/>
            </a:pPr>
            <a:r>
              <a:rPr lang="en-US" dirty="0"/>
              <a:t>They have an output pattern predetermined by the manufacturer.</a:t>
            </a:r>
          </a:p>
          <a:p>
            <a:r>
              <a:rPr lang="en-US" dirty="0"/>
              <a:t>PROM: Programmable Read Only Memory</a:t>
            </a:r>
          </a:p>
          <a:p>
            <a:pPr marL="457200" lvl="1" indent="0">
              <a:buNone/>
            </a:pPr>
            <a:r>
              <a:rPr lang="en-US" dirty="0"/>
              <a:t>Only the OR plane is programmable.</a:t>
            </a:r>
          </a:p>
          <a:p>
            <a:r>
              <a:rPr lang="en-US" dirty="0"/>
              <a:t>PAL: Programmable Array Logic</a:t>
            </a:r>
          </a:p>
          <a:p>
            <a:pPr marL="457200" lvl="1" indent="0">
              <a:buNone/>
            </a:pPr>
            <a:r>
              <a:rPr lang="en-US" dirty="0"/>
              <a:t>The AND plane is programmable and the OR plane is predetermined by the manufacturer. They implement only SP forms (sums of products or sums of minterms).</a:t>
            </a:r>
          </a:p>
          <a:p>
            <a:r>
              <a:rPr lang="en-US" dirty="0"/>
              <a:t>PLA: Programmable Logic Array</a:t>
            </a:r>
          </a:p>
          <a:p>
            <a:pPr marL="457200" lvl="1" indent="0">
              <a:buNone/>
            </a:pPr>
            <a:r>
              <a:rPr lang="en-US" dirty="0"/>
              <a:t>Both planes (AND and OR) are programmable.</a:t>
            </a:r>
          </a:p>
        </p:txBody>
      </p:sp>
      <p:pic>
        <p:nvPicPr>
          <p:cNvPr id="10" name="Immagine 9">
            <a:extLst>
              <a:ext uri="{FF2B5EF4-FFF2-40B4-BE49-F238E27FC236}">
                <a16:creationId xmlns:a16="http://schemas.microsoft.com/office/drawing/2014/main" id="{F0BCDA21-9AEE-989E-0C40-AE882F0A05D0}"/>
              </a:ext>
            </a:extLst>
          </p:cNvPr>
          <p:cNvPicPr>
            <a:picLocks noChangeAspect="1"/>
          </p:cNvPicPr>
          <p:nvPr/>
        </p:nvPicPr>
        <p:blipFill>
          <a:blip r:embed="rId2"/>
          <a:stretch>
            <a:fillRect/>
          </a:stretch>
        </p:blipFill>
        <p:spPr>
          <a:xfrm>
            <a:off x="7381317" y="1663143"/>
            <a:ext cx="3667125" cy="4429125"/>
          </a:xfrm>
          <a:prstGeom prst="rect">
            <a:avLst/>
          </a:prstGeom>
        </p:spPr>
      </p:pic>
      <p:sp>
        <p:nvSpPr>
          <p:cNvPr id="12" name="Rettangolo 11">
            <a:extLst>
              <a:ext uri="{FF2B5EF4-FFF2-40B4-BE49-F238E27FC236}">
                <a16:creationId xmlns:a16="http://schemas.microsoft.com/office/drawing/2014/main" id="{90F67AF8-9654-A85A-7C5D-9628A56D24DF}"/>
              </a:ext>
            </a:extLst>
          </p:cNvPr>
          <p:cNvSpPr/>
          <p:nvPr/>
        </p:nvSpPr>
        <p:spPr>
          <a:xfrm>
            <a:off x="7381317" y="1663143"/>
            <a:ext cx="3667125" cy="4429124"/>
          </a:xfrm>
          <a:prstGeom prst="rect">
            <a:avLst/>
          </a:prstGeom>
          <a:noFill/>
          <a:ln w="19050">
            <a:solidFill>
              <a:schemeClr val="bg1">
                <a:lumMod val="95000"/>
                <a:lumOff val="5000"/>
              </a:schemeClr>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06056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85C3CB-3A22-EA05-0DEB-3418D3B795C2}"/>
              </a:ext>
            </a:extLst>
          </p:cNvPr>
          <p:cNvSpPr>
            <a:spLocks noGrp="1"/>
          </p:cNvSpPr>
          <p:nvPr>
            <p:ph type="title"/>
          </p:nvPr>
        </p:nvSpPr>
        <p:spPr>
          <a:xfrm>
            <a:off x="1141412" y="435638"/>
            <a:ext cx="3797000" cy="1478570"/>
          </a:xfrm>
        </p:spPr>
        <p:txBody>
          <a:bodyPr/>
          <a:lstStyle/>
          <a:p>
            <a:r>
              <a:rPr lang="en-US" dirty="0"/>
              <a:t>EXAMPLE WITH PAL16L8 (SSI)</a:t>
            </a:r>
          </a:p>
        </p:txBody>
      </p:sp>
      <p:pic>
        <p:nvPicPr>
          <p:cNvPr id="5" name="Segnaposto contenuto 4">
            <a:extLst>
              <a:ext uri="{FF2B5EF4-FFF2-40B4-BE49-F238E27FC236}">
                <a16:creationId xmlns:a16="http://schemas.microsoft.com/office/drawing/2014/main" id="{AB960B90-7A77-201B-A610-9808D032BD98}"/>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4938412" y="618518"/>
            <a:ext cx="6954360" cy="5965162"/>
          </a:xfrm>
        </p:spPr>
      </p:pic>
      <p:sp>
        <p:nvSpPr>
          <p:cNvPr id="3" name="Segnaposto contenuto 2">
            <a:extLst>
              <a:ext uri="{FF2B5EF4-FFF2-40B4-BE49-F238E27FC236}">
                <a16:creationId xmlns:a16="http://schemas.microsoft.com/office/drawing/2014/main" id="{96BD875E-113C-E734-0DD8-22532A6CB544}"/>
              </a:ext>
            </a:extLst>
          </p:cNvPr>
          <p:cNvSpPr txBox="1">
            <a:spLocks/>
          </p:cNvSpPr>
          <p:nvPr/>
        </p:nvSpPr>
        <p:spPr>
          <a:xfrm>
            <a:off x="1141412" y="1862456"/>
            <a:ext cx="3732340" cy="3950209"/>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t>PALs (Programmable Array Logic) are by now obsolete programmable logic devices that were invented by John Birkner and introduced by MMI back in 1978.</a:t>
            </a:r>
          </a:p>
          <a:p>
            <a:pPr marL="0" indent="0">
              <a:buNone/>
            </a:pPr>
            <a:r>
              <a:rPr lang="en-US" dirty="0"/>
              <a:t>The PAL16L8 is a device for combinational (or asynchronous sequential) logic. Historically built in bipolar technology (with BJT transistors), it was a hugely successful device, used by the early minicomputer makers (DEC, Data General, etc.) to optimize their systems.</a:t>
            </a:r>
          </a:p>
        </p:txBody>
      </p:sp>
      <p:pic>
        <p:nvPicPr>
          <p:cNvPr id="6" name="Immagine 5">
            <a:extLst>
              <a:ext uri="{FF2B5EF4-FFF2-40B4-BE49-F238E27FC236}">
                <a16:creationId xmlns:a16="http://schemas.microsoft.com/office/drawing/2014/main" id="{A1590DDC-796A-6101-CAC9-B3949822DF9C}"/>
              </a:ext>
            </a:extLst>
          </p:cNvPr>
          <p:cNvPicPr>
            <a:picLocks noChangeAspect="1"/>
          </p:cNvPicPr>
          <p:nvPr/>
        </p:nvPicPr>
        <p:blipFill>
          <a:blip r:embed="rId3"/>
          <a:stretch>
            <a:fillRect/>
          </a:stretch>
        </p:blipFill>
        <p:spPr>
          <a:xfrm>
            <a:off x="2070962" y="5479150"/>
            <a:ext cx="1513486" cy="1040522"/>
          </a:xfrm>
          <a:prstGeom prst="rect">
            <a:avLst/>
          </a:prstGeom>
        </p:spPr>
      </p:pic>
    </p:spTree>
    <p:extLst>
      <p:ext uri="{BB962C8B-B14F-4D97-AF65-F5344CB8AC3E}">
        <p14:creationId xmlns:p14="http://schemas.microsoft.com/office/powerpoint/2010/main" val="19338169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10C24-E93D-C4CB-D3C9-FA8E2DD3C2ED}"/>
            </a:ext>
          </a:extLst>
        </p:cNvPr>
        <p:cNvGrpSpPr/>
        <p:nvPr/>
      </p:nvGrpSpPr>
      <p:grpSpPr>
        <a:xfrm>
          <a:off x="0" y="0"/>
          <a:ext cx="0" cy="0"/>
          <a:chOff x="0" y="0"/>
          <a:chExt cx="0" cy="0"/>
        </a:xfrm>
      </p:grpSpPr>
      <p:pic>
        <p:nvPicPr>
          <p:cNvPr id="6" name="Segnaposto contenuto 5">
            <a:extLst>
              <a:ext uri="{FF2B5EF4-FFF2-40B4-BE49-F238E27FC236}">
                <a16:creationId xmlns:a16="http://schemas.microsoft.com/office/drawing/2014/main" id="{7A502A33-69E8-477F-BA8F-A01042FF1B8A}"/>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2643980" y="468000"/>
            <a:ext cx="6904040" cy="5922000"/>
          </a:xfrm>
        </p:spPr>
      </p:pic>
    </p:spTree>
    <p:extLst>
      <p:ext uri="{BB962C8B-B14F-4D97-AF65-F5344CB8AC3E}">
        <p14:creationId xmlns:p14="http://schemas.microsoft.com/office/powerpoint/2010/main" val="34186620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37ED16A-E9D5-576A-B4A2-B89802E0AE2E}"/>
              </a:ext>
            </a:extLst>
          </p:cNvPr>
          <p:cNvSpPr>
            <a:spLocks noGrp="1"/>
          </p:cNvSpPr>
          <p:nvPr>
            <p:ph type="title"/>
          </p:nvPr>
        </p:nvSpPr>
        <p:spPr>
          <a:xfrm>
            <a:off x="1141413" y="618518"/>
            <a:ext cx="9905998" cy="1070582"/>
          </a:xfrm>
        </p:spPr>
        <p:txBody>
          <a:bodyPr/>
          <a:lstStyle/>
          <a:p>
            <a:r>
              <a:rPr lang="en-US" dirty="0"/>
              <a:t>Programming OTP SPLDs</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149E0A3-A513-3FC5-CFF3-0FFFE9284DCE}"/>
                  </a:ext>
                </a:extLst>
              </p:cNvPr>
              <p:cNvSpPr>
                <a:spLocks noGrp="1"/>
              </p:cNvSpPr>
              <p:nvPr>
                <p:ph idx="1"/>
              </p:nvPr>
            </p:nvSpPr>
            <p:spPr>
              <a:xfrm>
                <a:off x="1141412" y="1689100"/>
                <a:ext cx="9905999" cy="4373371"/>
              </a:xfrm>
            </p:spPr>
            <p:txBody>
              <a:bodyPr>
                <a:normAutofit fontScale="85000" lnSpcReduction="20000"/>
              </a:bodyPr>
              <a:lstStyle/>
              <a:p>
                <a:r>
                  <a:rPr lang="en-US" dirty="0"/>
                  <a:t>In devices such as PALs, PLAs and PROMs, programming is done by blowing tiny fuses.</a:t>
                </a:r>
                <a:br>
                  <a:rPr lang="en-US" dirty="0"/>
                </a:br>
                <a:r>
                  <a:rPr lang="en-US" dirty="0"/>
                  <a:t>Specifically for PAL devices, there are fuses in series with </a:t>
                </a:r>
                <a:br>
                  <a:rPr lang="en-US" dirty="0"/>
                </a:br>
                <a:r>
                  <a:rPr lang="en-US" dirty="0"/>
                  <a:t>each signal and its complement on the path </a:t>
                </a:r>
                <a:br>
                  <a:rPr lang="en-US" dirty="0"/>
                </a:br>
                <a:r>
                  <a:rPr lang="en-US" dirty="0"/>
                  <a:t>that reaches the AND gate. </a:t>
                </a:r>
                <a:br>
                  <a:rPr lang="en-US" dirty="0"/>
                </a:br>
                <a:r>
                  <a:rPr lang="en-US" dirty="0"/>
                  <a:t>Initially all the fuses are intact. </a:t>
                </a:r>
                <a:br>
                  <a:rPr lang="en-US" dirty="0"/>
                </a:br>
                <a:br>
                  <a:rPr lang="en-US" dirty="0"/>
                </a:br>
                <a:br>
                  <a:rPr lang="en-US" dirty="0"/>
                </a:br>
                <a:r>
                  <a:rPr lang="en-US" dirty="0"/>
                  <a:t>When a fuse is blown as a result of program-</a:t>
                </a:r>
                <a:br>
                  <a:rPr lang="en-US" dirty="0"/>
                </a:br>
                <a:r>
                  <a:rPr lang="en-US" dirty="0"/>
                  <a:t>ming, the signal can no longer reach </a:t>
                </a:r>
                <a:br>
                  <a:rPr lang="en-US" dirty="0"/>
                </a:br>
                <a:r>
                  <a:rPr lang="en-US" dirty="0"/>
                  <a:t>the AND gate. The input is therefore connect-</a:t>
                </a:r>
                <a:br>
                  <a:rPr lang="en-US" dirty="0"/>
                </a:br>
                <a:r>
                  <a:rPr lang="en-US" dirty="0"/>
                  <a:t>ed to 1 through a so-called pull-up resistor. </a:t>
                </a:r>
                <a:br>
                  <a:rPr lang="en-US" dirty="0"/>
                </a:br>
                <a:r>
                  <a:rPr lang="en-US" dirty="0"/>
                  <a:t>In practice, this means the AND output will depend only on the inputs whose fuses have remained intact. In the example, note that only </a:t>
                </a:r>
                <a14:m>
                  <m:oMath xmlns:m="http://schemas.openxmlformats.org/officeDocument/2006/math">
                    <m:r>
                      <a:rPr lang="en-US" b="0" i="1" smtClean="0">
                        <a:latin typeface="Cambria Math" panose="02040503050406030204" pitchFamily="18" charset="0"/>
                      </a:rPr>
                      <m:t>𝑎</m:t>
                    </m:r>
                  </m:oMath>
                </a14:m>
                <a:r>
                  <a:rPr lang="en-US" dirty="0"/>
                  <a:t> and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𝑏</m:t>
                        </m:r>
                      </m:e>
                    </m:acc>
                  </m:oMath>
                </a14:m>
                <a:r>
                  <a:rPr lang="en-US" dirty="0"/>
                  <a:t> can make up </a:t>
                </a:r>
                <a:br>
                  <a:rPr lang="en-US" dirty="0"/>
                </a:br>
                <a:r>
                  <a:rPr lang="en-US" dirty="0"/>
                  <a:t>the term </a:t>
                </a:r>
                <a14:m>
                  <m:oMath xmlns:m="http://schemas.openxmlformats.org/officeDocument/2006/math">
                    <m:r>
                      <a:rPr lang="en-US" b="0" i="1" smtClean="0">
                        <a:latin typeface="Cambria Math" panose="02040503050406030204" pitchFamily="18" charset="0"/>
                      </a:rPr>
                      <m:t>𝑦</m:t>
                    </m:r>
                  </m:oMath>
                </a14:m>
                <a:r>
                  <a:rPr lang="en-US" dirty="0"/>
                  <a:t>.</a:t>
                </a:r>
              </a:p>
            </p:txBody>
          </p:sp>
        </mc:Choice>
        <mc:Fallback xmlns="">
          <p:sp>
            <p:nvSpPr>
              <p:cNvPr id="3" name="Segnaposto contenuto 2">
                <a:extLst>
                  <a:ext uri="{FF2B5EF4-FFF2-40B4-BE49-F238E27FC236}">
                    <a16:creationId xmlns:a16="http://schemas.microsoft.com/office/drawing/2014/main" id="{E149E0A3-A513-3FC5-CFF3-0FFFE9284DCE}"/>
                  </a:ext>
                </a:extLst>
              </p:cNvPr>
              <p:cNvSpPr>
                <a:spLocks noGrp="1" noRot="1" noChangeAspect="1" noMove="1" noResize="1" noEditPoints="1" noAdjustHandles="1" noChangeArrowheads="1" noChangeShapeType="1" noTextEdit="1"/>
              </p:cNvSpPr>
              <p:nvPr>
                <p:ph idx="1"/>
              </p:nvPr>
            </p:nvSpPr>
            <p:spPr>
              <a:xfrm>
                <a:off x="1141412" y="1689100"/>
                <a:ext cx="9905999" cy="4373371"/>
              </a:xfrm>
              <a:blipFill>
                <a:blip r:embed="rId2"/>
                <a:stretch>
                  <a:fillRect l="-862" t="-2092" b="-2371"/>
                </a:stretch>
              </a:blipFill>
            </p:spPr>
            <p:txBody>
              <a:bodyPr/>
              <a:lstStyle/>
              <a:p>
                <a:r>
                  <a:rPr lang="it-IT">
                    <a:noFill/>
                  </a:rPr>
                  <a:t> </a:t>
                </a:r>
              </a:p>
            </p:txBody>
          </p:sp>
        </mc:Fallback>
      </mc:AlternateContent>
      <p:pic>
        <p:nvPicPr>
          <p:cNvPr id="5" name="Elemento grafico 4">
            <a:extLst>
              <a:ext uri="{FF2B5EF4-FFF2-40B4-BE49-F238E27FC236}">
                <a16:creationId xmlns:a16="http://schemas.microsoft.com/office/drawing/2014/main" id="{18BC5498-9576-38EE-A571-75DE964318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03931" y="2530709"/>
            <a:ext cx="5248088" cy="2266780"/>
          </a:xfrm>
          <a:prstGeom prst="rect">
            <a:avLst/>
          </a:prstGeom>
        </p:spPr>
      </p:pic>
    </p:spTree>
    <p:extLst>
      <p:ext uri="{BB962C8B-B14F-4D97-AF65-F5344CB8AC3E}">
        <p14:creationId xmlns:p14="http://schemas.microsoft.com/office/powerpoint/2010/main" val="32852220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F002-8FE9-FF31-D110-31CC74EF2196}"/>
            </a:ext>
          </a:extLst>
        </p:cNvPr>
        <p:cNvGrpSpPr/>
        <p:nvPr/>
      </p:nvGrpSpPr>
      <p:grpSpPr>
        <a:xfrm>
          <a:off x="0" y="0"/>
          <a:ext cx="0" cy="0"/>
          <a:chOff x="0" y="0"/>
          <a:chExt cx="0" cy="0"/>
        </a:xfrm>
      </p:grpSpPr>
      <p:pic>
        <p:nvPicPr>
          <p:cNvPr id="5" name="Segnaposto contenuto 4">
            <a:extLst>
              <a:ext uri="{FF2B5EF4-FFF2-40B4-BE49-F238E27FC236}">
                <a16:creationId xmlns:a16="http://schemas.microsoft.com/office/drawing/2014/main" id="{77437CB9-F750-DAF0-9AB4-F6F7DA1C394E}"/>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2643980" y="468000"/>
            <a:ext cx="6904040" cy="5922000"/>
          </a:xfrm>
        </p:spPr>
      </p:pic>
    </p:spTree>
    <p:extLst>
      <p:ext uri="{BB962C8B-B14F-4D97-AF65-F5344CB8AC3E}">
        <p14:creationId xmlns:p14="http://schemas.microsoft.com/office/powerpoint/2010/main" val="2396153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027BD5-01D9-AC71-5503-646A5A4E32E8}"/>
              </a:ext>
            </a:extLst>
          </p:cNvPr>
          <p:cNvSpPr>
            <a:spLocks noGrp="1"/>
          </p:cNvSpPr>
          <p:nvPr>
            <p:ph type="title"/>
          </p:nvPr>
        </p:nvSpPr>
        <p:spPr/>
        <p:txBody>
          <a:bodyPr/>
          <a:lstStyle/>
          <a:p>
            <a:endParaRPr lang="en-US"/>
          </a:p>
        </p:txBody>
      </p:sp>
      <p:pic>
        <p:nvPicPr>
          <p:cNvPr id="5" name="Segnaposto contenuto 4">
            <a:extLst>
              <a:ext uri="{FF2B5EF4-FFF2-40B4-BE49-F238E27FC236}">
                <a16:creationId xmlns:a16="http://schemas.microsoft.com/office/drawing/2014/main" id="{B377F89F-1213-CCB2-BD08-5AD29EBC423C}"/>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2642392" y="468000"/>
            <a:ext cx="6904040" cy="5922000"/>
          </a:xfrm>
        </p:spPr>
      </p:pic>
    </p:spTree>
    <p:extLst>
      <p:ext uri="{BB962C8B-B14F-4D97-AF65-F5344CB8AC3E}">
        <p14:creationId xmlns:p14="http://schemas.microsoft.com/office/powerpoint/2010/main" val="35708015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lemento grafico 6">
            <a:extLst>
              <a:ext uri="{FF2B5EF4-FFF2-40B4-BE49-F238E27FC236}">
                <a16:creationId xmlns:a16="http://schemas.microsoft.com/office/drawing/2014/main" id="{4CADC17C-A41E-A1A6-1EEC-EC94E012FF9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93393" y="273758"/>
            <a:ext cx="8202038" cy="6310482"/>
          </a:xfrm>
          <a:prstGeom prst="rect">
            <a:avLst/>
          </a:prstGeom>
        </p:spPr>
      </p:pic>
      <p:sp>
        <p:nvSpPr>
          <p:cNvPr id="3" name="Ovale 2">
            <a:extLst>
              <a:ext uri="{FF2B5EF4-FFF2-40B4-BE49-F238E27FC236}">
                <a16:creationId xmlns:a16="http://schemas.microsoft.com/office/drawing/2014/main" id="{D49C279A-6391-42FD-F64F-B970A7A2CCF6}"/>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60774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B8A1F5-0731-53D5-D5A9-CDDE39330EDF}"/>
              </a:ext>
            </a:extLst>
          </p:cNvPr>
          <p:cNvSpPr>
            <a:spLocks noGrp="1"/>
          </p:cNvSpPr>
          <p:nvPr>
            <p:ph type="title"/>
          </p:nvPr>
        </p:nvSpPr>
        <p:spPr/>
        <p:txBody>
          <a:bodyPr/>
          <a:lstStyle/>
          <a:p>
            <a:endParaRPr lang="en-US"/>
          </a:p>
        </p:txBody>
      </p:sp>
      <p:sp>
        <p:nvSpPr>
          <p:cNvPr id="10" name="Segnaposto contenuto 9">
            <a:extLst>
              <a:ext uri="{FF2B5EF4-FFF2-40B4-BE49-F238E27FC236}">
                <a16:creationId xmlns:a16="http://schemas.microsoft.com/office/drawing/2014/main" id="{0931A69D-44F9-7622-B1A9-059C04419801}"/>
              </a:ext>
            </a:extLst>
          </p:cNvPr>
          <p:cNvSpPr>
            <a:spLocks noGrp="1"/>
          </p:cNvSpPr>
          <p:nvPr>
            <p:ph idx="1"/>
          </p:nvPr>
        </p:nvSpPr>
        <p:spPr/>
        <p:txBody>
          <a:bodyPr/>
          <a:lstStyle/>
          <a:p>
            <a:endParaRPr lang="en-US"/>
          </a:p>
        </p:txBody>
      </p:sp>
      <p:pic>
        <p:nvPicPr>
          <p:cNvPr id="11" name="Elemento grafico 10">
            <a:extLst>
              <a:ext uri="{FF2B5EF4-FFF2-40B4-BE49-F238E27FC236}">
                <a16:creationId xmlns:a16="http://schemas.microsoft.com/office/drawing/2014/main" id="{CDE5365B-9BC5-2587-8A29-8B7255B156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93393" y="273758"/>
            <a:ext cx="8202040" cy="6310484"/>
          </a:xfrm>
          <a:prstGeom prst="rect">
            <a:avLst/>
          </a:prstGeom>
        </p:spPr>
      </p:pic>
    </p:spTree>
    <p:extLst>
      <p:ext uri="{BB962C8B-B14F-4D97-AF65-F5344CB8AC3E}">
        <p14:creationId xmlns:p14="http://schemas.microsoft.com/office/powerpoint/2010/main" val="8424838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B8A1F5-0731-53D5-D5A9-CDDE39330EDF}"/>
              </a:ext>
            </a:extLst>
          </p:cNvPr>
          <p:cNvSpPr>
            <a:spLocks noGrp="1"/>
          </p:cNvSpPr>
          <p:nvPr>
            <p:ph type="title"/>
          </p:nvPr>
        </p:nvSpPr>
        <p:spPr/>
        <p:txBody>
          <a:bodyPr/>
          <a:lstStyle/>
          <a:p>
            <a:endParaRPr lang="en-US"/>
          </a:p>
        </p:txBody>
      </p:sp>
      <p:sp>
        <p:nvSpPr>
          <p:cNvPr id="8" name="Segnaposto contenuto 7">
            <a:extLst>
              <a:ext uri="{FF2B5EF4-FFF2-40B4-BE49-F238E27FC236}">
                <a16:creationId xmlns:a16="http://schemas.microsoft.com/office/drawing/2014/main" id="{70CD6C8C-DF0C-1247-145D-499C36400758}"/>
              </a:ext>
            </a:extLst>
          </p:cNvPr>
          <p:cNvSpPr>
            <a:spLocks noGrp="1"/>
          </p:cNvSpPr>
          <p:nvPr>
            <p:ph idx="1"/>
          </p:nvPr>
        </p:nvSpPr>
        <p:spPr/>
        <p:txBody>
          <a:bodyPr/>
          <a:lstStyle/>
          <a:p>
            <a:endParaRPr lang="en-US"/>
          </a:p>
        </p:txBody>
      </p:sp>
      <p:pic>
        <p:nvPicPr>
          <p:cNvPr id="3" name="Immagine 2">
            <a:extLst>
              <a:ext uri="{FF2B5EF4-FFF2-40B4-BE49-F238E27FC236}">
                <a16:creationId xmlns:a16="http://schemas.microsoft.com/office/drawing/2014/main" id="{51FD175E-4EBE-3346-7958-BC393BB43687}"/>
              </a:ext>
            </a:extLst>
          </p:cNvPr>
          <p:cNvPicPr>
            <a:picLocks noChangeAspect="1"/>
          </p:cNvPicPr>
          <p:nvPr/>
        </p:nvPicPr>
        <p:blipFill>
          <a:blip r:embed="rId2"/>
          <a:stretch>
            <a:fillRect/>
          </a:stretch>
        </p:blipFill>
        <p:spPr>
          <a:xfrm>
            <a:off x="1993393" y="273758"/>
            <a:ext cx="8213645" cy="6310484"/>
          </a:xfrm>
          <a:prstGeom prst="rect">
            <a:avLst/>
          </a:prstGeom>
        </p:spPr>
      </p:pic>
    </p:spTree>
    <p:extLst>
      <p:ext uri="{BB962C8B-B14F-4D97-AF65-F5344CB8AC3E}">
        <p14:creationId xmlns:p14="http://schemas.microsoft.com/office/powerpoint/2010/main" val="2493960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CF58CA-1342-2C55-F125-847E3FE83C40}"/>
              </a:ext>
            </a:extLst>
          </p:cNvPr>
          <p:cNvSpPr>
            <a:spLocks noGrp="1"/>
          </p:cNvSpPr>
          <p:nvPr>
            <p:ph type="title"/>
          </p:nvPr>
        </p:nvSpPr>
        <p:spPr/>
        <p:txBody>
          <a:bodyPr/>
          <a:lstStyle/>
          <a:p>
            <a:r>
              <a:rPr lang="en-US" dirty="0"/>
              <a:t>MULTILEVEL COMBINATIONAL LOGIC NETWORKS</a:t>
            </a:r>
          </a:p>
        </p:txBody>
      </p:sp>
      <p:sp>
        <p:nvSpPr>
          <p:cNvPr id="3" name="Segnaposto contenuto 2">
            <a:extLst>
              <a:ext uri="{FF2B5EF4-FFF2-40B4-BE49-F238E27FC236}">
                <a16:creationId xmlns:a16="http://schemas.microsoft.com/office/drawing/2014/main" id="{3E6B0A45-4DDC-18C7-8A30-181D572B645F}"/>
              </a:ext>
            </a:extLst>
          </p:cNvPr>
          <p:cNvSpPr>
            <a:spLocks noGrp="1"/>
          </p:cNvSpPr>
          <p:nvPr>
            <p:ph idx="1"/>
          </p:nvPr>
        </p:nvSpPr>
        <p:spPr>
          <a:xfrm>
            <a:off x="1141413" y="2249487"/>
            <a:ext cx="6674720" cy="3515209"/>
          </a:xfrm>
        </p:spPr>
        <p:txBody>
          <a:bodyPr>
            <a:normAutofit fontScale="85000" lnSpcReduction="10000"/>
          </a:bodyPr>
          <a:lstStyle/>
          <a:p>
            <a:r>
              <a:rPr lang="en-US" dirty="0"/>
              <a:t>They can use simple logic gates or</a:t>
            </a:r>
            <a:br>
              <a:rPr lang="en-US" dirty="0"/>
            </a:br>
            <a:r>
              <a:rPr lang="en-US" dirty="0"/>
              <a:t>canonical forms connected in cascade. The time the outputs take to settle when the inputs change</a:t>
            </a:r>
            <a:br>
              <a:rPr lang="en-US" dirty="0"/>
            </a:br>
            <a:r>
              <a:rPr lang="en-US" dirty="0"/>
              <a:t>can be longer and show less consistency.</a:t>
            </a:r>
          </a:p>
          <a:p>
            <a:r>
              <a:rPr lang="en-US" dirty="0"/>
              <a:t>Multilevel networks are typical of modern programmable devices (CPLDs and FPGAs); they connect</a:t>
            </a:r>
            <a:br>
              <a:rPr lang="en-US" dirty="0"/>
            </a:br>
            <a:r>
              <a:rPr lang="en-US" dirty="0"/>
              <a:t>macrocells/LUTs (Look Up Tables, predefined logic blocks) to one another to build even very complex logic structures.</a:t>
            </a:r>
          </a:p>
        </p:txBody>
      </p:sp>
      <p:pic>
        <p:nvPicPr>
          <p:cNvPr id="8" name="Elemento grafico 7">
            <a:extLst>
              <a:ext uri="{FF2B5EF4-FFF2-40B4-BE49-F238E27FC236}">
                <a16:creationId xmlns:a16="http://schemas.microsoft.com/office/drawing/2014/main" id="{B43DE71E-407B-ECD3-326A-5D81A2A546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94953" y="1893888"/>
            <a:ext cx="3052457" cy="4293409"/>
          </a:xfrm>
          <a:prstGeom prst="rect">
            <a:avLst/>
          </a:prstGeom>
        </p:spPr>
      </p:pic>
      <p:sp>
        <p:nvSpPr>
          <p:cNvPr id="4" name="Ovale 3">
            <a:extLst>
              <a:ext uri="{FF2B5EF4-FFF2-40B4-BE49-F238E27FC236}">
                <a16:creationId xmlns:a16="http://schemas.microsoft.com/office/drawing/2014/main" id="{5AC66B92-F75C-2D5F-15BE-CEF87006A663}"/>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356548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F8C7AC-3B38-2A04-221F-A5B8F132A748}"/>
              </a:ext>
            </a:extLst>
          </p:cNvPr>
          <p:cNvSpPr>
            <a:spLocks noGrp="1"/>
          </p:cNvSpPr>
          <p:nvPr>
            <p:ph type="title"/>
          </p:nvPr>
        </p:nvSpPr>
        <p:spPr/>
        <p:txBody>
          <a:bodyPr/>
          <a:lstStyle/>
          <a:p>
            <a:r>
              <a:rPr lang="en-US" dirty="0"/>
              <a:t>HAZARDS</a:t>
            </a:r>
          </a:p>
        </p:txBody>
      </p:sp>
      <p:sp>
        <p:nvSpPr>
          <p:cNvPr id="3" name="Segnaposto contenuto 2">
            <a:extLst>
              <a:ext uri="{FF2B5EF4-FFF2-40B4-BE49-F238E27FC236}">
                <a16:creationId xmlns:a16="http://schemas.microsoft.com/office/drawing/2014/main" id="{755886B6-19A5-3867-3989-BF40816E67CB}"/>
              </a:ext>
            </a:extLst>
          </p:cNvPr>
          <p:cNvSpPr>
            <a:spLocks noGrp="1"/>
          </p:cNvSpPr>
          <p:nvPr>
            <p:ph idx="1"/>
          </p:nvPr>
        </p:nvSpPr>
        <p:spPr>
          <a:xfrm>
            <a:off x="1141412" y="2249487"/>
            <a:ext cx="6682671" cy="3541714"/>
          </a:xfrm>
        </p:spPr>
        <p:txBody>
          <a:bodyPr>
            <a:normAutofit fontScale="92500" lnSpcReduction="10000"/>
          </a:bodyPr>
          <a:lstStyle/>
          <a:p>
            <a:pPr marL="0" indent="0">
              <a:buNone/>
            </a:pPr>
            <a:r>
              <a:rPr lang="en-US" dirty="0"/>
              <a:t>On the side you can see a multilevel network that produces the output </a:t>
            </a:r>
            <a:r>
              <a:rPr lang="en-US" i="1" dirty="0"/>
              <a:t>out</a:t>
            </a:r>
            <a:r>
              <a:rPr lang="en-US" dirty="0"/>
              <a:t> for the inputs </a:t>
            </a:r>
            <a:r>
              <a:rPr lang="en-US" i="1" dirty="0"/>
              <a:t>a</a:t>
            </a:r>
            <a:r>
              <a:rPr lang="en-US" dirty="0"/>
              <a:t>, </a:t>
            </a:r>
            <a:r>
              <a:rPr lang="en-US" i="1" dirty="0"/>
              <a:t>b</a:t>
            </a:r>
            <a:r>
              <a:rPr lang="en-US" dirty="0"/>
              <a:t> and </a:t>
            </a:r>
            <a:r>
              <a:rPr lang="en-US" i="1" dirty="0"/>
              <a:t>c</a:t>
            </a:r>
            <a:r>
              <a:rPr lang="en-US" dirty="0"/>
              <a:t>. Since the network is built with a single type of component, obtaining function out requires cascading more gates than in a canonical-form network, which in effect gives a multilevel network. Since the</a:t>
            </a:r>
            <a:br>
              <a:rPr lang="en-US" dirty="0"/>
            </a:br>
            <a:r>
              <a:rPr lang="en-US" dirty="0"/>
              <a:t>components exhibit no propagation delays, the behavior of this network is ideal. That is, there are no "uncertainties" in how the signals evolve over time.</a:t>
            </a:r>
          </a:p>
        </p:txBody>
      </p:sp>
      <p:pic>
        <p:nvPicPr>
          <p:cNvPr id="5" name="Elemento grafico 4">
            <a:extLst>
              <a:ext uri="{FF2B5EF4-FFF2-40B4-BE49-F238E27FC236}">
                <a16:creationId xmlns:a16="http://schemas.microsoft.com/office/drawing/2014/main" id="{2C68FEBD-024A-7443-48AB-5F691AFBC1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79742" y="926367"/>
            <a:ext cx="3895725" cy="5084782"/>
          </a:xfrm>
          <a:prstGeom prst="rect">
            <a:avLst/>
          </a:prstGeom>
        </p:spPr>
      </p:pic>
    </p:spTree>
    <p:extLst>
      <p:ext uri="{BB962C8B-B14F-4D97-AF65-F5344CB8AC3E}">
        <p14:creationId xmlns:p14="http://schemas.microsoft.com/office/powerpoint/2010/main" val="36817344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F8C7AC-3B38-2A04-221F-A5B8F132A748}"/>
              </a:ext>
            </a:extLst>
          </p:cNvPr>
          <p:cNvSpPr>
            <a:spLocks noGrp="1"/>
          </p:cNvSpPr>
          <p:nvPr>
            <p:ph type="title"/>
          </p:nvPr>
        </p:nvSpPr>
        <p:spPr/>
        <p:txBody>
          <a:bodyPr/>
          <a:lstStyle/>
          <a:p>
            <a:r>
              <a:rPr lang="en-US" dirty="0"/>
              <a:t>STATIC HAZARDS</a:t>
            </a:r>
          </a:p>
        </p:txBody>
      </p:sp>
      <p:sp>
        <p:nvSpPr>
          <p:cNvPr id="3" name="Segnaposto contenuto 2">
            <a:extLst>
              <a:ext uri="{FF2B5EF4-FFF2-40B4-BE49-F238E27FC236}">
                <a16:creationId xmlns:a16="http://schemas.microsoft.com/office/drawing/2014/main" id="{755886B6-19A5-3867-3989-BF40816E67CB}"/>
              </a:ext>
            </a:extLst>
          </p:cNvPr>
          <p:cNvSpPr>
            <a:spLocks noGrp="1"/>
          </p:cNvSpPr>
          <p:nvPr>
            <p:ph idx="1"/>
          </p:nvPr>
        </p:nvSpPr>
        <p:spPr>
          <a:xfrm>
            <a:off x="1141413" y="1757238"/>
            <a:ext cx="6642915" cy="4659464"/>
          </a:xfrm>
        </p:spPr>
        <p:txBody>
          <a:bodyPr>
            <a:normAutofit fontScale="77500" lnSpcReduction="20000"/>
          </a:bodyPr>
          <a:lstStyle/>
          <a:p>
            <a:pPr marL="0" indent="0">
              <a:buNone/>
            </a:pPr>
            <a:r>
              <a:rPr lang="en-US" dirty="0"/>
              <a:t>When the propagation times of the gates or of the physical paths (electrical connections) are not negligible, the circuit producing </a:t>
            </a:r>
            <a:r>
              <a:rPr lang="en-US" i="1" dirty="0"/>
              <a:t>out</a:t>
            </a:r>
            <a:r>
              <a:rPr lang="en-US" dirty="0"/>
              <a:t> can show uncertainty before settling on a nominal value. In the figure at the side you can see some very short pulses called hazards (glitches). These are transients that disturb the signal for a very short period. They must be taken into account at design time, since they can cause malfunctions in logic networks. Static hazards are not exclusive to multilevel networks. Canonical forms with non-ideal components or "slow" paths can also show uncertainty.</a:t>
            </a:r>
          </a:p>
          <a:p>
            <a:pPr marL="0" indent="0">
              <a:buNone/>
            </a:pPr>
            <a:r>
              <a:rPr lang="en-US" dirty="0"/>
              <a:t>In the practical example at the side, the NOR gates of two SN74LS02 devices were used (for the inverters too), which exhibit a typical delay of 10 ns: note that the propagation delays are not really negligible compared with the speed of the applied signals (edges every 100 ns).</a:t>
            </a:r>
          </a:p>
          <a:p>
            <a:pPr marL="0" indent="0">
              <a:buNone/>
            </a:pPr>
            <a:endParaRPr lang="en-US" dirty="0"/>
          </a:p>
        </p:txBody>
      </p:sp>
      <p:pic>
        <p:nvPicPr>
          <p:cNvPr id="13" name="Elemento grafico 12">
            <a:extLst>
              <a:ext uri="{FF2B5EF4-FFF2-40B4-BE49-F238E27FC236}">
                <a16:creationId xmlns:a16="http://schemas.microsoft.com/office/drawing/2014/main" id="{1914E8C6-4EAA-636B-B8AB-A8277977F3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79742" y="932064"/>
            <a:ext cx="3895726" cy="5527403"/>
          </a:xfrm>
          <a:prstGeom prst="rect">
            <a:avLst/>
          </a:prstGeom>
        </p:spPr>
      </p:pic>
      <p:sp>
        <p:nvSpPr>
          <p:cNvPr id="14" name="Rettangolo 13">
            <a:extLst>
              <a:ext uri="{FF2B5EF4-FFF2-40B4-BE49-F238E27FC236}">
                <a16:creationId xmlns:a16="http://schemas.microsoft.com/office/drawing/2014/main" id="{30307A86-50B2-3B93-453E-3F706CB38F68}"/>
              </a:ext>
            </a:extLst>
          </p:cNvPr>
          <p:cNvSpPr/>
          <p:nvPr/>
        </p:nvSpPr>
        <p:spPr>
          <a:xfrm>
            <a:off x="10312842" y="1677726"/>
            <a:ext cx="1168841" cy="20673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29481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F8C7AC-3B38-2A04-221F-A5B8F132A748}"/>
              </a:ext>
            </a:extLst>
          </p:cNvPr>
          <p:cNvSpPr>
            <a:spLocks noGrp="1"/>
          </p:cNvSpPr>
          <p:nvPr>
            <p:ph type="title"/>
          </p:nvPr>
        </p:nvSpPr>
        <p:spPr>
          <a:xfrm>
            <a:off x="1141413" y="284558"/>
            <a:ext cx="9905998" cy="1478570"/>
          </a:xfrm>
        </p:spPr>
        <p:txBody>
          <a:bodyPr/>
          <a:lstStyle/>
          <a:p>
            <a:r>
              <a:rPr lang="en-US" dirty="0"/>
              <a:t>DYNAMIC HAZARDS</a:t>
            </a:r>
          </a:p>
        </p:txBody>
      </p:sp>
      <p:sp>
        <p:nvSpPr>
          <p:cNvPr id="3" name="Segnaposto contenuto 2">
            <a:extLst>
              <a:ext uri="{FF2B5EF4-FFF2-40B4-BE49-F238E27FC236}">
                <a16:creationId xmlns:a16="http://schemas.microsoft.com/office/drawing/2014/main" id="{755886B6-19A5-3867-3989-BF40816E67CB}"/>
              </a:ext>
            </a:extLst>
          </p:cNvPr>
          <p:cNvSpPr>
            <a:spLocks noGrp="1"/>
          </p:cNvSpPr>
          <p:nvPr>
            <p:ph idx="1"/>
          </p:nvPr>
        </p:nvSpPr>
        <p:spPr>
          <a:xfrm>
            <a:off x="1141412" y="1763128"/>
            <a:ext cx="6809892" cy="4717185"/>
          </a:xfrm>
        </p:spPr>
        <p:txBody>
          <a:bodyPr>
            <a:normAutofit fontScale="77500" lnSpcReduction="20000"/>
          </a:bodyPr>
          <a:lstStyle/>
          <a:p>
            <a:pPr marL="0" indent="0">
              <a:buNone/>
            </a:pPr>
            <a:r>
              <a:rPr lang="en-US" dirty="0"/>
              <a:t>The circuit at the side exhibits a second type of hazard that produces an output which initially moves to the expected value (from 0 to 1) but does not remain stable: it is immediately followed by a pulse with the opposite value (zero), and only then finally settles on the desired value (one).</a:t>
            </a:r>
          </a:p>
          <a:p>
            <a:pPr marL="0" indent="0">
              <a:buNone/>
            </a:pPr>
            <a:r>
              <a:rPr lang="en-US" dirty="0"/>
              <a:t>This circuit behavior is called a "dynamic hazard". Dynamic hazards appear when, following a change in one or more input signals, the output signal makes a transition to the opposite value, but instead of settling abruptly it may oscillate one or more times.</a:t>
            </a:r>
          </a:p>
          <a:p>
            <a:pPr marL="0" indent="0">
              <a:buNone/>
            </a:pPr>
            <a:r>
              <a:rPr lang="en-US" dirty="0"/>
              <a:t>The presence of dynamic hazards causes considerable problems in the design and implementation of so-called "asynchronous sequential networks" with more than two states. This kind of network will not be covered in this presentation, although we will see an example of a very simple two-state asynchronous sequential network later on.</a:t>
            </a:r>
          </a:p>
          <a:p>
            <a:pPr marL="0" indent="0">
              <a:buNone/>
            </a:pPr>
            <a:endParaRPr lang="en-US" dirty="0"/>
          </a:p>
        </p:txBody>
      </p:sp>
      <p:pic>
        <p:nvPicPr>
          <p:cNvPr id="7" name="Elemento grafico 6">
            <a:extLst>
              <a:ext uri="{FF2B5EF4-FFF2-40B4-BE49-F238E27FC236}">
                <a16:creationId xmlns:a16="http://schemas.microsoft.com/office/drawing/2014/main" id="{FDB822A7-72E4-1A7B-EA56-ADE8B432C4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51304" y="1659945"/>
            <a:ext cx="3895726" cy="4806704"/>
          </a:xfrm>
          <a:prstGeom prst="rect">
            <a:avLst/>
          </a:prstGeom>
        </p:spPr>
      </p:pic>
      <p:sp>
        <p:nvSpPr>
          <p:cNvPr id="8" name="Rettangolo 7">
            <a:extLst>
              <a:ext uri="{FF2B5EF4-FFF2-40B4-BE49-F238E27FC236}">
                <a16:creationId xmlns:a16="http://schemas.microsoft.com/office/drawing/2014/main" id="{30307A86-50B2-3B93-453E-3F706CB38F68}"/>
              </a:ext>
            </a:extLst>
          </p:cNvPr>
          <p:cNvSpPr/>
          <p:nvPr/>
        </p:nvSpPr>
        <p:spPr>
          <a:xfrm>
            <a:off x="10487770" y="2647786"/>
            <a:ext cx="1041622" cy="20673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10369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6A9AF0-DBC5-C9EC-E4A1-9C6E95EA80CD}"/>
              </a:ext>
            </a:extLst>
          </p:cNvPr>
          <p:cNvSpPr>
            <a:spLocks noGrp="1"/>
          </p:cNvSpPr>
          <p:nvPr>
            <p:ph type="title"/>
          </p:nvPr>
        </p:nvSpPr>
        <p:spPr/>
        <p:txBody>
          <a:bodyPr/>
          <a:lstStyle/>
          <a:p>
            <a:r>
              <a:rPr lang="en-US" dirty="0"/>
              <a:t>MEMORY ELEMENTS</a:t>
            </a:r>
          </a:p>
        </p:txBody>
      </p:sp>
      <p:sp>
        <p:nvSpPr>
          <p:cNvPr id="3" name="Segnaposto contenuto 2">
            <a:extLst>
              <a:ext uri="{FF2B5EF4-FFF2-40B4-BE49-F238E27FC236}">
                <a16:creationId xmlns:a16="http://schemas.microsoft.com/office/drawing/2014/main" id="{1194126D-CFBB-5879-F508-1B0748C9F82C}"/>
              </a:ext>
            </a:extLst>
          </p:cNvPr>
          <p:cNvSpPr>
            <a:spLocks noGrp="1"/>
          </p:cNvSpPr>
          <p:nvPr>
            <p:ph idx="1"/>
          </p:nvPr>
        </p:nvSpPr>
        <p:spPr>
          <a:xfrm>
            <a:off x="1141413" y="1892808"/>
            <a:ext cx="6548691" cy="4526279"/>
          </a:xfrm>
        </p:spPr>
        <p:txBody>
          <a:bodyPr>
            <a:normAutofit fontScale="70000" lnSpcReduction="20000"/>
          </a:bodyPr>
          <a:lstStyle/>
          <a:p>
            <a:r>
              <a:rPr lang="en-US" dirty="0"/>
              <a:t>Certain circuit configurations constitute memory elements. These elements are the heart of sequential networks.</a:t>
            </a:r>
          </a:p>
          <a:p>
            <a:r>
              <a:rPr lang="en-US" dirty="0"/>
              <a:t>Commonly used memory elements can be sensitive to "levels" (top box) or to "edges" (bottom box).</a:t>
            </a:r>
          </a:p>
          <a:p>
            <a:r>
              <a:rPr lang="en-US" dirty="0"/>
              <a:t>"Edge"-sensitive memory elements are often used with a signal of specific cadence that sets the pace of processing (clock). They are mainly of three types, D, T and JK, and their operation is described by the so-called "excitation tables".</a:t>
            </a:r>
          </a:p>
          <a:p>
            <a:r>
              <a:rPr lang="en-US" dirty="0"/>
              <a:t>They always have an internal feedback of one or more</a:t>
            </a:r>
            <a:br>
              <a:rPr lang="en-US" dirty="0"/>
            </a:br>
            <a:r>
              <a:rPr lang="en-US" dirty="0"/>
              <a:t>levels. They can be studied as combinational networks once the feedback loops are broken and treated as ordinary inputs.</a:t>
            </a:r>
          </a:p>
          <a:p>
            <a:r>
              <a:rPr lang="en-US" dirty="0"/>
              <a:t>The combinational networks seen earlier "feed" the input variables of these memory elements in order to build larger and more complex sequential network systems.</a:t>
            </a:r>
          </a:p>
        </p:txBody>
      </p:sp>
      <p:pic>
        <p:nvPicPr>
          <p:cNvPr id="10" name="Elemento grafico 9">
            <a:extLst>
              <a:ext uri="{FF2B5EF4-FFF2-40B4-BE49-F238E27FC236}">
                <a16:creationId xmlns:a16="http://schemas.microsoft.com/office/drawing/2014/main" id="{150A1814-FE16-F604-995F-752F50F639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75159" y="1590827"/>
            <a:ext cx="2934362" cy="4653060"/>
          </a:xfrm>
          <a:prstGeom prst="rect">
            <a:avLst/>
          </a:prstGeom>
        </p:spPr>
      </p:pic>
      <p:sp>
        <p:nvSpPr>
          <p:cNvPr id="5" name="Ovale 4">
            <a:extLst>
              <a:ext uri="{FF2B5EF4-FFF2-40B4-BE49-F238E27FC236}">
                <a16:creationId xmlns:a16="http://schemas.microsoft.com/office/drawing/2014/main" id="{19898A38-DC62-BC6C-15C3-192829D4E55D}"/>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5097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116FB3-83EE-C3B8-67AA-68431154F99D}"/>
              </a:ext>
            </a:extLst>
          </p:cNvPr>
          <p:cNvSpPr>
            <a:spLocks noGrp="1"/>
          </p:cNvSpPr>
          <p:nvPr>
            <p:ph type="title"/>
          </p:nvPr>
        </p:nvSpPr>
        <p:spPr/>
        <p:txBody>
          <a:bodyPr/>
          <a:lstStyle/>
          <a:p>
            <a:r>
              <a:rPr lang="en-US" dirty="0"/>
              <a:t>TERNARY or three-valued logic (3VL)</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5E62DB6-DB2E-2A02-AFD2-D89C68ABA7DB}"/>
                  </a:ext>
                </a:extLst>
              </p:cNvPr>
              <p:cNvSpPr>
                <a:spLocks noGrp="1"/>
              </p:cNvSpPr>
              <p:nvPr>
                <p:ph idx="1"/>
              </p:nvPr>
            </p:nvSpPr>
            <p:spPr>
              <a:xfrm>
                <a:off x="1295535" y="2249487"/>
                <a:ext cx="9597752" cy="3593530"/>
              </a:xfrm>
            </p:spPr>
            <p:txBody>
              <a:bodyPr>
                <a:normAutofit fontScale="85000" lnSpcReduction="20000"/>
              </a:bodyPr>
              <a:lstStyle/>
              <a:p>
                <a:r>
                  <a:rPr lang="en-US" dirty="0"/>
                  <a:t>Three-valued logic is an extension of the binary propositional</a:t>
                </a:r>
                <a:br>
                  <a:rPr lang="en-US" dirty="0"/>
                </a:br>
                <a:r>
                  <a:rPr lang="en-US" dirty="0"/>
                  <a:t>logic we have seen so far.</a:t>
                </a:r>
              </a:p>
              <a:p>
                <a:r>
                  <a:rPr lang="en-US" dirty="0"/>
                  <a:t>It is useful in the analysis and simulation of binary digital circuits</a:t>
                </a:r>
                <a:br>
                  <a:rPr lang="en-US" dirty="0"/>
                </a:br>
                <a:r>
                  <a:rPr lang="en-US" dirty="0"/>
                  <a:t>with </a:t>
                </a:r>
                <a:r>
                  <a:rPr lang="en-US" i="1" dirty="0"/>
                  <a:t>feedback</a:t>
                </a:r>
                <a:r>
                  <a:rPr lang="en-US" dirty="0"/>
                  <a:t>, that is, with the network's outputs fed back to its</a:t>
                </a:r>
                <a:br>
                  <a:rPr lang="en-US" dirty="0"/>
                </a:br>
                <a:r>
                  <a:rPr lang="en-US" dirty="0"/>
                  <a:t>inputs.</a:t>
                </a:r>
              </a:p>
              <a:p>
                <a:r>
                  <a:rPr lang="en-US" dirty="0"/>
                  <a:t>The values represented are three: 0, 1 and X.</a:t>
                </a:r>
              </a:p>
              <a:p>
                <a:r>
                  <a:rPr lang="en-US" dirty="0"/>
                  <a:t>A function in three-valued logic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oMath>
                </a14:m>
                <a:r>
                  <a:rPr lang="en-US" dirty="0"/>
                  <a:t> is a rule</a:t>
                </a:r>
                <a:br>
                  <a:rPr lang="en-US" dirty="0"/>
                </a:br>
                <a14:m>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r>
                              <a:rPr lang="en-US" b="0" i="1" smtClean="0">
                                <a:latin typeface="Cambria Math" panose="02040503050406030204" pitchFamily="18" charset="0"/>
                              </a:rPr>
                              <m:t>𝑋</m:t>
                            </m:r>
                          </m:e>
                        </m:d>
                      </m:e>
                      <m:sup>
                        <m:r>
                          <a:rPr lang="en-US" b="0" i="1" smtClean="0">
                            <a:latin typeface="Cambria Math" panose="02040503050406030204" pitchFamily="18" charset="0"/>
                          </a:rPr>
                          <m:t>𝑛</m:t>
                        </m:r>
                      </m:sup>
                    </m:sSup>
                    <m:r>
                      <a:rPr lang="en-US"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0,1,</m:t>
                        </m:r>
                        <m:r>
                          <a:rPr lang="en-US" b="0" i="1" smtClean="0">
                            <a:latin typeface="Cambria Math" panose="02040503050406030204" pitchFamily="18" charset="0"/>
                            <a:ea typeface="Cambria Math" panose="02040503050406030204" pitchFamily="18" charset="0"/>
                          </a:rPr>
                          <m:t>𝑋</m:t>
                        </m:r>
                      </m:e>
                    </m:d>
                  </m:oMath>
                </a14:m>
                <a:r>
                  <a:rPr lang="en-US" dirty="0">
                    <a:ea typeface="Cambria Math" panose="02040503050406030204" pitchFamily="18" charset="0"/>
                  </a:rPr>
                  <a:t> that maps </a:t>
                </a:r>
                <a14:m>
                  <m:oMath xmlns:m="http://schemas.openxmlformats.org/officeDocument/2006/math">
                    <m:r>
                      <a:rPr lang="en-US" b="0" i="1" smtClean="0">
                        <a:latin typeface="Cambria Math" panose="02040503050406030204" pitchFamily="18" charset="0"/>
                        <a:ea typeface="Cambria Math" panose="02040503050406030204" pitchFamily="18" charset="0"/>
                      </a:rPr>
                      <m:t>𝑧</m:t>
                    </m:r>
                  </m:oMath>
                </a14:m>
                <a:r>
                  <a:rPr lang="en-US" dirty="0">
                    <a:ea typeface="Cambria Math" panose="02040503050406030204" pitchFamily="18" charset="0"/>
                  </a:rPr>
                  <a:t> for every combination of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𝑛</m:t>
                        </m:r>
                      </m:sub>
                    </m:sSub>
                  </m:oMath>
                </a14:m>
                <a:r>
                  <a:rPr lang="en-US" dirty="0">
                    <a:ea typeface="Cambria Math" panose="02040503050406030204" pitchFamily="18" charset="0"/>
                  </a:rPr>
                  <a:t>.</a:t>
                </a:r>
              </a:p>
              <a:p>
                <a:r>
                  <a:rPr lang="en-US" dirty="0">
                    <a:ea typeface="Cambria Math" panose="02040503050406030204" pitchFamily="18" charset="0"/>
                  </a:rPr>
                  <a:t>It appears as the representation of "undefined" in simulators.</a:t>
                </a:r>
              </a:p>
              <a:p>
                <a:endParaRPr lang="en-US" dirty="0">
                  <a:ea typeface="Cambria Math" panose="02040503050406030204" pitchFamily="18" charset="0"/>
                </a:endParaRPr>
              </a:p>
              <a:p>
                <a:endParaRPr lang="en-US" dirty="0"/>
              </a:p>
            </p:txBody>
          </p:sp>
        </mc:Choice>
        <mc:Fallback xmlns="">
          <p:sp>
            <p:nvSpPr>
              <p:cNvPr id="3" name="Segnaposto contenuto 2">
                <a:extLst>
                  <a:ext uri="{FF2B5EF4-FFF2-40B4-BE49-F238E27FC236}">
                    <a16:creationId xmlns:a16="http://schemas.microsoft.com/office/drawing/2014/main" id="{25E62DB6-DB2E-2A02-AFD2-D89C68ABA7DB}"/>
                  </a:ext>
                </a:extLst>
              </p:cNvPr>
              <p:cNvSpPr>
                <a:spLocks noGrp="1" noRot="1" noChangeAspect="1" noMove="1" noResize="1" noEditPoints="1" noAdjustHandles="1" noChangeArrowheads="1" noChangeShapeType="1" noTextEdit="1"/>
              </p:cNvSpPr>
              <p:nvPr>
                <p:ph idx="1"/>
              </p:nvPr>
            </p:nvSpPr>
            <p:spPr>
              <a:xfrm>
                <a:off x="1295535" y="2249487"/>
                <a:ext cx="9597752" cy="3593530"/>
              </a:xfrm>
              <a:blipFill>
                <a:blip r:embed="rId2"/>
                <a:stretch>
                  <a:fillRect l="-953" t="-2542"/>
                </a:stretch>
              </a:blipFill>
            </p:spPr>
            <p:txBody>
              <a:bodyPr/>
              <a:lstStyle/>
              <a:p>
                <a:r>
                  <a:rPr lang="it-IT">
                    <a:noFill/>
                  </a:rPr>
                  <a:t> </a:t>
                </a:r>
              </a:p>
            </p:txBody>
          </p:sp>
        </mc:Fallback>
      </mc:AlternateContent>
    </p:spTree>
    <p:extLst>
      <p:ext uri="{BB962C8B-B14F-4D97-AF65-F5344CB8AC3E}">
        <p14:creationId xmlns:p14="http://schemas.microsoft.com/office/powerpoint/2010/main" val="19293655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D49EC7-F54D-A68A-0408-A204580B6F2D}"/>
              </a:ext>
            </a:extLst>
          </p:cNvPr>
          <p:cNvSpPr>
            <a:spLocks noGrp="1"/>
          </p:cNvSpPr>
          <p:nvPr>
            <p:ph type="title"/>
          </p:nvPr>
        </p:nvSpPr>
        <p:spPr/>
        <p:txBody>
          <a:bodyPr/>
          <a:lstStyle/>
          <a:p>
            <a:r>
              <a:rPr lang="en-US" dirty="0"/>
              <a:t>NOT, OR AND AND IN THREE-VALUED LOGIC</a:t>
            </a:r>
          </a:p>
        </p:txBody>
      </p:sp>
      <p:pic>
        <p:nvPicPr>
          <p:cNvPr id="6" name="Segnaposto contenuto 5">
            <a:extLst>
              <a:ext uri="{FF2B5EF4-FFF2-40B4-BE49-F238E27FC236}">
                <a16:creationId xmlns:a16="http://schemas.microsoft.com/office/drawing/2014/main" id="{B901C210-83A8-7A0C-B3FD-F5AE6A3BF8FB}"/>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3021078" y="1948070"/>
            <a:ext cx="6167410" cy="4158532"/>
          </a:xfrm>
        </p:spPr>
      </p:pic>
      <p:sp>
        <p:nvSpPr>
          <p:cNvPr id="4" name="Rettangolo 3">
            <a:extLst>
              <a:ext uri="{FF2B5EF4-FFF2-40B4-BE49-F238E27FC236}">
                <a16:creationId xmlns:a16="http://schemas.microsoft.com/office/drawing/2014/main" id="{16C6A607-1235-2B22-EC80-374ABE1B692C}"/>
              </a:ext>
            </a:extLst>
          </p:cNvPr>
          <p:cNvSpPr/>
          <p:nvPr/>
        </p:nvSpPr>
        <p:spPr>
          <a:xfrm>
            <a:off x="3021078" y="1948070"/>
            <a:ext cx="6167410" cy="4158532"/>
          </a:xfrm>
          <a:prstGeom prst="rect">
            <a:avLst/>
          </a:prstGeom>
          <a:noFill/>
          <a:ln w="127000">
            <a:solidFill>
              <a:srgbClr val="8D7843"/>
            </a:solidFill>
            <a:extLst>
              <a:ext uri="{C807C97D-BFC1-408E-A445-0C87EB9F89A2}">
                <ask:lineSketchStyleProps xmlns:ask="http://schemas.microsoft.com/office/drawing/2018/sketchyshapes" sd="1219033472">
                  <a:custGeom>
                    <a:avLst/>
                    <a:gdLst>
                      <a:gd name="connsiteX0" fmla="*/ 0 w 9311502"/>
                      <a:gd name="connsiteY0" fmla="*/ 0 h 4158532"/>
                      <a:gd name="connsiteX1" fmla="*/ 488854 w 9311502"/>
                      <a:gd name="connsiteY1" fmla="*/ 0 h 4158532"/>
                      <a:gd name="connsiteX2" fmla="*/ 791478 w 9311502"/>
                      <a:gd name="connsiteY2" fmla="*/ 0 h 4158532"/>
                      <a:gd name="connsiteX3" fmla="*/ 1559677 w 9311502"/>
                      <a:gd name="connsiteY3" fmla="*/ 0 h 4158532"/>
                      <a:gd name="connsiteX4" fmla="*/ 2048530 w 9311502"/>
                      <a:gd name="connsiteY4" fmla="*/ 0 h 4158532"/>
                      <a:gd name="connsiteX5" fmla="*/ 2537384 w 9311502"/>
                      <a:gd name="connsiteY5" fmla="*/ 0 h 4158532"/>
                      <a:gd name="connsiteX6" fmla="*/ 3305583 w 9311502"/>
                      <a:gd name="connsiteY6" fmla="*/ 0 h 4158532"/>
                      <a:gd name="connsiteX7" fmla="*/ 3701322 w 9311502"/>
                      <a:gd name="connsiteY7" fmla="*/ 0 h 4158532"/>
                      <a:gd name="connsiteX8" fmla="*/ 4469521 w 9311502"/>
                      <a:gd name="connsiteY8" fmla="*/ 0 h 4158532"/>
                      <a:gd name="connsiteX9" fmla="*/ 5237720 w 9311502"/>
                      <a:gd name="connsiteY9" fmla="*/ 0 h 4158532"/>
                      <a:gd name="connsiteX10" fmla="*/ 5819689 w 9311502"/>
                      <a:gd name="connsiteY10" fmla="*/ 0 h 4158532"/>
                      <a:gd name="connsiteX11" fmla="*/ 6587888 w 9311502"/>
                      <a:gd name="connsiteY11" fmla="*/ 0 h 4158532"/>
                      <a:gd name="connsiteX12" fmla="*/ 7076742 w 9311502"/>
                      <a:gd name="connsiteY12" fmla="*/ 0 h 4158532"/>
                      <a:gd name="connsiteX13" fmla="*/ 7565595 w 9311502"/>
                      <a:gd name="connsiteY13" fmla="*/ 0 h 4158532"/>
                      <a:gd name="connsiteX14" fmla="*/ 8240679 w 9311502"/>
                      <a:gd name="connsiteY14" fmla="*/ 0 h 4158532"/>
                      <a:gd name="connsiteX15" fmla="*/ 8729533 w 9311502"/>
                      <a:gd name="connsiteY15" fmla="*/ 0 h 4158532"/>
                      <a:gd name="connsiteX16" fmla="*/ 9311502 w 9311502"/>
                      <a:gd name="connsiteY16" fmla="*/ 0 h 4158532"/>
                      <a:gd name="connsiteX17" fmla="*/ 9311502 w 9311502"/>
                      <a:gd name="connsiteY17" fmla="*/ 677247 h 4158532"/>
                      <a:gd name="connsiteX18" fmla="*/ 9311502 w 9311502"/>
                      <a:gd name="connsiteY18" fmla="*/ 1312908 h 4158532"/>
                      <a:gd name="connsiteX19" fmla="*/ 9311502 w 9311502"/>
                      <a:gd name="connsiteY19" fmla="*/ 1948569 h 4158532"/>
                      <a:gd name="connsiteX20" fmla="*/ 9311502 w 9311502"/>
                      <a:gd name="connsiteY20" fmla="*/ 2417889 h 4158532"/>
                      <a:gd name="connsiteX21" fmla="*/ 9311502 w 9311502"/>
                      <a:gd name="connsiteY21" fmla="*/ 2928795 h 4158532"/>
                      <a:gd name="connsiteX22" fmla="*/ 9311502 w 9311502"/>
                      <a:gd name="connsiteY22" fmla="*/ 3564456 h 4158532"/>
                      <a:gd name="connsiteX23" fmla="*/ 9311502 w 9311502"/>
                      <a:gd name="connsiteY23" fmla="*/ 4158532 h 4158532"/>
                      <a:gd name="connsiteX24" fmla="*/ 8915763 w 9311502"/>
                      <a:gd name="connsiteY24" fmla="*/ 4158532 h 4158532"/>
                      <a:gd name="connsiteX25" fmla="*/ 8613139 w 9311502"/>
                      <a:gd name="connsiteY25" fmla="*/ 4158532 h 4158532"/>
                      <a:gd name="connsiteX26" fmla="*/ 8310516 w 9311502"/>
                      <a:gd name="connsiteY26" fmla="*/ 4158532 h 4158532"/>
                      <a:gd name="connsiteX27" fmla="*/ 7728547 w 9311502"/>
                      <a:gd name="connsiteY27" fmla="*/ 4158532 h 4158532"/>
                      <a:gd name="connsiteX28" fmla="*/ 7332808 w 9311502"/>
                      <a:gd name="connsiteY28" fmla="*/ 4158532 h 4158532"/>
                      <a:gd name="connsiteX29" fmla="*/ 6657724 w 9311502"/>
                      <a:gd name="connsiteY29" fmla="*/ 4158532 h 4158532"/>
                      <a:gd name="connsiteX30" fmla="*/ 6261985 w 9311502"/>
                      <a:gd name="connsiteY30" fmla="*/ 4158532 h 4158532"/>
                      <a:gd name="connsiteX31" fmla="*/ 5586901 w 9311502"/>
                      <a:gd name="connsiteY31" fmla="*/ 4158532 h 4158532"/>
                      <a:gd name="connsiteX32" fmla="*/ 5284277 w 9311502"/>
                      <a:gd name="connsiteY32" fmla="*/ 4158532 h 4158532"/>
                      <a:gd name="connsiteX33" fmla="*/ 4609193 w 9311502"/>
                      <a:gd name="connsiteY33" fmla="*/ 4158532 h 4158532"/>
                      <a:gd name="connsiteX34" fmla="*/ 4213455 w 9311502"/>
                      <a:gd name="connsiteY34" fmla="*/ 4158532 h 4158532"/>
                      <a:gd name="connsiteX35" fmla="*/ 3910831 w 9311502"/>
                      <a:gd name="connsiteY35" fmla="*/ 4158532 h 4158532"/>
                      <a:gd name="connsiteX36" fmla="*/ 3515092 w 9311502"/>
                      <a:gd name="connsiteY36" fmla="*/ 4158532 h 4158532"/>
                      <a:gd name="connsiteX37" fmla="*/ 2840008 w 9311502"/>
                      <a:gd name="connsiteY37" fmla="*/ 4158532 h 4158532"/>
                      <a:gd name="connsiteX38" fmla="*/ 2444269 w 9311502"/>
                      <a:gd name="connsiteY38" fmla="*/ 4158532 h 4158532"/>
                      <a:gd name="connsiteX39" fmla="*/ 2141645 w 9311502"/>
                      <a:gd name="connsiteY39" fmla="*/ 4158532 h 4158532"/>
                      <a:gd name="connsiteX40" fmla="*/ 1745907 w 9311502"/>
                      <a:gd name="connsiteY40" fmla="*/ 4158532 h 4158532"/>
                      <a:gd name="connsiteX41" fmla="*/ 1257053 w 9311502"/>
                      <a:gd name="connsiteY41" fmla="*/ 4158532 h 4158532"/>
                      <a:gd name="connsiteX42" fmla="*/ 675084 w 9311502"/>
                      <a:gd name="connsiteY42" fmla="*/ 4158532 h 4158532"/>
                      <a:gd name="connsiteX43" fmla="*/ 0 w 9311502"/>
                      <a:gd name="connsiteY43" fmla="*/ 4158532 h 4158532"/>
                      <a:gd name="connsiteX44" fmla="*/ 0 w 9311502"/>
                      <a:gd name="connsiteY44" fmla="*/ 3481285 h 4158532"/>
                      <a:gd name="connsiteX45" fmla="*/ 0 w 9311502"/>
                      <a:gd name="connsiteY45" fmla="*/ 2887209 h 4158532"/>
                      <a:gd name="connsiteX46" fmla="*/ 0 w 9311502"/>
                      <a:gd name="connsiteY46" fmla="*/ 2293133 h 4158532"/>
                      <a:gd name="connsiteX47" fmla="*/ 0 w 9311502"/>
                      <a:gd name="connsiteY47" fmla="*/ 1699057 h 4158532"/>
                      <a:gd name="connsiteX48" fmla="*/ 0 w 9311502"/>
                      <a:gd name="connsiteY48" fmla="*/ 1104981 h 4158532"/>
                      <a:gd name="connsiteX49" fmla="*/ 0 w 9311502"/>
                      <a:gd name="connsiteY49" fmla="*/ 552491 h 4158532"/>
                      <a:gd name="connsiteX50" fmla="*/ 0 w 9311502"/>
                      <a:gd name="connsiteY50" fmla="*/ 0 h 415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311502" h="4158532" extrusionOk="0">
                        <a:moveTo>
                          <a:pt x="0" y="0"/>
                        </a:moveTo>
                        <a:cubicBezTo>
                          <a:pt x="233615" y="-11934"/>
                          <a:pt x="374894" y="18504"/>
                          <a:pt x="488854" y="0"/>
                        </a:cubicBezTo>
                        <a:cubicBezTo>
                          <a:pt x="602814" y="-18504"/>
                          <a:pt x="674930" y="3092"/>
                          <a:pt x="791478" y="0"/>
                        </a:cubicBezTo>
                        <a:cubicBezTo>
                          <a:pt x="908026" y="-3092"/>
                          <a:pt x="1401469" y="12488"/>
                          <a:pt x="1559677" y="0"/>
                        </a:cubicBezTo>
                        <a:cubicBezTo>
                          <a:pt x="1717885" y="-12488"/>
                          <a:pt x="1862710" y="13263"/>
                          <a:pt x="2048530" y="0"/>
                        </a:cubicBezTo>
                        <a:cubicBezTo>
                          <a:pt x="2234350" y="-13263"/>
                          <a:pt x="2349736" y="22134"/>
                          <a:pt x="2537384" y="0"/>
                        </a:cubicBezTo>
                        <a:cubicBezTo>
                          <a:pt x="2725032" y="-22134"/>
                          <a:pt x="2963155" y="71714"/>
                          <a:pt x="3305583" y="0"/>
                        </a:cubicBezTo>
                        <a:cubicBezTo>
                          <a:pt x="3648011" y="-71714"/>
                          <a:pt x="3523751" y="26370"/>
                          <a:pt x="3701322" y="0"/>
                        </a:cubicBezTo>
                        <a:cubicBezTo>
                          <a:pt x="3878893" y="-26370"/>
                          <a:pt x="4255302" y="35943"/>
                          <a:pt x="4469521" y="0"/>
                        </a:cubicBezTo>
                        <a:cubicBezTo>
                          <a:pt x="4683740" y="-35943"/>
                          <a:pt x="4929490" y="23981"/>
                          <a:pt x="5237720" y="0"/>
                        </a:cubicBezTo>
                        <a:cubicBezTo>
                          <a:pt x="5545950" y="-23981"/>
                          <a:pt x="5583968" y="24226"/>
                          <a:pt x="5819689" y="0"/>
                        </a:cubicBezTo>
                        <a:cubicBezTo>
                          <a:pt x="6055410" y="-24226"/>
                          <a:pt x="6317551" y="87082"/>
                          <a:pt x="6587888" y="0"/>
                        </a:cubicBezTo>
                        <a:cubicBezTo>
                          <a:pt x="6858225" y="-87082"/>
                          <a:pt x="6833196" y="51846"/>
                          <a:pt x="7076742" y="0"/>
                        </a:cubicBezTo>
                        <a:cubicBezTo>
                          <a:pt x="7320288" y="-51846"/>
                          <a:pt x="7322151" y="50499"/>
                          <a:pt x="7565595" y="0"/>
                        </a:cubicBezTo>
                        <a:cubicBezTo>
                          <a:pt x="7809039" y="-50499"/>
                          <a:pt x="8063929" y="10477"/>
                          <a:pt x="8240679" y="0"/>
                        </a:cubicBezTo>
                        <a:cubicBezTo>
                          <a:pt x="8417429" y="-10477"/>
                          <a:pt x="8532463" y="49801"/>
                          <a:pt x="8729533" y="0"/>
                        </a:cubicBezTo>
                        <a:cubicBezTo>
                          <a:pt x="8926603" y="-49801"/>
                          <a:pt x="9037165" y="14536"/>
                          <a:pt x="9311502" y="0"/>
                        </a:cubicBezTo>
                        <a:cubicBezTo>
                          <a:pt x="9312960" y="333971"/>
                          <a:pt x="9249228" y="526759"/>
                          <a:pt x="9311502" y="677247"/>
                        </a:cubicBezTo>
                        <a:cubicBezTo>
                          <a:pt x="9373776" y="827735"/>
                          <a:pt x="9271123" y="1001604"/>
                          <a:pt x="9311502" y="1312908"/>
                        </a:cubicBezTo>
                        <a:cubicBezTo>
                          <a:pt x="9351881" y="1624212"/>
                          <a:pt x="9266509" y="1783515"/>
                          <a:pt x="9311502" y="1948569"/>
                        </a:cubicBezTo>
                        <a:cubicBezTo>
                          <a:pt x="9356495" y="2113623"/>
                          <a:pt x="9273403" y="2198760"/>
                          <a:pt x="9311502" y="2417889"/>
                        </a:cubicBezTo>
                        <a:cubicBezTo>
                          <a:pt x="9349601" y="2637018"/>
                          <a:pt x="9257025" y="2720639"/>
                          <a:pt x="9311502" y="2928795"/>
                        </a:cubicBezTo>
                        <a:cubicBezTo>
                          <a:pt x="9365979" y="3136951"/>
                          <a:pt x="9245799" y="3255555"/>
                          <a:pt x="9311502" y="3564456"/>
                        </a:cubicBezTo>
                        <a:cubicBezTo>
                          <a:pt x="9377205" y="3873357"/>
                          <a:pt x="9267946" y="3891202"/>
                          <a:pt x="9311502" y="4158532"/>
                        </a:cubicBezTo>
                        <a:cubicBezTo>
                          <a:pt x="9212928" y="4188663"/>
                          <a:pt x="9082619" y="4119884"/>
                          <a:pt x="8915763" y="4158532"/>
                        </a:cubicBezTo>
                        <a:cubicBezTo>
                          <a:pt x="8748907" y="4197180"/>
                          <a:pt x="8697095" y="4124284"/>
                          <a:pt x="8613139" y="4158532"/>
                        </a:cubicBezTo>
                        <a:cubicBezTo>
                          <a:pt x="8529183" y="4192780"/>
                          <a:pt x="8461195" y="4132216"/>
                          <a:pt x="8310516" y="4158532"/>
                        </a:cubicBezTo>
                        <a:cubicBezTo>
                          <a:pt x="8159837" y="4184848"/>
                          <a:pt x="7965211" y="4153896"/>
                          <a:pt x="7728547" y="4158532"/>
                        </a:cubicBezTo>
                        <a:cubicBezTo>
                          <a:pt x="7491883" y="4163168"/>
                          <a:pt x="7498094" y="4137744"/>
                          <a:pt x="7332808" y="4158532"/>
                        </a:cubicBezTo>
                        <a:cubicBezTo>
                          <a:pt x="7167522" y="4179320"/>
                          <a:pt x="6898974" y="4116369"/>
                          <a:pt x="6657724" y="4158532"/>
                        </a:cubicBezTo>
                        <a:cubicBezTo>
                          <a:pt x="6416474" y="4200695"/>
                          <a:pt x="6384258" y="4144646"/>
                          <a:pt x="6261985" y="4158532"/>
                        </a:cubicBezTo>
                        <a:cubicBezTo>
                          <a:pt x="6139712" y="4172418"/>
                          <a:pt x="5816638" y="4110110"/>
                          <a:pt x="5586901" y="4158532"/>
                        </a:cubicBezTo>
                        <a:cubicBezTo>
                          <a:pt x="5357164" y="4206954"/>
                          <a:pt x="5374961" y="4140546"/>
                          <a:pt x="5284277" y="4158532"/>
                        </a:cubicBezTo>
                        <a:cubicBezTo>
                          <a:pt x="5193593" y="4176518"/>
                          <a:pt x="4750658" y="4144710"/>
                          <a:pt x="4609193" y="4158532"/>
                        </a:cubicBezTo>
                        <a:cubicBezTo>
                          <a:pt x="4467728" y="4172354"/>
                          <a:pt x="4337198" y="4136722"/>
                          <a:pt x="4213455" y="4158532"/>
                        </a:cubicBezTo>
                        <a:cubicBezTo>
                          <a:pt x="4089712" y="4180342"/>
                          <a:pt x="4046500" y="4126709"/>
                          <a:pt x="3910831" y="4158532"/>
                        </a:cubicBezTo>
                        <a:cubicBezTo>
                          <a:pt x="3775162" y="4190355"/>
                          <a:pt x="3695643" y="4125799"/>
                          <a:pt x="3515092" y="4158532"/>
                        </a:cubicBezTo>
                        <a:cubicBezTo>
                          <a:pt x="3334541" y="4191265"/>
                          <a:pt x="3160908" y="4140874"/>
                          <a:pt x="2840008" y="4158532"/>
                        </a:cubicBezTo>
                        <a:cubicBezTo>
                          <a:pt x="2519108" y="4176190"/>
                          <a:pt x="2559432" y="4144412"/>
                          <a:pt x="2444269" y="4158532"/>
                        </a:cubicBezTo>
                        <a:cubicBezTo>
                          <a:pt x="2329106" y="4172652"/>
                          <a:pt x="2288802" y="4138008"/>
                          <a:pt x="2141645" y="4158532"/>
                        </a:cubicBezTo>
                        <a:cubicBezTo>
                          <a:pt x="1994488" y="4179056"/>
                          <a:pt x="1862903" y="4133089"/>
                          <a:pt x="1745907" y="4158532"/>
                        </a:cubicBezTo>
                        <a:cubicBezTo>
                          <a:pt x="1628911" y="4183975"/>
                          <a:pt x="1445780" y="4103112"/>
                          <a:pt x="1257053" y="4158532"/>
                        </a:cubicBezTo>
                        <a:cubicBezTo>
                          <a:pt x="1068326" y="4213952"/>
                          <a:pt x="914772" y="4122021"/>
                          <a:pt x="675084" y="4158532"/>
                        </a:cubicBezTo>
                        <a:cubicBezTo>
                          <a:pt x="435396" y="4195043"/>
                          <a:pt x="302164" y="4096134"/>
                          <a:pt x="0" y="4158532"/>
                        </a:cubicBezTo>
                        <a:cubicBezTo>
                          <a:pt x="-62595" y="3895017"/>
                          <a:pt x="65567" y="3805436"/>
                          <a:pt x="0" y="3481285"/>
                        </a:cubicBezTo>
                        <a:cubicBezTo>
                          <a:pt x="-65567" y="3157134"/>
                          <a:pt x="11204" y="3135003"/>
                          <a:pt x="0" y="2887209"/>
                        </a:cubicBezTo>
                        <a:cubicBezTo>
                          <a:pt x="-11204" y="2639415"/>
                          <a:pt x="52093" y="2479762"/>
                          <a:pt x="0" y="2293133"/>
                        </a:cubicBezTo>
                        <a:cubicBezTo>
                          <a:pt x="-52093" y="2106504"/>
                          <a:pt x="60731" y="1892794"/>
                          <a:pt x="0" y="1699057"/>
                        </a:cubicBezTo>
                        <a:cubicBezTo>
                          <a:pt x="-60731" y="1505320"/>
                          <a:pt x="48408" y="1262600"/>
                          <a:pt x="0" y="1104981"/>
                        </a:cubicBezTo>
                        <a:cubicBezTo>
                          <a:pt x="-48408" y="947362"/>
                          <a:pt x="18728" y="721311"/>
                          <a:pt x="0" y="552491"/>
                        </a:cubicBezTo>
                        <a:cubicBezTo>
                          <a:pt x="-18728" y="383671"/>
                          <a:pt x="27398" y="12444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12914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en-US" dirty="0"/>
              <a:t>S-R LATCH SIMULATION WITH THREE-VALUED LOGIC</a:t>
            </a:r>
          </a:p>
        </p:txBody>
      </p:sp>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994646"/>
          </a:xfrm>
        </p:spPr>
        <p:txBody>
          <a:bodyPr>
            <a:normAutofit fontScale="92500"/>
          </a:bodyPr>
          <a:lstStyle/>
          <a:p>
            <a:pPr marL="0" indent="0">
              <a:buNone/>
            </a:pPr>
            <a:r>
              <a:rPr lang="en-US" dirty="0"/>
              <a:t>Three-valued logic is useful for studying the behavior of asynchronous logic networks. As an example, let us look at the study of a </a:t>
            </a:r>
            <a:r>
              <a:rPr lang="en-US" i="1" dirty="0" err="1"/>
              <a:t>Set-Reset latch </a:t>
            </a:r>
            <a:r>
              <a:rPr lang="en-US" dirty="0"/>
              <a:t>built with NOR gates.</a:t>
            </a:r>
          </a:p>
        </p:txBody>
      </p:sp>
      <p:pic>
        <p:nvPicPr>
          <p:cNvPr id="9" name="Elemento grafico 8">
            <a:extLst>
              <a:ext uri="{FF2B5EF4-FFF2-40B4-BE49-F238E27FC236}">
                <a16:creationId xmlns:a16="http://schemas.microsoft.com/office/drawing/2014/main" id="{053E01B6-118D-8221-2D43-B3D7B471E8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3286" y="2528515"/>
            <a:ext cx="10382250" cy="3886200"/>
          </a:xfrm>
          <a:prstGeom prst="rect">
            <a:avLst/>
          </a:prstGeom>
        </p:spPr>
      </p:pic>
    </p:spTree>
    <p:extLst>
      <p:ext uri="{BB962C8B-B14F-4D97-AF65-F5344CB8AC3E}">
        <p14:creationId xmlns:p14="http://schemas.microsoft.com/office/powerpoint/2010/main" val="36843929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en-US" dirty="0"/>
              <a:t>S-R LATCH SIMULATION WITH THREE-VALUED LOGIC</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994646"/>
              </a:xfrm>
            </p:spPr>
            <p:txBody>
              <a:bodyPr>
                <a:normAutofit fontScale="70000" lnSpcReduction="20000"/>
              </a:bodyPr>
              <a:lstStyle/>
              <a:p>
                <a:pPr marL="0" indent="0">
                  <a:buNone/>
                </a:pPr>
                <a:r>
                  <a:rPr lang="en-US" dirty="0"/>
                  <a:t>Initially (instant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oMath>
                </a14:m>
                <a:r>
                  <a:rPr lang="en-US" dirty="0"/>
                  <a:t>) the output state of the NOR gates is unknown because inputs at 0 (zero) allow X (undefined) values as outputs. In practice, the state of the S-R Latch cannot be determined with certainty. It can be stated, however, that outputs </a:t>
                </a:r>
                <a14:m>
                  <m:oMath xmlns:m="http://schemas.openxmlformats.org/officeDocument/2006/math">
                    <m:r>
                      <a:rPr lang="en-US" b="0" i="1" smtClean="0">
                        <a:latin typeface="Cambria Math" panose="02040503050406030204" pitchFamily="18" charset="0"/>
                      </a:rPr>
                      <m:t>𝑄</m:t>
                    </m:r>
                  </m:oMath>
                </a14:m>
                <a:r>
                  <a:rPr lang="en-US" dirty="0"/>
                  <a:t> and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𝑄</m:t>
                        </m:r>
                      </m:e>
                    </m:acc>
                  </m:oMath>
                </a14:m>
                <a:r>
                  <a:rPr lang="en-US" dirty="0"/>
                  <a:t> are the negation of each other under stable conditions.</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994646"/>
              </a:xfrm>
              <a:blipFill>
                <a:blip r:embed="rId2"/>
                <a:stretch>
                  <a:fillRect l="-369" t="-2454" r="-985"/>
                </a:stretch>
              </a:blipFill>
            </p:spPr>
            <p:txBody>
              <a:bodyPr/>
              <a:lstStyle/>
              <a:p>
                <a:r>
                  <a:rPr lang="en-US">
                    <a:noFill/>
                  </a:rPr>
                  <a:t> </a:t>
                </a:r>
              </a:p>
            </p:txBody>
          </p:sp>
        </mc:Fallback>
      </mc:AlternateContent>
      <p:pic>
        <p:nvPicPr>
          <p:cNvPr id="9" name="Elemento grafico 8">
            <a:extLst>
              <a:ext uri="{FF2B5EF4-FFF2-40B4-BE49-F238E27FC236}">
                <a16:creationId xmlns:a16="http://schemas.microsoft.com/office/drawing/2014/main" id="{DFAA33AA-06AA-7C73-9616-4A97FD4A30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3286" y="2528515"/>
            <a:ext cx="10382250" cy="3886200"/>
          </a:xfrm>
          <a:prstGeom prst="rect">
            <a:avLst/>
          </a:prstGeom>
        </p:spPr>
      </p:pic>
    </p:spTree>
    <p:extLst>
      <p:ext uri="{BB962C8B-B14F-4D97-AF65-F5344CB8AC3E}">
        <p14:creationId xmlns:p14="http://schemas.microsoft.com/office/powerpoint/2010/main" val="8895656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en-US" dirty="0"/>
              <a:t>S-R LATCH SIMULATION WITH THREE-VALUED LOGIC</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994646"/>
              </a:xfrm>
            </p:spPr>
            <p:txBody>
              <a:bodyPr>
                <a:normAutofit fontScale="92500"/>
              </a:bodyPr>
              <a:lstStyle/>
              <a:p>
                <a:pPr marL="0" indent="0">
                  <a:buNone/>
                </a:pPr>
                <a:r>
                  <a:rPr lang="en-US" dirty="0"/>
                  <a:t>As soon as the Set input is driven to 1 (instant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oMath>
                </a14:m>
                <a:r>
                  <a:rPr lang="en-US" dirty="0"/>
                  <a:t>), the gate connected to it "reacts", getting ready to produce a 0 regardless of whether the second input sees X.</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994646"/>
              </a:xfrm>
              <a:blipFill>
                <a:blip r:embed="rId2"/>
                <a:stretch>
                  <a:fillRect l="-800"/>
                </a:stretch>
              </a:blipFill>
            </p:spPr>
            <p:txBody>
              <a:bodyPr/>
              <a:lstStyle/>
              <a:p>
                <a:r>
                  <a:rPr lang="it-IT">
                    <a:noFill/>
                  </a:rPr>
                  <a:t> </a:t>
                </a:r>
              </a:p>
            </p:txBody>
          </p:sp>
        </mc:Fallback>
      </mc:AlternateContent>
      <p:pic>
        <p:nvPicPr>
          <p:cNvPr id="4" name="Elemento grafico 3">
            <a:extLst>
              <a:ext uri="{FF2B5EF4-FFF2-40B4-BE49-F238E27FC236}">
                <a16:creationId xmlns:a16="http://schemas.microsoft.com/office/drawing/2014/main" id="{23A512FA-2FFA-01E7-A23D-6F312E0098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464" y="2528515"/>
            <a:ext cx="10382250" cy="3886200"/>
          </a:xfrm>
          <a:prstGeom prst="rect">
            <a:avLst/>
          </a:prstGeom>
        </p:spPr>
      </p:pic>
    </p:spTree>
    <p:extLst>
      <p:ext uri="{BB962C8B-B14F-4D97-AF65-F5344CB8AC3E}">
        <p14:creationId xmlns:p14="http://schemas.microsoft.com/office/powerpoint/2010/main" val="25177212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en-US" dirty="0"/>
              <a:t>S-R LATCH SIMULATION WITH THREE-VALUED LOGIC</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994646"/>
              </a:xfrm>
            </p:spPr>
            <p:txBody>
              <a:bodyPr>
                <a:normAutofit fontScale="77500" lnSpcReduction="20000"/>
              </a:bodyPr>
              <a:lstStyle/>
              <a:p>
                <a:pPr marL="0" indent="0">
                  <a:buNone/>
                </a:pPr>
                <a:r>
                  <a:rPr lang="en-US" dirty="0"/>
                  <a:t>At instant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m:t>
                        </m:r>
                      </m:sub>
                    </m:sSub>
                  </m:oMath>
                </a14:m>
                <a:r>
                  <a:rPr lang="en-US" dirty="0"/>
                  <a:t>, the NOR gate connected to output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𝑄</m:t>
                        </m:r>
                      </m:e>
                    </m:acc>
                  </m:oMath>
                </a14:m>
                <a:r>
                  <a:rPr lang="en-US" dirty="0"/>
                  <a:t> stably generates the value zero. However, the output change triggers the other NOR gate which, seeing the 00 configuration at its input, gets ready to generate the value 1 for output </a:t>
                </a:r>
                <a14:m>
                  <m:oMath xmlns:m="http://schemas.openxmlformats.org/officeDocument/2006/math">
                    <m:r>
                      <a:rPr lang="en-US" b="0" i="1" smtClean="0">
                        <a:latin typeface="Cambria Math" panose="02040503050406030204" pitchFamily="18" charset="0"/>
                      </a:rPr>
                      <m:t>𝑄</m:t>
                    </m:r>
                  </m:oMath>
                </a14:m>
                <a:r>
                  <a:rPr lang="en-US" dirty="0"/>
                  <a:t>.</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994646"/>
              </a:xfrm>
              <a:blipFill>
                <a:blip r:embed="rId2"/>
                <a:stretch>
                  <a:fillRect l="-554" t="-3067" b="-7362"/>
                </a:stretch>
              </a:blipFill>
            </p:spPr>
            <p:txBody>
              <a:bodyPr/>
              <a:lstStyle/>
              <a:p>
                <a:r>
                  <a:rPr lang="en-US">
                    <a:noFill/>
                  </a:rPr>
                  <a:t> </a:t>
                </a:r>
              </a:p>
            </p:txBody>
          </p:sp>
        </mc:Fallback>
      </mc:AlternateContent>
      <p:pic>
        <p:nvPicPr>
          <p:cNvPr id="5" name="Elemento grafico 4">
            <a:extLst>
              <a:ext uri="{FF2B5EF4-FFF2-40B4-BE49-F238E27FC236}">
                <a16:creationId xmlns:a16="http://schemas.microsoft.com/office/drawing/2014/main" id="{B3002FF8-F83A-87AE-FEF9-ACD3DE44CE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463" y="2525533"/>
            <a:ext cx="10382250" cy="3886200"/>
          </a:xfrm>
          <a:prstGeom prst="rect">
            <a:avLst/>
          </a:prstGeom>
        </p:spPr>
      </p:pic>
    </p:spTree>
    <p:extLst>
      <p:ext uri="{BB962C8B-B14F-4D97-AF65-F5344CB8AC3E}">
        <p14:creationId xmlns:p14="http://schemas.microsoft.com/office/powerpoint/2010/main" val="17542949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en-US" dirty="0"/>
              <a:t>S-R LATCH SIMULATION WITH THREE-VALUED LOGIC</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827668"/>
              </a:xfrm>
            </p:spPr>
            <p:txBody>
              <a:bodyPr>
                <a:normAutofit fontScale="92500" lnSpcReduction="10000"/>
              </a:bodyPr>
              <a:lstStyle/>
              <a:p>
                <a:pPr marL="0" indent="0">
                  <a:buNone/>
                </a:pPr>
                <a:r>
                  <a:rPr lang="en-US" dirty="0"/>
                  <a:t>Output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𝑄</m:t>
                        </m:r>
                      </m:e>
                    </m:acc>
                  </m:oMath>
                </a14:m>
                <a:r>
                  <a:rPr lang="en-US" dirty="0"/>
                  <a:t> confirms the value 0 (instant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3</m:t>
                        </m:r>
                      </m:sub>
                    </m:sSub>
                  </m:oMath>
                </a14:m>
                <a:r>
                  <a:rPr lang="en-US" dirty="0"/>
                  <a:t>), reinforced by the 11 configuration at the input of the NOR gate concerned.</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827668"/>
              </a:xfrm>
              <a:blipFill>
                <a:blip r:embed="rId2"/>
                <a:stretch>
                  <a:fillRect l="-800" t="-3704" b="-13333"/>
                </a:stretch>
              </a:blipFill>
            </p:spPr>
            <p:txBody>
              <a:bodyPr/>
              <a:lstStyle/>
              <a:p>
                <a:r>
                  <a:rPr lang="en-US">
                    <a:noFill/>
                  </a:rPr>
                  <a:t> </a:t>
                </a:r>
              </a:p>
            </p:txBody>
          </p:sp>
        </mc:Fallback>
      </mc:AlternateContent>
      <p:pic>
        <p:nvPicPr>
          <p:cNvPr id="4" name="Elemento grafico 3">
            <a:extLst>
              <a:ext uri="{FF2B5EF4-FFF2-40B4-BE49-F238E27FC236}">
                <a16:creationId xmlns:a16="http://schemas.microsoft.com/office/drawing/2014/main" id="{11D9DF8D-7D1D-B7C2-FB30-2D8E537843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463" y="2525533"/>
            <a:ext cx="10382250" cy="3886200"/>
          </a:xfrm>
          <a:prstGeom prst="rect">
            <a:avLst/>
          </a:prstGeom>
        </p:spPr>
      </p:pic>
    </p:spTree>
    <p:extLst>
      <p:ext uri="{BB962C8B-B14F-4D97-AF65-F5344CB8AC3E}">
        <p14:creationId xmlns:p14="http://schemas.microsoft.com/office/powerpoint/2010/main" val="24480645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en-US" dirty="0"/>
              <a:t>S-R LATCH SIMULATION WITH THREE-VALUED LOGIC</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851522"/>
              </a:xfrm>
            </p:spPr>
            <p:txBody>
              <a:bodyPr>
                <a:normAutofit fontScale="92500" lnSpcReduction="10000"/>
              </a:bodyPr>
              <a:lstStyle/>
              <a:p>
                <a:pPr marL="0" indent="0">
                  <a:buNone/>
                </a:pPr>
                <a:r>
                  <a:rPr lang="en-US" dirty="0"/>
                  <a:t>When the Set command is de-asserted (set back to zero at instant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4</m:t>
                        </m:r>
                      </m:sub>
                    </m:sSub>
                  </m:oMath>
                </a14:m>
                <a:r>
                  <a:rPr lang="en-US" dirty="0"/>
                  <a:t>), the latch, as expected, keeps the previously imposed value.</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851522"/>
              </a:xfrm>
              <a:blipFill>
                <a:blip r:embed="rId2"/>
                <a:stretch>
                  <a:fillRect l="-800" t="-3597" r="-554" b="-10072"/>
                </a:stretch>
              </a:blipFill>
            </p:spPr>
            <p:txBody>
              <a:bodyPr/>
              <a:lstStyle/>
              <a:p>
                <a:r>
                  <a:rPr lang="en-US">
                    <a:noFill/>
                  </a:rPr>
                  <a:t> </a:t>
                </a:r>
              </a:p>
            </p:txBody>
          </p:sp>
        </mc:Fallback>
      </mc:AlternateContent>
      <p:pic>
        <p:nvPicPr>
          <p:cNvPr id="5" name="Elemento grafico 4">
            <a:extLst>
              <a:ext uri="{FF2B5EF4-FFF2-40B4-BE49-F238E27FC236}">
                <a16:creationId xmlns:a16="http://schemas.microsoft.com/office/drawing/2014/main" id="{F7340645-FC8A-BB72-14B4-CA6065D7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463" y="2525533"/>
            <a:ext cx="10382250" cy="3886200"/>
          </a:xfrm>
          <a:prstGeom prst="rect">
            <a:avLst/>
          </a:prstGeom>
        </p:spPr>
      </p:pic>
    </p:spTree>
    <p:extLst>
      <p:ext uri="{BB962C8B-B14F-4D97-AF65-F5344CB8AC3E}">
        <p14:creationId xmlns:p14="http://schemas.microsoft.com/office/powerpoint/2010/main" val="35419479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en-US" dirty="0"/>
              <a:t>S-R LATCH SIMULATION WITH THREE-VALUED LOGIC</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994646"/>
              </a:xfrm>
            </p:spPr>
            <p:txBody>
              <a:bodyPr>
                <a:normAutofit fontScale="85000" lnSpcReduction="10000"/>
              </a:bodyPr>
              <a:lstStyle/>
              <a:p>
                <a:pPr marL="0" indent="0">
                  <a:buNone/>
                </a:pPr>
                <a:r>
                  <a:rPr lang="en-US" dirty="0"/>
                  <a:t>At instant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5</m:t>
                        </m:r>
                      </m:sub>
                    </m:sSub>
                  </m:oMath>
                </a14:m>
                <a:r>
                  <a:rPr lang="en-US" dirty="0"/>
                  <a:t> the Res (Reset) input of the latch is driven to 1. The gate connected to output </a:t>
                </a:r>
                <a14:m>
                  <m:oMath xmlns:m="http://schemas.openxmlformats.org/officeDocument/2006/math">
                    <m:r>
                      <a:rPr lang="en-US" b="0" i="1" smtClean="0">
                        <a:latin typeface="Cambria Math" panose="02040503050406030204" pitchFamily="18" charset="0"/>
                      </a:rPr>
                      <m:t>𝑄</m:t>
                    </m:r>
                  </m:oMath>
                </a14:m>
                <a:r>
                  <a:rPr lang="en-US" dirty="0"/>
                  <a:t> immediately triggers an output change given by the 10 configuration present on its inputs.</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994646"/>
              </a:xfrm>
              <a:blipFill>
                <a:blip r:embed="rId2"/>
                <a:stretch>
                  <a:fillRect l="-615" t="-2454" r="-492"/>
                </a:stretch>
              </a:blipFill>
            </p:spPr>
            <p:txBody>
              <a:bodyPr/>
              <a:lstStyle/>
              <a:p>
                <a:r>
                  <a:rPr lang="en-US">
                    <a:noFill/>
                  </a:rPr>
                  <a:t> </a:t>
                </a:r>
              </a:p>
            </p:txBody>
          </p:sp>
        </mc:Fallback>
      </mc:AlternateContent>
      <p:pic>
        <p:nvPicPr>
          <p:cNvPr id="4" name="Elemento grafico 3">
            <a:extLst>
              <a:ext uri="{FF2B5EF4-FFF2-40B4-BE49-F238E27FC236}">
                <a16:creationId xmlns:a16="http://schemas.microsoft.com/office/drawing/2014/main" id="{BCE0CC80-C279-9432-DF29-81BA84E57F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463" y="2525533"/>
            <a:ext cx="10382250" cy="3886200"/>
          </a:xfrm>
          <a:prstGeom prst="rect">
            <a:avLst/>
          </a:prstGeom>
        </p:spPr>
      </p:pic>
    </p:spTree>
    <p:extLst>
      <p:ext uri="{BB962C8B-B14F-4D97-AF65-F5344CB8AC3E}">
        <p14:creationId xmlns:p14="http://schemas.microsoft.com/office/powerpoint/2010/main" val="31570595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en-US" dirty="0"/>
              <a:t>S-R LATCH SIMULATION WITH THREE-VALUED LOGIC</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835620"/>
              </a:xfrm>
            </p:spPr>
            <p:txBody>
              <a:bodyPr>
                <a:normAutofit fontScale="92500" lnSpcReduction="10000"/>
              </a:bodyPr>
              <a:lstStyle/>
              <a:p>
                <a:pPr marL="0" indent="0">
                  <a:buNone/>
                </a:pPr>
                <a:r>
                  <a:rPr lang="en-US" dirty="0"/>
                  <a:t>At instant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6</m:t>
                        </m:r>
                      </m:sub>
                    </m:sSub>
                  </m:oMath>
                </a14:m>
                <a:r>
                  <a:rPr lang="en-US" dirty="0"/>
                  <a:t> the latch output </a:t>
                </a:r>
                <a14:m>
                  <m:oMath xmlns:m="http://schemas.openxmlformats.org/officeDocument/2006/math">
                    <m:r>
                      <a:rPr lang="en-US" b="0" i="1" smtClean="0">
                        <a:latin typeface="Cambria Math" panose="02040503050406030204" pitchFamily="18" charset="0"/>
                      </a:rPr>
                      <m:t>𝑄</m:t>
                    </m:r>
                  </m:oMath>
                </a14:m>
                <a:r>
                  <a:rPr lang="en-US" dirty="0"/>
                  <a:t> immediately goes to zero. This event triggers the next change to 1 of the output relating to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𝑄</m:t>
                        </m:r>
                      </m:e>
                    </m:acc>
                  </m:oMath>
                </a14:m>
                <a:r>
                  <a:rPr lang="en-US" dirty="0"/>
                  <a:t>.</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835620"/>
              </a:xfrm>
              <a:blipFill>
                <a:blip r:embed="rId2"/>
                <a:stretch>
                  <a:fillRect l="-800" t="-3650" b="-11679"/>
                </a:stretch>
              </a:blipFill>
            </p:spPr>
            <p:txBody>
              <a:bodyPr/>
              <a:lstStyle/>
              <a:p>
                <a:r>
                  <a:rPr lang="en-US">
                    <a:noFill/>
                  </a:rPr>
                  <a:t> </a:t>
                </a:r>
              </a:p>
            </p:txBody>
          </p:sp>
        </mc:Fallback>
      </mc:AlternateContent>
      <p:pic>
        <p:nvPicPr>
          <p:cNvPr id="8" name="Elemento grafico 7">
            <a:extLst>
              <a:ext uri="{FF2B5EF4-FFF2-40B4-BE49-F238E27FC236}">
                <a16:creationId xmlns:a16="http://schemas.microsoft.com/office/drawing/2014/main" id="{65A5DB35-2672-DFD5-5A79-1A346EFFC3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462" y="2525533"/>
            <a:ext cx="10391775" cy="3886200"/>
          </a:xfrm>
          <a:prstGeom prst="rect">
            <a:avLst/>
          </a:prstGeom>
        </p:spPr>
      </p:pic>
    </p:spTree>
    <p:extLst>
      <p:ext uri="{BB962C8B-B14F-4D97-AF65-F5344CB8AC3E}">
        <p14:creationId xmlns:p14="http://schemas.microsoft.com/office/powerpoint/2010/main" val="12862757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en-US" dirty="0"/>
              <a:t>S-R LATCH SIMULATION WITH THREE-VALUED LOGIC</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525519"/>
              </a:xfrm>
            </p:spPr>
            <p:txBody>
              <a:bodyPr>
                <a:normAutofit/>
              </a:bodyPr>
              <a:lstStyle/>
              <a:p>
                <a:pPr marL="0" indent="0">
                  <a:buNone/>
                </a:pPr>
                <a:r>
                  <a:rPr lang="en-US" dirty="0"/>
                  <a:t>As expected, shortly afterwards output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𝑄</m:t>
                        </m:r>
                      </m:e>
                    </m:acc>
                  </m:oMath>
                </a14:m>
                <a:r>
                  <a:rPr lang="en-US" dirty="0"/>
                  <a:t> settles at 1 at instant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7</m:t>
                        </m:r>
                      </m:sub>
                    </m:sSub>
                  </m:oMath>
                </a14:m>
                <a:r>
                  <a:rPr lang="en-US" dirty="0"/>
                  <a:t>.</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525519"/>
              </a:xfrm>
              <a:blipFill>
                <a:blip r:embed="rId2"/>
                <a:stretch>
                  <a:fillRect l="-923" t="-1163" b="-22093"/>
                </a:stretch>
              </a:blipFill>
            </p:spPr>
            <p:txBody>
              <a:bodyPr/>
              <a:lstStyle/>
              <a:p>
                <a:r>
                  <a:rPr lang="en-US">
                    <a:noFill/>
                  </a:rPr>
                  <a:t> </a:t>
                </a:r>
              </a:p>
            </p:txBody>
          </p:sp>
        </mc:Fallback>
      </mc:AlternateContent>
      <p:pic>
        <p:nvPicPr>
          <p:cNvPr id="8" name="Elemento grafico 7">
            <a:extLst>
              <a:ext uri="{FF2B5EF4-FFF2-40B4-BE49-F238E27FC236}">
                <a16:creationId xmlns:a16="http://schemas.microsoft.com/office/drawing/2014/main" id="{1DF0ADB8-59B9-8884-2052-5A7875F17D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462" y="2525533"/>
            <a:ext cx="10382250" cy="3886200"/>
          </a:xfrm>
          <a:prstGeom prst="rect">
            <a:avLst/>
          </a:prstGeom>
        </p:spPr>
      </p:pic>
    </p:spTree>
    <p:extLst>
      <p:ext uri="{BB962C8B-B14F-4D97-AF65-F5344CB8AC3E}">
        <p14:creationId xmlns:p14="http://schemas.microsoft.com/office/powerpoint/2010/main" val="38638124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en-US" dirty="0"/>
              <a:t>S-R LATCH SIMULATION WITH THREE-VALUED LOGIC</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2BF7A6E5-D0C7-2C96-5879-B1D383955DB8}"/>
                  </a:ext>
                </a:extLst>
              </p:cNvPr>
              <p:cNvSpPr>
                <a:spLocks noGrp="1"/>
              </p:cNvSpPr>
              <p:nvPr>
                <p:ph idx="1"/>
              </p:nvPr>
            </p:nvSpPr>
            <p:spPr>
              <a:xfrm>
                <a:off x="1141412" y="1533869"/>
                <a:ext cx="9905999" cy="811766"/>
              </a:xfrm>
            </p:spPr>
            <p:txBody>
              <a:bodyPr>
                <a:normAutofit fontScale="85000" lnSpcReduction="10000"/>
              </a:bodyPr>
              <a:lstStyle/>
              <a:p>
                <a:pPr marL="0" indent="0">
                  <a:buNone/>
                </a:pPr>
                <a:r>
                  <a:rPr lang="en-US" dirty="0"/>
                  <a:t>When the Res command is removed, the 01 configuration at the input of the NOR gate of output </a:t>
                </a:r>
                <a14:m>
                  <m:oMath xmlns:m="http://schemas.openxmlformats.org/officeDocument/2006/math">
                    <m:r>
                      <a:rPr lang="en-US" b="0" i="1" smtClean="0">
                        <a:latin typeface="Cambria Math" panose="02040503050406030204" pitchFamily="18" charset="0"/>
                      </a:rPr>
                      <m:t>𝑄</m:t>
                    </m:r>
                  </m:oMath>
                </a14:m>
                <a:r>
                  <a:rPr lang="en-US" dirty="0"/>
                  <a:t> confirms the value zero. The latch will now remember the state until the next Set.</a:t>
                </a:r>
              </a:p>
            </p:txBody>
          </p:sp>
        </mc:Choice>
        <mc:Fallback xmlns="">
          <p:sp>
            <p:nvSpPr>
              <p:cNvPr id="3" name="Segnaposto contenuto 2">
                <a:extLst>
                  <a:ext uri="{FF2B5EF4-FFF2-40B4-BE49-F238E27FC236}">
                    <a16:creationId xmlns:a16="http://schemas.microsoft.com/office/drawing/2014/main" id="{2BF7A6E5-D0C7-2C96-5879-B1D383955DB8}"/>
                  </a:ext>
                </a:extLst>
              </p:cNvPr>
              <p:cNvSpPr>
                <a:spLocks noGrp="1" noRot="1" noChangeAspect="1" noMove="1" noResize="1" noEditPoints="1" noAdjustHandles="1" noChangeArrowheads="1" noChangeShapeType="1" noTextEdit="1"/>
              </p:cNvSpPr>
              <p:nvPr>
                <p:ph idx="1"/>
              </p:nvPr>
            </p:nvSpPr>
            <p:spPr>
              <a:xfrm>
                <a:off x="1141412" y="1533869"/>
                <a:ext cx="9905999" cy="811766"/>
              </a:xfrm>
              <a:blipFill>
                <a:blip r:embed="rId2"/>
                <a:stretch>
                  <a:fillRect l="-615" t="-3008" r="-985" b="-5263"/>
                </a:stretch>
              </a:blipFill>
            </p:spPr>
            <p:txBody>
              <a:bodyPr/>
              <a:lstStyle/>
              <a:p>
                <a:r>
                  <a:rPr lang="it-IT">
                    <a:noFill/>
                  </a:rPr>
                  <a:t> </a:t>
                </a:r>
              </a:p>
            </p:txBody>
          </p:sp>
        </mc:Fallback>
      </mc:AlternateContent>
      <p:pic>
        <p:nvPicPr>
          <p:cNvPr id="10" name="Elemento grafico 9">
            <a:extLst>
              <a:ext uri="{FF2B5EF4-FFF2-40B4-BE49-F238E27FC236}">
                <a16:creationId xmlns:a16="http://schemas.microsoft.com/office/drawing/2014/main" id="{8DCDC66C-D8E5-AC9F-3F3A-29FD914E3A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462" y="2525533"/>
            <a:ext cx="10382250" cy="3886200"/>
          </a:xfrm>
          <a:prstGeom prst="rect">
            <a:avLst/>
          </a:prstGeom>
        </p:spPr>
      </p:pic>
    </p:spTree>
    <p:extLst>
      <p:ext uri="{BB962C8B-B14F-4D97-AF65-F5344CB8AC3E}">
        <p14:creationId xmlns:p14="http://schemas.microsoft.com/office/powerpoint/2010/main" val="38010728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E1133328-D202-3096-3D92-73B4CAD6764E}"/>
              </a:ext>
            </a:extLst>
          </p:cNvPr>
          <p:cNvSpPr>
            <a:spLocks noGrp="1"/>
          </p:cNvSpPr>
          <p:nvPr>
            <p:ph type="title"/>
          </p:nvPr>
        </p:nvSpPr>
        <p:spPr>
          <a:xfrm>
            <a:off x="1143001" y="236856"/>
            <a:ext cx="9905998" cy="1478570"/>
          </a:xfrm>
        </p:spPr>
        <p:txBody>
          <a:bodyPr/>
          <a:lstStyle/>
          <a:p>
            <a:r>
              <a:rPr lang="en-US" dirty="0"/>
              <a:t>S-R LATCH SIMULATION WITH THREE-VALUED LOGIC</a:t>
            </a:r>
          </a:p>
        </p:txBody>
      </p:sp>
      <p:pic>
        <p:nvPicPr>
          <p:cNvPr id="8" name="Elemento grafico 7">
            <a:extLst>
              <a:ext uri="{FF2B5EF4-FFF2-40B4-BE49-F238E27FC236}">
                <a16:creationId xmlns:a16="http://schemas.microsoft.com/office/drawing/2014/main" id="{0999769C-A9B2-46D9-7442-290D1553962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25147" y="1485816"/>
            <a:ext cx="8941705" cy="5135328"/>
          </a:xfrm>
          <a:prstGeom prst="rect">
            <a:avLst/>
          </a:prstGeom>
        </p:spPr>
      </p:pic>
    </p:spTree>
    <p:extLst>
      <p:ext uri="{BB962C8B-B14F-4D97-AF65-F5344CB8AC3E}">
        <p14:creationId xmlns:p14="http://schemas.microsoft.com/office/powerpoint/2010/main" val="34318319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231E0-6EF6-A2DD-6B9D-D0FB08381D22}"/>
              </a:ext>
            </a:extLst>
          </p:cNvPr>
          <p:cNvSpPr>
            <a:spLocks noGrp="1"/>
          </p:cNvSpPr>
          <p:nvPr>
            <p:ph type="title"/>
          </p:nvPr>
        </p:nvSpPr>
        <p:spPr>
          <a:xfrm>
            <a:off x="1141413" y="618518"/>
            <a:ext cx="9905998" cy="689582"/>
          </a:xfrm>
        </p:spPr>
        <p:txBody>
          <a:bodyPr/>
          <a:lstStyle/>
          <a:p>
            <a:r>
              <a:rPr lang="en-US" dirty="0"/>
              <a:t>SEQUENTIAL LOGIC NETWORKS (1)</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E5AFD51-FE7D-5876-626E-7B76FCF4606B}"/>
                  </a:ext>
                </a:extLst>
              </p:cNvPr>
              <p:cNvSpPr>
                <a:spLocks noGrp="1"/>
              </p:cNvSpPr>
              <p:nvPr>
                <p:ph idx="1"/>
              </p:nvPr>
            </p:nvSpPr>
            <p:spPr>
              <a:xfrm>
                <a:off x="1141412" y="1421764"/>
                <a:ext cx="9664411" cy="3331248"/>
              </a:xfrm>
            </p:spPr>
            <p:txBody>
              <a:bodyPr>
                <a:normAutofit fontScale="85000" lnSpcReduction="20000"/>
              </a:bodyPr>
              <a:lstStyle/>
              <a:p>
                <a:pPr marL="0" indent="0">
                  <a:buNone/>
                </a:pPr>
                <a:r>
                  <a:rPr lang="en-US" dirty="0"/>
                  <a:t>The S-R Latch simulation seen earlier suggests the existence of logic networks able to "remember" the </a:t>
                </a:r>
                <a:r>
                  <a:rPr lang="en-US" u="sng" dirty="0"/>
                  <a:t>processing phase</a:t>
                </a:r>
                <a:r>
                  <a:rPr lang="en-US" dirty="0"/>
                  <a:t>, normally also known as </a:t>
                </a:r>
                <a:r>
                  <a:rPr lang="en-US" u="sng" dirty="0"/>
                  <a:t>internal state</a:t>
                </a:r>
                <a:r>
                  <a:rPr lang="en-US" dirty="0"/>
                  <a:t>. </a:t>
                </a:r>
                <a:br>
                  <a:rPr lang="en-US" dirty="0"/>
                </a:br>
                <a:r>
                  <a:rPr lang="en-US" dirty="0"/>
                  <a:t>Still observing the previous experiment, we can deduce that feeding the output signals back to the input may be the key to giving a logic network the ability to have memory. </a:t>
                </a:r>
                <a:br>
                  <a:rPr lang="en-US" dirty="0"/>
                </a:br>
                <a:r>
                  <a:rPr lang="en-US" dirty="0"/>
                  <a:t>With a simple manipulation we can see that the NOR-based S-R Latch seen earlier can also be defined as a combinational network in SP canonical form that reads its own output (we consider only output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oMath>
                </a14:m>
                <a:r>
                  <a:rPr lang="en-US" dirty="0"/>
                  <a:t> </a:t>
                </a:r>
                <a:br>
                  <a:rPr lang="en-US" dirty="0"/>
                </a:br>
                <a:r>
                  <a:rPr lang="en-US" dirty="0"/>
                  <a:t>Note that the form in the middle of the drawing below suggests that, depending on which of the two outputs (</a:t>
                </a:r>
                <a14:m>
                  <m:oMath xmlns:m="http://schemas.openxmlformats.org/officeDocument/2006/math">
                    <m:r>
                      <a:rPr lang="en-US" b="0" i="1" smtClean="0">
                        <a:latin typeface="Cambria Math" panose="02040503050406030204" pitchFamily="18" charset="0"/>
                      </a:rPr>
                      <m:t>𝑄</m:t>
                    </m:r>
                  </m:oMath>
                </a14:m>
                <a:r>
                  <a:rPr lang="en-US" dirty="0"/>
                  <a:t>) is to be used as feedback, one can choose either of the two canonical forms (SP if the OR is chosen or PS if the AND is chosen).</a:t>
                </a:r>
              </a:p>
            </p:txBody>
          </p:sp>
        </mc:Choice>
        <mc:Fallback xmlns="">
          <p:sp>
            <p:nvSpPr>
              <p:cNvPr id="3" name="Segnaposto contenuto 2">
                <a:extLst>
                  <a:ext uri="{FF2B5EF4-FFF2-40B4-BE49-F238E27FC236}">
                    <a16:creationId xmlns:a16="http://schemas.microsoft.com/office/drawing/2014/main" id="{EE5AFD51-FE7D-5876-626E-7B76FCF4606B}"/>
                  </a:ext>
                </a:extLst>
              </p:cNvPr>
              <p:cNvSpPr>
                <a:spLocks noGrp="1" noRot="1" noChangeAspect="1" noMove="1" noResize="1" noEditPoints="1" noAdjustHandles="1" noChangeArrowheads="1" noChangeShapeType="1" noTextEdit="1"/>
              </p:cNvSpPr>
              <p:nvPr>
                <p:ph idx="1"/>
              </p:nvPr>
            </p:nvSpPr>
            <p:spPr>
              <a:xfrm>
                <a:off x="1141412" y="1421764"/>
                <a:ext cx="9664411" cy="3331248"/>
              </a:xfrm>
              <a:blipFill>
                <a:blip r:embed="rId2"/>
                <a:stretch>
                  <a:fillRect l="-631" t="-914"/>
                </a:stretch>
              </a:blipFill>
            </p:spPr>
            <p:txBody>
              <a:bodyPr/>
              <a:lstStyle/>
              <a:p>
                <a:r>
                  <a:rPr lang="it-IT">
                    <a:noFill/>
                  </a:rPr>
                  <a:t> </a:t>
                </a:r>
              </a:p>
            </p:txBody>
          </p:sp>
        </mc:Fallback>
      </mc:AlternateContent>
      <p:pic>
        <p:nvPicPr>
          <p:cNvPr id="5" name="Elemento grafico 4">
            <a:extLst>
              <a:ext uri="{FF2B5EF4-FFF2-40B4-BE49-F238E27FC236}">
                <a16:creationId xmlns:a16="http://schemas.microsoft.com/office/drawing/2014/main" id="{70465773-484D-624C-75EA-5C32B8BED7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9878" y="4753012"/>
            <a:ext cx="9709068" cy="1441760"/>
          </a:xfrm>
          <a:prstGeom prst="rect">
            <a:avLst/>
          </a:prstGeom>
        </p:spPr>
      </p:pic>
      <p:sp>
        <p:nvSpPr>
          <p:cNvPr id="4" name="Ovale 3">
            <a:extLst>
              <a:ext uri="{FF2B5EF4-FFF2-40B4-BE49-F238E27FC236}">
                <a16:creationId xmlns:a16="http://schemas.microsoft.com/office/drawing/2014/main" id="{A1A28AFA-6973-75E3-573A-76375711C210}"/>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5607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231E0-6EF6-A2DD-6B9D-D0FB08381D22}"/>
              </a:ext>
            </a:extLst>
          </p:cNvPr>
          <p:cNvSpPr>
            <a:spLocks noGrp="1"/>
          </p:cNvSpPr>
          <p:nvPr>
            <p:ph type="title"/>
          </p:nvPr>
        </p:nvSpPr>
        <p:spPr/>
        <p:txBody>
          <a:bodyPr/>
          <a:lstStyle/>
          <a:p>
            <a:r>
              <a:rPr lang="en-US" dirty="0"/>
              <a:t>SEQUENTIAL LOGIC NETWORKS (2)</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E5AFD51-FE7D-5876-626E-7B76FCF4606B}"/>
                  </a:ext>
                </a:extLst>
              </p:cNvPr>
              <p:cNvSpPr>
                <a:spLocks noGrp="1"/>
              </p:cNvSpPr>
              <p:nvPr>
                <p:ph idx="1"/>
              </p:nvPr>
            </p:nvSpPr>
            <p:spPr>
              <a:xfrm>
                <a:off x="1141412" y="1836750"/>
                <a:ext cx="9664411" cy="3035399"/>
              </a:xfrm>
            </p:spPr>
            <p:txBody>
              <a:bodyPr>
                <a:normAutofit fontScale="92500"/>
              </a:bodyPr>
              <a:lstStyle/>
              <a:p>
                <a:pPr marL="0" indent="0">
                  <a:buNone/>
                </a:pPr>
                <a:r>
                  <a:rPr lang="en-US" dirty="0"/>
                  <a:t>The last form on the right shows that output </a:t>
                </a:r>
                <a14:m>
                  <m:oMath xmlns:m="http://schemas.openxmlformats.org/officeDocument/2006/math">
                    <m:r>
                      <a:rPr lang="en-US" b="0" i="1" smtClean="0">
                        <a:latin typeface="Cambria Math" panose="02040503050406030204" pitchFamily="18" charset="0"/>
                      </a:rPr>
                      <m:t>𝑄</m:t>
                    </m:r>
                  </m:oMath>
                </a14:m>
                <a:r>
                  <a:rPr lang="en-US" dirty="0"/>
                  <a:t> is fed back to the input. </a:t>
                </a:r>
              </a:p>
              <a:p>
                <a:pPr marL="0" indent="0">
                  <a:buNone/>
                </a:pPr>
                <a:endParaRPr lang="en-US" dirty="0"/>
              </a:p>
              <a:p>
                <a:pPr marL="0" indent="0">
                  <a:buNone/>
                </a:pPr>
                <a:endParaRPr lang="en-US" dirty="0"/>
              </a:p>
              <a:p>
                <a:pPr marL="0" indent="0">
                  <a:buNone/>
                </a:pPr>
                <a:endParaRPr lang="en-US" dirty="0"/>
              </a:p>
              <a:p>
                <a:pPr marL="0" indent="0">
                  <a:buNone/>
                </a:pPr>
                <a:r>
                  <a:rPr lang="en-US" dirty="0"/>
                  <a:t>By setting the relation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𝑄</m:t>
                    </m:r>
                  </m:oMath>
                </a14:m>
                <a:r>
                  <a:rPr lang="en-US" dirty="0"/>
                  <a:t>, the loop can be opened to obtain a pure combinational network from which the Boolean expression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𝑅</m:t>
                        </m:r>
                      </m:e>
                    </m:acc>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is derived.</a:t>
                </a:r>
              </a:p>
            </p:txBody>
          </p:sp>
        </mc:Choice>
        <mc:Fallback xmlns="">
          <p:sp>
            <p:nvSpPr>
              <p:cNvPr id="3" name="Segnaposto contenuto 2">
                <a:extLst>
                  <a:ext uri="{FF2B5EF4-FFF2-40B4-BE49-F238E27FC236}">
                    <a16:creationId xmlns:a16="http://schemas.microsoft.com/office/drawing/2014/main" id="{EE5AFD51-FE7D-5876-626E-7B76FCF4606B}"/>
                  </a:ext>
                </a:extLst>
              </p:cNvPr>
              <p:cNvSpPr>
                <a:spLocks noGrp="1" noRot="1" noChangeAspect="1" noMove="1" noResize="1" noEditPoints="1" noAdjustHandles="1" noChangeArrowheads="1" noChangeShapeType="1" noTextEdit="1"/>
              </p:cNvSpPr>
              <p:nvPr>
                <p:ph idx="1"/>
              </p:nvPr>
            </p:nvSpPr>
            <p:spPr>
              <a:xfrm>
                <a:off x="1141412" y="1836750"/>
                <a:ext cx="9664411" cy="3035399"/>
              </a:xfrm>
              <a:blipFill>
                <a:blip r:embed="rId2"/>
                <a:stretch>
                  <a:fillRect l="-820" b="-2610"/>
                </a:stretch>
              </a:blipFill>
            </p:spPr>
            <p:txBody>
              <a:bodyPr/>
              <a:lstStyle/>
              <a:p>
                <a:r>
                  <a:rPr lang="en-US">
                    <a:noFill/>
                  </a:rPr>
                  <a:t> </a:t>
                </a:r>
              </a:p>
            </p:txBody>
          </p:sp>
        </mc:Fallback>
      </mc:AlternateContent>
      <p:pic>
        <p:nvPicPr>
          <p:cNvPr id="5" name="Elemento grafico 4">
            <a:extLst>
              <a:ext uri="{FF2B5EF4-FFF2-40B4-BE49-F238E27FC236}">
                <a16:creationId xmlns:a16="http://schemas.microsoft.com/office/drawing/2014/main" id="{70465773-484D-624C-75EA-5C32B8BED7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9878" y="2409035"/>
            <a:ext cx="9709068" cy="1441760"/>
          </a:xfrm>
          <a:prstGeom prst="rect">
            <a:avLst/>
          </a:prstGeom>
        </p:spPr>
      </p:pic>
      <p:pic>
        <p:nvPicPr>
          <p:cNvPr id="6" name="Elemento grafico 5">
            <a:extLst>
              <a:ext uri="{FF2B5EF4-FFF2-40B4-BE49-F238E27FC236}">
                <a16:creationId xmlns:a16="http://schemas.microsoft.com/office/drawing/2014/main" id="{ED9B6749-13B8-5FF9-EE0A-AEDB35E6F2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9880" y="4872149"/>
            <a:ext cx="9709066" cy="1441760"/>
          </a:xfrm>
          <a:prstGeom prst="rect">
            <a:avLst/>
          </a:prstGeom>
        </p:spPr>
      </p:pic>
    </p:spTree>
    <p:extLst>
      <p:ext uri="{BB962C8B-B14F-4D97-AF65-F5344CB8AC3E}">
        <p14:creationId xmlns:p14="http://schemas.microsoft.com/office/powerpoint/2010/main" val="9392818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231E0-6EF6-A2DD-6B9D-D0FB08381D22}"/>
              </a:ext>
            </a:extLst>
          </p:cNvPr>
          <p:cNvSpPr>
            <a:spLocks noGrp="1"/>
          </p:cNvSpPr>
          <p:nvPr>
            <p:ph type="title"/>
          </p:nvPr>
        </p:nvSpPr>
        <p:spPr/>
        <p:txBody>
          <a:bodyPr/>
          <a:lstStyle/>
          <a:p>
            <a:r>
              <a:rPr lang="en-US" dirty="0"/>
              <a:t>ASYNCHRONOUS SEQUENTIAL NETWORK MODEL</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E5AFD51-FE7D-5876-626E-7B76FCF4606B}"/>
                  </a:ext>
                </a:extLst>
              </p:cNvPr>
              <p:cNvSpPr>
                <a:spLocks noGrp="1"/>
              </p:cNvSpPr>
              <p:nvPr>
                <p:ph idx="1"/>
              </p:nvPr>
            </p:nvSpPr>
            <p:spPr>
              <a:xfrm>
                <a:off x="1141412" y="1812897"/>
                <a:ext cx="9990413" cy="4778733"/>
              </a:xfrm>
            </p:spPr>
            <p:txBody>
              <a:bodyPr>
                <a:normAutofit fontScale="85000" lnSpcReduction="20000"/>
              </a:bodyPr>
              <a:lstStyle/>
              <a:p>
                <a:pPr marL="0" indent="0">
                  <a:buNone/>
                </a:pPr>
                <a:r>
                  <a:rPr lang="en-US" dirty="0"/>
                  <a:t>In the SP canonical form of the S-R Latch, we can say that </a:t>
                </a:r>
                <a:br>
                  <a:rPr lang="en-US" dirty="0"/>
                </a:br>
                <a:r>
                  <a:rPr lang="en-US" dirty="0"/>
                  <a:t>output </a:t>
                </a:r>
                <a14:m>
                  <m:oMath xmlns:m="http://schemas.openxmlformats.org/officeDocument/2006/math">
                    <m:r>
                      <a:rPr lang="en-US" b="0" i="1" smtClean="0">
                        <a:latin typeface="Cambria Math" panose="02040503050406030204" pitchFamily="18" charset="0"/>
                      </a:rPr>
                      <m:t>𝑄</m:t>
                    </m:r>
                  </m:oMath>
                </a14:m>
                <a:r>
                  <a:rPr lang="en-US" dirty="0"/>
                  <a:t> also represents the state (or rather, it is the state </a:t>
                </a:r>
                <a:br>
                  <a:rPr lang="en-US" dirty="0"/>
                </a:br>
                <a:r>
                  <a:rPr lang="en-US" dirty="0"/>
                  <a:t>variable) of the sequential network. </a:t>
                </a:r>
              </a:p>
              <a:p>
                <a:pPr marL="0" indent="0">
                  <a:buNone/>
                </a:pPr>
                <a:r>
                  <a:rPr lang="en-US" dirty="0"/>
                  <a:t>The category of sequential networks that feed the state</a:t>
                </a:r>
                <a:br>
                  <a:rPr lang="en-US" dirty="0"/>
                </a:br>
                <a:r>
                  <a:rPr lang="en-US" dirty="0"/>
                  <a:t>variable directly back to the input is called</a:t>
                </a:r>
                <a:br>
                  <a:rPr lang="en-US" dirty="0"/>
                </a:br>
                <a:r>
                  <a:rPr lang="en-US" dirty="0"/>
                  <a:t>"asynchronous".</a:t>
                </a:r>
              </a:p>
              <a:p>
                <a:pPr marL="0" indent="0">
                  <a:buNone/>
                </a:pPr>
                <a:r>
                  <a:rPr lang="en-US" dirty="0"/>
                  <a:t>Changes in the outputs immediately affect the</a:t>
                </a:r>
                <a:br>
                  <a:rPr lang="en-US" dirty="0"/>
                </a:br>
                <a:r>
                  <a:rPr lang="en-US" dirty="0"/>
                  <a:t>inputs; if the state variable consists of several</a:t>
                </a:r>
                <a:br>
                  <a:rPr lang="en-US" dirty="0"/>
                </a:br>
                <a:r>
                  <a:rPr lang="en-US" dirty="0"/>
                  <a:t>expressions (i.e. it is a vector of several related binary</a:t>
                </a:r>
                <a:br>
                  <a:rPr lang="en-US" dirty="0"/>
                </a:br>
                <a:r>
                  <a:rPr lang="en-US" dirty="0"/>
                  <a:t>variables), this category of logic networks becomes</a:t>
                </a:r>
                <a:br>
                  <a:rPr lang="en-US" dirty="0"/>
                </a:br>
                <a:r>
                  <a:rPr lang="en-US" dirty="0"/>
                  <a:t>complicated to manage.</a:t>
                </a:r>
              </a:p>
              <a:p>
                <a:pPr marL="0" indent="0">
                  <a:buNone/>
                </a:pPr>
                <a:r>
                  <a:rPr lang="en-US" dirty="0"/>
                  <a:t>Because of the hazards (especially dynamic ones) mentioned earlier, the state variable may be encoded incorrectly, resulting in errors or instability of the system. Techniques for</a:t>
                </a:r>
                <a:br>
                  <a:rPr lang="en-US" dirty="0"/>
                </a:br>
                <a:r>
                  <a:rPr lang="en-US" dirty="0"/>
                  <a:t>mitigating these problems are well beyond the scope of this presentation.</a:t>
                </a:r>
              </a:p>
            </p:txBody>
          </p:sp>
        </mc:Choice>
        <mc:Fallback xmlns="">
          <p:sp>
            <p:nvSpPr>
              <p:cNvPr id="3" name="Segnaposto contenuto 2">
                <a:extLst>
                  <a:ext uri="{FF2B5EF4-FFF2-40B4-BE49-F238E27FC236}">
                    <a16:creationId xmlns:a16="http://schemas.microsoft.com/office/drawing/2014/main" id="{EE5AFD51-FE7D-5876-626E-7B76FCF4606B}"/>
                  </a:ext>
                </a:extLst>
              </p:cNvPr>
              <p:cNvSpPr>
                <a:spLocks noGrp="1" noRot="1" noChangeAspect="1" noMove="1" noResize="1" noEditPoints="1" noAdjustHandles="1" noChangeArrowheads="1" noChangeShapeType="1" noTextEdit="1"/>
              </p:cNvSpPr>
              <p:nvPr>
                <p:ph idx="1"/>
              </p:nvPr>
            </p:nvSpPr>
            <p:spPr>
              <a:xfrm>
                <a:off x="1141412" y="1812897"/>
                <a:ext cx="9990413" cy="4778733"/>
              </a:xfrm>
              <a:blipFill>
                <a:blip r:embed="rId2"/>
                <a:stretch>
                  <a:fillRect l="-610" t="-638" b="-1531"/>
                </a:stretch>
              </a:blipFill>
            </p:spPr>
            <p:txBody>
              <a:bodyPr/>
              <a:lstStyle/>
              <a:p>
                <a:r>
                  <a:rPr lang="it-IT">
                    <a:noFill/>
                  </a:rPr>
                  <a:t> </a:t>
                </a:r>
              </a:p>
            </p:txBody>
          </p:sp>
        </mc:Fallback>
      </mc:AlternateContent>
      <p:pic>
        <p:nvPicPr>
          <p:cNvPr id="9" name="Elemento grafico 8">
            <a:extLst>
              <a:ext uri="{FF2B5EF4-FFF2-40B4-BE49-F238E27FC236}">
                <a16:creationId xmlns:a16="http://schemas.microsoft.com/office/drawing/2014/main" id="{99127A39-3BF6-41AA-46FD-D1737DCB4D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57985" y="1931101"/>
            <a:ext cx="3905440" cy="3181587"/>
          </a:xfrm>
          <a:prstGeom prst="rect">
            <a:avLst/>
          </a:prstGeom>
        </p:spPr>
      </p:pic>
    </p:spTree>
    <p:extLst>
      <p:ext uri="{BB962C8B-B14F-4D97-AF65-F5344CB8AC3E}">
        <p14:creationId xmlns:p14="http://schemas.microsoft.com/office/powerpoint/2010/main" val="14391545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17111B-BB4D-5DC6-8386-D26EB6C8477A}"/>
              </a:ext>
            </a:extLst>
          </p:cNvPr>
          <p:cNvSpPr>
            <a:spLocks noGrp="1"/>
          </p:cNvSpPr>
          <p:nvPr>
            <p:ph type="title"/>
          </p:nvPr>
        </p:nvSpPr>
        <p:spPr>
          <a:xfrm>
            <a:off x="1141413" y="618518"/>
            <a:ext cx="9905998" cy="780912"/>
          </a:xfrm>
        </p:spPr>
        <p:txBody>
          <a:bodyPr/>
          <a:lstStyle/>
          <a:p>
            <a:r>
              <a:rPr lang="en-US" dirty="0"/>
              <a:t>SYNCHRONOUS SEQUENTIAL NETWORKS (1)</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53597C79-55B7-A809-23CB-10ED8C901537}"/>
                  </a:ext>
                </a:extLst>
              </p:cNvPr>
              <p:cNvSpPr>
                <a:spLocks noGrp="1"/>
              </p:cNvSpPr>
              <p:nvPr>
                <p:ph idx="1"/>
              </p:nvPr>
            </p:nvSpPr>
            <p:spPr>
              <a:xfrm>
                <a:off x="1007849" y="1351718"/>
                <a:ext cx="6784429" cy="5196178"/>
              </a:xfrm>
            </p:spPr>
            <p:txBody>
              <a:bodyPr>
                <a:normAutofit fontScale="70000" lnSpcReduction="20000"/>
              </a:bodyPr>
              <a:lstStyle/>
              <a:p>
                <a:pPr marL="0" indent="0">
                  <a:buNone/>
                </a:pPr>
                <a:r>
                  <a:rPr lang="en-US" dirty="0"/>
                  <a:t>To try to solve the problem and the typical critical issues of asynchronous sequential networks, one can try placing a "pulse-controlled register" on the loops. A pulse-controlled register can consist of an array of D-type Latches (already seen earlier) with their enable inputs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𝑝</m:t>
                        </m:r>
                      </m:sub>
                    </m:sSub>
                  </m:oMath>
                </a14:m>
                <a:r>
                  <a:rPr lang="en-US" dirty="0"/>
                  <a:t> tied together. By applying a pulse to the latches' enable inputs, the register can be asked to "track", continuously storing it, the internal state of the sequential network. When the pulse is absent the register presents the last stored configuration. In this way the output state is not continuously fed back to the inputs. In effect the processing is "synchronized" with the cadence of the pulses.</a:t>
                </a:r>
              </a:p>
              <a:p>
                <a:pPr marL="0" indent="0">
                  <a:buNone/>
                </a:pPr>
                <a:r>
                  <a:rPr lang="en-US" dirty="0"/>
                  <a:t>This synchronous model is nevertheless not free of problems: one must make sure that time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𝑒</m:t>
                        </m:r>
                      </m:sub>
                    </m:sSub>
                  </m:oMath>
                </a14:m>
                <a:r>
                  <a:rPr lang="en-US" dirty="0"/>
                  <a:t> is long enough to guarantee settling of the combinational network; at the same time the pulse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𝑝</m:t>
                        </m:r>
                      </m:sub>
                    </m:sSub>
                  </m:oMath>
                </a14:m>
                <a:r>
                  <a:rPr lang="en-US" dirty="0"/>
                  <a:t> must be long enough for the register to store the state, yet short enough not to create an asynchronous loop (a continuous connection). </a:t>
                </a:r>
                <a:br>
                  <a:rPr lang="en-US" dirty="0"/>
                </a:br>
                <a:r>
                  <a:rPr lang="en-US" dirty="0"/>
                  <a:t>The configuration described here, which uses so-called "Transparent Latches", is difficult to manage in terms of network reliability.</a:t>
                </a:r>
              </a:p>
            </p:txBody>
          </p:sp>
        </mc:Choice>
        <mc:Fallback xmlns="">
          <p:sp>
            <p:nvSpPr>
              <p:cNvPr id="3" name="Segnaposto contenuto 2">
                <a:extLst>
                  <a:ext uri="{FF2B5EF4-FFF2-40B4-BE49-F238E27FC236}">
                    <a16:creationId xmlns:a16="http://schemas.microsoft.com/office/drawing/2014/main" id="{53597C79-55B7-A809-23CB-10ED8C901537}"/>
                  </a:ext>
                </a:extLst>
              </p:cNvPr>
              <p:cNvSpPr>
                <a:spLocks noGrp="1" noRot="1" noChangeAspect="1" noMove="1" noResize="1" noEditPoints="1" noAdjustHandles="1" noChangeArrowheads="1" noChangeShapeType="1" noTextEdit="1"/>
              </p:cNvSpPr>
              <p:nvPr>
                <p:ph idx="1"/>
              </p:nvPr>
            </p:nvSpPr>
            <p:spPr>
              <a:xfrm>
                <a:off x="1007849" y="1351718"/>
                <a:ext cx="6784429" cy="5196178"/>
              </a:xfrm>
              <a:blipFill>
                <a:blip r:embed="rId2"/>
                <a:stretch>
                  <a:fillRect l="-539" t="-469" r="-1168" b="-1408"/>
                </a:stretch>
              </a:blipFill>
            </p:spPr>
            <p:txBody>
              <a:bodyPr/>
              <a:lstStyle/>
              <a:p>
                <a:r>
                  <a:rPr lang="en-US">
                    <a:noFill/>
                  </a:rPr>
                  <a:t> </a:t>
                </a:r>
              </a:p>
            </p:txBody>
          </p:sp>
        </mc:Fallback>
      </mc:AlternateContent>
      <p:pic>
        <p:nvPicPr>
          <p:cNvPr id="5" name="Elemento grafico 4">
            <a:extLst>
              <a:ext uri="{FF2B5EF4-FFF2-40B4-BE49-F238E27FC236}">
                <a16:creationId xmlns:a16="http://schemas.microsoft.com/office/drawing/2014/main" id="{6CA3C1F0-C565-AE8F-541B-B6243E3A08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6567" y="1746993"/>
            <a:ext cx="3710291" cy="4238048"/>
          </a:xfrm>
          <a:prstGeom prst="rect">
            <a:avLst/>
          </a:prstGeom>
        </p:spPr>
      </p:pic>
      <p:sp>
        <p:nvSpPr>
          <p:cNvPr id="4" name="Ovale 3">
            <a:extLst>
              <a:ext uri="{FF2B5EF4-FFF2-40B4-BE49-F238E27FC236}">
                <a16:creationId xmlns:a16="http://schemas.microsoft.com/office/drawing/2014/main" id="{0FD9B813-620E-83F3-84C6-86ED31875802}"/>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0195035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17111B-BB4D-5DC6-8386-D26EB6C8477A}"/>
              </a:ext>
            </a:extLst>
          </p:cNvPr>
          <p:cNvSpPr>
            <a:spLocks noGrp="1"/>
          </p:cNvSpPr>
          <p:nvPr>
            <p:ph type="title"/>
          </p:nvPr>
        </p:nvSpPr>
        <p:spPr>
          <a:xfrm>
            <a:off x="1141413" y="356127"/>
            <a:ext cx="9905998" cy="939938"/>
          </a:xfrm>
        </p:spPr>
        <p:txBody>
          <a:bodyPr/>
          <a:lstStyle/>
          <a:p>
            <a:r>
              <a:rPr lang="en-US" dirty="0"/>
              <a:t>SYNCHRONOUS SEQUENTIAL NETWORKS (2)</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53597C79-55B7-A809-23CB-10ED8C901537}"/>
                  </a:ext>
                </a:extLst>
              </p:cNvPr>
              <p:cNvSpPr>
                <a:spLocks noGrp="1"/>
              </p:cNvSpPr>
              <p:nvPr>
                <p:ph idx="1"/>
              </p:nvPr>
            </p:nvSpPr>
            <p:spPr>
              <a:xfrm>
                <a:off x="1141413" y="1264255"/>
                <a:ext cx="6420277" cy="5299545"/>
              </a:xfrm>
            </p:spPr>
            <p:txBody>
              <a:bodyPr>
                <a:normAutofit fontScale="70000" lnSpcReduction="20000"/>
              </a:bodyPr>
              <a:lstStyle/>
              <a:p>
                <a:pPr marL="0" indent="0">
                  <a:buNone/>
                </a:pPr>
                <a:r>
                  <a:rPr lang="en-US" dirty="0"/>
                  <a:t>To arrive at a reliable synchronous network model, the state registers must be built using Flip-Flops. With this type of register there is no longer a need to control the width of the cadence pulse (also called "Clock"). The register built with Flip-Flops stores information based on the "changes" of signal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𝑝</m:t>
                        </m:r>
                      </m:sub>
                    </m:sSub>
                  </m:oMath>
                </a14:m>
                <a:r>
                  <a:rPr lang="en-US" dirty="0"/>
                  <a:t> and not on its level. For a rising edge, i.e. from 0 to 1, we speak of a "positive edge" (posedge). For the transition from 1 to 0 we speak of a "negative edge" (negedge). A Flip-Flop reacts to only one of the two edges, depending on its nature.</a:t>
                </a:r>
              </a:p>
              <a:p>
                <a:pPr marL="0" indent="0">
                  <a:buNone/>
                </a:pPr>
                <a:r>
                  <a:rPr lang="en-US" dirty="0"/>
                  <a:t>The Flip-Flops for this type of application are called Master-Slave, since they consist of two latches in cascade working on opposite levels of the value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𝑝</m:t>
                        </m:r>
                      </m:sub>
                    </m:sSub>
                  </m:oMath>
                </a14:m>
                <a:r>
                  <a:rPr lang="en-US" dirty="0"/>
                  <a:t>. If the first latch stores at level 0, continuously "tracking" the input, the second latch presents the stored value at the output. As soon as signal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𝑝</m:t>
                        </m:r>
                      </m:sub>
                    </m:sSub>
                  </m:oMath>
                </a14:m>
                <a:r>
                  <a:rPr lang="en-US" dirty="0"/>
                  <a:t> goes from 0 to 1, the first latch stops tracking, holding the last value, while the second latch "tracks" the stable value of the first. A small "triangle" at the register's input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𝑝</m:t>
                        </m:r>
                      </m:sub>
                    </m:sSub>
                  </m:oMath>
                </a14:m>
                <a:r>
                  <a:rPr lang="en-US" dirty="0"/>
                  <a:t> denotes sensitivity to the positive edge. If a small empty circle is also present, the register is sensitive to the negative edge.</a:t>
                </a:r>
              </a:p>
            </p:txBody>
          </p:sp>
        </mc:Choice>
        <mc:Fallback xmlns="">
          <p:sp>
            <p:nvSpPr>
              <p:cNvPr id="3" name="Segnaposto contenuto 2">
                <a:extLst>
                  <a:ext uri="{FF2B5EF4-FFF2-40B4-BE49-F238E27FC236}">
                    <a16:creationId xmlns:a16="http://schemas.microsoft.com/office/drawing/2014/main" id="{53597C79-55B7-A809-23CB-10ED8C901537}"/>
                  </a:ext>
                </a:extLst>
              </p:cNvPr>
              <p:cNvSpPr>
                <a:spLocks noGrp="1" noRot="1" noChangeAspect="1" noMove="1" noResize="1" noEditPoints="1" noAdjustHandles="1" noChangeArrowheads="1" noChangeShapeType="1" noTextEdit="1"/>
              </p:cNvSpPr>
              <p:nvPr>
                <p:ph idx="1"/>
              </p:nvPr>
            </p:nvSpPr>
            <p:spPr>
              <a:xfrm>
                <a:off x="1141413" y="1264255"/>
                <a:ext cx="6420277" cy="5299545"/>
              </a:xfrm>
              <a:blipFill>
                <a:blip r:embed="rId2"/>
                <a:stretch>
                  <a:fillRect l="-570" t="-345" r="-1614"/>
                </a:stretch>
              </a:blipFill>
            </p:spPr>
            <p:txBody>
              <a:bodyPr/>
              <a:lstStyle/>
              <a:p>
                <a:r>
                  <a:rPr lang="en-US">
                    <a:noFill/>
                  </a:rPr>
                  <a:t> </a:t>
                </a:r>
              </a:p>
            </p:txBody>
          </p:sp>
        </mc:Fallback>
      </mc:AlternateContent>
      <p:pic>
        <p:nvPicPr>
          <p:cNvPr id="9" name="Elemento grafico 8">
            <a:extLst>
              <a:ext uri="{FF2B5EF4-FFF2-40B4-BE49-F238E27FC236}">
                <a16:creationId xmlns:a16="http://schemas.microsoft.com/office/drawing/2014/main" id="{7CB93853-71CA-6441-709E-D861EC5555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5285" y="2001434"/>
            <a:ext cx="3710290" cy="4238047"/>
          </a:xfrm>
          <a:prstGeom prst="rect">
            <a:avLst/>
          </a:prstGeom>
        </p:spPr>
      </p:pic>
    </p:spTree>
    <p:extLst>
      <p:ext uri="{BB962C8B-B14F-4D97-AF65-F5344CB8AC3E}">
        <p14:creationId xmlns:p14="http://schemas.microsoft.com/office/powerpoint/2010/main" val="3408482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E22A83-2352-EA04-9EFD-2C3A1C7094DC}"/>
              </a:ext>
            </a:extLst>
          </p:cNvPr>
          <p:cNvSpPr>
            <a:spLocks noGrp="1"/>
          </p:cNvSpPr>
          <p:nvPr>
            <p:ph type="title"/>
          </p:nvPr>
        </p:nvSpPr>
        <p:spPr/>
        <p:txBody>
          <a:bodyPr/>
          <a:lstStyle/>
          <a:p>
            <a:r>
              <a:rPr lang="en-US" dirty="0"/>
              <a:t>SYNCHRONOUS SEQUENTIAL NETWORKS (3)</a:t>
            </a:r>
          </a:p>
        </p:txBody>
      </p:sp>
      <p:sp>
        <p:nvSpPr>
          <p:cNvPr id="3" name="Segnaposto contenuto 2">
            <a:extLst>
              <a:ext uri="{FF2B5EF4-FFF2-40B4-BE49-F238E27FC236}">
                <a16:creationId xmlns:a16="http://schemas.microsoft.com/office/drawing/2014/main" id="{36886A58-E0F8-BC89-7592-64B541FC931D}"/>
              </a:ext>
            </a:extLst>
          </p:cNvPr>
          <p:cNvSpPr>
            <a:spLocks noGrp="1"/>
          </p:cNvSpPr>
          <p:nvPr>
            <p:ph idx="1"/>
          </p:nvPr>
        </p:nvSpPr>
        <p:spPr>
          <a:xfrm>
            <a:off x="1141413" y="2249487"/>
            <a:ext cx="6841697" cy="3745796"/>
          </a:xfrm>
        </p:spPr>
        <p:txBody>
          <a:bodyPr>
            <a:normAutofit fontScale="85000" lnSpcReduction="10000"/>
          </a:bodyPr>
          <a:lstStyle/>
          <a:p>
            <a:r>
              <a:rPr lang="en-US" dirty="0"/>
              <a:t>They use a cadence (clock) for processing.</a:t>
            </a:r>
          </a:p>
          <a:p>
            <a:r>
              <a:rPr lang="en-US" dirty="0"/>
              <a:t>They need a register (a set of flip-flops) to store the internal state.</a:t>
            </a:r>
          </a:p>
          <a:p>
            <a:r>
              <a:rPr lang="en-US" dirty="0"/>
              <a:t>They use a combinational network to compute the next state.</a:t>
            </a:r>
          </a:p>
          <a:p>
            <a:r>
              <a:rPr lang="en-US" dirty="0"/>
              <a:t>They may have a combinational network to produce the output state.</a:t>
            </a:r>
          </a:p>
          <a:p>
            <a:r>
              <a:rPr lang="en-US" dirty="0"/>
              <a:t>They are called Moore Machines if the output depends only on the internal state; those whose output state depends on both the internal state and the input state are called Mealy Machines.</a:t>
            </a:r>
          </a:p>
        </p:txBody>
      </p:sp>
      <p:pic>
        <p:nvPicPr>
          <p:cNvPr id="5" name="Elemento grafico 4">
            <a:extLst>
              <a:ext uri="{FF2B5EF4-FFF2-40B4-BE49-F238E27FC236}">
                <a16:creationId xmlns:a16="http://schemas.microsoft.com/office/drawing/2014/main" id="{13ABE494-7F8A-A429-2485-0A8F7A2277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83110" y="1275761"/>
            <a:ext cx="3425399" cy="5125777"/>
          </a:xfrm>
          <a:prstGeom prst="rect">
            <a:avLst/>
          </a:prstGeom>
        </p:spPr>
      </p:pic>
    </p:spTree>
    <p:extLst>
      <p:ext uri="{BB962C8B-B14F-4D97-AF65-F5344CB8AC3E}">
        <p14:creationId xmlns:p14="http://schemas.microsoft.com/office/powerpoint/2010/main" val="17303177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231E0-6EF6-A2DD-6B9D-D0FB08381D22}"/>
              </a:ext>
            </a:extLst>
          </p:cNvPr>
          <p:cNvSpPr>
            <a:spLocks noGrp="1"/>
          </p:cNvSpPr>
          <p:nvPr>
            <p:ph type="title"/>
          </p:nvPr>
        </p:nvSpPr>
        <p:spPr/>
        <p:txBody>
          <a:bodyPr/>
          <a:lstStyle/>
          <a:p>
            <a:r>
              <a:rPr lang="en-US" dirty="0"/>
              <a:t>SYNCHRONOUS SEQUENTIAL EXAMPLE (1)</a:t>
            </a:r>
          </a:p>
        </p:txBody>
      </p:sp>
      <p:pic>
        <p:nvPicPr>
          <p:cNvPr id="10" name="Elemento grafico 9">
            <a:extLst>
              <a:ext uri="{FF2B5EF4-FFF2-40B4-BE49-F238E27FC236}">
                <a16:creationId xmlns:a16="http://schemas.microsoft.com/office/drawing/2014/main" id="{ED2E99E8-4909-F315-B024-2D465BBEA4D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97499" y="1868558"/>
            <a:ext cx="10393826" cy="4695686"/>
          </a:xfrm>
          <a:prstGeom prst="rect">
            <a:avLst/>
          </a:prstGeom>
        </p:spPr>
      </p:pic>
      <p:sp>
        <p:nvSpPr>
          <p:cNvPr id="3" name="Ovale 2">
            <a:extLst>
              <a:ext uri="{FF2B5EF4-FFF2-40B4-BE49-F238E27FC236}">
                <a16:creationId xmlns:a16="http://schemas.microsoft.com/office/drawing/2014/main" id="{D73CE9FE-67C1-78B9-DCBF-B1A2C5D4B293}"/>
              </a:ext>
            </a:extLst>
          </p:cNvPr>
          <p:cNvSpPr/>
          <p:nvPr/>
        </p:nvSpPr>
        <p:spPr>
          <a:xfrm>
            <a:off x="1038044" y="504854"/>
            <a:ext cx="119270" cy="119270"/>
          </a:xfrm>
          <a:prstGeom prst="ellipse">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5182722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D231E0-6EF6-A2DD-6B9D-D0FB08381D22}"/>
              </a:ext>
            </a:extLst>
          </p:cNvPr>
          <p:cNvSpPr>
            <a:spLocks noGrp="1"/>
          </p:cNvSpPr>
          <p:nvPr>
            <p:ph type="title"/>
          </p:nvPr>
        </p:nvSpPr>
        <p:spPr>
          <a:xfrm>
            <a:off x="1141413" y="618518"/>
            <a:ext cx="9905998" cy="621885"/>
          </a:xfrm>
        </p:spPr>
        <p:txBody>
          <a:bodyPr/>
          <a:lstStyle/>
          <a:p>
            <a:r>
              <a:rPr lang="en-US" dirty="0"/>
              <a:t>SYNCHRONOUS SEQUENTIAL EXAMPLE (2)</a:t>
            </a:r>
          </a:p>
        </p:txBody>
      </p:sp>
      <p:pic>
        <p:nvPicPr>
          <p:cNvPr id="5" name="Elemento grafico 4">
            <a:extLst>
              <a:ext uri="{FF2B5EF4-FFF2-40B4-BE49-F238E27FC236}">
                <a16:creationId xmlns:a16="http://schemas.microsoft.com/office/drawing/2014/main" id="{431F8A2C-A914-5EE8-3024-F071C85CE5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14807" y="1284639"/>
            <a:ext cx="9359210" cy="5338300"/>
          </a:xfrm>
          <a:prstGeom prst="rect">
            <a:avLst/>
          </a:prstGeom>
        </p:spPr>
      </p:pic>
    </p:spTree>
    <p:extLst>
      <p:ext uri="{BB962C8B-B14F-4D97-AF65-F5344CB8AC3E}">
        <p14:creationId xmlns:p14="http://schemas.microsoft.com/office/powerpoint/2010/main" val="12041949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E83D14-AAF5-6385-ECF1-1E07E2F1B11A}"/>
              </a:ext>
            </a:extLst>
          </p:cNvPr>
          <p:cNvSpPr>
            <a:spLocks noGrp="1"/>
          </p:cNvSpPr>
          <p:nvPr>
            <p:ph type="title"/>
          </p:nvPr>
        </p:nvSpPr>
        <p:spPr/>
        <p:txBody>
          <a:bodyPr/>
          <a:lstStyle/>
          <a:p>
            <a:r>
              <a:rPr lang="en-US" dirty="0"/>
              <a:t>INCREASING CIRCUIT COMPLEXITY</a:t>
            </a:r>
          </a:p>
        </p:txBody>
      </p:sp>
      <p:sp>
        <p:nvSpPr>
          <p:cNvPr id="3" name="Segnaposto contenuto 2">
            <a:extLst>
              <a:ext uri="{FF2B5EF4-FFF2-40B4-BE49-F238E27FC236}">
                <a16:creationId xmlns:a16="http://schemas.microsoft.com/office/drawing/2014/main" id="{3B897DC9-60E9-63F3-10E2-693BBA464C02}"/>
              </a:ext>
            </a:extLst>
          </p:cNvPr>
          <p:cNvSpPr>
            <a:spLocks noGrp="1"/>
          </p:cNvSpPr>
          <p:nvPr>
            <p:ph idx="1"/>
          </p:nvPr>
        </p:nvSpPr>
        <p:spPr/>
        <p:txBody>
          <a:bodyPr>
            <a:normAutofit fontScale="77500" lnSpcReduction="20000"/>
          </a:bodyPr>
          <a:lstStyle/>
          <a:p>
            <a:r>
              <a:rPr lang="en-US" dirty="0"/>
              <a:t>To reduce size, power consumption and cost, and to allow more complex and faster logic structures, the semiconductor industry has introduced ever more complex components and new hardware technologies, together with the related software development systems.</a:t>
            </a:r>
          </a:p>
          <a:p>
            <a:pPr marL="971550" lvl="1" indent="-514350">
              <a:buFont typeface="+mj-lt"/>
              <a:buAutoNum type="romanLcPeriod"/>
            </a:pPr>
            <a:r>
              <a:rPr lang="en-US" dirty="0"/>
              <a:t>The so-called "simple programmable logic" (SPLD) such as PROM, PAL, PLA, GAL and PALCE replaced parts of networks made with discrete components (logic gates and small SSI functions).</a:t>
            </a:r>
          </a:p>
          <a:p>
            <a:pPr marL="971550" lvl="1" indent="-514350">
              <a:buFont typeface="+mj-lt"/>
              <a:buAutoNum type="romanLcPeriod"/>
            </a:pPr>
            <a:r>
              <a:rPr lang="en-US" dirty="0"/>
              <a:t>Introduction of the first rudimentary HDL software tools to manage the programming of SPLDs, with PALASM and later ABEL, ISP and CUPL.</a:t>
            </a:r>
          </a:p>
          <a:p>
            <a:pPr marL="971550" lvl="1" indent="-514350">
              <a:buFont typeface="+mj-lt"/>
              <a:buAutoNum type="romanLcPeriod"/>
            </a:pPr>
            <a:r>
              <a:rPr lang="en-US" dirty="0"/>
              <a:t>Appearance on the market of the first "complex programmable logic" devices (CPLD).</a:t>
            </a:r>
          </a:p>
          <a:p>
            <a:pPr marL="971550" lvl="1" indent="-514350">
              <a:buFont typeface="+mj-lt"/>
              <a:buAutoNum type="romanLcPeriod"/>
            </a:pPr>
            <a:r>
              <a:rPr lang="en-US" dirty="0"/>
              <a:t>Appearance of the first programmable Gate Array device (FPGA), namely the XC2064 from Xilinx Inc., introduced in 1985. The tool to program this device was called XACT (Xilinx Advanced CAD Technology), whose syntax was based on ABEL (Advanced Boolean Expression Language) from Data I/O Corporation.</a:t>
            </a:r>
          </a:p>
        </p:txBody>
      </p:sp>
    </p:spTree>
    <p:extLst>
      <p:ext uri="{BB962C8B-B14F-4D97-AF65-F5344CB8AC3E}">
        <p14:creationId xmlns:p14="http://schemas.microsoft.com/office/powerpoint/2010/main" val="20832370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5D90FD-405D-7536-A711-641FF0F60519}"/>
              </a:ext>
            </a:extLst>
          </p:cNvPr>
          <p:cNvSpPr>
            <a:spLocks noGrp="1"/>
          </p:cNvSpPr>
          <p:nvPr>
            <p:ph type="title"/>
          </p:nvPr>
        </p:nvSpPr>
        <p:spPr/>
        <p:txBody>
          <a:bodyPr/>
          <a:lstStyle/>
          <a:p>
            <a:r>
              <a:rPr lang="en-US" dirty="0"/>
              <a:t>CPLD</a:t>
            </a:r>
          </a:p>
        </p:txBody>
      </p:sp>
      <p:sp>
        <p:nvSpPr>
          <p:cNvPr id="3" name="Segnaposto contenuto 2">
            <a:extLst>
              <a:ext uri="{FF2B5EF4-FFF2-40B4-BE49-F238E27FC236}">
                <a16:creationId xmlns:a16="http://schemas.microsoft.com/office/drawing/2014/main" id="{69F511F5-09F2-756E-6581-ED3B3AD33B6A}"/>
              </a:ext>
            </a:extLst>
          </p:cNvPr>
          <p:cNvSpPr>
            <a:spLocks noGrp="1"/>
          </p:cNvSpPr>
          <p:nvPr>
            <p:ph idx="1"/>
          </p:nvPr>
        </p:nvSpPr>
        <p:spPr>
          <a:xfrm>
            <a:off x="1141412" y="2249487"/>
            <a:ext cx="6515099" cy="3841212"/>
          </a:xfrm>
        </p:spPr>
        <p:txBody>
          <a:bodyPr>
            <a:normAutofit fontScale="70000" lnSpcReduction="20000"/>
          </a:bodyPr>
          <a:lstStyle/>
          <a:p>
            <a:pPr marL="0" indent="0">
              <a:buNone/>
            </a:pPr>
            <a:r>
              <a:rPr lang="en-US" dirty="0"/>
              <a:t>CPLDs can be considered an evolution of PALs and consist of several PAL structures put together, known as "macrocells".</a:t>
            </a:r>
          </a:p>
          <a:p>
            <a:pPr marL="0" indent="0">
              <a:buNone/>
            </a:pPr>
            <a:r>
              <a:rPr lang="en-US" dirty="0"/>
              <a:t>The macrocells are connected through a programmable interconnect, also called GIM (global interconnection matrix). By reconfiguring the GIM, the most diverse logic circuits can be built by interconnecting the macrocells.</a:t>
            </a:r>
          </a:p>
          <a:p>
            <a:pPr marL="0" indent="0">
              <a:buNone/>
            </a:pPr>
            <a:r>
              <a:rPr lang="en-US" dirty="0"/>
              <a:t>CPLDs communicate with the outside world through digital I/Os. In the example at the side you can see that these are divided into groups closely and efficiently connected to their own macrocell. Nevertheless, a macrocell can reach the I/Os of other macrocells through the programmable interconnect matrix (GIM), albeit less efficiently.</a:t>
            </a:r>
          </a:p>
          <a:p>
            <a:pPr marL="0" indent="0">
              <a:buNone/>
            </a:pPr>
            <a:r>
              <a:rPr lang="en-US" dirty="0"/>
              <a:t>CPLDs are complex enough to require CAE tools for their programming.</a:t>
            </a:r>
          </a:p>
        </p:txBody>
      </p:sp>
      <p:pic>
        <p:nvPicPr>
          <p:cNvPr id="6" name="Elemento grafico 5">
            <a:extLst>
              <a:ext uri="{FF2B5EF4-FFF2-40B4-BE49-F238E27FC236}">
                <a16:creationId xmlns:a16="http://schemas.microsoft.com/office/drawing/2014/main" id="{C1C7A89C-7DAE-95E8-8F46-FE52FE2F210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56511" y="2400562"/>
            <a:ext cx="3390900" cy="2905125"/>
          </a:xfrm>
          <a:prstGeom prst="rect">
            <a:avLst/>
          </a:prstGeom>
        </p:spPr>
      </p:pic>
    </p:spTree>
    <p:extLst>
      <p:ext uri="{BB962C8B-B14F-4D97-AF65-F5344CB8AC3E}">
        <p14:creationId xmlns:p14="http://schemas.microsoft.com/office/powerpoint/2010/main" val="38126248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5D90FD-405D-7536-A711-641FF0F60519}"/>
              </a:ext>
            </a:extLst>
          </p:cNvPr>
          <p:cNvSpPr>
            <a:spLocks noGrp="1"/>
          </p:cNvSpPr>
          <p:nvPr>
            <p:ph type="title"/>
          </p:nvPr>
        </p:nvSpPr>
        <p:spPr>
          <a:xfrm>
            <a:off x="1141413" y="332268"/>
            <a:ext cx="9905998" cy="772960"/>
          </a:xfrm>
        </p:spPr>
        <p:txBody>
          <a:bodyPr/>
          <a:lstStyle/>
          <a:p>
            <a:r>
              <a:rPr lang="en-US" dirty="0"/>
              <a:t>FPGA</a:t>
            </a:r>
          </a:p>
        </p:txBody>
      </p:sp>
      <p:sp>
        <p:nvSpPr>
          <p:cNvPr id="3" name="Segnaposto contenuto 2">
            <a:extLst>
              <a:ext uri="{FF2B5EF4-FFF2-40B4-BE49-F238E27FC236}">
                <a16:creationId xmlns:a16="http://schemas.microsoft.com/office/drawing/2014/main" id="{69F511F5-09F2-756E-6581-ED3B3AD33B6A}"/>
              </a:ext>
            </a:extLst>
          </p:cNvPr>
          <p:cNvSpPr>
            <a:spLocks noGrp="1"/>
          </p:cNvSpPr>
          <p:nvPr>
            <p:ph idx="1"/>
          </p:nvPr>
        </p:nvSpPr>
        <p:spPr>
          <a:xfrm>
            <a:off x="1141412" y="1232449"/>
            <a:ext cx="6388473" cy="5303523"/>
          </a:xfrm>
        </p:spPr>
        <p:txBody>
          <a:bodyPr>
            <a:normAutofit fontScale="62500" lnSpcReduction="20000"/>
          </a:bodyPr>
          <a:lstStyle/>
          <a:p>
            <a:pPr marL="0" indent="0">
              <a:buNone/>
            </a:pPr>
            <a:r>
              <a:rPr lang="en-US" dirty="0"/>
              <a:t>FPGAs are, to all intents and purposes, programmable Gate Arrays. They are the user-programmable devices that come closest to ASICs. FPGAs are organized into logic blocks (CLB, Configurable Logic Block), somewhat like CPLDs, but these are simpler, more numerous and can be interconnected with one another through programmable interconnects (PI). The latter connect the I/Os, which are normally divided into banks.</a:t>
            </a:r>
          </a:p>
          <a:p>
            <a:pPr marL="0" indent="0">
              <a:buNone/>
            </a:pPr>
            <a:r>
              <a:rPr lang="en-US" dirty="0"/>
              <a:t>In general, CLBs consist of a relatively small number of elements. A typical CLB consists of a 4-5 input LUT (Look Up Table), a Full-Adder and a D-type flip-flop. A multiplexer at the input of the Flip-Flop is often present as well. There is no standard scheme for LUTs, which always differ depending on the manufacturer.</a:t>
            </a:r>
          </a:p>
          <a:p>
            <a:pPr marL="0" indent="0">
              <a:buNone/>
            </a:pPr>
            <a:r>
              <a:rPr lang="en-US" dirty="0"/>
              <a:t>Modern FPGAs also have many predefined macroblocks (Hard Blocks) dedicated to complex functions, specifically optimized in terms of speed and chip area. There are devices with memory blocks, parallel multipliers, entire DSP functions, processors and much more. FPGAs also implement support for clock generation (PLL) and programmable delays. Some are so rich in resources that they can implement entire systems inside them (SoC, System on Chip).</a:t>
            </a:r>
          </a:p>
          <a:p>
            <a:pPr marL="0" indent="0">
              <a:buNone/>
            </a:pPr>
            <a:r>
              <a:rPr lang="en-US" dirty="0"/>
              <a:t>Programming a modern FPGA can only be tackled with sophisticated software tools that provide for the most efficient mapping of the cells and a careful routing of signals between the cells and to the I/Os.</a:t>
            </a:r>
          </a:p>
        </p:txBody>
      </p:sp>
      <p:pic>
        <p:nvPicPr>
          <p:cNvPr id="6" name="Elemento grafico 5">
            <a:extLst>
              <a:ext uri="{FF2B5EF4-FFF2-40B4-BE49-F238E27FC236}">
                <a16:creationId xmlns:a16="http://schemas.microsoft.com/office/drawing/2014/main" id="{ECABC59B-BDCE-87C4-BC6D-7AFA4CB662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29885" y="2017819"/>
            <a:ext cx="3901026" cy="3847095"/>
          </a:xfrm>
          <a:prstGeom prst="rect">
            <a:avLst/>
          </a:prstGeom>
        </p:spPr>
      </p:pic>
    </p:spTree>
    <p:extLst>
      <p:ext uri="{BB962C8B-B14F-4D97-AF65-F5344CB8AC3E}">
        <p14:creationId xmlns:p14="http://schemas.microsoft.com/office/powerpoint/2010/main" val="39084787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F104B07-2EB8-FD00-18BC-40D77B0482EA}"/>
              </a:ext>
            </a:extLst>
          </p:cNvPr>
          <p:cNvSpPr>
            <a:spLocks noGrp="1"/>
          </p:cNvSpPr>
          <p:nvPr>
            <p:ph type="title"/>
          </p:nvPr>
        </p:nvSpPr>
        <p:spPr/>
        <p:txBody>
          <a:bodyPr/>
          <a:lstStyle/>
          <a:p>
            <a:r>
              <a:rPr lang="en-US" dirty="0"/>
              <a:t>MANAGING CIRCUIT COMPLEXITY</a:t>
            </a:r>
          </a:p>
        </p:txBody>
      </p:sp>
      <p:sp>
        <p:nvSpPr>
          <p:cNvPr id="3" name="Segnaposto contenuto 2">
            <a:extLst>
              <a:ext uri="{FF2B5EF4-FFF2-40B4-BE49-F238E27FC236}">
                <a16:creationId xmlns:a16="http://schemas.microsoft.com/office/drawing/2014/main" id="{7F82CCB2-2DED-D329-33BA-41982DBA7D8A}"/>
              </a:ext>
            </a:extLst>
          </p:cNvPr>
          <p:cNvSpPr>
            <a:spLocks noGrp="1"/>
          </p:cNvSpPr>
          <p:nvPr>
            <p:ph idx="1"/>
          </p:nvPr>
        </p:nvSpPr>
        <p:spPr/>
        <p:txBody>
          <a:bodyPr>
            <a:normAutofit/>
          </a:bodyPr>
          <a:lstStyle/>
          <a:p>
            <a:r>
              <a:rPr lang="en-US" dirty="0"/>
              <a:t>Synthesis of a complexity that cannot be tackled manually or with primitive HDLs, in the context of modern FPGAs or complex PLDs.</a:t>
            </a:r>
          </a:p>
          <a:p>
            <a:r>
              <a:rPr lang="en-US" dirty="0"/>
              <a:t>Simulation as the primary support for designing logic networks, to verify operation well before implementation.</a:t>
            </a:r>
          </a:p>
          <a:p>
            <a:r>
              <a:rPr lang="en-US" dirty="0"/>
              <a:t>Need to synthesize the logic network, or parts of it, automatically.</a:t>
            </a:r>
          </a:p>
          <a:p>
            <a:r>
              <a:rPr lang="en-US" dirty="0"/>
              <a:t>Appearance of the first sophisticated Electronic Design Automation (EDA) tools.</a:t>
            </a:r>
          </a:p>
        </p:txBody>
      </p:sp>
    </p:spTree>
    <p:extLst>
      <p:ext uri="{BB962C8B-B14F-4D97-AF65-F5344CB8AC3E}">
        <p14:creationId xmlns:p14="http://schemas.microsoft.com/office/powerpoint/2010/main" val="9866484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C197DD9A-5BF0-5144-87DA-F61902818B7F}"/>
              </a:ext>
            </a:extLst>
          </p:cNvPr>
          <p:cNvSpPr>
            <a:spLocks noGrp="1"/>
          </p:cNvSpPr>
          <p:nvPr>
            <p:ph type="title"/>
          </p:nvPr>
        </p:nvSpPr>
        <p:spPr>
          <a:xfrm>
            <a:off x="1141413" y="618518"/>
            <a:ext cx="9905998" cy="5710720"/>
          </a:xfrm>
        </p:spPr>
        <p:txBody>
          <a:bodyPr>
            <a:normAutofit/>
          </a:bodyPr>
          <a:lstStyle/>
          <a:p>
            <a:pPr algn="ctr">
              <a:lnSpc>
                <a:spcPct val="100000"/>
              </a:lnSpc>
            </a:pPr>
            <a:r>
              <a:rPr lang="en-US" sz="8000" dirty="0"/>
              <a:t>PART TWO</a:t>
            </a:r>
            <a:br>
              <a:rPr lang="en-US" sz="8000" dirty="0"/>
            </a:br>
            <a:r>
              <a:rPr lang="en-US" sz="5400" dirty="0"/>
              <a:t>HARDWARE</a:t>
            </a:r>
            <a:br>
              <a:rPr lang="en-US" sz="5400" dirty="0"/>
            </a:br>
            <a:r>
              <a:rPr lang="en-US" sz="5400" dirty="0"/>
              <a:t>DESCRIPTION</a:t>
            </a:r>
            <a:br>
              <a:rPr lang="en-US" sz="5400" dirty="0"/>
            </a:br>
            <a:r>
              <a:rPr lang="en-US" sz="5400" dirty="0"/>
              <a:t>LANGUAGES</a:t>
            </a:r>
          </a:p>
        </p:txBody>
      </p:sp>
      <p:sp>
        <p:nvSpPr>
          <p:cNvPr id="2" name="Ovale 1">
            <a:extLst>
              <a:ext uri="{FF2B5EF4-FFF2-40B4-BE49-F238E27FC236}">
                <a16:creationId xmlns:a16="http://schemas.microsoft.com/office/drawing/2014/main" id="{7F369D3D-9E09-5A23-E168-FB78AE4AB109}"/>
              </a:ext>
            </a:extLst>
          </p:cNvPr>
          <p:cNvSpPr/>
          <p:nvPr/>
        </p:nvSpPr>
        <p:spPr>
          <a:xfrm>
            <a:off x="1038044" y="504854"/>
            <a:ext cx="119270" cy="119270"/>
          </a:xfrm>
          <a:prstGeom prst="ellipse">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8670892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79BD43A-4266-F13C-865E-A163B10CA766}"/>
              </a:ext>
            </a:extLst>
          </p:cNvPr>
          <p:cNvSpPr>
            <a:spLocks noGrp="1"/>
          </p:cNvSpPr>
          <p:nvPr>
            <p:ph type="title"/>
          </p:nvPr>
        </p:nvSpPr>
        <p:spPr/>
        <p:txBody>
          <a:bodyPr/>
          <a:lstStyle/>
          <a:p>
            <a:r>
              <a:rPr lang="en-US" dirty="0"/>
              <a:t>automated design</a:t>
            </a:r>
          </a:p>
        </p:txBody>
      </p:sp>
      <p:sp>
        <p:nvSpPr>
          <p:cNvPr id="3" name="Segnaposto contenuto 2">
            <a:extLst>
              <a:ext uri="{FF2B5EF4-FFF2-40B4-BE49-F238E27FC236}">
                <a16:creationId xmlns:a16="http://schemas.microsoft.com/office/drawing/2014/main" id="{C82AB7F9-E9DC-CA19-C11D-B457D49F7BF2}"/>
              </a:ext>
            </a:extLst>
          </p:cNvPr>
          <p:cNvSpPr>
            <a:spLocks noGrp="1"/>
          </p:cNvSpPr>
          <p:nvPr>
            <p:ph idx="1"/>
          </p:nvPr>
        </p:nvSpPr>
        <p:spPr>
          <a:xfrm>
            <a:off x="1141412" y="2249486"/>
            <a:ext cx="9905999" cy="4255009"/>
          </a:xfrm>
        </p:spPr>
        <p:txBody>
          <a:bodyPr>
            <a:normAutofit fontScale="85000" lnSpcReduction="10000"/>
          </a:bodyPr>
          <a:lstStyle/>
          <a:p>
            <a:r>
              <a:rPr lang="en-US" dirty="0"/>
              <a:t>HDLs (Hardware Description Languages) are languages for modeling, simulating and, optionally, formally verifying hardware.</a:t>
            </a:r>
          </a:p>
          <a:p>
            <a:r>
              <a:rPr lang="en-US" dirty="0"/>
              <a:t>If properly written, a model defined in an HDL can allow automatic synthesis.</a:t>
            </a:r>
          </a:p>
          <a:p>
            <a:r>
              <a:rPr lang="en-US" dirty="0"/>
              <a:t>The main languages in use are Verilog (and SystemVerilog), VHDL and, more rarely, SystemC.</a:t>
            </a:r>
          </a:p>
          <a:p>
            <a:r>
              <a:rPr lang="en-US" dirty="0"/>
              <a:t>They allow the model to be described at different levels of abstraction (behavioral, structural RTL, gate level or switch/transistor level).</a:t>
            </a:r>
          </a:p>
          <a:p>
            <a:r>
              <a:rPr lang="en-US" dirty="0"/>
              <a:t>They allow the description of test vectors to stimulate the models, to be run on dedicated simulators. They can support stochastic functions (queues and random probability distributions) to support performance verification.</a:t>
            </a:r>
          </a:p>
          <a:p>
            <a:r>
              <a:rPr lang="en-US" dirty="0"/>
              <a:t>They optionally allow formal verification of the model (SystemVerilog).</a:t>
            </a:r>
          </a:p>
        </p:txBody>
      </p:sp>
    </p:spTree>
    <p:extLst>
      <p:ext uri="{BB962C8B-B14F-4D97-AF65-F5344CB8AC3E}">
        <p14:creationId xmlns:p14="http://schemas.microsoft.com/office/powerpoint/2010/main" val="35280639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D55BE0-75FF-D480-EB33-0F227A4712C2}"/>
              </a:ext>
            </a:extLst>
          </p:cNvPr>
          <p:cNvSpPr>
            <a:spLocks noGrp="1"/>
          </p:cNvSpPr>
          <p:nvPr>
            <p:ph type="title"/>
          </p:nvPr>
        </p:nvSpPr>
        <p:spPr/>
        <p:txBody>
          <a:bodyPr/>
          <a:lstStyle/>
          <a:p>
            <a:r>
              <a:rPr lang="en-US" dirty="0"/>
              <a:t>EDA – Electronic Design Automation (1)</a:t>
            </a:r>
          </a:p>
        </p:txBody>
      </p:sp>
      <p:sp>
        <p:nvSpPr>
          <p:cNvPr id="3" name="Segnaposto contenuto 2">
            <a:extLst>
              <a:ext uri="{FF2B5EF4-FFF2-40B4-BE49-F238E27FC236}">
                <a16:creationId xmlns:a16="http://schemas.microsoft.com/office/drawing/2014/main" id="{A767B33B-AFA4-A552-61B5-A23A7F527CFA}"/>
              </a:ext>
            </a:extLst>
          </p:cNvPr>
          <p:cNvSpPr>
            <a:spLocks noGrp="1"/>
          </p:cNvSpPr>
          <p:nvPr>
            <p:ph idx="1"/>
          </p:nvPr>
        </p:nvSpPr>
        <p:spPr>
          <a:xfrm>
            <a:off x="1141412" y="2249486"/>
            <a:ext cx="9905999" cy="4179593"/>
          </a:xfrm>
        </p:spPr>
        <p:txBody>
          <a:bodyPr>
            <a:normAutofit lnSpcReduction="10000"/>
          </a:bodyPr>
          <a:lstStyle/>
          <a:p>
            <a:r>
              <a:rPr lang="en-US" dirty="0"/>
              <a:t>A set of tools, specifically for digital systems, for designing ASICs or for</a:t>
            </a:r>
            <a:br>
              <a:rPr lang="en-US" dirty="0"/>
            </a:br>
            <a:r>
              <a:rPr lang="en-US" dirty="0"/>
              <a:t>development on CPLDs and FPGAs.</a:t>
            </a:r>
          </a:p>
          <a:p>
            <a:r>
              <a:rPr lang="en-US" dirty="0"/>
              <a:t>EDA areas for the development of digital systems:</a:t>
            </a:r>
          </a:p>
          <a:p>
            <a:pPr marL="914400" lvl="1" indent="-457200">
              <a:buFont typeface="+mj-lt"/>
              <a:buAutoNum type="arabicPeriod"/>
            </a:pPr>
            <a:r>
              <a:rPr lang="en-US" dirty="0"/>
              <a:t>Design Entry: definition of the logic network design (schematics and HDL languages).</a:t>
            </a:r>
          </a:p>
          <a:p>
            <a:pPr marL="914400" lvl="1" indent="-457200">
              <a:buFont typeface="+mj-lt"/>
              <a:buAutoNum type="arabicPeriod"/>
            </a:pPr>
            <a:r>
              <a:rPr lang="en-US" dirty="0"/>
              <a:t>Verification of the logic network (pre-synthesis) by running the HDL code on a simulator.</a:t>
            </a:r>
          </a:p>
          <a:p>
            <a:pPr marL="914400" lvl="1" indent="-457200">
              <a:buFont typeface="+mj-lt"/>
              <a:buAutoNum type="arabicPeriod"/>
            </a:pPr>
            <a:r>
              <a:rPr lang="en-US" dirty="0"/>
              <a:t>Synthesis of the logic network from the HDL code, generating netlists (structures of components/functions and nodes as interconnections) specific to the target hardware architecture.</a:t>
            </a:r>
          </a:p>
          <a:p>
            <a:pPr marL="914400" lvl="1" indent="-457200">
              <a:buFont typeface="+mj-lt"/>
              <a:buAutoNum type="arabicPeriod"/>
            </a:pPr>
            <a:r>
              <a:rPr lang="en-US" dirty="0"/>
              <a:t>Simulation of the logic network at structural level (pre-layout): the technology blocks are considered ideal components.</a:t>
            </a:r>
          </a:p>
        </p:txBody>
      </p:sp>
    </p:spTree>
    <p:extLst>
      <p:ext uri="{BB962C8B-B14F-4D97-AF65-F5344CB8AC3E}">
        <p14:creationId xmlns:p14="http://schemas.microsoft.com/office/powerpoint/2010/main" val="20453301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D55BE0-75FF-D480-EB33-0F227A4712C2}"/>
              </a:ext>
            </a:extLst>
          </p:cNvPr>
          <p:cNvSpPr>
            <a:spLocks noGrp="1"/>
          </p:cNvSpPr>
          <p:nvPr>
            <p:ph type="title"/>
          </p:nvPr>
        </p:nvSpPr>
        <p:spPr/>
        <p:txBody>
          <a:bodyPr/>
          <a:lstStyle/>
          <a:p>
            <a:r>
              <a:rPr lang="en-US" dirty="0"/>
              <a:t>EDA – Electronic Design Automation (2)</a:t>
            </a:r>
          </a:p>
        </p:txBody>
      </p:sp>
      <p:sp>
        <p:nvSpPr>
          <p:cNvPr id="3" name="Segnaposto contenuto 2">
            <a:extLst>
              <a:ext uri="{FF2B5EF4-FFF2-40B4-BE49-F238E27FC236}">
                <a16:creationId xmlns:a16="http://schemas.microsoft.com/office/drawing/2014/main" id="{A767B33B-AFA4-A552-61B5-A23A7F527CFA}"/>
              </a:ext>
            </a:extLst>
          </p:cNvPr>
          <p:cNvSpPr>
            <a:spLocks noGrp="1"/>
          </p:cNvSpPr>
          <p:nvPr>
            <p:ph idx="1"/>
          </p:nvPr>
        </p:nvSpPr>
        <p:spPr>
          <a:xfrm>
            <a:off x="1141412" y="2249487"/>
            <a:ext cx="9905999" cy="4226728"/>
          </a:xfrm>
        </p:spPr>
        <p:txBody>
          <a:bodyPr>
            <a:normAutofit fontScale="92500" lnSpcReduction="10000"/>
          </a:bodyPr>
          <a:lstStyle/>
          <a:p>
            <a:r>
              <a:rPr lang="en-US" dirty="0"/>
              <a:t>EDA areas for the development of digital systems (continued)</a:t>
            </a:r>
          </a:p>
          <a:p>
            <a:pPr marL="914400" lvl="1" indent="-457200">
              <a:buFont typeface="+mj-lt"/>
              <a:buAutoNum type="arabicPeriod" startAt="5"/>
            </a:pPr>
            <a:r>
              <a:rPr lang="en-US" dirty="0"/>
              <a:t>Place &amp; Route, i.e. mapping the network onto the various predefined blocks of the chosen technology and routing the signals.</a:t>
            </a:r>
          </a:p>
          <a:p>
            <a:pPr marL="914400" lvl="1" indent="-457200">
              <a:buFont typeface="+mj-lt"/>
              <a:buAutoNum type="arabicPeriod" startAt="5"/>
            </a:pPr>
            <a:r>
              <a:rPr lang="en-US" dirty="0"/>
              <a:t>Calculation of the time the signals need to cross the interconnects and logic blocks (propagation times). Generation of a further netlist provided with elements that generate delays equivalent to the propagation times calculated above (back-annotation). The purpose of</a:t>
            </a:r>
            <a:br>
              <a:rPr lang="en-US" dirty="0"/>
            </a:br>
            <a:r>
              <a:rPr lang="en-US" dirty="0"/>
              <a:t>back-annotation is to have accurate post-synthesis simulations that also take into account the physical operating conditions (such as the estimated ambient temperature and the supply voltage(s)).</a:t>
            </a:r>
          </a:p>
          <a:p>
            <a:pPr marL="914400" lvl="1" indent="-457200">
              <a:buFont typeface="+mj-lt"/>
              <a:buAutoNum type="arabicPeriod" startAt="5"/>
            </a:pPr>
            <a:r>
              <a:rPr lang="en-US" dirty="0"/>
              <a:t>Programming of the device (with a bitstream) or generation of the layouts (masks) for production.</a:t>
            </a:r>
          </a:p>
        </p:txBody>
      </p:sp>
    </p:spTree>
    <p:extLst>
      <p:ext uri="{BB962C8B-B14F-4D97-AF65-F5344CB8AC3E}">
        <p14:creationId xmlns:p14="http://schemas.microsoft.com/office/powerpoint/2010/main" val="13465667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C197DD9A-5BF0-5144-87DA-F61902818B7F}"/>
              </a:ext>
            </a:extLst>
          </p:cNvPr>
          <p:cNvSpPr>
            <a:spLocks noGrp="1"/>
          </p:cNvSpPr>
          <p:nvPr>
            <p:ph type="title"/>
          </p:nvPr>
        </p:nvSpPr>
        <p:spPr>
          <a:xfrm>
            <a:off x="1141413" y="618518"/>
            <a:ext cx="9905998" cy="5710720"/>
          </a:xfrm>
        </p:spPr>
        <p:txBody>
          <a:bodyPr>
            <a:normAutofit/>
          </a:bodyPr>
          <a:lstStyle/>
          <a:p>
            <a:pPr algn="ctr">
              <a:lnSpc>
                <a:spcPct val="150000"/>
              </a:lnSpc>
            </a:pPr>
            <a:r>
              <a:rPr lang="en-US" sz="8000" dirty="0"/>
              <a:t>PART TWO</a:t>
            </a:r>
            <a:br>
              <a:rPr lang="en-US" sz="8000" dirty="0"/>
            </a:br>
            <a:r>
              <a:rPr lang="en-US" sz="5400" dirty="0"/>
              <a:t>The VERILOG LANGUAGE</a:t>
            </a:r>
            <a:r>
              <a:rPr lang="en-US" sz="5400" baseline="30000" dirty="0"/>
              <a:t>®</a:t>
            </a:r>
          </a:p>
        </p:txBody>
      </p:sp>
    </p:spTree>
    <p:extLst>
      <p:ext uri="{BB962C8B-B14F-4D97-AF65-F5344CB8AC3E}">
        <p14:creationId xmlns:p14="http://schemas.microsoft.com/office/powerpoint/2010/main" val="20066857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2A1AD8-8D98-6D24-CC50-0B2062F70FE9}"/>
              </a:ext>
            </a:extLst>
          </p:cNvPr>
          <p:cNvSpPr>
            <a:spLocks noGrp="1"/>
          </p:cNvSpPr>
          <p:nvPr>
            <p:ph type="title"/>
          </p:nvPr>
        </p:nvSpPr>
        <p:spPr/>
        <p:txBody>
          <a:bodyPr/>
          <a:lstStyle/>
          <a:p>
            <a:r>
              <a:rPr lang="en-US" dirty="0"/>
              <a:t>A BRIEF HISTORY OF THE VERILOG LANGUAGE</a:t>
            </a:r>
          </a:p>
        </p:txBody>
      </p:sp>
      <p:sp>
        <p:nvSpPr>
          <p:cNvPr id="3" name="Segnaposto contenuto 2">
            <a:extLst>
              <a:ext uri="{FF2B5EF4-FFF2-40B4-BE49-F238E27FC236}">
                <a16:creationId xmlns:a16="http://schemas.microsoft.com/office/drawing/2014/main" id="{78D8CF62-E62F-D873-19C8-F489A3291389}"/>
              </a:ext>
            </a:extLst>
          </p:cNvPr>
          <p:cNvSpPr>
            <a:spLocks noGrp="1"/>
          </p:cNvSpPr>
          <p:nvPr>
            <p:ph idx="1"/>
          </p:nvPr>
        </p:nvSpPr>
        <p:spPr>
          <a:xfrm>
            <a:off x="1141412" y="1971924"/>
            <a:ext cx="9905999" cy="4267558"/>
          </a:xfrm>
        </p:spPr>
        <p:txBody>
          <a:bodyPr>
            <a:normAutofit fontScale="70000" lnSpcReduction="20000"/>
          </a:bodyPr>
          <a:lstStyle/>
          <a:p>
            <a:r>
              <a:rPr lang="en-US" dirty="0" err="1"/>
              <a:t>Verilog HDL was invented by Phil Moorby and Prabhu Goel around 1984 as a proprietary hardware modeling language of Gateway Design Automation Inc.</a:t>
            </a:r>
          </a:p>
          <a:p>
            <a:r>
              <a:rPr lang="en-US" dirty="0"/>
              <a:t>It was stabilized as a specification in 1990 and made open by Cadence Design Systems in 1991, again by Cadence, which organized the Open Verilog International (OVI) consortium.</a:t>
            </a:r>
          </a:p>
          <a:p>
            <a:r>
              <a:rPr lang="en-US" dirty="0"/>
              <a:t>It was subsequently submitted to the IEEE and became the IEEE 1364-1995 standard, commonly referred to as Verilog-95.</a:t>
            </a:r>
          </a:p>
          <a:p>
            <a:r>
              <a:rPr lang="en-US" dirty="0"/>
              <a:t>To cover some shortcomings found in Verilog-95, a number of extensions were resubmitted to the IEEE and became the IEEE 1364-2001 standard, known as Verilog-2001.</a:t>
            </a:r>
          </a:p>
          <a:p>
            <a:r>
              <a:rPr lang="en-US" dirty="0"/>
              <a:t>Verilog-2005 (IEEE Standard 1364-2005) was published with minor corrections and changes.</a:t>
            </a:r>
          </a:p>
          <a:p>
            <a:r>
              <a:rPr lang="en-US" dirty="0"/>
              <a:t>Also in 2005, SystemVerilog was published, a superset of Verilog-2005, with many new features and capabilities to facilitate design verification.</a:t>
            </a:r>
          </a:p>
          <a:p>
            <a:r>
              <a:rPr lang="en-US" dirty="0"/>
              <a:t>Starting in 2009, the SystemVerilog and Verilog standards were merged into SystemVerilog 2009 (IEEE Standard 1800-2009).</a:t>
            </a:r>
          </a:p>
        </p:txBody>
      </p:sp>
    </p:spTree>
    <p:extLst>
      <p:ext uri="{BB962C8B-B14F-4D97-AF65-F5344CB8AC3E}">
        <p14:creationId xmlns:p14="http://schemas.microsoft.com/office/powerpoint/2010/main" val="35813881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2A1AD8-8D98-6D24-CC50-0B2062F70FE9}"/>
              </a:ext>
            </a:extLst>
          </p:cNvPr>
          <p:cNvSpPr>
            <a:spLocks noGrp="1"/>
          </p:cNvSpPr>
          <p:nvPr>
            <p:ph type="title"/>
          </p:nvPr>
        </p:nvSpPr>
        <p:spPr/>
        <p:txBody>
          <a:bodyPr/>
          <a:lstStyle/>
          <a:p>
            <a:r>
              <a:rPr lang="en-US" dirty="0"/>
              <a:t>VERILOG AND COMPUTER LANGUAGES</a:t>
            </a:r>
          </a:p>
        </p:txBody>
      </p:sp>
      <p:sp>
        <p:nvSpPr>
          <p:cNvPr id="3" name="Segnaposto contenuto 2">
            <a:extLst>
              <a:ext uri="{FF2B5EF4-FFF2-40B4-BE49-F238E27FC236}">
                <a16:creationId xmlns:a16="http://schemas.microsoft.com/office/drawing/2014/main" id="{78D8CF62-E62F-D873-19C8-F489A3291389}"/>
              </a:ext>
            </a:extLst>
          </p:cNvPr>
          <p:cNvSpPr>
            <a:spLocks noGrp="1"/>
          </p:cNvSpPr>
          <p:nvPr>
            <p:ph idx="1"/>
          </p:nvPr>
        </p:nvSpPr>
        <p:spPr/>
        <p:txBody>
          <a:bodyPr>
            <a:normAutofit/>
          </a:bodyPr>
          <a:lstStyle/>
          <a:p>
            <a:r>
              <a:rPr lang="en-US" dirty="0"/>
              <a:t>Differences from computer programming languages.</a:t>
            </a:r>
          </a:p>
          <a:p>
            <a:pPr lvl="1">
              <a:buFont typeface="Tw Cen MT" panose="020B0602020104020603" pitchFamily="34" charset="0"/>
              <a:buChar char="–"/>
            </a:pPr>
            <a:r>
              <a:rPr lang="en-US" b="1" dirty="0"/>
              <a:t>Purpose:</a:t>
            </a:r>
            <a:r>
              <a:rPr lang="en-US" dirty="0"/>
              <a:t> Verilog is used to describe a circuit or an entire digital system; a computer programming language is used to produce executable code.</a:t>
            </a:r>
          </a:p>
          <a:p>
            <a:pPr lvl="1">
              <a:buFont typeface="Tw Cen MT" panose="020B0602020104020603" pitchFamily="34" charset="0"/>
              <a:buChar char="–"/>
            </a:pPr>
            <a:r>
              <a:rPr lang="en-US" b="1" dirty="0"/>
              <a:t>Constructs: </a:t>
            </a:r>
            <a:r>
              <a:rPr lang="en-US" dirty="0" err="1"/>
              <a:t>Verilog describes the properties of wires, registers, logic gates, etc., whereas a programming language describes variables, functions and flow-control structures.</a:t>
            </a:r>
          </a:p>
          <a:p>
            <a:pPr lvl="1">
              <a:buFont typeface="Tw Cen MT" panose="020B0602020104020603" pitchFamily="34" charset="0"/>
              <a:buChar char="–"/>
            </a:pPr>
            <a:r>
              <a:rPr lang="en-US" b="1" dirty="0"/>
              <a:t>Execution: </a:t>
            </a:r>
            <a:r>
              <a:rPr lang="en-US" dirty="0" err="1"/>
              <a:t>Verilog describes but does not directly execute: it can be used to generate configurations or masks for physical circuits; a computer language describes code that, once compiled, is executed on a CPU.</a:t>
            </a:r>
          </a:p>
        </p:txBody>
      </p:sp>
    </p:spTree>
    <p:extLst>
      <p:ext uri="{BB962C8B-B14F-4D97-AF65-F5344CB8AC3E}">
        <p14:creationId xmlns:p14="http://schemas.microsoft.com/office/powerpoint/2010/main" val="10675014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5FE837-D8AB-0370-BF3B-1DBF0F417B2B}"/>
              </a:ext>
            </a:extLst>
          </p:cNvPr>
          <p:cNvSpPr>
            <a:spLocks noGrp="1"/>
          </p:cNvSpPr>
          <p:nvPr>
            <p:ph type="title"/>
          </p:nvPr>
        </p:nvSpPr>
        <p:spPr/>
        <p:txBody>
          <a:bodyPr/>
          <a:lstStyle/>
          <a:p>
            <a:r>
              <a:rPr lang="en-US" dirty="0"/>
              <a:t>Introduction to the VERILOG language</a:t>
            </a:r>
          </a:p>
        </p:txBody>
      </p:sp>
      <p:sp>
        <p:nvSpPr>
          <p:cNvPr id="3" name="Segnaposto contenuto 2">
            <a:extLst>
              <a:ext uri="{FF2B5EF4-FFF2-40B4-BE49-F238E27FC236}">
                <a16:creationId xmlns:a16="http://schemas.microsoft.com/office/drawing/2014/main" id="{D76B933F-4BA2-FED6-46E4-5C59991A374C}"/>
              </a:ext>
            </a:extLst>
          </p:cNvPr>
          <p:cNvSpPr>
            <a:spLocks noGrp="1"/>
          </p:cNvSpPr>
          <p:nvPr>
            <p:ph idx="1"/>
          </p:nvPr>
        </p:nvSpPr>
        <p:spPr>
          <a:xfrm>
            <a:off x="1143000" y="2249487"/>
            <a:ext cx="9905999" cy="3541714"/>
          </a:xfrm>
        </p:spPr>
        <p:txBody>
          <a:bodyPr>
            <a:normAutofit fontScale="92500" lnSpcReduction="10000"/>
          </a:bodyPr>
          <a:lstStyle/>
          <a:p>
            <a:r>
              <a:rPr lang="en-US" dirty="0"/>
              <a:t>A Verilog project consists of at least one text file; .v is usually used as the extension (.sv for SystemVerilog).</a:t>
            </a:r>
          </a:p>
          <a:p>
            <a:r>
              <a:rPr lang="en-US" dirty="0" err="1"/>
              <a:t>Verilog is "case sensitive": var_X and var_x are two different objects.</a:t>
            </a:r>
          </a:p>
          <a:p>
            <a:r>
              <a:rPr lang="en-US" dirty="0"/>
              <a:t>The main construct in Verilog is the module (lexical element 'module').</a:t>
            </a:r>
          </a:p>
          <a:p>
            <a:r>
              <a:rPr lang="en-US" dirty="0"/>
              <a:t>A .v file can contain one or more modules and other commands, such as the so-called directives and tasks (which start with $).</a:t>
            </a:r>
          </a:p>
          <a:p>
            <a:r>
              <a:rPr lang="en-US" dirty="0"/>
              <a:t>Some files may have the .tf extension (test fixtures): they are Verilog files (like .v files) that contain the stimulus and verification vectors (to be used with the simulator).</a:t>
            </a:r>
          </a:p>
        </p:txBody>
      </p:sp>
    </p:spTree>
    <p:extLst>
      <p:ext uri="{BB962C8B-B14F-4D97-AF65-F5344CB8AC3E}">
        <p14:creationId xmlns:p14="http://schemas.microsoft.com/office/powerpoint/2010/main" val="24386292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11F41B-87F0-52C3-31D0-E72459C54F2D}"/>
              </a:ext>
            </a:extLst>
          </p:cNvPr>
          <p:cNvSpPr>
            <a:spLocks noGrp="1"/>
          </p:cNvSpPr>
          <p:nvPr>
            <p:ph type="title"/>
          </p:nvPr>
        </p:nvSpPr>
        <p:spPr/>
        <p:txBody>
          <a:bodyPr/>
          <a:lstStyle/>
          <a:p>
            <a:r>
              <a:rPr lang="en-US" dirty="0"/>
              <a:t>LEVELS OF ABSTRACTION</a:t>
            </a:r>
          </a:p>
        </p:txBody>
      </p:sp>
      <p:sp>
        <p:nvSpPr>
          <p:cNvPr id="3" name="Segnaposto contenuto 2">
            <a:extLst>
              <a:ext uri="{FF2B5EF4-FFF2-40B4-BE49-F238E27FC236}">
                <a16:creationId xmlns:a16="http://schemas.microsoft.com/office/drawing/2014/main" id="{4E81AC60-6AF4-C708-F890-F940C638F8AF}"/>
              </a:ext>
            </a:extLst>
          </p:cNvPr>
          <p:cNvSpPr>
            <a:spLocks noGrp="1"/>
          </p:cNvSpPr>
          <p:nvPr>
            <p:ph idx="1"/>
          </p:nvPr>
        </p:nvSpPr>
        <p:spPr>
          <a:xfrm>
            <a:off x="1141412" y="2249487"/>
            <a:ext cx="9905999" cy="4095654"/>
          </a:xfrm>
        </p:spPr>
        <p:txBody>
          <a:bodyPr>
            <a:normAutofit fontScale="70000" lnSpcReduction="20000"/>
          </a:bodyPr>
          <a:lstStyle/>
          <a:p>
            <a:r>
              <a:rPr lang="en-US" dirty="0" err="1"/>
              <a:t>Verilog supports abstract behavioral modeling, so it can be used to model the functionality of a logic network at a high level of abstraction. This is useful for verifying the analysis and system-partitioning phase (proof of concept).</a:t>
            </a:r>
          </a:p>
          <a:p>
            <a:r>
              <a:rPr lang="en-US" dirty="0" err="1"/>
              <a:t>Verilog supports the RTL (Register Transfer Level), which is used for the detailed design of digital circuits. If the code is written appropriately, synthesis tools transform RTL descriptions down to the level of gates/logic blocks/switches.</a:t>
            </a:r>
          </a:p>
          <a:p>
            <a:r>
              <a:rPr lang="en-US" dirty="0" err="1"/>
              <a:t>Verilog supports gate-level and switch-level descriptions, used for the verification of digital designs, including very low-level logic simulation, static and dynamic timing analysis, testability analysis and fault classification.</a:t>
            </a:r>
          </a:p>
          <a:p>
            <a:r>
              <a:rPr lang="en-US" dirty="0"/>
              <a:t>The test vectors, which stimulate the network and contain the expected results to compare with the network's output, are also written in Verilog, usually in non-synthesizable form.</a:t>
            </a:r>
          </a:p>
          <a:p>
            <a:r>
              <a:rPr lang="en-US" dirty="0"/>
              <a:t>At the highest level, Verilog contains stochastic functions (queues and random probability distributions) to support test fixtures for performance modeling.</a:t>
            </a:r>
          </a:p>
          <a:p>
            <a:endParaRPr lang="en-US" dirty="0"/>
          </a:p>
        </p:txBody>
      </p:sp>
      <p:sp>
        <p:nvSpPr>
          <p:cNvPr id="5" name="Ovale 4">
            <a:extLst>
              <a:ext uri="{FF2B5EF4-FFF2-40B4-BE49-F238E27FC236}">
                <a16:creationId xmlns:a16="http://schemas.microsoft.com/office/drawing/2014/main" id="{566C5E46-41CD-1133-ECC4-5142FCF6A57A}"/>
              </a:ext>
            </a:extLst>
          </p:cNvPr>
          <p:cNvSpPr/>
          <p:nvPr/>
        </p:nvSpPr>
        <p:spPr>
          <a:xfrm>
            <a:off x="1038044" y="504854"/>
            <a:ext cx="119270" cy="119270"/>
          </a:xfrm>
          <a:prstGeom prst="ellipse">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828853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ADF5D0-B923-1831-7C06-1D0C33BAA54D}"/>
              </a:ext>
            </a:extLst>
          </p:cNvPr>
          <p:cNvSpPr>
            <a:spLocks noGrp="1"/>
          </p:cNvSpPr>
          <p:nvPr>
            <p:ph type="title"/>
          </p:nvPr>
        </p:nvSpPr>
        <p:spPr/>
        <p:txBody>
          <a:bodyPr/>
          <a:lstStyle/>
          <a:p>
            <a:r>
              <a:rPr lang="en-US" dirty="0"/>
              <a:t>HDL-BASED ASIC DEVELOPMENT FLOW (1)</a:t>
            </a:r>
          </a:p>
        </p:txBody>
      </p:sp>
      <p:sp>
        <p:nvSpPr>
          <p:cNvPr id="3" name="Segnaposto contenuto 2">
            <a:extLst>
              <a:ext uri="{FF2B5EF4-FFF2-40B4-BE49-F238E27FC236}">
                <a16:creationId xmlns:a16="http://schemas.microsoft.com/office/drawing/2014/main" id="{33283AB3-55A8-4CF3-40C0-FA76C92A401E}"/>
              </a:ext>
            </a:extLst>
          </p:cNvPr>
          <p:cNvSpPr>
            <a:spLocks noGrp="1"/>
          </p:cNvSpPr>
          <p:nvPr>
            <p:ph idx="1"/>
          </p:nvPr>
        </p:nvSpPr>
        <p:spPr>
          <a:xfrm>
            <a:off x="1141412" y="2249487"/>
            <a:ext cx="8006702" cy="3809407"/>
          </a:xfrm>
        </p:spPr>
        <p:txBody>
          <a:bodyPr>
            <a:normAutofit/>
          </a:bodyPr>
          <a:lstStyle/>
          <a:p>
            <a:pPr marL="457200" indent="-457200">
              <a:buFont typeface="+mj-lt"/>
              <a:buAutoNum type="arabicPeriod"/>
            </a:pPr>
            <a:r>
              <a:rPr lang="en-US" dirty="0"/>
              <a:t>Analysis and partitioning of the problem.</a:t>
            </a:r>
          </a:p>
          <a:p>
            <a:pPr marL="457200" indent="-457200">
              <a:buFont typeface="+mj-lt"/>
              <a:buAutoNum type="arabicPeriod"/>
            </a:pPr>
            <a:r>
              <a:rPr lang="en-US" dirty="0"/>
              <a:t>Writing or editing the code blocks (modules) in behavioral or RTL style and the related test vectors.</a:t>
            </a:r>
          </a:p>
          <a:p>
            <a:pPr marL="457200" indent="-457200">
              <a:buFont typeface="+mj-lt"/>
              <a:buAutoNum type="arabicPeriod"/>
            </a:pPr>
            <a:r>
              <a:rPr lang="en-US" dirty="0"/>
              <a:t>Simulation (pre-synthesis) of the code: if the results are unexpected, go back to step 2.</a:t>
            </a:r>
          </a:p>
          <a:p>
            <a:pPr marL="457200" indent="-457200">
              <a:buFont typeface="+mj-lt"/>
              <a:buAutoNum type="arabicPeriod"/>
            </a:pPr>
            <a:r>
              <a:rPr lang="en-US" dirty="0"/>
              <a:t>Synthesis into blocks specific to the chosen technology.</a:t>
            </a:r>
          </a:p>
          <a:p>
            <a:pPr marL="457200" indent="-457200">
              <a:buFont typeface="+mj-lt"/>
              <a:buAutoNum type="arabicPeriod"/>
            </a:pPr>
            <a:endParaRPr lang="en-US" dirty="0"/>
          </a:p>
          <a:p>
            <a:pPr marL="457200" indent="-457200">
              <a:buFont typeface="+mj-lt"/>
              <a:buAutoNum type="arabicPeriod"/>
            </a:pPr>
            <a:endParaRPr lang="en-US" dirty="0"/>
          </a:p>
        </p:txBody>
      </p:sp>
      <p:pic>
        <p:nvPicPr>
          <p:cNvPr id="11" name="Elemento grafico 10">
            <a:extLst>
              <a:ext uri="{FF2B5EF4-FFF2-40B4-BE49-F238E27FC236}">
                <a16:creationId xmlns:a16="http://schemas.microsoft.com/office/drawing/2014/main" id="{07E4FBA0-C952-272F-959A-B098864AE54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48114" y="618518"/>
            <a:ext cx="2532352" cy="5804311"/>
          </a:xfrm>
          <a:prstGeom prst="rect">
            <a:avLst/>
          </a:prstGeom>
        </p:spPr>
      </p:pic>
    </p:spTree>
    <p:extLst>
      <p:ext uri="{BB962C8B-B14F-4D97-AF65-F5344CB8AC3E}">
        <p14:creationId xmlns:p14="http://schemas.microsoft.com/office/powerpoint/2010/main" val="13423302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BF64A-39C3-FAB0-FFF5-799AC9909A3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C0D621D-ED1A-7961-311A-2DA26BDBB0C0}"/>
              </a:ext>
            </a:extLst>
          </p:cNvPr>
          <p:cNvSpPr>
            <a:spLocks noGrp="1"/>
          </p:cNvSpPr>
          <p:nvPr>
            <p:ph type="title"/>
          </p:nvPr>
        </p:nvSpPr>
        <p:spPr/>
        <p:txBody>
          <a:bodyPr/>
          <a:lstStyle/>
          <a:p>
            <a:r>
              <a:rPr lang="en-US" dirty="0"/>
              <a:t>HDL-BASED ASIC DEVELOPMENT FLOW (2)</a:t>
            </a:r>
          </a:p>
        </p:txBody>
      </p:sp>
      <p:sp>
        <p:nvSpPr>
          <p:cNvPr id="3" name="Segnaposto contenuto 2">
            <a:extLst>
              <a:ext uri="{FF2B5EF4-FFF2-40B4-BE49-F238E27FC236}">
                <a16:creationId xmlns:a16="http://schemas.microsoft.com/office/drawing/2014/main" id="{DFAFA0A6-94A7-3B0E-6972-DC55A379C495}"/>
              </a:ext>
            </a:extLst>
          </p:cNvPr>
          <p:cNvSpPr>
            <a:spLocks noGrp="1"/>
          </p:cNvSpPr>
          <p:nvPr>
            <p:ph idx="1"/>
          </p:nvPr>
        </p:nvSpPr>
        <p:spPr>
          <a:xfrm>
            <a:off x="1141412" y="2249487"/>
            <a:ext cx="8006702" cy="3809407"/>
          </a:xfrm>
        </p:spPr>
        <p:txBody>
          <a:bodyPr>
            <a:normAutofit lnSpcReduction="10000"/>
          </a:bodyPr>
          <a:lstStyle/>
          <a:p>
            <a:pPr marL="457200" indent="-457200">
              <a:buFont typeface="+mj-lt"/>
              <a:buAutoNum type="arabicPeriod" startAt="5"/>
            </a:pPr>
            <a:r>
              <a:rPr lang="en-US" dirty="0"/>
              <a:t>Simulation (post-synthesis) of the code: in case of error, go back to step 2.</a:t>
            </a:r>
          </a:p>
          <a:p>
            <a:pPr marL="457200" indent="-457200">
              <a:buFont typeface="+mj-lt"/>
              <a:buAutoNum type="arabicPeriod" startAt="5"/>
            </a:pPr>
            <a:r>
              <a:rPr lang="en-US" dirty="0"/>
              <a:t>Place &amp; route. Mapping of "resources" and interconnections.</a:t>
            </a:r>
          </a:p>
          <a:p>
            <a:pPr marL="457200" indent="-457200">
              <a:buFont typeface="+mj-lt"/>
              <a:buAutoNum type="arabicPeriod" startAt="5"/>
            </a:pPr>
            <a:r>
              <a:rPr lang="en-US" dirty="0"/>
              <a:t>Post-place &amp; route simulation is to be considered an optional step and not very useful except in special circumstances. Instead of simulation, the technique based on so-called "constraints" applied to the critical signal paths is used.</a:t>
            </a:r>
          </a:p>
          <a:p>
            <a:pPr marL="457200" indent="-457200">
              <a:buFont typeface="+mj-lt"/>
              <a:buAutoNum type="arabicPeriod" startAt="5"/>
            </a:pPr>
            <a:r>
              <a:rPr lang="en-US" dirty="0"/>
              <a:t>Programming of the device or circuit implementation.</a:t>
            </a:r>
          </a:p>
          <a:p>
            <a:pPr marL="457200" indent="-457200">
              <a:buFont typeface="+mj-lt"/>
              <a:buAutoNum type="arabicPeriod" startAt="5"/>
            </a:pPr>
            <a:endParaRPr lang="en-US" dirty="0"/>
          </a:p>
          <a:p>
            <a:pPr marL="457200" indent="-457200">
              <a:buFont typeface="+mj-lt"/>
              <a:buAutoNum type="arabicPeriod" startAt="5"/>
            </a:pPr>
            <a:endParaRPr lang="en-US" dirty="0"/>
          </a:p>
        </p:txBody>
      </p:sp>
      <p:pic>
        <p:nvPicPr>
          <p:cNvPr id="11" name="Elemento grafico 10">
            <a:extLst>
              <a:ext uri="{FF2B5EF4-FFF2-40B4-BE49-F238E27FC236}">
                <a16:creationId xmlns:a16="http://schemas.microsoft.com/office/drawing/2014/main" id="{B500695D-FE1D-9A1D-5639-F9A02D3A2A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48114" y="618518"/>
            <a:ext cx="2532352" cy="5804311"/>
          </a:xfrm>
          <a:prstGeom prst="rect">
            <a:avLst/>
          </a:prstGeom>
        </p:spPr>
      </p:pic>
    </p:spTree>
    <p:extLst>
      <p:ext uri="{BB962C8B-B14F-4D97-AF65-F5344CB8AC3E}">
        <p14:creationId xmlns:p14="http://schemas.microsoft.com/office/powerpoint/2010/main" val="13835194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p:txBody>
          <a:bodyPr/>
          <a:lstStyle/>
          <a:p>
            <a:r>
              <a:rPr lang="en-US" dirty="0"/>
              <a:t>INTRO TUTORIAL (1)</a:t>
            </a:r>
          </a:p>
        </p:txBody>
      </p:sp>
      <p:sp>
        <p:nvSpPr>
          <p:cNvPr id="3" name="Segnaposto contenuto 2">
            <a:extLst>
              <a:ext uri="{FF2B5EF4-FFF2-40B4-BE49-F238E27FC236}">
                <a16:creationId xmlns:a16="http://schemas.microsoft.com/office/drawing/2014/main" id="{659C268E-733F-CB6D-79EB-6E4ED4D2DF3C}"/>
              </a:ext>
            </a:extLst>
          </p:cNvPr>
          <p:cNvSpPr>
            <a:spLocks noGrp="1"/>
          </p:cNvSpPr>
          <p:nvPr>
            <p:ph idx="1"/>
          </p:nvPr>
        </p:nvSpPr>
        <p:spPr>
          <a:xfrm>
            <a:off x="1141413" y="1994171"/>
            <a:ext cx="6588566" cy="3312728"/>
          </a:xfrm>
        </p:spPr>
        <p:txBody>
          <a:bodyPr>
            <a:normAutofit fontScale="85000" lnSpcReduction="10000"/>
          </a:bodyPr>
          <a:lstStyle/>
          <a:p>
            <a:pPr marL="0" indent="0">
              <a:buNone/>
            </a:pPr>
            <a:r>
              <a:rPr lang="en-US" dirty="0"/>
              <a:t>Modules:</a:t>
            </a:r>
          </a:p>
          <a:p>
            <a:r>
              <a:rPr lang="en-US" dirty="0"/>
              <a:t>They are blocks of code that implement functionality.</a:t>
            </a:r>
          </a:p>
          <a:p>
            <a:r>
              <a:rPr lang="en-US" dirty="0"/>
              <a:t>They communicate with the outside through ports (input/output), which can be likened to electrical connections (wires).</a:t>
            </a:r>
          </a:p>
          <a:p>
            <a:r>
              <a:rPr lang="en-US" dirty="0"/>
              <a:t>They contain code constructs that describe their internal structure.</a:t>
            </a:r>
          </a:p>
          <a:p>
            <a:r>
              <a:rPr lang="en-US" dirty="0"/>
              <a:t>They are delimited by the keywords </a:t>
            </a:r>
            <a:r>
              <a:rPr lang="en-US" i="1" dirty="0" err="1"/>
              <a:t>module</a:t>
            </a:r>
            <a:r>
              <a:rPr lang="en-US" dirty="0"/>
              <a:t> and </a:t>
            </a:r>
            <a:r>
              <a:rPr lang="en-US" i="1" dirty="0" err="1"/>
              <a:t>endmodule</a:t>
            </a:r>
            <a:r>
              <a:rPr lang="en-US" dirty="0"/>
              <a:t>.</a:t>
            </a:r>
          </a:p>
          <a:p>
            <a:pPr marL="0" indent="0">
              <a:buNone/>
            </a:pPr>
            <a:endParaRPr lang="en-US" dirty="0"/>
          </a:p>
          <a:p>
            <a:endParaRPr lang="en-US" dirty="0"/>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en-US" dirty="0"/>
          </a:p>
        </p:txBody>
      </p:sp>
      <p:sp>
        <p:nvSpPr>
          <p:cNvPr id="5" name="CasellaDiTesto 4">
            <a:extLst>
              <a:ext uri="{FF2B5EF4-FFF2-40B4-BE49-F238E27FC236}">
                <a16:creationId xmlns:a16="http://schemas.microsoft.com/office/drawing/2014/main" id="{B2089992-080F-2A5E-2560-DE1B93AF37BD}"/>
              </a:ext>
            </a:extLst>
          </p:cNvPr>
          <p:cNvSpPr txBox="1"/>
          <p:nvPr/>
        </p:nvSpPr>
        <p:spPr>
          <a:xfrm>
            <a:off x="3155523" y="5500818"/>
            <a:ext cx="3742440" cy="738664"/>
          </a:xfrm>
          <a:prstGeom prst="rect">
            <a:avLst/>
          </a:prstGeom>
          <a:solidFill>
            <a:schemeClr val="bg1">
              <a:lumMod val="95000"/>
              <a:lumOff val="5000"/>
            </a:schemeClr>
          </a:solidFill>
          <a:ln w="38100">
            <a:solidFill>
              <a:schemeClr val="accent5">
                <a:lumMod val="75000"/>
              </a:schemeClr>
            </a:solidFill>
          </a:ln>
        </p:spPr>
        <p:txBody>
          <a:bodyPr wrap="square" rtlCol="0" anchor="ctr">
            <a:spAutoFit/>
          </a:bodyPr>
          <a:lstStyle/>
          <a:p>
            <a:r>
              <a:rPr lang="en-US" sz="1400" b="1" noProof="1">
                <a:solidFill>
                  <a:srgbClr val="DFC47D"/>
                </a:solidFill>
                <a:highlight>
                  <a:srgbClr val="000000"/>
                </a:highlight>
                <a:latin typeface="Courier New" panose="02070309020205020404" pitchFamily="49" charset="0"/>
                <a:cs typeface="Courier New" panose="02070309020205020404" pitchFamily="49" charset="0"/>
              </a:rPr>
              <a:t>module </a:t>
            </a:r>
            <a:r>
              <a:rPr lang="en-US" sz="1400" b="1" i="1" noProof="1">
                <a:highlight>
                  <a:srgbClr val="000000"/>
                </a:highlight>
                <a:latin typeface="Courier New" panose="02070309020205020404" pitchFamily="49" charset="0"/>
                <a:cs typeface="Courier New" panose="02070309020205020404" pitchFamily="49" charset="0"/>
              </a:rPr>
              <a:t>name</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 </a:t>
            </a:r>
            <a:r>
              <a:rPr lang="en-US" sz="1400" b="1" i="1" noProof="1">
                <a:highlight>
                  <a:srgbClr val="000000"/>
                </a:highlight>
                <a:latin typeface="Courier New" panose="02070309020205020404" pitchFamily="49" charset="0"/>
                <a:cs typeface="Courier New" panose="02070309020205020404" pitchFamily="49" charset="0"/>
              </a:rPr>
              <a:t>[port list]</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 );</a:t>
            </a:r>
          </a:p>
          <a:p>
            <a:r>
              <a:rPr lang="en-US" sz="1400" b="1" noProof="1">
                <a:solidFill>
                  <a:srgbClr val="DFC47D"/>
                </a:solidFill>
                <a:highlight>
                  <a:srgbClr val="000000"/>
                </a:highlight>
                <a:latin typeface="Courier New" panose="02070309020205020404" pitchFamily="49" charset="0"/>
                <a:cs typeface="Courier New" panose="02070309020205020404" pitchFamily="49" charset="0"/>
              </a:rPr>
              <a:t>  // Module contents</a:t>
            </a:r>
          </a:p>
          <a:p>
            <a:r>
              <a:rPr lang="en-US" sz="1400" b="1" noProof="1">
                <a:solidFill>
                  <a:srgbClr val="DFC47D"/>
                </a:solidFill>
                <a:highlight>
                  <a:srgbClr val="000000"/>
                </a:highlight>
                <a:latin typeface="Courier New" panose="02070309020205020404" pitchFamily="49" charset="0"/>
                <a:cs typeface="Courier New" panose="02070309020205020404" pitchFamily="49" charset="0"/>
              </a:rPr>
              <a:t>endmodule</a:t>
            </a:r>
            <a:endParaRPr lang="en-US" sz="1400" noProof="1">
              <a:highlight>
                <a:srgbClr val="000000"/>
              </a:highlight>
              <a:latin typeface="Courier New" panose="02070309020205020404" pitchFamily="49" charset="0"/>
              <a:cs typeface="Courier New" panose="02070309020205020404" pitchFamily="49" charset="0"/>
            </a:endParaRPr>
          </a:p>
        </p:txBody>
      </p:sp>
      <p:pic>
        <p:nvPicPr>
          <p:cNvPr id="7" name="Elemento grafico 6">
            <a:extLst>
              <a:ext uri="{FF2B5EF4-FFF2-40B4-BE49-F238E27FC236}">
                <a16:creationId xmlns:a16="http://schemas.microsoft.com/office/drawing/2014/main" id="{54569F14-4B86-D29A-EBF8-909A243376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70247" y="3524425"/>
            <a:ext cx="3742440" cy="2406486"/>
          </a:xfrm>
          <a:prstGeom prst="rect">
            <a:avLst/>
          </a:prstGeom>
        </p:spPr>
      </p:pic>
    </p:spTree>
    <p:extLst>
      <p:ext uri="{BB962C8B-B14F-4D97-AF65-F5344CB8AC3E}">
        <p14:creationId xmlns:p14="http://schemas.microsoft.com/office/powerpoint/2010/main" val="4844272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41413" y="618518"/>
            <a:ext cx="9905998" cy="892782"/>
          </a:xfrm>
        </p:spPr>
        <p:txBody>
          <a:bodyPr/>
          <a:lstStyle/>
          <a:p>
            <a:r>
              <a:rPr lang="en-US" dirty="0"/>
              <a:t>INTRO TUTORIAL (2)</a:t>
            </a:r>
          </a:p>
        </p:txBody>
      </p:sp>
      <p:sp>
        <p:nvSpPr>
          <p:cNvPr id="3" name="Segnaposto contenuto 2">
            <a:extLst>
              <a:ext uri="{FF2B5EF4-FFF2-40B4-BE49-F238E27FC236}">
                <a16:creationId xmlns:a16="http://schemas.microsoft.com/office/drawing/2014/main" id="{659C268E-733F-CB6D-79EB-6E4ED4D2DF3C}"/>
              </a:ext>
            </a:extLst>
          </p:cNvPr>
          <p:cNvSpPr>
            <a:spLocks noGrp="1"/>
          </p:cNvSpPr>
          <p:nvPr>
            <p:ph idx="1"/>
          </p:nvPr>
        </p:nvSpPr>
        <p:spPr>
          <a:xfrm>
            <a:off x="1141412" y="1333501"/>
            <a:ext cx="9905999" cy="4536650"/>
          </a:xfrm>
        </p:spPr>
        <p:txBody>
          <a:bodyPr>
            <a:normAutofit/>
          </a:bodyPr>
          <a:lstStyle/>
          <a:p>
            <a:pPr marL="0" indent="0">
              <a:buNone/>
            </a:pPr>
            <a:r>
              <a:rPr lang="en-US" dirty="0"/>
              <a:t>Modules:</a:t>
            </a:r>
          </a:p>
          <a:p>
            <a:r>
              <a:rPr lang="en-US" dirty="0"/>
              <a:t>They may have no port list.</a:t>
            </a:r>
          </a:p>
          <a:p>
            <a:endParaRPr lang="en-US" dirty="0"/>
          </a:p>
          <a:p>
            <a:r>
              <a:rPr lang="en-US" dirty="0"/>
              <a:t>The keywords </a:t>
            </a:r>
            <a:r>
              <a:rPr lang="en-US" i="1" dirty="0"/>
              <a:t>input</a:t>
            </a:r>
            <a:r>
              <a:rPr lang="en-US" dirty="0"/>
              <a:t> and </a:t>
            </a:r>
            <a:r>
              <a:rPr lang="en-US" i="1" dirty="0"/>
              <a:t>output</a:t>
            </a:r>
            <a:r>
              <a:rPr lang="en-US" dirty="0"/>
              <a:t> are used to define the respective input and output ports.</a:t>
            </a:r>
          </a:p>
          <a:p>
            <a:endParaRPr lang="en-US" dirty="0"/>
          </a:p>
          <a:p>
            <a:r>
              <a:rPr lang="en-US" dirty="0"/>
              <a:t>Inside the module are the constructs that define the behavior. In this box we see a construct that represents a "continuous" combinational assignment.</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en-US" dirty="0"/>
          </a:p>
        </p:txBody>
      </p:sp>
      <p:sp>
        <p:nvSpPr>
          <p:cNvPr id="5" name="CasellaDiTesto 4">
            <a:extLst>
              <a:ext uri="{FF2B5EF4-FFF2-40B4-BE49-F238E27FC236}">
                <a16:creationId xmlns:a16="http://schemas.microsoft.com/office/drawing/2014/main" id="{B2089992-080F-2A5E-2560-DE1B93AF37BD}"/>
              </a:ext>
            </a:extLst>
          </p:cNvPr>
          <p:cNvSpPr txBox="1"/>
          <p:nvPr/>
        </p:nvSpPr>
        <p:spPr>
          <a:xfrm>
            <a:off x="4843399" y="2148803"/>
            <a:ext cx="3120271" cy="738664"/>
          </a:xfrm>
          <a:prstGeom prst="rect">
            <a:avLst/>
          </a:prstGeom>
          <a:solidFill>
            <a:schemeClr val="bg1"/>
          </a:solidFill>
          <a:ln w="38100">
            <a:solidFill>
              <a:schemeClr val="accent5">
                <a:lumMod val="75000"/>
              </a:schemeClr>
            </a:solidFill>
          </a:ln>
        </p:spPr>
        <p:txBody>
          <a:bodyPr wrap="square" rtlCol="0" anchor="ctr">
            <a:spAutoFit/>
          </a:bodyPr>
          <a:lstStyle/>
          <a:p>
            <a:r>
              <a:rPr lang="en-US" sz="1400" b="1" noProof="1">
                <a:solidFill>
                  <a:srgbClr val="DFC47D"/>
                </a:solidFill>
                <a:highlight>
                  <a:srgbClr val="000000"/>
                </a:highlight>
                <a:latin typeface="Courier New" panose="02070309020205020404" pitchFamily="49" charset="0"/>
                <a:cs typeface="Courier New" panose="02070309020205020404" pitchFamily="49" charset="0"/>
              </a:rPr>
              <a:t>module </a:t>
            </a:r>
            <a:r>
              <a:rPr lang="en-US" sz="1400" b="1" i="1" noProof="1">
                <a:highlight>
                  <a:srgbClr val="000000"/>
                </a:highlight>
                <a:latin typeface="Courier New" panose="02070309020205020404" pitchFamily="49" charset="0"/>
                <a:cs typeface="Courier New" panose="02070309020205020404" pitchFamily="49" charset="0"/>
              </a:rPr>
              <a:t>name</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a:t>
            </a:r>
          </a:p>
          <a:p>
            <a:r>
              <a:rPr lang="en-US" sz="1400" b="1" noProof="1">
                <a:solidFill>
                  <a:srgbClr val="DFC47D"/>
                </a:solidFill>
                <a:highlight>
                  <a:srgbClr val="000000"/>
                </a:highlight>
                <a:latin typeface="Courier New" panose="02070309020205020404" pitchFamily="49" charset="0"/>
                <a:cs typeface="Courier New" panose="02070309020205020404" pitchFamily="49" charset="0"/>
              </a:rPr>
              <a:t>  </a:t>
            </a:r>
            <a:r>
              <a:rPr lang="en-US" sz="1400" b="1" noProof="1">
                <a:solidFill>
                  <a:schemeClr val="accent4">
                    <a:lumMod val="75000"/>
                  </a:schemeClr>
                </a:solidFill>
                <a:highlight>
                  <a:srgbClr val="000000"/>
                </a:highlight>
                <a:latin typeface="Courier New" panose="02070309020205020404" pitchFamily="49" charset="0"/>
                <a:cs typeface="Courier New" panose="02070309020205020404" pitchFamily="49" charset="0"/>
              </a:rPr>
              <a:t>// Module contents</a:t>
            </a:r>
          </a:p>
          <a:p>
            <a:r>
              <a:rPr lang="en-US" sz="1400" b="1" noProof="1">
                <a:solidFill>
                  <a:srgbClr val="DFC47D"/>
                </a:solidFill>
                <a:highlight>
                  <a:srgbClr val="000000"/>
                </a:highlight>
                <a:latin typeface="Courier New" panose="02070309020205020404" pitchFamily="49" charset="0"/>
                <a:cs typeface="Courier New" panose="02070309020205020404" pitchFamily="49" charset="0"/>
              </a:rPr>
              <a:t>endmodule</a:t>
            </a:r>
            <a:endParaRPr lang="en-US" sz="1400" noProof="1">
              <a:highlight>
                <a:srgbClr val="000000"/>
              </a:highlight>
              <a:latin typeface="Courier New" panose="02070309020205020404" pitchFamily="49" charset="0"/>
              <a:cs typeface="Courier New" panose="02070309020205020404" pitchFamily="49" charset="0"/>
            </a:endParaRPr>
          </a:p>
        </p:txBody>
      </p:sp>
      <p:sp>
        <p:nvSpPr>
          <p:cNvPr id="7" name="CasellaDiTesto 6">
            <a:extLst>
              <a:ext uri="{FF2B5EF4-FFF2-40B4-BE49-F238E27FC236}">
                <a16:creationId xmlns:a16="http://schemas.microsoft.com/office/drawing/2014/main" id="{5C0135D2-D798-A040-FB43-BB5E0EC3BCDB}"/>
              </a:ext>
            </a:extLst>
          </p:cNvPr>
          <p:cNvSpPr txBox="1"/>
          <p:nvPr/>
        </p:nvSpPr>
        <p:spPr>
          <a:xfrm>
            <a:off x="3143902" y="3640144"/>
            <a:ext cx="5631641" cy="738664"/>
          </a:xfrm>
          <a:prstGeom prst="rect">
            <a:avLst/>
          </a:prstGeom>
          <a:solidFill>
            <a:schemeClr val="bg1">
              <a:lumMod val="95000"/>
              <a:lumOff val="5000"/>
            </a:schemeClr>
          </a:solidFill>
          <a:ln w="38100">
            <a:solidFill>
              <a:schemeClr val="accent5">
                <a:lumMod val="75000"/>
              </a:schemeClr>
            </a:solidFill>
          </a:ln>
        </p:spPr>
        <p:txBody>
          <a:bodyPr wrap="square" rtlCol="0" anchor="ctr">
            <a:spAutoFit/>
          </a:bodyPr>
          <a:lstStyle/>
          <a:p>
            <a:r>
              <a:rPr lang="en-US" sz="1400" b="1" dirty="0">
                <a:solidFill>
                  <a:srgbClr val="DFC47D"/>
                </a:solidFill>
                <a:highlight>
                  <a:srgbClr val="000000"/>
                </a:highlight>
                <a:latin typeface="Courier New" panose="02070309020205020404" pitchFamily="49" charset="0"/>
                <a:cs typeface="Courier New" panose="02070309020205020404" pitchFamily="49" charset="0"/>
              </a:rPr>
              <a:t>module</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fn_Z</a:t>
            </a:r>
            <a:r>
              <a:rPr lang="en-US" sz="1400" b="1" dirty="0">
                <a:solidFill>
                  <a:srgbClr val="9F9D6D"/>
                </a:solidFill>
                <a:highlight>
                  <a:srgbClr val="000000"/>
                </a:highlight>
                <a:latin typeface="Courier New" panose="02070309020205020404" pitchFamily="49" charset="0"/>
                <a:cs typeface="Courier New" panose="02070309020205020404" pitchFamily="49" charset="0"/>
              </a:rPr>
              <a: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t>
            </a:r>
            <a:r>
              <a:rPr lang="en-US" sz="1400" b="1" dirty="0">
                <a:solidFill>
                  <a:srgbClr val="DFC47D"/>
                </a:solidFill>
                <a:highlight>
                  <a:srgbClr val="000000"/>
                </a:highlight>
                <a:latin typeface="Courier New" panose="02070309020205020404" pitchFamily="49" charset="0"/>
                <a:cs typeface="Courier New" panose="02070309020205020404" pitchFamily="49" charset="0"/>
              </a:rPr>
              <a:t>input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a:t>
            </a:r>
            <a:r>
              <a:rPr lang="en-US" sz="1400" b="1" dirty="0">
                <a:solidFill>
                  <a:srgbClr val="9F9D6D"/>
                </a:solidFill>
                <a:highlight>
                  <a:srgbClr val="000000"/>
                </a:highlight>
                <a:latin typeface="Courier New" panose="02070309020205020404" pitchFamily="49" charset="0"/>
                <a:cs typeface="Courier New" panose="02070309020205020404" pitchFamily="49" charset="0"/>
              </a:rPr>
              <a: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t>
            </a:r>
            <a:r>
              <a:rPr lang="en-US" sz="1400" b="1" dirty="0">
                <a:solidFill>
                  <a:srgbClr val="DFC47D"/>
                </a:solidFill>
                <a:highlight>
                  <a:srgbClr val="000000"/>
                </a:highlight>
                <a:latin typeface="Courier New" panose="02070309020205020404" pitchFamily="49" charset="0"/>
                <a:cs typeface="Courier New" panose="02070309020205020404" pitchFamily="49" charset="0"/>
              </a:rPr>
              <a:t>input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b</a:t>
            </a:r>
            <a:r>
              <a:rPr lang="en-US" sz="1400" b="1" dirty="0">
                <a:solidFill>
                  <a:srgbClr val="9F9D6D"/>
                </a:solidFill>
                <a:highlight>
                  <a:srgbClr val="000000"/>
                </a:highlight>
                <a:latin typeface="Courier New" panose="02070309020205020404" pitchFamily="49" charset="0"/>
                <a:cs typeface="Courier New" panose="02070309020205020404" pitchFamily="49" charset="0"/>
              </a:rPr>
              <a: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t>
            </a:r>
            <a:r>
              <a:rPr lang="en-US" sz="1400" b="1" dirty="0">
                <a:solidFill>
                  <a:srgbClr val="DFC47D"/>
                </a:solidFill>
                <a:highlight>
                  <a:srgbClr val="000000"/>
                </a:highlight>
                <a:latin typeface="Courier New" panose="02070309020205020404" pitchFamily="49" charset="0"/>
                <a:cs typeface="Courier New" panose="02070309020205020404" pitchFamily="49" charset="0"/>
              </a:rPr>
              <a:t>input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c</a:t>
            </a:r>
            <a:r>
              <a:rPr lang="en-US" sz="1400" b="1" dirty="0">
                <a:solidFill>
                  <a:srgbClr val="9F9D6D"/>
                </a:solidFill>
                <a:highlight>
                  <a:srgbClr val="000000"/>
                </a:highlight>
                <a:latin typeface="Courier New" panose="02070309020205020404" pitchFamily="49" charset="0"/>
                <a:cs typeface="Courier New" panose="02070309020205020404" pitchFamily="49" charset="0"/>
              </a:rPr>
              <a: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a:t>
            </a:r>
            <a:r>
              <a:rPr lang="en-US" sz="1400" b="1" dirty="0">
                <a:solidFill>
                  <a:srgbClr val="DFC47D"/>
                </a:solidFill>
                <a:highlight>
                  <a:srgbClr val="000000"/>
                </a:highlight>
                <a:latin typeface="Courier New" panose="02070309020205020404" pitchFamily="49" charset="0"/>
                <a:cs typeface="Courier New" panose="02070309020205020404" pitchFamily="49" charset="0"/>
              </a:rPr>
              <a:t>output</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z </a:t>
            </a:r>
            <a:r>
              <a:rPr lang="en-US" sz="1400" b="1" dirty="0">
                <a:solidFill>
                  <a:srgbClr val="9F9D6D"/>
                </a:solidFill>
                <a:highlight>
                  <a:srgbClr val="000000"/>
                </a:highlight>
                <a:latin typeface="Courier New" panose="02070309020205020404" pitchFamily="49" charset="0"/>
                <a:cs typeface="Courier New" panose="02070309020205020404" pitchFamily="49" charset="0"/>
              </a:rPr>
              <a:t>);</a:t>
            </a:r>
            <a:endParaRPr lang="en-US" sz="1400" b="0" dirty="0">
              <a:solidFill>
                <a:srgbClr val="DCDCCC"/>
              </a:solidFill>
              <a:highlight>
                <a:srgbClr val="000000"/>
              </a:highlight>
              <a:latin typeface="Courier New" panose="02070309020205020404" pitchFamily="49" charset="0"/>
              <a:cs typeface="Courier New" panose="02070309020205020404" pitchFamily="49" charset="0"/>
            </a:endParaRPr>
          </a:p>
          <a:p>
            <a:r>
              <a:rPr lang="en-US" sz="1400" b="1" dirty="0">
                <a:solidFill>
                  <a:srgbClr val="DFC47D"/>
                </a:solidFill>
                <a:highlight>
                  <a:srgbClr val="000000"/>
                </a:highlight>
                <a:latin typeface="Courier New" panose="02070309020205020404" pitchFamily="49" charset="0"/>
                <a:cs typeface="Courier New" panose="02070309020205020404" pitchFamily="49" charset="0"/>
              </a:rPr>
              <a:t>  </a:t>
            </a:r>
            <a:r>
              <a:rPr lang="en-US" sz="1400" b="1" dirty="0">
                <a:solidFill>
                  <a:schemeClr val="accent4">
                    <a:lumMod val="75000"/>
                  </a:schemeClr>
                </a:solidFill>
                <a:highlight>
                  <a:srgbClr val="000000"/>
                </a:highlight>
                <a:latin typeface="Courier New" panose="02070309020205020404" pitchFamily="49" charset="0"/>
                <a:cs typeface="Courier New" panose="02070309020205020404" pitchFamily="49" charset="0"/>
              </a:rPr>
              <a:t>// Module contents</a:t>
            </a:r>
          </a:p>
          <a:p>
            <a:r>
              <a:rPr lang="en-US" sz="1400" b="1" noProof="1">
                <a:solidFill>
                  <a:srgbClr val="DFC47D"/>
                </a:solidFill>
                <a:highlight>
                  <a:srgbClr val="000000"/>
                </a:highlight>
                <a:latin typeface="Courier New" panose="02070309020205020404" pitchFamily="49" charset="0"/>
                <a:cs typeface="Courier New" panose="02070309020205020404" pitchFamily="49" charset="0"/>
              </a:rPr>
              <a:t>endmodule</a:t>
            </a:r>
            <a:endParaRPr lang="en-US" sz="1400" noProof="1">
              <a:highlight>
                <a:srgbClr val="000000"/>
              </a:highlight>
              <a:latin typeface="Courier New" panose="02070309020205020404" pitchFamily="49" charset="0"/>
              <a:cs typeface="Courier New" panose="02070309020205020404" pitchFamily="49" charset="0"/>
            </a:endParaRPr>
          </a:p>
        </p:txBody>
      </p:sp>
      <p:sp>
        <p:nvSpPr>
          <p:cNvPr id="8" name="CasellaDiTesto 7">
            <a:extLst>
              <a:ext uri="{FF2B5EF4-FFF2-40B4-BE49-F238E27FC236}">
                <a16:creationId xmlns:a16="http://schemas.microsoft.com/office/drawing/2014/main" id="{B5FF0F52-FE4B-D25E-1C09-FB974BB0FF07}"/>
              </a:ext>
            </a:extLst>
          </p:cNvPr>
          <p:cNvSpPr txBox="1"/>
          <p:nvPr/>
        </p:nvSpPr>
        <p:spPr>
          <a:xfrm>
            <a:off x="2428918" y="5647700"/>
            <a:ext cx="7061608" cy="738664"/>
          </a:xfrm>
          <a:prstGeom prst="rect">
            <a:avLst/>
          </a:prstGeom>
          <a:solidFill>
            <a:schemeClr val="bg1">
              <a:lumMod val="95000"/>
              <a:lumOff val="5000"/>
            </a:schemeClr>
          </a:solidFill>
          <a:ln w="38100">
            <a:solidFill>
              <a:schemeClr val="accent5">
                <a:lumMod val="75000"/>
              </a:schemeClr>
            </a:solidFill>
          </a:ln>
        </p:spPr>
        <p:txBody>
          <a:bodyPr wrap="square" rtlCol="0" anchor="ctr">
            <a:spAutoFit/>
          </a:bodyPr>
          <a:lstStyle/>
          <a:p>
            <a:r>
              <a:rPr lang="en-US" sz="1400" b="1" dirty="0">
                <a:solidFill>
                  <a:srgbClr val="DFC47D"/>
                </a:solidFill>
                <a:highlight>
                  <a:srgbClr val="000000"/>
                </a:highlight>
                <a:latin typeface="Courier New" panose="02070309020205020404" pitchFamily="49" charset="0"/>
                <a:cs typeface="Courier New" panose="02070309020205020404" pitchFamily="49" charset="0"/>
              </a:rPr>
              <a:t>module</a:t>
            </a:r>
            <a:r>
              <a:rPr lang="en-US" sz="1400" b="0" dirty="0">
                <a:solidFill>
                  <a:srgbClr val="DCDCCC"/>
                </a:solidFill>
                <a:highlight>
                  <a:srgbClr val="000000"/>
                </a:highlight>
                <a:latin typeface="Courier New" panose="02070309020205020404" pitchFamily="49" charset="0"/>
                <a:cs typeface="Courier New" panose="02070309020205020404" pitchFamily="49" charset="0"/>
              </a:rPr>
              <a:t> device_under_test</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input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input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b</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input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c</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output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z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endParaRPr lang="en-US" sz="1400" b="0" noProof="1">
              <a:solidFill>
                <a:srgbClr val="DCDCCC"/>
              </a:solidFill>
              <a:highlight>
                <a:srgbClr val="000000"/>
              </a:highlight>
              <a:latin typeface="Courier New" panose="02070309020205020404" pitchFamily="49" charset="0"/>
              <a:cs typeface="Courier New" panose="02070309020205020404" pitchFamily="49" charset="0"/>
            </a:endParaRPr>
          </a:p>
          <a:p>
            <a:r>
              <a:rPr lang="en-US" sz="1400" b="0" dirty="0">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DFC47D"/>
                </a:solidFill>
                <a:highlight>
                  <a:srgbClr val="000000"/>
                </a:highlight>
                <a:latin typeface="Courier New" panose="02070309020205020404" pitchFamily="49" charset="0"/>
                <a:cs typeface="Courier New" panose="02070309020205020404" pitchFamily="49" charset="0"/>
              </a:rPr>
              <a:t>assign</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z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a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&amp;</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b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&amp;</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c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a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&amp;</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b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b </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&amp;</a:t>
            </a:r>
            <a:r>
              <a:rPr lang="en-US" sz="1400" b="0" noProof="1">
                <a:solidFill>
                  <a:srgbClr val="DCDCCC"/>
                </a:solidFill>
                <a:highlight>
                  <a:srgbClr val="000000"/>
                </a:highlight>
                <a:latin typeface="Courier New" panose="02070309020205020404" pitchFamily="49" charset="0"/>
                <a:cs typeface="Courier New" panose="02070309020205020404" pitchFamily="49" charset="0"/>
              </a:rPr>
              <a:t> c</a:t>
            </a:r>
            <a:r>
              <a:rPr lang="en-US" sz="1400" b="1" noProof="1">
                <a:solidFill>
                  <a:srgbClr val="9F9D6D"/>
                </a:solidFill>
                <a:highlight>
                  <a:srgbClr val="000000"/>
                </a:highlight>
                <a:latin typeface="Courier New" panose="02070309020205020404" pitchFamily="49" charset="0"/>
                <a:cs typeface="Courier New" panose="02070309020205020404" pitchFamily="49" charset="0"/>
              </a:rPr>
              <a:t>;</a:t>
            </a:r>
            <a:endParaRPr lang="en-US" sz="1400" b="0" noProof="1">
              <a:solidFill>
                <a:srgbClr val="DCDCCC"/>
              </a:solidFill>
              <a:highlight>
                <a:srgbClr val="000000"/>
              </a:highlight>
              <a:latin typeface="Courier New" panose="02070309020205020404" pitchFamily="49" charset="0"/>
              <a:cs typeface="Courier New" panose="02070309020205020404" pitchFamily="49" charset="0"/>
            </a:endParaRPr>
          </a:p>
          <a:p>
            <a:r>
              <a:rPr lang="en-US" sz="1400" b="1" noProof="1">
                <a:solidFill>
                  <a:srgbClr val="DFC47D"/>
                </a:solidFill>
                <a:highlight>
                  <a:srgbClr val="000000"/>
                </a:highlight>
                <a:latin typeface="Courier New" panose="02070309020205020404" pitchFamily="49" charset="0"/>
                <a:cs typeface="Courier New" panose="02070309020205020404" pitchFamily="49" charset="0"/>
              </a:rPr>
              <a:t>endmodule</a:t>
            </a:r>
            <a:endParaRPr lang="en-US" sz="1400" noProof="1">
              <a:highlight>
                <a:srgbClr val="000000"/>
              </a:highligh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825078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p:txBody>
          <a:bodyPr/>
          <a:lstStyle/>
          <a:p>
            <a:r>
              <a:rPr lang="en-US" dirty="0"/>
              <a:t>INTRO TUTORIAL (3)</a:t>
            </a:r>
          </a:p>
        </p:txBody>
      </p:sp>
      <p:sp>
        <p:nvSpPr>
          <p:cNvPr id="3" name="Segnaposto contenuto 2">
            <a:extLst>
              <a:ext uri="{FF2B5EF4-FFF2-40B4-BE49-F238E27FC236}">
                <a16:creationId xmlns:a16="http://schemas.microsoft.com/office/drawing/2014/main" id="{659C268E-733F-CB6D-79EB-6E4ED4D2DF3C}"/>
              </a:ext>
            </a:extLst>
          </p:cNvPr>
          <p:cNvSpPr>
            <a:spLocks noGrp="1"/>
          </p:cNvSpPr>
          <p:nvPr>
            <p:ph idx="1"/>
          </p:nvPr>
        </p:nvSpPr>
        <p:spPr>
          <a:xfrm>
            <a:off x="1141412" y="1780162"/>
            <a:ext cx="9905998" cy="5077838"/>
          </a:xfrm>
        </p:spPr>
        <p:txBody>
          <a:bodyPr>
            <a:normAutofit lnSpcReduction="10000"/>
          </a:bodyPr>
          <a:lstStyle/>
          <a:p>
            <a:pPr marL="0" indent="0">
              <a:buNone/>
            </a:pPr>
            <a:r>
              <a:rPr lang="en-US" dirty="0"/>
              <a:t>Modules:</a:t>
            </a:r>
          </a:p>
          <a:p>
            <a:r>
              <a:rPr lang="en-US" dirty="0"/>
              <a:t>To verify the correctness of what we have written so far, we will use an open-source tool called Icarus Verilog (iverilog). Icarus Verilog is an implementation of the IEEE-1364 Verilog hardware description</a:t>
            </a:r>
            <a:br>
              <a:rPr lang="en-US" dirty="0"/>
            </a:br>
            <a:r>
              <a:rPr lang="en-US" dirty="0"/>
              <a:t>language.</a:t>
            </a:r>
          </a:p>
          <a:p>
            <a:r>
              <a:rPr lang="en-US" dirty="0"/>
              <a:t>Icarus Verilog is a compiler and</a:t>
            </a:r>
            <a:br>
              <a:rPr lang="en-US" dirty="0"/>
            </a:br>
            <a:r>
              <a:rPr lang="en-US" dirty="0"/>
              <a:t>simulator that reads a Verilog</a:t>
            </a:r>
            <a:br>
              <a:rPr lang="en-US" dirty="0"/>
            </a:br>
            <a:r>
              <a:rPr lang="en-US" dirty="0"/>
              <a:t>source file and produces an output</a:t>
            </a:r>
            <a:br>
              <a:rPr lang="en-US" dirty="0"/>
            </a:br>
            <a:r>
              <a:rPr lang="en-US" dirty="0"/>
              <a:t>file. The latter, on some</a:t>
            </a:r>
            <a:br>
              <a:rPr lang="en-US" dirty="0"/>
            </a:br>
            <a:r>
              <a:rPr lang="en-US" dirty="0"/>
              <a:t>platforms, can also be a pure executable. If compiling the module produces no errors, we are looking at code that is at least syntactically correct.</a:t>
            </a:r>
          </a:p>
          <a:p>
            <a:endParaRPr lang="en-US" dirty="0"/>
          </a:p>
          <a:p>
            <a:pPr marL="0" indent="0">
              <a:buNone/>
            </a:pPr>
            <a:endParaRPr lang="en-US" dirty="0"/>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en-US" dirty="0"/>
          </a:p>
        </p:txBody>
      </p:sp>
      <p:sp>
        <p:nvSpPr>
          <p:cNvPr id="9" name="CasellaDiTesto 8">
            <a:extLst>
              <a:ext uri="{FF2B5EF4-FFF2-40B4-BE49-F238E27FC236}">
                <a16:creationId xmlns:a16="http://schemas.microsoft.com/office/drawing/2014/main" id="{F6F8196C-8622-9632-0BB9-77B0CDD2CE6A}"/>
              </a:ext>
            </a:extLst>
          </p:cNvPr>
          <p:cNvSpPr txBox="1"/>
          <p:nvPr/>
        </p:nvSpPr>
        <p:spPr>
          <a:xfrm>
            <a:off x="7055409" y="3888188"/>
            <a:ext cx="4400561" cy="1569660"/>
          </a:xfrm>
          <a:prstGeom prst="rect">
            <a:avLst/>
          </a:prstGeom>
          <a:solidFill>
            <a:schemeClr val="bg1"/>
          </a:solidFill>
          <a:ln w="38100">
            <a:solidFill>
              <a:schemeClr val="accent5">
                <a:lumMod val="75000"/>
              </a:schemeClr>
            </a:solidFill>
          </a:ln>
        </p:spPr>
        <p:txBody>
          <a:bodyPr wrap="square" rtlCol="0">
            <a:spAutoFit/>
          </a:bodyPr>
          <a:lstStyle/>
          <a:p>
            <a:r>
              <a:rPr lang="en-US" sz="1200" noProof="1">
                <a:solidFill>
                  <a:schemeClr val="accent4">
                    <a:lumMod val="75000"/>
                  </a:schemeClr>
                </a:solidFill>
                <a:latin typeface="Consolas" panose="020B0609020204030204" pitchFamily="49" charset="0"/>
              </a:rPr>
              <a:t>$</a:t>
            </a:r>
            <a:r>
              <a:rPr lang="en-US" sz="1200" noProof="1">
                <a:solidFill>
                  <a:schemeClr val="accent1">
                    <a:lumMod val="60000"/>
                    <a:lumOff val="40000"/>
                  </a:schemeClr>
                </a:solidFill>
                <a:latin typeface="Consolas" panose="020B0609020204030204" pitchFamily="49" charset="0"/>
              </a:rPr>
              <a:t> </a:t>
            </a:r>
            <a:r>
              <a:rPr lang="en-US" sz="1200" noProof="1">
                <a:solidFill>
                  <a:schemeClr val="accent6">
                    <a:lumMod val="75000"/>
                  </a:schemeClr>
                </a:solidFill>
                <a:latin typeface="Consolas" panose="020B0609020204030204" pitchFamily="49" charset="0"/>
              </a:rPr>
              <a:t>iverilog</a:t>
            </a:r>
            <a:r>
              <a:rPr lang="en-US" sz="1200" noProof="1">
                <a:solidFill>
                  <a:schemeClr val="accent1">
                    <a:lumMod val="60000"/>
                    <a:lumOff val="40000"/>
                  </a:schemeClr>
                </a:solidFill>
                <a:latin typeface="Consolas" panose="020B0609020204030204" pitchFamily="49" charset="0"/>
              </a:rPr>
              <a:t> assign.v</a:t>
            </a:r>
          </a:p>
          <a:p>
            <a:r>
              <a:rPr lang="en-US" sz="1200" noProof="1">
                <a:solidFill>
                  <a:schemeClr val="accent4">
                    <a:lumMod val="75000"/>
                  </a:schemeClr>
                </a:solidFill>
                <a:latin typeface="Consolas" panose="020B0609020204030204" pitchFamily="49" charset="0"/>
              </a:rPr>
              <a:t>$</a:t>
            </a:r>
            <a:r>
              <a:rPr lang="en-US" sz="1200" noProof="1">
                <a:solidFill>
                  <a:schemeClr val="accent1">
                    <a:lumMod val="60000"/>
                    <a:lumOff val="40000"/>
                  </a:schemeClr>
                </a:solidFill>
                <a:latin typeface="Consolas" panose="020B0609020204030204" pitchFamily="49" charset="0"/>
              </a:rPr>
              <a:t> </a:t>
            </a:r>
            <a:r>
              <a:rPr lang="en-US" sz="1200" noProof="1">
                <a:solidFill>
                  <a:schemeClr val="accent6">
                    <a:lumMod val="75000"/>
                  </a:schemeClr>
                </a:solidFill>
                <a:latin typeface="Consolas" panose="020B0609020204030204" pitchFamily="49" charset="0"/>
              </a:rPr>
              <a:t>ll</a:t>
            </a:r>
          </a:p>
          <a:p>
            <a:r>
              <a:rPr lang="en-US" sz="1200" noProof="1">
                <a:solidFill>
                  <a:schemeClr val="tx1">
                    <a:lumMod val="95000"/>
                  </a:schemeClr>
                </a:solidFill>
                <a:latin typeface="Consolas" panose="020B0609020204030204" pitchFamily="49" charset="0"/>
              </a:rPr>
              <a:t>drwxr-xr-x  2 user user 4096 Apr 23 12:43 ./</a:t>
            </a:r>
          </a:p>
          <a:p>
            <a:r>
              <a:rPr lang="en-US" sz="1200" noProof="1">
                <a:solidFill>
                  <a:schemeClr val="tx1">
                    <a:lumMod val="95000"/>
                  </a:schemeClr>
                </a:solidFill>
                <a:latin typeface="Consolas" panose="020B0609020204030204" pitchFamily="49" charset="0"/>
              </a:rPr>
              <a:t>drwxr-x--- 29 user user 4096 Apr 23 11:56 ../</a:t>
            </a:r>
          </a:p>
          <a:p>
            <a:r>
              <a:rPr lang="en-US" sz="1200" noProof="1">
                <a:solidFill>
                  <a:schemeClr val="tx1">
                    <a:lumMod val="95000"/>
                  </a:schemeClr>
                </a:solidFill>
                <a:latin typeface="Consolas" panose="020B0609020204030204" pitchFamily="49" charset="0"/>
              </a:rPr>
              <a:t>-rwxr-xr-x  1 user user 2367 Apr 23 12:43 </a:t>
            </a:r>
            <a:r>
              <a:rPr lang="en-US" sz="1200" noProof="1">
                <a:solidFill>
                  <a:srgbClr val="92D050"/>
                </a:solidFill>
                <a:latin typeface="Consolas" panose="020B0609020204030204" pitchFamily="49" charset="0"/>
              </a:rPr>
              <a:t>a.out*</a:t>
            </a:r>
          </a:p>
          <a:p>
            <a:r>
              <a:rPr lang="en-US" sz="1200" noProof="1">
                <a:latin typeface="Consolas" panose="020B0609020204030204" pitchFamily="49" charset="0"/>
              </a:rPr>
              <a:t>-rw-r--r--  1 user user  109 Apr 23 12:32 assign.v</a:t>
            </a:r>
          </a:p>
          <a:p>
            <a:r>
              <a:rPr lang="en-US" sz="1200" noProof="1">
                <a:solidFill>
                  <a:schemeClr val="accent4">
                    <a:lumMod val="75000"/>
                  </a:schemeClr>
                </a:solidFill>
                <a:latin typeface="Consolas" panose="020B0609020204030204" pitchFamily="49" charset="0"/>
              </a:rPr>
              <a:t>$</a:t>
            </a:r>
            <a:r>
              <a:rPr lang="en-US" sz="1200" noProof="1">
                <a:solidFill>
                  <a:schemeClr val="accent1">
                    <a:lumMod val="60000"/>
                    <a:lumOff val="40000"/>
                  </a:schemeClr>
                </a:solidFill>
                <a:latin typeface="Consolas" panose="020B0609020204030204" pitchFamily="49" charset="0"/>
              </a:rPr>
              <a:t> </a:t>
            </a:r>
            <a:r>
              <a:rPr lang="en-US" sz="1200" noProof="1">
                <a:solidFill>
                  <a:schemeClr val="accent6">
                    <a:lumMod val="75000"/>
                  </a:schemeClr>
                </a:solidFill>
                <a:latin typeface="Consolas" panose="020B0609020204030204" pitchFamily="49" charset="0"/>
              </a:rPr>
              <a:t>./a.out</a:t>
            </a:r>
          </a:p>
          <a:p>
            <a:r>
              <a:rPr lang="pt-BR" sz="1200" dirty="0">
                <a:solidFill>
                  <a:schemeClr val="accent4">
                    <a:lumMod val="75000"/>
                  </a:schemeClr>
                </a:solidFill>
                <a:latin typeface="Consolas" panose="020B0609020204030204" pitchFamily="49" charset="0"/>
              </a:rPr>
              <a:t>$</a:t>
            </a:r>
            <a:r>
              <a:rPr lang="pt-BR" sz="1200" dirty="0">
                <a:solidFill>
                  <a:schemeClr val="tx1">
                    <a:lumMod val="65000"/>
                  </a:schemeClr>
                </a:solidFill>
                <a:latin typeface="Consolas" panose="020B0609020204030204" pitchFamily="49" charset="0"/>
              </a:rPr>
              <a:t> _</a:t>
            </a:r>
            <a:endParaRPr lang="en-US" sz="1200" dirty="0">
              <a:solidFill>
                <a:schemeClr val="accent1">
                  <a:lumMod val="60000"/>
                  <a:lumOff val="40000"/>
                </a:schemeClr>
              </a:solidFill>
              <a:latin typeface="Consolas" panose="020B0609020204030204" pitchFamily="49" charset="0"/>
            </a:endParaRPr>
          </a:p>
        </p:txBody>
      </p:sp>
    </p:spTree>
    <p:extLst>
      <p:ext uri="{BB962C8B-B14F-4D97-AF65-F5344CB8AC3E}">
        <p14:creationId xmlns:p14="http://schemas.microsoft.com/office/powerpoint/2010/main" val="19308333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en-US" dirty="0"/>
              <a:t>INTRO TUTORIAL (4/1)</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en-US" dirty="0"/>
          </a:p>
        </p:txBody>
      </p:sp>
      <p:sp>
        <p:nvSpPr>
          <p:cNvPr id="13" name="Segnaposto contenuto 2">
            <a:extLst>
              <a:ext uri="{FF2B5EF4-FFF2-40B4-BE49-F238E27FC236}">
                <a16:creationId xmlns:a16="http://schemas.microsoft.com/office/drawing/2014/main" id="{D0ACB004-DCF4-7D6C-F347-9DC27934A948}"/>
              </a:ext>
            </a:extLst>
          </p:cNvPr>
          <p:cNvSpPr txBox="1">
            <a:spLocks/>
          </p:cNvSpPr>
          <p:nvPr/>
        </p:nvSpPr>
        <p:spPr>
          <a:xfrm>
            <a:off x="1141412" y="1478603"/>
            <a:ext cx="7484114" cy="480907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Modules:</a:t>
            </a:r>
          </a:p>
          <a:p>
            <a:r>
              <a:rPr lang="en-US" dirty="0"/>
              <a:t>Digital systems are structured hierarchically: that is, they consist of </a:t>
            </a:r>
            <a:r>
              <a:rPr lang="en-US" u="sng" dirty="0"/>
              <a:t>blocks interconnected with one another</a:t>
            </a:r>
            <a:r>
              <a:rPr lang="en-US" dirty="0"/>
              <a:t> having more or less complex functions. Some blocks contain blocks that in turn may contain other blocks, and so on. Through modules, Verilog can model the hierarchical structure of such systems.</a:t>
            </a:r>
          </a:p>
          <a:p>
            <a:r>
              <a:rPr lang="en-US" dirty="0"/>
              <a:t>Modules, however, </a:t>
            </a:r>
            <a:r>
              <a:rPr lang="en-US" u="sng" dirty="0"/>
              <a:t>cannot be defined</a:t>
            </a:r>
            <a:r>
              <a:rPr lang="en-US" dirty="0"/>
              <a:t> inside other modules. Although this seems to contradict the previous point, it should be remembered that – like programming languages – Verilog also distinguishes between </a:t>
            </a:r>
            <a:r>
              <a:rPr lang="en-US" u="sng" dirty="0"/>
              <a:t>declarations</a:t>
            </a:r>
            <a:r>
              <a:rPr lang="en-US" dirty="0"/>
              <a:t> and </a:t>
            </a:r>
            <a:r>
              <a:rPr lang="en-US" u="sng" dirty="0"/>
              <a:t>definitions</a:t>
            </a:r>
            <a:r>
              <a:rPr lang="en-US" dirty="0"/>
              <a:t>.</a:t>
            </a:r>
          </a:p>
        </p:txBody>
      </p:sp>
      <p:pic>
        <p:nvPicPr>
          <p:cNvPr id="5" name="Elemento grafico 4">
            <a:extLst>
              <a:ext uri="{FF2B5EF4-FFF2-40B4-BE49-F238E27FC236}">
                <a16:creationId xmlns:a16="http://schemas.microsoft.com/office/drawing/2014/main" id="{1D90C6ED-4336-E795-F31D-1A26592250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84017" y="1231043"/>
            <a:ext cx="2543175" cy="2981325"/>
          </a:xfrm>
          <a:prstGeom prst="rect">
            <a:avLst/>
          </a:prstGeom>
        </p:spPr>
      </p:pic>
      <p:sp>
        <p:nvSpPr>
          <p:cNvPr id="7" name="CasellaDiTesto 6">
            <a:extLst>
              <a:ext uri="{FF2B5EF4-FFF2-40B4-BE49-F238E27FC236}">
                <a16:creationId xmlns:a16="http://schemas.microsoft.com/office/drawing/2014/main" id="{B3C374FD-82C9-3FA7-7EB8-0435728905B7}"/>
              </a:ext>
            </a:extLst>
          </p:cNvPr>
          <p:cNvSpPr txBox="1"/>
          <p:nvPr/>
        </p:nvSpPr>
        <p:spPr>
          <a:xfrm>
            <a:off x="9091705" y="4503038"/>
            <a:ext cx="2543175" cy="1569660"/>
          </a:xfrm>
          <a:prstGeom prst="rect">
            <a:avLst/>
          </a:prstGeom>
          <a:solidFill>
            <a:srgbClr val="1F1F1F"/>
          </a:solidFill>
          <a:ln w="25400">
            <a:solidFill>
              <a:schemeClr val="accent5">
                <a:lumMod val="75000"/>
              </a:schemeClr>
            </a:solidFill>
          </a:ln>
        </p:spPr>
        <p:txBody>
          <a:bodyPr wrap="square" rtlCol="0">
            <a:spAutoFit/>
          </a:bodyPr>
          <a:lstStyle/>
          <a:p>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tf</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device_under_test</a:t>
            </a:r>
            <a:r>
              <a:rPr lang="en-US" sz="1200" b="0" noProof="1">
                <a:solidFill>
                  <a:srgbClr val="CCCCCC"/>
                </a:solidFill>
                <a:effectLst/>
                <a:highlight>
                  <a:srgbClr val="1F1F1F"/>
                </a:highlight>
                <a:latin typeface="Consolas" panose="020B0609020204030204" pitchFamily="49" charset="0"/>
              </a:rPr>
              <a:t>(</a:t>
            </a:r>
            <a:r>
              <a:rPr lang="en-US" sz="1200" noProof="1">
                <a:solidFill>
                  <a:srgbClr val="CCCCCC"/>
                </a:solidFill>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a:t>
            </a:r>
          </a:p>
          <a:p>
            <a:r>
              <a:rPr lang="en-US" sz="1200" noProof="1">
                <a:solidFill>
                  <a:srgbClr val="CCCCCC"/>
                </a:solidFill>
                <a:highlight>
                  <a:srgbClr val="1F1F1F"/>
                </a:highlight>
                <a:latin typeface="Consolas" panose="020B0609020204030204" pitchFamily="49" charset="0"/>
              </a:rPr>
              <a:t>  </a:t>
            </a:r>
            <a:r>
              <a:rPr lang="en-US" sz="1200" noProof="1">
                <a:solidFill>
                  <a:srgbClr val="92D050"/>
                </a:solidFill>
                <a:highlight>
                  <a:srgbClr val="1F1F1F"/>
                </a:highlight>
                <a:latin typeface="Consolas" panose="020B0609020204030204" pitchFamily="49" charset="0"/>
              </a:rPr>
              <a:t>// Module contents</a:t>
            </a:r>
            <a:endParaRPr lang="en-US" sz="1200" b="0" noProof="1">
              <a:solidFill>
                <a:srgbClr val="92D050"/>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endParaRPr lang="en-US" sz="12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17406374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en-US" dirty="0"/>
              <a:t>INTRO TUTORIAL (4/2)</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en-US" dirty="0"/>
          </a:p>
        </p:txBody>
      </p:sp>
      <p:sp>
        <p:nvSpPr>
          <p:cNvPr id="13" name="Segnaposto contenuto 2">
            <a:extLst>
              <a:ext uri="{FF2B5EF4-FFF2-40B4-BE49-F238E27FC236}">
                <a16:creationId xmlns:a16="http://schemas.microsoft.com/office/drawing/2014/main" id="{D0ACB004-DCF4-7D6C-F347-9DC27934A948}"/>
              </a:ext>
            </a:extLst>
          </p:cNvPr>
          <p:cNvSpPr txBox="1">
            <a:spLocks/>
          </p:cNvSpPr>
          <p:nvPr/>
        </p:nvSpPr>
        <p:spPr>
          <a:xfrm>
            <a:off x="1141412" y="1478603"/>
            <a:ext cx="7484114" cy="396066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Modules:</a:t>
            </a:r>
          </a:p>
          <a:p>
            <a:r>
              <a:rPr lang="en-US" dirty="0"/>
              <a:t>Modules can also contain "instances" (i.e. </a:t>
            </a:r>
            <a:r>
              <a:rPr lang="en-US" u="sng" dirty="0"/>
              <a:t>declarations</a:t>
            </a:r>
            <a:r>
              <a:rPr lang="en-US" dirty="0"/>
              <a:t>) of other modules, but they cannot directly or indirectly contain instances of themselves. </a:t>
            </a:r>
          </a:p>
          <a:p>
            <a:r>
              <a:rPr lang="en-US" dirty="0"/>
              <a:t>A module can also declare multiple instances of other modules.</a:t>
            </a:r>
          </a:p>
          <a:p>
            <a:r>
              <a:rPr lang="en-US" dirty="0"/>
              <a:t>At the top of the hierarchy there will be a single module that contains all of them (directly or indirectly), identified as the "top" module (</a:t>
            </a:r>
            <a:r>
              <a:rPr lang="en-US" i="1" dirty="0" err="1"/>
              <a:t>tf</a:t>
            </a:r>
            <a:r>
              <a:rPr lang="en-US" dirty="0"/>
              <a:t> in the example alongside).</a:t>
            </a:r>
          </a:p>
        </p:txBody>
      </p:sp>
      <p:pic>
        <p:nvPicPr>
          <p:cNvPr id="5" name="Elemento grafico 4">
            <a:extLst>
              <a:ext uri="{FF2B5EF4-FFF2-40B4-BE49-F238E27FC236}">
                <a16:creationId xmlns:a16="http://schemas.microsoft.com/office/drawing/2014/main" id="{1D90C6ED-4336-E795-F31D-1A26592250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84017" y="1231043"/>
            <a:ext cx="2543175" cy="2981325"/>
          </a:xfrm>
          <a:prstGeom prst="rect">
            <a:avLst/>
          </a:prstGeom>
        </p:spPr>
      </p:pic>
      <p:sp>
        <p:nvSpPr>
          <p:cNvPr id="7" name="CasellaDiTesto 6">
            <a:extLst>
              <a:ext uri="{FF2B5EF4-FFF2-40B4-BE49-F238E27FC236}">
                <a16:creationId xmlns:a16="http://schemas.microsoft.com/office/drawing/2014/main" id="{B3C374FD-82C9-3FA7-7EB8-0435728905B7}"/>
              </a:ext>
            </a:extLst>
          </p:cNvPr>
          <p:cNvSpPr txBox="1"/>
          <p:nvPr/>
        </p:nvSpPr>
        <p:spPr>
          <a:xfrm>
            <a:off x="9091705" y="4503038"/>
            <a:ext cx="2543175" cy="1569660"/>
          </a:xfrm>
          <a:prstGeom prst="rect">
            <a:avLst/>
          </a:prstGeom>
          <a:solidFill>
            <a:srgbClr val="1F1F1F"/>
          </a:solidFill>
          <a:ln w="25400">
            <a:solidFill>
              <a:schemeClr val="accent5">
                <a:lumMod val="75000"/>
              </a:schemeClr>
            </a:solidFill>
          </a:ln>
        </p:spPr>
        <p:txBody>
          <a:bodyPr wrap="square" rtlCol="0">
            <a:spAutoFit/>
          </a:bodyPr>
          <a:lstStyle/>
          <a:p>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tf</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device_under_test</a:t>
            </a:r>
            <a:r>
              <a:rPr lang="en-US" sz="1200" b="0" noProof="1">
                <a:solidFill>
                  <a:srgbClr val="CCCCCC"/>
                </a:solidFill>
                <a:effectLst/>
                <a:highlight>
                  <a:srgbClr val="1F1F1F"/>
                </a:highlight>
                <a:latin typeface="Consolas" panose="020B0609020204030204" pitchFamily="49" charset="0"/>
              </a:rPr>
              <a:t>(</a:t>
            </a:r>
            <a:r>
              <a:rPr lang="en-US" sz="1200" noProof="1">
                <a:solidFill>
                  <a:srgbClr val="CCCCCC"/>
                </a:solidFill>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a:t>
            </a:r>
          </a:p>
          <a:p>
            <a:r>
              <a:rPr lang="en-US" sz="1200" noProof="1">
                <a:solidFill>
                  <a:srgbClr val="CCCCCC"/>
                </a:solidFill>
                <a:highlight>
                  <a:srgbClr val="1F1F1F"/>
                </a:highlight>
                <a:latin typeface="Consolas" panose="020B0609020204030204" pitchFamily="49" charset="0"/>
              </a:rPr>
              <a:t>  </a:t>
            </a:r>
            <a:r>
              <a:rPr lang="en-US" sz="1200" noProof="1">
                <a:solidFill>
                  <a:srgbClr val="92D050"/>
                </a:solidFill>
                <a:highlight>
                  <a:srgbClr val="1F1F1F"/>
                </a:highlight>
                <a:latin typeface="Consolas" panose="020B0609020204030204" pitchFamily="49" charset="0"/>
              </a:rPr>
              <a:t>// Module contents</a:t>
            </a:r>
            <a:endParaRPr lang="en-US" sz="1200" b="0" noProof="1">
              <a:solidFill>
                <a:srgbClr val="92D050"/>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endParaRPr lang="en-US" sz="12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114761794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en-US" dirty="0"/>
              <a:t>INTRO TUTORIAL (5/1)</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en-US" dirty="0"/>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25400">
            <a:solidFill>
              <a:schemeClr val="accent5">
                <a:lumMod val="75000"/>
              </a:schemeClr>
            </a:solidFill>
          </a:ln>
        </p:spPr>
        <p:txBody>
          <a:bodyPr wrap="square" rtlCol="0">
            <a:spAutoFit/>
          </a:bodyPr>
          <a:lstStyle/>
          <a:p>
            <a:r>
              <a:rPr lang="en-US" sz="1200" b="0" noProof="1">
                <a:solidFill>
                  <a:srgbClr val="6A9955"/>
                </a:solidFill>
                <a:effectLst/>
                <a:highlight>
                  <a:srgbClr val="1F1F1F"/>
                </a:highlight>
                <a:latin typeface="Consolas" panose="020B0609020204030204" pitchFamily="49" charset="0"/>
              </a:rPr>
              <a:t>// File assign_sim.v</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`timescale</a:t>
            </a:r>
            <a:r>
              <a:rPr lang="en-US" sz="1200" b="0" noProof="1">
                <a:solidFill>
                  <a:srgbClr val="CCCCCC"/>
                </a:solidFill>
                <a:effectLst/>
                <a:highlight>
                  <a:srgbClr val="1F1F1F"/>
                </a:highlight>
                <a:latin typeface="Consolas" panose="020B0609020204030204" pitchFamily="49" charset="0"/>
              </a:rPr>
              <a:t> 10ns</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100ps</a:t>
            </a:r>
          </a:p>
          <a:p>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tf</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reg</a:t>
            </a:r>
            <a:r>
              <a:rPr lang="en-US" sz="1200" b="0" noProof="1">
                <a:solidFill>
                  <a:srgbClr val="CCCCCC"/>
                </a:solidFill>
                <a:effectLst/>
                <a:highlight>
                  <a:srgbClr val="1F1F1F"/>
                </a:highlight>
                <a:latin typeface="Consolas" panose="020B0609020204030204" pitchFamily="49" charset="0"/>
              </a:rPr>
              <a:t> a, b, c;</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wire</a:t>
            </a:r>
            <a:r>
              <a:rPr lang="en-US" sz="1200" b="0" noProof="1">
                <a:solidFill>
                  <a:srgbClr val="CCCCCC"/>
                </a:solidFill>
                <a:effectLst/>
                <a:highlight>
                  <a:srgbClr val="1F1F1F"/>
                </a:highlight>
                <a:latin typeface="Consolas" panose="020B0609020204030204" pitchFamily="49" charset="0"/>
              </a:rPr>
              <a:t> z;</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initial</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begin</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CCCCCC"/>
                </a:solidFill>
                <a:effectLst/>
                <a:highlight>
                  <a:srgbClr val="1F1F1F"/>
                </a:highlight>
                <a:latin typeface="Consolas" panose="020B0609020204030204" pitchFamily="49" charset="0"/>
              </a:rPr>
              <a:t>    $monitor( a, b, c,, z );</a:t>
            </a:r>
          </a:p>
          <a:p>
            <a:r>
              <a:rPr lang="en-US" sz="1200" b="0" noProof="1">
                <a:solidFill>
                  <a:srgbClr val="DCDCAA"/>
                </a:solidFill>
                <a:effectLst/>
                <a:highlight>
                  <a:srgbClr val="1F1F1F"/>
                </a:highlight>
                <a:latin typeface="Consolas" panose="020B0609020204030204" pitchFamily="49" charset="0"/>
              </a:rPr>
              <a:t>    $dumpvars</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tf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DCDCAA"/>
                </a:solidFill>
                <a:effectLst/>
                <a:highlight>
                  <a:srgbClr val="1F1F1F"/>
                </a:highlight>
                <a:latin typeface="Consolas" panose="020B0609020204030204" pitchFamily="49" charset="0"/>
              </a:rPr>
              <a:t>$finish</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end</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device_under_test</a:t>
            </a:r>
            <a:r>
              <a:rPr lang="en-US" sz="1200" b="0" noProof="1">
                <a:solidFill>
                  <a:srgbClr val="CCCCCC"/>
                </a:solidFill>
                <a:effectLst/>
                <a:highlight>
                  <a:srgbClr val="1F1F1F"/>
                </a:highlight>
                <a:latin typeface="Consolas" panose="020B0609020204030204" pitchFamily="49" charset="0"/>
              </a:rPr>
              <a:t>( a, b, c, z );</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input</a:t>
            </a:r>
            <a:r>
              <a:rPr lang="en-US" sz="1200" b="0" noProof="1">
                <a:solidFill>
                  <a:srgbClr val="CCCCCC"/>
                </a:solidFill>
                <a:effectLst/>
                <a:highlight>
                  <a:srgbClr val="1F1F1F"/>
                </a:highlight>
                <a:latin typeface="Consolas" panose="020B0609020204030204" pitchFamily="49" charset="0"/>
              </a:rPr>
              <a:t> a, b, c, </a:t>
            </a:r>
            <a:r>
              <a:rPr lang="en-US" sz="1200" b="0" noProof="1">
                <a:solidFill>
                  <a:srgbClr val="569CD6"/>
                </a:solidFill>
                <a:effectLst/>
                <a:highlight>
                  <a:srgbClr val="1F1F1F"/>
                </a:highlight>
                <a:latin typeface="Consolas" panose="020B0609020204030204" pitchFamily="49" charset="0"/>
              </a:rPr>
              <a:t>output</a:t>
            </a:r>
            <a:r>
              <a:rPr lang="en-US" sz="1200" b="0" noProof="1">
                <a:solidFill>
                  <a:srgbClr val="CCCCCC"/>
                </a:solidFill>
                <a:effectLst/>
                <a:highlight>
                  <a:srgbClr val="1F1F1F"/>
                </a:highlight>
                <a:latin typeface="Consolas" panose="020B0609020204030204" pitchFamily="49" charset="0"/>
              </a:rPr>
              <a:t> z );</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assign</a:t>
            </a:r>
            <a:r>
              <a:rPr lang="en-US" sz="1200" b="0" noProof="1">
                <a:solidFill>
                  <a:srgbClr val="CCCCCC"/>
                </a:solidFill>
                <a:effectLst/>
                <a:highlight>
                  <a:srgbClr val="1F1F1F"/>
                </a:highlight>
                <a:latin typeface="Consolas" panose="020B0609020204030204" pitchFamily="49" charset="0"/>
              </a:rPr>
              <a:t> z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c;</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endParaRPr lang="en-US" sz="1200" b="0" noProof="1">
              <a:solidFill>
                <a:srgbClr val="CCCCCC"/>
              </a:solidFill>
              <a:effectLst/>
              <a:highlight>
                <a:srgbClr val="1F1F1F"/>
              </a:highlight>
              <a:latin typeface="Consolas" panose="020B0609020204030204" pitchFamily="49" charset="0"/>
            </a:endParaRPr>
          </a:p>
        </p:txBody>
      </p:sp>
      <p:sp>
        <p:nvSpPr>
          <p:cNvPr id="9" name="Rettangolo 8">
            <a:extLst>
              <a:ext uri="{FF2B5EF4-FFF2-40B4-BE49-F238E27FC236}">
                <a16:creationId xmlns:a16="http://schemas.microsoft.com/office/drawing/2014/main" id="{AE956A62-E268-524F-10AB-98ECE69D645C}"/>
              </a:ext>
            </a:extLst>
          </p:cNvPr>
          <p:cNvSpPr/>
          <p:nvPr/>
        </p:nvSpPr>
        <p:spPr>
          <a:xfrm>
            <a:off x="7861955" y="2177592"/>
            <a:ext cx="2762053" cy="2837468"/>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egnaposto contenuto 2">
            <a:extLst>
              <a:ext uri="{FF2B5EF4-FFF2-40B4-BE49-F238E27FC236}">
                <a16:creationId xmlns:a16="http://schemas.microsoft.com/office/drawing/2014/main" id="{D0ACB004-DCF4-7D6C-F347-9DC27934A948}"/>
              </a:ext>
            </a:extLst>
          </p:cNvPr>
          <p:cNvSpPr txBox="1">
            <a:spLocks/>
          </p:cNvSpPr>
          <p:nvPr/>
        </p:nvSpPr>
        <p:spPr>
          <a:xfrm>
            <a:off x="1141412" y="1478603"/>
            <a:ext cx="6334043" cy="128345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Modules:</a:t>
            </a:r>
          </a:p>
          <a:p>
            <a:r>
              <a:rPr lang="en-US" dirty="0"/>
              <a:t>Some modules (test benches) can contain the stimuli for the simulation (test fixtures). The stimuli are usually grouped in suitable constructs.</a:t>
            </a:r>
          </a:p>
          <a:p>
            <a:pPr marL="914400" lvl="1" indent="-457200">
              <a:buFont typeface="+mj-lt"/>
              <a:buAutoNum type="arabicPeriod" startAt="8"/>
            </a:pPr>
            <a:endParaRPr lang="en-US" dirty="0"/>
          </a:p>
        </p:txBody>
      </p:sp>
    </p:spTree>
    <p:extLst>
      <p:ext uri="{BB962C8B-B14F-4D97-AF65-F5344CB8AC3E}">
        <p14:creationId xmlns:p14="http://schemas.microsoft.com/office/powerpoint/2010/main" val="64800270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en-US" dirty="0"/>
              <a:t>INTRO TUTORIAL (5/2)</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en-US" dirty="0"/>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38100">
            <a:solidFill>
              <a:schemeClr val="accent5">
                <a:lumMod val="75000"/>
              </a:schemeClr>
            </a:solidFill>
          </a:ln>
        </p:spPr>
        <p:txBody>
          <a:bodyPr wrap="square" rtlCol="0">
            <a:spAutoFit/>
          </a:bodyPr>
          <a:lstStyle/>
          <a:p>
            <a:r>
              <a:rPr lang="en-US" sz="1200" b="0" noProof="1">
                <a:solidFill>
                  <a:srgbClr val="6A9955"/>
                </a:solidFill>
                <a:effectLst/>
                <a:highlight>
                  <a:srgbClr val="1F1F1F"/>
                </a:highlight>
                <a:latin typeface="Consolas" panose="020B0609020204030204" pitchFamily="49" charset="0"/>
              </a:rPr>
              <a:t>// File assign_sim.v</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`timescale</a:t>
            </a:r>
            <a:r>
              <a:rPr lang="en-US" sz="1200" b="0" noProof="1">
                <a:solidFill>
                  <a:srgbClr val="CCCCCC"/>
                </a:solidFill>
                <a:effectLst/>
                <a:highlight>
                  <a:srgbClr val="1F1F1F"/>
                </a:highlight>
                <a:latin typeface="Consolas" panose="020B0609020204030204" pitchFamily="49" charset="0"/>
              </a:rPr>
              <a:t> 10ns</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100ps</a:t>
            </a:r>
          </a:p>
          <a:p>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tf</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reg</a:t>
            </a:r>
            <a:r>
              <a:rPr lang="en-US" sz="1200" b="0" noProof="1">
                <a:solidFill>
                  <a:srgbClr val="CCCCCC"/>
                </a:solidFill>
                <a:effectLst/>
                <a:highlight>
                  <a:srgbClr val="1F1F1F"/>
                </a:highlight>
                <a:latin typeface="Consolas" panose="020B0609020204030204" pitchFamily="49" charset="0"/>
              </a:rPr>
              <a:t> a, b, c;</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wire</a:t>
            </a:r>
            <a:r>
              <a:rPr lang="en-US" sz="1200" b="0" noProof="1">
                <a:solidFill>
                  <a:srgbClr val="CCCCCC"/>
                </a:solidFill>
                <a:effectLst/>
                <a:highlight>
                  <a:srgbClr val="1F1F1F"/>
                </a:highlight>
                <a:latin typeface="Consolas" panose="020B0609020204030204" pitchFamily="49" charset="0"/>
              </a:rPr>
              <a:t> z;</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FFFF00"/>
                </a:highlight>
                <a:latin typeface="Consolas" panose="020B0609020204030204" pitchFamily="49" charset="0"/>
              </a:rPr>
              <a:t>initial</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begin</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CCCCCC"/>
                </a:solidFill>
                <a:effectLst/>
                <a:highlight>
                  <a:srgbClr val="1F1F1F"/>
                </a:highlight>
                <a:latin typeface="Consolas" panose="020B0609020204030204" pitchFamily="49" charset="0"/>
              </a:rPr>
              <a:t>    $monitor( a, b, c,, z );</a:t>
            </a:r>
          </a:p>
          <a:p>
            <a:r>
              <a:rPr lang="en-US" sz="1200" b="0" noProof="1">
                <a:solidFill>
                  <a:srgbClr val="DCDCAA"/>
                </a:solidFill>
                <a:effectLst/>
                <a:highlight>
                  <a:srgbClr val="1F1F1F"/>
                </a:highlight>
                <a:latin typeface="Consolas" panose="020B0609020204030204" pitchFamily="49" charset="0"/>
              </a:rPr>
              <a:t>    $dumpvars</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tf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DCDCAA"/>
                </a:solidFill>
                <a:effectLst/>
                <a:highlight>
                  <a:srgbClr val="1F1F1F"/>
                </a:highlight>
                <a:latin typeface="Consolas" panose="020B0609020204030204" pitchFamily="49" charset="0"/>
              </a:rPr>
              <a:t>$finish</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end</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device_under_test</a:t>
            </a:r>
            <a:r>
              <a:rPr lang="en-US" sz="1200" b="0" noProof="1">
                <a:solidFill>
                  <a:srgbClr val="CCCCCC"/>
                </a:solidFill>
                <a:effectLst/>
                <a:highlight>
                  <a:srgbClr val="1F1F1F"/>
                </a:highlight>
                <a:latin typeface="Consolas" panose="020B0609020204030204" pitchFamily="49" charset="0"/>
              </a:rPr>
              <a:t>( a, b, c, z );</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input</a:t>
            </a:r>
            <a:r>
              <a:rPr lang="en-US" sz="1200" b="0" noProof="1">
                <a:solidFill>
                  <a:srgbClr val="CCCCCC"/>
                </a:solidFill>
                <a:effectLst/>
                <a:highlight>
                  <a:srgbClr val="1F1F1F"/>
                </a:highlight>
                <a:latin typeface="Consolas" panose="020B0609020204030204" pitchFamily="49" charset="0"/>
              </a:rPr>
              <a:t> a, b, c, </a:t>
            </a:r>
            <a:r>
              <a:rPr lang="en-US" sz="1200" b="0" noProof="1">
                <a:solidFill>
                  <a:srgbClr val="569CD6"/>
                </a:solidFill>
                <a:effectLst/>
                <a:highlight>
                  <a:srgbClr val="1F1F1F"/>
                </a:highlight>
                <a:latin typeface="Consolas" panose="020B0609020204030204" pitchFamily="49" charset="0"/>
              </a:rPr>
              <a:t>output</a:t>
            </a:r>
            <a:r>
              <a:rPr lang="en-US" sz="1200" b="0" noProof="1">
                <a:solidFill>
                  <a:srgbClr val="CCCCCC"/>
                </a:solidFill>
                <a:effectLst/>
                <a:highlight>
                  <a:srgbClr val="1F1F1F"/>
                </a:highlight>
                <a:latin typeface="Consolas" panose="020B0609020204030204" pitchFamily="49" charset="0"/>
              </a:rPr>
              <a:t> z );</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assign</a:t>
            </a:r>
            <a:r>
              <a:rPr lang="en-US" sz="1200" b="0" noProof="1">
                <a:solidFill>
                  <a:srgbClr val="CCCCCC"/>
                </a:solidFill>
                <a:effectLst/>
                <a:highlight>
                  <a:srgbClr val="1F1F1F"/>
                </a:highlight>
                <a:latin typeface="Consolas" panose="020B0609020204030204" pitchFamily="49" charset="0"/>
              </a:rPr>
              <a:t> z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c;</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p:txBody>
      </p:sp>
      <p:sp>
        <p:nvSpPr>
          <p:cNvPr id="3" name="Segnaposto contenuto 2">
            <a:extLst>
              <a:ext uri="{FF2B5EF4-FFF2-40B4-BE49-F238E27FC236}">
                <a16:creationId xmlns:a16="http://schemas.microsoft.com/office/drawing/2014/main" id="{ED9B4A70-2400-2E2B-2BBA-4D4C51C14478}"/>
              </a:ext>
            </a:extLst>
          </p:cNvPr>
          <p:cNvSpPr txBox="1">
            <a:spLocks/>
          </p:cNvSpPr>
          <p:nvPr/>
        </p:nvSpPr>
        <p:spPr>
          <a:xfrm>
            <a:off x="1141412" y="1478604"/>
            <a:ext cx="6334043" cy="290486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Modules:</a:t>
            </a:r>
          </a:p>
          <a:p>
            <a:r>
              <a:rPr lang="en-US" dirty="0"/>
              <a:t>Some modules (test benches) can contain the stimuli for the simulation (test fixtures). The stimuli are usually grouped in suitable constructs.</a:t>
            </a:r>
          </a:p>
          <a:p>
            <a:r>
              <a:rPr lang="en-US" dirty="0"/>
              <a:t>In our example, the keyword </a:t>
            </a:r>
            <a:r>
              <a:rPr lang="en-US" i="1" dirty="0" err="1"/>
              <a:t>initial</a:t>
            </a:r>
            <a:r>
              <a:rPr lang="en-US" dirty="0"/>
              <a:t> is used to define a time sequence for applying the stimuli. During simulation, whatever is controlled by </a:t>
            </a:r>
            <a:r>
              <a:rPr lang="en-US" i="1" dirty="0" err="1"/>
              <a:t>initial</a:t>
            </a:r>
            <a:r>
              <a:rPr lang="en-US" dirty="0"/>
              <a:t> is executed only once. To incorporate more than one command inside </a:t>
            </a:r>
            <a:r>
              <a:rPr lang="en-US" i="1" dirty="0" err="1"/>
              <a:t>initial</a:t>
            </a:r>
            <a:r>
              <a:rPr lang="en-US" dirty="0"/>
              <a:t>, we must resort to another construct that represents the so-called </a:t>
            </a:r>
            <a:r>
              <a:rPr lang="en-US" u="sng" dirty="0"/>
              <a:t>block</a:t>
            </a:r>
            <a:r>
              <a:rPr lang="en-US" dirty="0"/>
              <a:t>.</a:t>
            </a:r>
          </a:p>
        </p:txBody>
      </p:sp>
    </p:spTree>
    <p:extLst>
      <p:ext uri="{BB962C8B-B14F-4D97-AF65-F5344CB8AC3E}">
        <p14:creationId xmlns:p14="http://schemas.microsoft.com/office/powerpoint/2010/main" val="10464378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en-US" dirty="0"/>
              <a:t>INTRO TUTORIAL (5/3)</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en-US" dirty="0"/>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38100">
            <a:solidFill>
              <a:schemeClr val="accent5">
                <a:lumMod val="75000"/>
              </a:schemeClr>
            </a:solidFill>
          </a:ln>
        </p:spPr>
        <p:txBody>
          <a:bodyPr wrap="square" rtlCol="0">
            <a:spAutoFit/>
          </a:bodyPr>
          <a:lstStyle/>
          <a:p>
            <a:r>
              <a:rPr lang="en-US" sz="1200" b="0" noProof="1">
                <a:solidFill>
                  <a:srgbClr val="6A9955"/>
                </a:solidFill>
                <a:effectLst/>
                <a:highlight>
                  <a:srgbClr val="1F1F1F"/>
                </a:highlight>
                <a:latin typeface="Consolas" panose="020B0609020204030204" pitchFamily="49" charset="0"/>
              </a:rPr>
              <a:t>// File assign_sim.v</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`timescale</a:t>
            </a:r>
            <a:r>
              <a:rPr lang="en-US" sz="1200" b="0" noProof="1">
                <a:solidFill>
                  <a:srgbClr val="CCCCCC"/>
                </a:solidFill>
                <a:effectLst/>
                <a:highlight>
                  <a:srgbClr val="1F1F1F"/>
                </a:highlight>
                <a:latin typeface="Consolas" panose="020B0609020204030204" pitchFamily="49" charset="0"/>
              </a:rPr>
              <a:t> 10ns</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100ps</a:t>
            </a:r>
          </a:p>
          <a:p>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tf</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reg</a:t>
            </a:r>
            <a:r>
              <a:rPr lang="en-US" sz="1200" b="0" noProof="1">
                <a:solidFill>
                  <a:srgbClr val="CCCCCC"/>
                </a:solidFill>
                <a:effectLst/>
                <a:highlight>
                  <a:srgbClr val="1F1F1F"/>
                </a:highlight>
                <a:latin typeface="Consolas" panose="020B0609020204030204" pitchFamily="49" charset="0"/>
              </a:rPr>
              <a:t> a, b, c;</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wire</a:t>
            </a:r>
            <a:r>
              <a:rPr lang="en-US" sz="1200" b="0" noProof="1">
                <a:solidFill>
                  <a:srgbClr val="CCCCCC"/>
                </a:solidFill>
                <a:effectLst/>
                <a:highlight>
                  <a:srgbClr val="1F1F1F"/>
                </a:highlight>
                <a:latin typeface="Consolas" panose="020B0609020204030204" pitchFamily="49" charset="0"/>
              </a:rPr>
              <a:t> z;</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initial</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begin</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CCCCCC"/>
                </a:solidFill>
                <a:effectLst/>
                <a:highlight>
                  <a:srgbClr val="1F1F1F"/>
                </a:highlight>
                <a:latin typeface="Consolas" panose="020B0609020204030204" pitchFamily="49" charset="0"/>
              </a:rPr>
              <a:t>    $monitor( a, b, c,, z );</a:t>
            </a:r>
          </a:p>
          <a:p>
            <a:r>
              <a:rPr lang="en-US" sz="1200" b="0" noProof="1">
                <a:solidFill>
                  <a:srgbClr val="DCDCAA"/>
                </a:solidFill>
                <a:effectLst/>
                <a:highlight>
                  <a:srgbClr val="1F1F1F"/>
                </a:highlight>
                <a:latin typeface="Consolas" panose="020B0609020204030204" pitchFamily="49" charset="0"/>
              </a:rPr>
              <a:t>    $dumpvars</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tf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DCDCAA"/>
                </a:solidFill>
                <a:effectLst/>
                <a:highlight>
                  <a:srgbClr val="1F1F1F"/>
                </a:highlight>
                <a:latin typeface="Consolas" panose="020B0609020204030204" pitchFamily="49" charset="0"/>
              </a:rPr>
              <a:t>$finish</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end</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device_under_test</a:t>
            </a:r>
            <a:r>
              <a:rPr lang="en-US" sz="1200" b="0" noProof="1">
                <a:solidFill>
                  <a:srgbClr val="CCCCCC"/>
                </a:solidFill>
                <a:effectLst/>
                <a:highlight>
                  <a:srgbClr val="1F1F1F"/>
                </a:highlight>
                <a:latin typeface="Consolas" panose="020B0609020204030204" pitchFamily="49" charset="0"/>
              </a:rPr>
              <a:t>( a, b, c, z );</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input</a:t>
            </a:r>
            <a:r>
              <a:rPr lang="en-US" sz="1200" b="0" noProof="1">
                <a:solidFill>
                  <a:srgbClr val="CCCCCC"/>
                </a:solidFill>
                <a:effectLst/>
                <a:highlight>
                  <a:srgbClr val="1F1F1F"/>
                </a:highlight>
                <a:latin typeface="Consolas" panose="020B0609020204030204" pitchFamily="49" charset="0"/>
              </a:rPr>
              <a:t> a, b, c, </a:t>
            </a:r>
            <a:r>
              <a:rPr lang="en-US" sz="1200" b="0" noProof="1">
                <a:solidFill>
                  <a:srgbClr val="569CD6"/>
                </a:solidFill>
                <a:effectLst/>
                <a:highlight>
                  <a:srgbClr val="1F1F1F"/>
                </a:highlight>
                <a:latin typeface="Consolas" panose="020B0609020204030204" pitchFamily="49" charset="0"/>
              </a:rPr>
              <a:t>output</a:t>
            </a:r>
            <a:r>
              <a:rPr lang="en-US" sz="1200" b="0" noProof="1">
                <a:solidFill>
                  <a:srgbClr val="CCCCCC"/>
                </a:solidFill>
                <a:effectLst/>
                <a:highlight>
                  <a:srgbClr val="1F1F1F"/>
                </a:highlight>
                <a:latin typeface="Consolas" panose="020B0609020204030204" pitchFamily="49" charset="0"/>
              </a:rPr>
              <a:t> z );</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assign</a:t>
            </a:r>
            <a:r>
              <a:rPr lang="en-US" sz="1200" b="0" noProof="1">
                <a:solidFill>
                  <a:srgbClr val="CCCCCC"/>
                </a:solidFill>
                <a:effectLst/>
                <a:highlight>
                  <a:srgbClr val="1F1F1F"/>
                </a:highlight>
                <a:latin typeface="Consolas" panose="020B0609020204030204" pitchFamily="49" charset="0"/>
              </a:rPr>
              <a:t> z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c;</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4"/>
            <a:ext cx="6334043" cy="51021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Modules:</a:t>
            </a:r>
          </a:p>
          <a:p>
            <a:r>
              <a:rPr lang="en-US" dirty="0"/>
              <a:t>Some modules (test benches) can contain the stimuli for the simulation (test fixtures). The stimuli are usually grouped in suitable constructs.</a:t>
            </a:r>
          </a:p>
          <a:p>
            <a:r>
              <a:rPr lang="en-US" dirty="0"/>
              <a:t>In our example, the keyword </a:t>
            </a:r>
            <a:r>
              <a:rPr lang="en-US" i="1" dirty="0" err="1"/>
              <a:t>initial</a:t>
            </a:r>
            <a:r>
              <a:rPr lang="en-US" dirty="0"/>
              <a:t> is used to define a time sequence for applying the stimuli. During simulation, whatever is controlled by </a:t>
            </a:r>
            <a:r>
              <a:rPr lang="en-US" i="1" dirty="0" err="1"/>
              <a:t>initial</a:t>
            </a:r>
            <a:r>
              <a:rPr lang="en-US" dirty="0"/>
              <a:t> is executed only once. To incorporate more than one command inside </a:t>
            </a:r>
            <a:r>
              <a:rPr lang="en-US" i="1" dirty="0" err="1"/>
              <a:t>initial</a:t>
            </a:r>
            <a:r>
              <a:rPr lang="en-US" dirty="0"/>
              <a:t>, we must resort to another construct that represents the so-called </a:t>
            </a:r>
            <a:r>
              <a:rPr lang="en-US" u="sng" dirty="0"/>
              <a:t>block</a:t>
            </a:r>
            <a:r>
              <a:rPr lang="en-US" dirty="0"/>
              <a:t>.</a:t>
            </a:r>
          </a:p>
          <a:p>
            <a:r>
              <a:rPr lang="en-US" dirty="0"/>
              <a:t>The block is syntactically defined by the pair of keywords </a:t>
            </a:r>
            <a:r>
              <a:rPr lang="en-US" i="1" dirty="0" err="1"/>
              <a:t>begin</a:t>
            </a:r>
            <a:r>
              <a:rPr lang="en-US" dirty="0"/>
              <a:t>…</a:t>
            </a:r>
            <a:r>
              <a:rPr lang="en-US" i="1" dirty="0"/>
              <a:t>end</a:t>
            </a:r>
            <a:r>
              <a:rPr lang="en-US" dirty="0"/>
              <a:t>. Inside a block, which is always controlled by another construct (in this case </a:t>
            </a:r>
            <a:r>
              <a:rPr lang="en-US" i="1" dirty="0" err="1"/>
              <a:t>initial</a:t>
            </a:r>
            <a:r>
              <a:rPr lang="en-US" dirty="0"/>
              <a:t>), the statements are considered to be a single unit. In the case of </a:t>
            </a:r>
            <a:r>
              <a:rPr lang="en-US" i="1" dirty="0" err="1"/>
              <a:t>initial</a:t>
            </a:r>
            <a:r>
              <a:rPr lang="en-US" dirty="0"/>
              <a:t> the commands of the block (excluding the directives that start with $) are executed sequentially. </a:t>
            </a:r>
            <a:r>
              <a:rPr lang="en-US" i="1" dirty="0" err="1"/>
              <a:t>initial</a:t>
            </a:r>
            <a:r>
              <a:rPr lang="en-US" dirty="0"/>
              <a:t> blocks are not synthesizable. For the moment the details of the simulation constructs will be ignored.</a:t>
            </a:r>
          </a:p>
          <a:p>
            <a:endParaRPr lang="en-US" dirty="0"/>
          </a:p>
        </p:txBody>
      </p:sp>
      <p:sp>
        <p:nvSpPr>
          <p:cNvPr id="6" name="Figura a mano libera: forma 5">
            <a:extLst>
              <a:ext uri="{FF2B5EF4-FFF2-40B4-BE49-F238E27FC236}">
                <a16:creationId xmlns:a16="http://schemas.microsoft.com/office/drawing/2014/main" id="{F9DE69F3-3BAB-84D0-6943-91AE18CC0571}"/>
              </a:ext>
            </a:extLst>
          </p:cNvPr>
          <p:cNvSpPr/>
          <p:nvPr/>
        </p:nvSpPr>
        <p:spPr>
          <a:xfrm>
            <a:off x="7937369" y="2187019"/>
            <a:ext cx="2384982" cy="2780907"/>
          </a:xfrm>
          <a:custGeom>
            <a:avLst/>
            <a:gdLst>
              <a:gd name="connsiteX0" fmla="*/ 650450 w 2384982"/>
              <a:gd name="connsiteY0" fmla="*/ 207389 h 2780907"/>
              <a:gd name="connsiteX1" fmla="*/ 650450 w 2384982"/>
              <a:gd name="connsiteY1" fmla="*/ 0 h 2780907"/>
              <a:gd name="connsiteX2" fmla="*/ 2375555 w 2384982"/>
              <a:gd name="connsiteY2" fmla="*/ 0 h 2780907"/>
              <a:gd name="connsiteX3" fmla="*/ 2375555 w 2384982"/>
              <a:gd name="connsiteY3" fmla="*/ 2724346 h 2780907"/>
              <a:gd name="connsiteX4" fmla="*/ 2375555 w 2384982"/>
              <a:gd name="connsiteY4" fmla="*/ 2762053 h 2780907"/>
              <a:gd name="connsiteX5" fmla="*/ 2384982 w 2384982"/>
              <a:gd name="connsiteY5" fmla="*/ 2780907 h 2780907"/>
              <a:gd name="connsiteX6" fmla="*/ 0 w 2384982"/>
              <a:gd name="connsiteY6" fmla="*/ 2780907 h 2780907"/>
              <a:gd name="connsiteX7" fmla="*/ 0 w 2384982"/>
              <a:gd name="connsiteY7" fmla="*/ 207389 h 2780907"/>
              <a:gd name="connsiteX8" fmla="*/ 650450 w 2384982"/>
              <a:gd name="connsiteY8" fmla="*/ 207389 h 2780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4982" h="2780907">
                <a:moveTo>
                  <a:pt x="650450" y="207389"/>
                </a:moveTo>
                <a:lnTo>
                  <a:pt x="650450" y="0"/>
                </a:lnTo>
                <a:lnTo>
                  <a:pt x="2375555" y="0"/>
                </a:lnTo>
                <a:lnTo>
                  <a:pt x="2375555" y="2724346"/>
                </a:lnTo>
                <a:lnTo>
                  <a:pt x="2375555" y="2762053"/>
                </a:lnTo>
                <a:lnTo>
                  <a:pt x="2384982" y="2780907"/>
                </a:lnTo>
                <a:lnTo>
                  <a:pt x="0" y="2780907"/>
                </a:lnTo>
                <a:lnTo>
                  <a:pt x="0" y="207389"/>
                </a:lnTo>
                <a:lnTo>
                  <a:pt x="650450" y="207389"/>
                </a:lnTo>
                <a:close/>
              </a:path>
            </a:pathLst>
          </a:cu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064380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en-US" dirty="0"/>
              <a:t>INTRO TUTORIAL (6/1)</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en-US" dirty="0"/>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4"/>
            <a:ext cx="6871372" cy="1651096"/>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Modules:</a:t>
            </a:r>
          </a:p>
          <a:p>
            <a:r>
              <a:rPr lang="en-US" dirty="0"/>
              <a:t>Inside the simulation modules there are the instances of the modules to be simulated (they generally form a hierarchy). In the example alongside, we see that module </a:t>
            </a:r>
            <a:r>
              <a:rPr lang="en-US" i="1" dirty="0" err="1"/>
              <a:t>fn_z</a:t>
            </a:r>
            <a:r>
              <a:rPr lang="en-US" dirty="0"/>
              <a:t> defines an instance (</a:t>
            </a:r>
            <a:r>
              <a:rPr lang="en-US" i="1" dirty="0" err="1"/>
              <a:t>device_under_test</a:t>
            </a:r>
            <a:r>
              <a:rPr lang="en-US" dirty="0"/>
              <a:t>) that receives the stimuli generated by the hosting module </a:t>
            </a:r>
            <a:r>
              <a:rPr lang="en-US" i="1" dirty="0" err="1"/>
              <a:t>tf</a:t>
            </a:r>
            <a:r>
              <a:rPr lang="en-US" dirty="0"/>
              <a:t>.</a:t>
            </a:r>
          </a:p>
          <a:p>
            <a:pPr marL="914400" lvl="1" indent="-457200">
              <a:buFont typeface="+mj-lt"/>
              <a:buAutoNum type="arabicPeriod" startAt="8"/>
            </a:pPr>
            <a:endParaRPr lang="en-US" dirty="0"/>
          </a:p>
        </p:txBody>
      </p:sp>
      <p:sp>
        <p:nvSpPr>
          <p:cNvPr id="6" name="CasellaDiTesto 5">
            <a:extLst>
              <a:ext uri="{FF2B5EF4-FFF2-40B4-BE49-F238E27FC236}">
                <a16:creationId xmlns:a16="http://schemas.microsoft.com/office/drawing/2014/main" id="{414412D6-3AF0-3868-C73B-6C010B9E7FCE}"/>
              </a:ext>
            </a:extLst>
          </p:cNvPr>
          <p:cNvSpPr txBox="1"/>
          <p:nvPr/>
        </p:nvSpPr>
        <p:spPr>
          <a:xfrm>
            <a:off x="8012784" y="890083"/>
            <a:ext cx="3771071" cy="5632311"/>
          </a:xfrm>
          <a:prstGeom prst="rect">
            <a:avLst/>
          </a:prstGeom>
          <a:solidFill>
            <a:srgbClr val="1F1F1F"/>
          </a:solidFill>
          <a:ln w="38100">
            <a:solidFill>
              <a:schemeClr val="accent5">
                <a:lumMod val="75000"/>
              </a:schemeClr>
            </a:solidFill>
          </a:ln>
        </p:spPr>
        <p:txBody>
          <a:bodyPr wrap="square" rtlCol="0">
            <a:spAutoFit/>
          </a:bodyPr>
          <a:lstStyle/>
          <a:p>
            <a:r>
              <a:rPr lang="en-US" sz="1200" b="0" noProof="1">
                <a:solidFill>
                  <a:srgbClr val="6A9955"/>
                </a:solidFill>
                <a:effectLst/>
                <a:highlight>
                  <a:srgbClr val="1F1F1F"/>
                </a:highlight>
                <a:latin typeface="Consolas" panose="020B0609020204030204" pitchFamily="49" charset="0"/>
              </a:rPr>
              <a:t>// File assign_sim.v</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`timescale</a:t>
            </a:r>
            <a:r>
              <a:rPr lang="en-US" sz="1200" b="0" noProof="1">
                <a:solidFill>
                  <a:srgbClr val="CCCCCC"/>
                </a:solidFill>
                <a:effectLst/>
                <a:highlight>
                  <a:srgbClr val="1F1F1F"/>
                </a:highlight>
                <a:latin typeface="Consolas" panose="020B0609020204030204" pitchFamily="49" charset="0"/>
              </a:rPr>
              <a:t> 10ns</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100ps</a:t>
            </a:r>
          </a:p>
          <a:p>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tf</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reg</a:t>
            </a:r>
            <a:r>
              <a:rPr lang="en-US" sz="1200" b="0" noProof="1">
                <a:solidFill>
                  <a:srgbClr val="CCCCCC"/>
                </a:solidFill>
                <a:effectLst/>
                <a:highlight>
                  <a:srgbClr val="1F1F1F"/>
                </a:highlight>
                <a:latin typeface="Consolas" panose="020B0609020204030204" pitchFamily="49" charset="0"/>
              </a:rPr>
              <a:t> a, b, c;</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wire</a:t>
            </a:r>
            <a:r>
              <a:rPr lang="en-US" sz="1200" b="0" noProof="1">
                <a:solidFill>
                  <a:srgbClr val="CCCCCC"/>
                </a:solidFill>
                <a:effectLst/>
                <a:highlight>
                  <a:srgbClr val="1F1F1F"/>
                </a:highlight>
                <a:latin typeface="Consolas" panose="020B0609020204030204" pitchFamily="49" charset="0"/>
              </a:rPr>
              <a:t> z;</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initial</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begin</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CCCCCC"/>
                </a:solidFill>
                <a:effectLst/>
                <a:highlight>
                  <a:srgbClr val="1F1F1F"/>
                </a:highlight>
                <a:latin typeface="Consolas" panose="020B0609020204030204" pitchFamily="49" charset="0"/>
              </a:rPr>
              <a:t>    $monitor( a, b, c,, z );</a:t>
            </a:r>
          </a:p>
          <a:p>
            <a:r>
              <a:rPr lang="en-US" sz="1200" b="0" noProof="1">
                <a:solidFill>
                  <a:srgbClr val="DCDCAA"/>
                </a:solidFill>
                <a:effectLst/>
                <a:highlight>
                  <a:srgbClr val="1F1F1F"/>
                </a:highlight>
                <a:latin typeface="Consolas" panose="020B0609020204030204" pitchFamily="49" charset="0"/>
              </a:rPr>
              <a:t>    $dumpvars</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tf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DCDCAA"/>
                </a:solidFill>
                <a:effectLst/>
                <a:highlight>
                  <a:srgbClr val="1F1F1F"/>
                </a:highlight>
                <a:latin typeface="Consolas" panose="020B0609020204030204" pitchFamily="49" charset="0"/>
              </a:rPr>
              <a:t>$finish</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end</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chemeClr val="bg1"/>
                </a:solidFill>
                <a:effectLst/>
                <a:highlight>
                  <a:srgbClr val="FFFF00"/>
                </a:highlight>
                <a:latin typeface="Consolas" panose="020B0609020204030204" pitchFamily="49" charset="0"/>
              </a:rPr>
              <a:t>device_under_test</a:t>
            </a:r>
            <a:r>
              <a:rPr lang="en-US" sz="1200" b="0" noProof="1">
                <a:solidFill>
                  <a:srgbClr val="CCCCCC"/>
                </a:solidFill>
                <a:effectLst/>
                <a:highlight>
                  <a:srgbClr val="1F1F1F"/>
                </a:highlight>
                <a:latin typeface="Consolas" panose="020B0609020204030204" pitchFamily="49" charset="0"/>
              </a:rPr>
              <a:t>( a, b, c, z );</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input</a:t>
            </a:r>
            <a:r>
              <a:rPr lang="en-US" sz="1200" b="0" noProof="1">
                <a:solidFill>
                  <a:srgbClr val="CCCCCC"/>
                </a:solidFill>
                <a:effectLst/>
                <a:highlight>
                  <a:srgbClr val="1F1F1F"/>
                </a:highlight>
                <a:latin typeface="Consolas" panose="020B0609020204030204" pitchFamily="49" charset="0"/>
              </a:rPr>
              <a:t> a, b, c, </a:t>
            </a:r>
            <a:r>
              <a:rPr lang="en-US" sz="1200" b="0" noProof="1">
                <a:solidFill>
                  <a:srgbClr val="569CD6"/>
                </a:solidFill>
                <a:effectLst/>
                <a:highlight>
                  <a:srgbClr val="1F1F1F"/>
                </a:highlight>
                <a:latin typeface="Consolas" panose="020B0609020204030204" pitchFamily="49" charset="0"/>
              </a:rPr>
              <a:t>output</a:t>
            </a:r>
            <a:r>
              <a:rPr lang="en-US" sz="1200" b="0" noProof="1">
                <a:solidFill>
                  <a:srgbClr val="CCCCCC"/>
                </a:solidFill>
                <a:effectLst/>
                <a:highlight>
                  <a:srgbClr val="1F1F1F"/>
                </a:highlight>
                <a:latin typeface="Consolas" panose="020B0609020204030204" pitchFamily="49" charset="0"/>
              </a:rPr>
              <a:t> z );</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assign</a:t>
            </a:r>
            <a:r>
              <a:rPr lang="en-US" sz="1200" b="0" noProof="1">
                <a:solidFill>
                  <a:srgbClr val="CCCCCC"/>
                </a:solidFill>
                <a:effectLst/>
                <a:highlight>
                  <a:srgbClr val="1F1F1F"/>
                </a:highlight>
                <a:latin typeface="Consolas" panose="020B0609020204030204" pitchFamily="49" charset="0"/>
              </a:rPr>
              <a:t> z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c;</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4761719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en-US" dirty="0"/>
              <a:t>INTRO TUTORIAL (6/2)</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en-US" dirty="0"/>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3"/>
            <a:ext cx="6871372" cy="504379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Modules:</a:t>
            </a:r>
          </a:p>
          <a:p>
            <a:r>
              <a:rPr lang="en-US" dirty="0"/>
              <a:t>Inside the simulation modules there are the instances of the modules to be simulated (they generally form a hierarchy). In the example alongside, we see that module </a:t>
            </a:r>
            <a:r>
              <a:rPr lang="en-US" i="1" dirty="0" err="1"/>
              <a:t>fn_z</a:t>
            </a:r>
            <a:r>
              <a:rPr lang="en-US" dirty="0"/>
              <a:t> defines an instance (</a:t>
            </a:r>
            <a:r>
              <a:rPr lang="en-US" i="1" dirty="0" err="1"/>
              <a:t>device_under_test</a:t>
            </a:r>
            <a:r>
              <a:rPr lang="en-US" dirty="0"/>
              <a:t>) that receives the stimuli generated by the hosting module </a:t>
            </a:r>
            <a:r>
              <a:rPr lang="en-US" i="1" dirty="0" err="1"/>
              <a:t>tf</a:t>
            </a:r>
            <a:r>
              <a:rPr lang="en-US" dirty="0"/>
              <a:t>.</a:t>
            </a:r>
          </a:p>
          <a:p>
            <a:r>
              <a:rPr lang="en-US" dirty="0"/>
              <a:t>There are other fundamental elements that we have already met. Besides </a:t>
            </a:r>
            <a:r>
              <a:rPr lang="en-US" i="1" dirty="0"/>
              <a:t>reg</a:t>
            </a:r>
            <a:r>
              <a:rPr lang="en-US" dirty="0"/>
              <a:t> we see the keyword </a:t>
            </a:r>
            <a:r>
              <a:rPr lang="en-US" i="1" dirty="0" err="1"/>
              <a:t>wire</a:t>
            </a:r>
            <a:r>
              <a:rPr lang="en-US" dirty="0"/>
              <a:t> highlighted at the side. Both elements allow interconnection between modules.</a:t>
            </a:r>
          </a:p>
          <a:p>
            <a:r>
              <a:rPr lang="en-US" i="1" dirty="0" err="1"/>
              <a:t>wire</a:t>
            </a:r>
            <a:r>
              <a:rPr lang="en-US" dirty="0"/>
              <a:t>s can be likened to real electrical connections. They can be read or assigned. No value is stored inside them. They must be driven by an </a:t>
            </a:r>
            <a:r>
              <a:rPr lang="en-US" i="1" dirty="0" err="1"/>
              <a:t>assign</a:t>
            </a:r>
            <a:r>
              <a:rPr lang="en-US" dirty="0"/>
              <a:t> statement or by a module port.</a:t>
            </a:r>
          </a:p>
          <a:p>
            <a:r>
              <a:rPr lang="en-US" i="1" dirty="0"/>
              <a:t>reg</a:t>
            </a:r>
            <a:r>
              <a:rPr lang="en-US" dirty="0"/>
              <a:t>s represent the memory elements (registers) seen earlier. They keep their value until a new one is given to them. Contrary to their name, </a:t>
            </a:r>
            <a:r>
              <a:rPr lang="en-US" i="1" dirty="0"/>
              <a:t>reg</a:t>
            </a:r>
            <a:r>
              <a:rPr lang="en-US" dirty="0"/>
              <a:t>s do not necessarily correspond to physical registers. They can be synthesized as Flip-Flops, latches or combinational circuits. </a:t>
            </a:r>
          </a:p>
          <a:p>
            <a:pPr marL="914400" lvl="1" indent="-457200">
              <a:buFont typeface="+mj-lt"/>
              <a:buAutoNum type="arabicPeriod" startAt="8"/>
            </a:pPr>
            <a:endParaRPr lang="en-US" dirty="0"/>
          </a:p>
        </p:txBody>
      </p:sp>
      <p:sp>
        <p:nvSpPr>
          <p:cNvPr id="6" name="CasellaDiTesto 5">
            <a:extLst>
              <a:ext uri="{FF2B5EF4-FFF2-40B4-BE49-F238E27FC236}">
                <a16:creationId xmlns:a16="http://schemas.microsoft.com/office/drawing/2014/main" id="{414412D6-3AF0-3868-C73B-6C010B9E7FCE}"/>
              </a:ext>
            </a:extLst>
          </p:cNvPr>
          <p:cNvSpPr txBox="1"/>
          <p:nvPr/>
        </p:nvSpPr>
        <p:spPr>
          <a:xfrm>
            <a:off x="8012784" y="890083"/>
            <a:ext cx="3771071" cy="5632311"/>
          </a:xfrm>
          <a:prstGeom prst="rect">
            <a:avLst/>
          </a:prstGeom>
          <a:solidFill>
            <a:srgbClr val="1F1F1F"/>
          </a:solidFill>
          <a:ln w="38100">
            <a:solidFill>
              <a:schemeClr val="accent5">
                <a:lumMod val="75000"/>
              </a:schemeClr>
            </a:solidFill>
          </a:ln>
        </p:spPr>
        <p:txBody>
          <a:bodyPr wrap="square" rtlCol="0">
            <a:spAutoFit/>
          </a:bodyPr>
          <a:lstStyle/>
          <a:p>
            <a:r>
              <a:rPr lang="en-US" sz="1200" b="0" noProof="1">
                <a:solidFill>
                  <a:srgbClr val="6A9955"/>
                </a:solidFill>
                <a:effectLst/>
                <a:highlight>
                  <a:srgbClr val="1F1F1F"/>
                </a:highlight>
                <a:latin typeface="Consolas" panose="020B0609020204030204" pitchFamily="49" charset="0"/>
              </a:rPr>
              <a:t>// File assign_sim.v</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`timescale</a:t>
            </a:r>
            <a:r>
              <a:rPr lang="en-US" sz="1200" b="0" noProof="1">
                <a:solidFill>
                  <a:srgbClr val="CCCCCC"/>
                </a:solidFill>
                <a:effectLst/>
                <a:highlight>
                  <a:srgbClr val="1F1F1F"/>
                </a:highlight>
                <a:latin typeface="Consolas" panose="020B0609020204030204" pitchFamily="49" charset="0"/>
              </a:rPr>
              <a:t> 10ns</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100ps</a:t>
            </a:r>
          </a:p>
          <a:p>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tf</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chemeClr val="bg1"/>
                </a:solidFill>
                <a:effectLst/>
                <a:highlight>
                  <a:srgbClr val="FFFF00"/>
                </a:highlight>
                <a:latin typeface="Consolas" panose="020B0609020204030204" pitchFamily="49" charset="0"/>
              </a:rPr>
              <a:t>reg</a:t>
            </a:r>
            <a:r>
              <a:rPr lang="en-US" sz="1200" b="0" noProof="1">
                <a:solidFill>
                  <a:srgbClr val="CCCCCC"/>
                </a:solidFill>
                <a:effectLst/>
                <a:highlight>
                  <a:srgbClr val="1F1F1F"/>
                </a:highlight>
                <a:latin typeface="Consolas" panose="020B0609020204030204" pitchFamily="49" charset="0"/>
              </a:rPr>
              <a:t> a, b, c;</a:t>
            </a:r>
          </a:p>
          <a:p>
            <a:r>
              <a:rPr lang="en-US" sz="1200" b="0" noProof="1">
                <a:solidFill>
                  <a:srgbClr val="CCCCCC"/>
                </a:solidFill>
                <a:effectLst/>
                <a:highlight>
                  <a:srgbClr val="1F1F1F"/>
                </a:highlight>
                <a:latin typeface="Consolas" panose="020B0609020204030204" pitchFamily="49" charset="0"/>
              </a:rPr>
              <a:t>  </a:t>
            </a:r>
            <a:r>
              <a:rPr lang="en-US" sz="1200" b="0" noProof="1">
                <a:solidFill>
                  <a:schemeClr val="bg1"/>
                </a:solidFill>
                <a:effectLst/>
                <a:highlight>
                  <a:srgbClr val="FFFF00"/>
                </a:highlight>
                <a:latin typeface="Consolas" panose="020B0609020204030204" pitchFamily="49" charset="0"/>
              </a:rPr>
              <a:t>wire</a:t>
            </a:r>
            <a:r>
              <a:rPr lang="en-US" sz="1200" b="0" noProof="1">
                <a:solidFill>
                  <a:srgbClr val="CCCCCC"/>
                </a:solidFill>
                <a:effectLst/>
                <a:highlight>
                  <a:srgbClr val="1F1F1F"/>
                </a:highlight>
                <a:latin typeface="Consolas" panose="020B0609020204030204" pitchFamily="49" charset="0"/>
              </a:rPr>
              <a:t> z;</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initial</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begin</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CCCCCC"/>
                </a:solidFill>
                <a:effectLst/>
                <a:highlight>
                  <a:srgbClr val="1F1F1F"/>
                </a:highlight>
                <a:latin typeface="Consolas" panose="020B0609020204030204" pitchFamily="49" charset="0"/>
              </a:rPr>
              <a:t>    $monitor( a, b, c,, z );</a:t>
            </a:r>
          </a:p>
          <a:p>
            <a:r>
              <a:rPr lang="en-US" sz="1200" b="0" noProof="1">
                <a:solidFill>
                  <a:srgbClr val="DCDCAA"/>
                </a:solidFill>
                <a:effectLst/>
                <a:highlight>
                  <a:srgbClr val="1F1F1F"/>
                </a:highlight>
                <a:latin typeface="Consolas" panose="020B0609020204030204" pitchFamily="49" charset="0"/>
              </a:rPr>
              <a:t>    $dumpvars</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tf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DCDCAA"/>
                </a:solidFill>
                <a:effectLst/>
                <a:highlight>
                  <a:srgbClr val="1F1F1F"/>
                </a:highlight>
                <a:latin typeface="Consolas" panose="020B0609020204030204" pitchFamily="49" charset="0"/>
              </a:rPr>
              <a:t>$finish</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end</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device_under_test</a:t>
            </a:r>
            <a:r>
              <a:rPr lang="en-US" sz="1200" b="0" noProof="1">
                <a:solidFill>
                  <a:srgbClr val="CCCCCC"/>
                </a:solidFill>
                <a:effectLst/>
                <a:highlight>
                  <a:srgbClr val="1F1F1F"/>
                </a:highlight>
                <a:latin typeface="Consolas" panose="020B0609020204030204" pitchFamily="49" charset="0"/>
              </a:rPr>
              <a:t>( a, b, c, z );</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input</a:t>
            </a:r>
            <a:r>
              <a:rPr lang="en-US" sz="1200" b="0" noProof="1">
                <a:solidFill>
                  <a:srgbClr val="CCCCCC"/>
                </a:solidFill>
                <a:effectLst/>
                <a:highlight>
                  <a:srgbClr val="1F1F1F"/>
                </a:highlight>
                <a:latin typeface="Consolas" panose="020B0609020204030204" pitchFamily="49" charset="0"/>
              </a:rPr>
              <a:t> a, b, c, </a:t>
            </a:r>
            <a:r>
              <a:rPr lang="en-US" sz="1200" b="0" noProof="1">
                <a:solidFill>
                  <a:srgbClr val="569CD6"/>
                </a:solidFill>
                <a:effectLst/>
                <a:highlight>
                  <a:srgbClr val="1F1F1F"/>
                </a:highlight>
                <a:latin typeface="Consolas" panose="020B0609020204030204" pitchFamily="49" charset="0"/>
              </a:rPr>
              <a:t>output</a:t>
            </a:r>
            <a:r>
              <a:rPr lang="en-US" sz="1200" b="0" noProof="1">
                <a:solidFill>
                  <a:srgbClr val="CCCCCC"/>
                </a:solidFill>
                <a:effectLst/>
                <a:highlight>
                  <a:srgbClr val="1F1F1F"/>
                </a:highlight>
                <a:latin typeface="Consolas" panose="020B0609020204030204" pitchFamily="49" charset="0"/>
              </a:rPr>
              <a:t> z );</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assign</a:t>
            </a:r>
            <a:r>
              <a:rPr lang="en-US" sz="1200" b="0" noProof="1">
                <a:solidFill>
                  <a:srgbClr val="CCCCCC"/>
                </a:solidFill>
                <a:effectLst/>
                <a:highlight>
                  <a:srgbClr val="1F1F1F"/>
                </a:highlight>
                <a:latin typeface="Consolas" panose="020B0609020204030204" pitchFamily="49" charset="0"/>
              </a:rPr>
              <a:t> z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c;</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0041279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en-US" dirty="0"/>
              <a:t>INTRO TUTORIAL (7/1)</a:t>
            </a:r>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38100">
            <a:solidFill>
              <a:schemeClr val="accent5">
                <a:lumMod val="75000"/>
              </a:schemeClr>
            </a:solidFill>
          </a:ln>
        </p:spPr>
        <p:txBody>
          <a:bodyPr wrap="square" rtlCol="0">
            <a:spAutoFit/>
          </a:bodyPr>
          <a:lstStyle/>
          <a:p>
            <a:r>
              <a:rPr lang="en-US" sz="1200" b="0" noProof="1">
                <a:solidFill>
                  <a:srgbClr val="6A9955"/>
                </a:solidFill>
                <a:effectLst/>
                <a:highlight>
                  <a:srgbClr val="1F1F1F"/>
                </a:highlight>
                <a:latin typeface="Consolas" panose="020B0609020204030204" pitchFamily="49" charset="0"/>
              </a:rPr>
              <a:t>// File assign_sim.v</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`timescale</a:t>
            </a:r>
            <a:r>
              <a:rPr lang="en-US" sz="1200" b="0" noProof="1">
                <a:solidFill>
                  <a:srgbClr val="CCCCCC"/>
                </a:solidFill>
                <a:effectLst/>
                <a:highlight>
                  <a:srgbClr val="1F1F1F"/>
                </a:highlight>
                <a:latin typeface="Consolas" panose="020B0609020204030204" pitchFamily="49" charset="0"/>
              </a:rPr>
              <a:t> 10ns</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100ps</a:t>
            </a:r>
          </a:p>
          <a:p>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tf</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chemeClr val="bg1"/>
                </a:solidFill>
                <a:effectLst/>
                <a:highlight>
                  <a:srgbClr val="FFFF00"/>
                </a:highlight>
                <a:latin typeface="Consolas" panose="020B0609020204030204" pitchFamily="49" charset="0"/>
              </a:rPr>
              <a:t>reg a, b, c</a:t>
            </a:r>
            <a:r>
              <a:rPr lang="en-US" sz="1200" b="0" noProof="1">
                <a:solidFill>
                  <a:schemeClr val="bg1"/>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wire</a:t>
            </a:r>
            <a:r>
              <a:rPr lang="en-US" sz="1200" b="0" noProof="1">
                <a:solidFill>
                  <a:srgbClr val="CCCCCC"/>
                </a:solidFill>
                <a:effectLst/>
                <a:highlight>
                  <a:srgbClr val="1F1F1F"/>
                </a:highlight>
                <a:latin typeface="Consolas" panose="020B0609020204030204" pitchFamily="49" charset="0"/>
              </a:rPr>
              <a:t> z;</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initial</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begin</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CCCCCC"/>
                </a:solidFill>
                <a:effectLst/>
                <a:highlight>
                  <a:srgbClr val="1F1F1F"/>
                </a:highlight>
                <a:latin typeface="Consolas" panose="020B0609020204030204" pitchFamily="49" charset="0"/>
              </a:rPr>
              <a:t>    $monitor( a, b, c,, z );</a:t>
            </a:r>
          </a:p>
          <a:p>
            <a:r>
              <a:rPr lang="en-US" sz="1200" b="0" noProof="1">
                <a:solidFill>
                  <a:srgbClr val="DCDCAA"/>
                </a:solidFill>
                <a:effectLst/>
                <a:highlight>
                  <a:srgbClr val="1F1F1F"/>
                </a:highlight>
                <a:latin typeface="Consolas" panose="020B0609020204030204" pitchFamily="49" charset="0"/>
              </a:rPr>
              <a:t>    $dumpvars</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tf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DCDCAA"/>
                </a:solidFill>
                <a:effectLst/>
                <a:highlight>
                  <a:srgbClr val="1F1F1F"/>
                </a:highlight>
                <a:latin typeface="Consolas" panose="020B0609020204030204" pitchFamily="49" charset="0"/>
              </a:rPr>
              <a:t>$finish</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end</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device_under_test</a:t>
            </a:r>
            <a:r>
              <a:rPr lang="en-US" sz="1200" b="0" noProof="1">
                <a:solidFill>
                  <a:srgbClr val="CCCCCC"/>
                </a:solidFill>
                <a:effectLst/>
                <a:highlight>
                  <a:srgbClr val="1F1F1F"/>
                </a:highlight>
                <a:latin typeface="Consolas" panose="020B0609020204030204" pitchFamily="49" charset="0"/>
              </a:rPr>
              <a:t>( a, b, c, z );</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input</a:t>
            </a:r>
            <a:r>
              <a:rPr lang="en-US" sz="1200" b="0" noProof="1">
                <a:solidFill>
                  <a:srgbClr val="CCCCCC"/>
                </a:solidFill>
                <a:effectLst/>
                <a:highlight>
                  <a:srgbClr val="1F1F1F"/>
                </a:highlight>
                <a:latin typeface="Consolas" panose="020B0609020204030204" pitchFamily="49" charset="0"/>
              </a:rPr>
              <a:t> a, b, c, </a:t>
            </a:r>
            <a:r>
              <a:rPr lang="en-US" sz="1200" b="0" noProof="1">
                <a:solidFill>
                  <a:srgbClr val="569CD6"/>
                </a:solidFill>
                <a:effectLst/>
                <a:highlight>
                  <a:srgbClr val="1F1F1F"/>
                </a:highlight>
                <a:latin typeface="Consolas" panose="020B0609020204030204" pitchFamily="49" charset="0"/>
              </a:rPr>
              <a:t>output</a:t>
            </a:r>
            <a:r>
              <a:rPr lang="en-US" sz="1200" b="0" noProof="1">
                <a:solidFill>
                  <a:srgbClr val="CCCCCC"/>
                </a:solidFill>
                <a:effectLst/>
                <a:highlight>
                  <a:srgbClr val="1F1F1F"/>
                </a:highlight>
                <a:latin typeface="Consolas" panose="020B0609020204030204" pitchFamily="49" charset="0"/>
              </a:rPr>
              <a:t> z );</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assign</a:t>
            </a:r>
            <a:r>
              <a:rPr lang="en-US" sz="1200" b="0" noProof="1">
                <a:solidFill>
                  <a:srgbClr val="CCCCCC"/>
                </a:solidFill>
                <a:effectLst/>
                <a:highlight>
                  <a:srgbClr val="1F1F1F"/>
                </a:highlight>
                <a:latin typeface="Consolas" panose="020B0609020204030204" pitchFamily="49" charset="0"/>
              </a:rPr>
              <a:t> z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c;</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3"/>
            <a:ext cx="6334043" cy="112147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Modules:</a:t>
            </a:r>
          </a:p>
          <a:p>
            <a:r>
              <a:rPr lang="en-US" dirty="0"/>
              <a:t>The actual stimuli consist of sequences of values assigned to the </a:t>
            </a:r>
            <a:r>
              <a:rPr lang="en-US" dirty="0">
                <a:solidFill>
                  <a:srgbClr val="FFFF00"/>
                </a:solidFill>
              </a:rPr>
              <a:t>registers</a:t>
            </a:r>
            <a:r>
              <a:rPr lang="en-US" dirty="0"/>
              <a:t>.</a:t>
            </a:r>
          </a:p>
          <a:p>
            <a:endParaRPr lang="en-US" dirty="0"/>
          </a:p>
        </p:txBody>
      </p:sp>
      <p:sp>
        <p:nvSpPr>
          <p:cNvPr id="3" name="Rettangolo 2">
            <a:extLst>
              <a:ext uri="{FF2B5EF4-FFF2-40B4-BE49-F238E27FC236}">
                <a16:creationId xmlns:a16="http://schemas.microsoft.com/office/drawing/2014/main" id="{1088452C-C0FD-7FF8-0812-A788FB6509BF}"/>
              </a:ext>
            </a:extLst>
          </p:cNvPr>
          <p:cNvSpPr/>
          <p:nvPr/>
        </p:nvSpPr>
        <p:spPr>
          <a:xfrm>
            <a:off x="8078771" y="2948459"/>
            <a:ext cx="2144324" cy="1478570"/>
          </a:xfrm>
          <a:prstGeom prst="rect">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Elemento grafico 9">
            <a:extLst>
              <a:ext uri="{FF2B5EF4-FFF2-40B4-BE49-F238E27FC236}">
                <a16:creationId xmlns:a16="http://schemas.microsoft.com/office/drawing/2014/main" id="{EA2D3F76-8000-5D4B-9B33-A2095597C5F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700750" y="2701580"/>
            <a:ext cx="913394" cy="1714945"/>
          </a:xfrm>
          <a:prstGeom prst="rect">
            <a:avLst/>
          </a:prstGeom>
        </p:spPr>
      </p:pic>
      <p:sp>
        <p:nvSpPr>
          <p:cNvPr id="12" name="Freccia a sinistra 11">
            <a:extLst>
              <a:ext uri="{FF2B5EF4-FFF2-40B4-BE49-F238E27FC236}">
                <a16:creationId xmlns:a16="http://schemas.microsoft.com/office/drawing/2014/main" id="{F658CBF1-F864-066E-EFBC-D75379A38C53}"/>
              </a:ext>
            </a:extLst>
          </p:cNvPr>
          <p:cNvSpPr/>
          <p:nvPr/>
        </p:nvSpPr>
        <p:spPr>
          <a:xfrm>
            <a:off x="10270801" y="3531312"/>
            <a:ext cx="379379" cy="30840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408191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en-US" dirty="0"/>
              <a:t>INTRO TUTORIAL (7/2)</a:t>
            </a:r>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38100">
            <a:solidFill>
              <a:schemeClr val="accent5">
                <a:lumMod val="75000"/>
              </a:schemeClr>
            </a:solidFill>
          </a:ln>
        </p:spPr>
        <p:txBody>
          <a:bodyPr wrap="square" rtlCol="0">
            <a:spAutoFit/>
          </a:bodyPr>
          <a:lstStyle/>
          <a:p>
            <a:r>
              <a:rPr lang="en-US" sz="1200" b="0" noProof="1">
                <a:solidFill>
                  <a:srgbClr val="6A9955"/>
                </a:solidFill>
                <a:effectLst/>
                <a:highlight>
                  <a:srgbClr val="1F1F1F"/>
                </a:highlight>
                <a:latin typeface="Consolas" panose="020B0609020204030204" pitchFamily="49" charset="0"/>
              </a:rPr>
              <a:t>// File assign_sim.v</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chemeClr val="bg1"/>
                </a:solidFill>
                <a:effectLst/>
                <a:highlight>
                  <a:srgbClr val="FFFF00"/>
                </a:highlight>
                <a:latin typeface="Consolas" panose="020B0609020204030204" pitchFamily="49" charset="0"/>
              </a:rPr>
              <a:t>`timescale 10ns/100ps</a:t>
            </a:r>
          </a:p>
          <a:p>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tf</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reg</a:t>
            </a:r>
            <a:r>
              <a:rPr lang="en-US" sz="1200" b="0" noProof="1">
                <a:solidFill>
                  <a:srgbClr val="CCCCCC"/>
                </a:solidFill>
                <a:effectLst/>
                <a:highlight>
                  <a:srgbClr val="1F1F1F"/>
                </a:highlight>
                <a:latin typeface="Consolas" panose="020B0609020204030204" pitchFamily="49" charset="0"/>
              </a:rPr>
              <a:t> a, b, c;</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wire</a:t>
            </a:r>
            <a:r>
              <a:rPr lang="en-US" sz="1200" b="0" noProof="1">
                <a:solidFill>
                  <a:srgbClr val="CCCCCC"/>
                </a:solidFill>
                <a:effectLst/>
                <a:highlight>
                  <a:srgbClr val="1F1F1F"/>
                </a:highlight>
                <a:latin typeface="Consolas" panose="020B0609020204030204" pitchFamily="49" charset="0"/>
              </a:rPr>
              <a:t> z;</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initial</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begin</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CCCCCC"/>
                </a:solidFill>
                <a:effectLst/>
                <a:highlight>
                  <a:srgbClr val="1F1F1F"/>
                </a:highlight>
                <a:latin typeface="Consolas" panose="020B0609020204030204" pitchFamily="49" charset="0"/>
              </a:rPr>
              <a:t>    $monitor( a, b, c,, z );</a:t>
            </a:r>
          </a:p>
          <a:p>
            <a:r>
              <a:rPr lang="en-US" sz="1200" b="0" noProof="1">
                <a:solidFill>
                  <a:srgbClr val="DCDCAA"/>
                </a:solidFill>
                <a:effectLst/>
                <a:highlight>
                  <a:srgbClr val="1F1F1F"/>
                </a:highlight>
                <a:latin typeface="Consolas" panose="020B0609020204030204" pitchFamily="49" charset="0"/>
              </a:rPr>
              <a:t>    $dumpvars</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tf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DCDCAA"/>
                </a:solidFill>
                <a:effectLst/>
                <a:highlight>
                  <a:srgbClr val="1F1F1F"/>
                </a:highlight>
                <a:latin typeface="Consolas" panose="020B0609020204030204" pitchFamily="49" charset="0"/>
              </a:rPr>
              <a:t>$finish</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end</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device_under_test</a:t>
            </a:r>
            <a:r>
              <a:rPr lang="en-US" sz="1200" b="0" noProof="1">
                <a:solidFill>
                  <a:srgbClr val="CCCCCC"/>
                </a:solidFill>
                <a:effectLst/>
                <a:highlight>
                  <a:srgbClr val="1F1F1F"/>
                </a:highlight>
                <a:latin typeface="Consolas" panose="020B0609020204030204" pitchFamily="49" charset="0"/>
              </a:rPr>
              <a:t>( a, b, c, z );</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input</a:t>
            </a:r>
            <a:r>
              <a:rPr lang="en-US" sz="1200" b="0" noProof="1">
                <a:solidFill>
                  <a:srgbClr val="CCCCCC"/>
                </a:solidFill>
                <a:effectLst/>
                <a:highlight>
                  <a:srgbClr val="1F1F1F"/>
                </a:highlight>
                <a:latin typeface="Consolas" panose="020B0609020204030204" pitchFamily="49" charset="0"/>
              </a:rPr>
              <a:t> a, b, c, </a:t>
            </a:r>
            <a:r>
              <a:rPr lang="en-US" sz="1200" b="0" noProof="1">
                <a:solidFill>
                  <a:srgbClr val="569CD6"/>
                </a:solidFill>
                <a:effectLst/>
                <a:highlight>
                  <a:srgbClr val="1F1F1F"/>
                </a:highlight>
                <a:latin typeface="Consolas" panose="020B0609020204030204" pitchFamily="49" charset="0"/>
              </a:rPr>
              <a:t>output</a:t>
            </a:r>
            <a:r>
              <a:rPr lang="en-US" sz="1200" b="0" noProof="1">
                <a:solidFill>
                  <a:srgbClr val="CCCCCC"/>
                </a:solidFill>
                <a:effectLst/>
                <a:highlight>
                  <a:srgbClr val="1F1F1F"/>
                </a:highlight>
                <a:latin typeface="Consolas" panose="020B0609020204030204" pitchFamily="49" charset="0"/>
              </a:rPr>
              <a:t> z );</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assign</a:t>
            </a:r>
            <a:r>
              <a:rPr lang="en-US" sz="1200" b="0" noProof="1">
                <a:solidFill>
                  <a:srgbClr val="CCCCCC"/>
                </a:solidFill>
                <a:effectLst/>
                <a:highlight>
                  <a:srgbClr val="1F1F1F"/>
                </a:highlight>
                <a:latin typeface="Consolas" panose="020B0609020204030204" pitchFamily="49" charset="0"/>
              </a:rPr>
              <a:t> z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c;</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4"/>
            <a:ext cx="6334043" cy="306159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Modules:</a:t>
            </a:r>
          </a:p>
          <a:p>
            <a:r>
              <a:rPr lang="en-US" dirty="0"/>
              <a:t>The actual stimuli consist of sequences of values assigned to the registers.</a:t>
            </a:r>
          </a:p>
          <a:p>
            <a:r>
              <a:rPr lang="en-US" dirty="0"/>
              <a:t>Verilog "test benches" should include a </a:t>
            </a:r>
            <a:r>
              <a:rPr lang="en-US" dirty="0">
                <a:solidFill>
                  <a:srgbClr val="FFFF00"/>
                </a:solidFill>
              </a:rPr>
              <a:t>`timescale</a:t>
            </a:r>
            <a:r>
              <a:rPr lang="en-US" dirty="0"/>
              <a:t> directive. The first value defines the default time unit and the second the simulation resolution. In this example, the default time unit is 10 ns and the simulation resolution is 100 ps. </a:t>
            </a:r>
          </a:p>
          <a:p>
            <a:pPr marL="0" indent="0">
              <a:buNone/>
            </a:pPr>
            <a:endParaRPr lang="en-US" dirty="0"/>
          </a:p>
        </p:txBody>
      </p:sp>
    </p:spTree>
    <p:extLst>
      <p:ext uri="{BB962C8B-B14F-4D97-AF65-F5344CB8AC3E}">
        <p14:creationId xmlns:p14="http://schemas.microsoft.com/office/powerpoint/2010/main" val="23070357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33724" y="277259"/>
            <a:ext cx="9905998" cy="1478570"/>
          </a:xfrm>
        </p:spPr>
        <p:txBody>
          <a:bodyPr/>
          <a:lstStyle/>
          <a:p>
            <a:r>
              <a:rPr lang="en-US" dirty="0"/>
              <a:t>INTRO TUTORIAL (7/3)</a:t>
            </a:r>
          </a:p>
        </p:txBody>
      </p:sp>
      <p:sp>
        <p:nvSpPr>
          <p:cNvPr id="11" name="CasellaDiTesto 10">
            <a:extLst>
              <a:ext uri="{FF2B5EF4-FFF2-40B4-BE49-F238E27FC236}">
                <a16:creationId xmlns:a16="http://schemas.microsoft.com/office/drawing/2014/main" id="{F77FFF50-5EA5-51E4-7F26-8FAF075009D8}"/>
              </a:ext>
            </a:extLst>
          </p:cNvPr>
          <p:cNvSpPr txBox="1"/>
          <p:nvPr/>
        </p:nvSpPr>
        <p:spPr>
          <a:xfrm>
            <a:off x="7704160" y="890083"/>
            <a:ext cx="4079695" cy="5632311"/>
          </a:xfrm>
          <a:prstGeom prst="rect">
            <a:avLst/>
          </a:prstGeom>
          <a:solidFill>
            <a:srgbClr val="1F1F1F"/>
          </a:solidFill>
          <a:ln w="38100">
            <a:solidFill>
              <a:schemeClr val="accent5">
                <a:lumMod val="75000"/>
              </a:schemeClr>
            </a:solidFill>
          </a:ln>
        </p:spPr>
        <p:txBody>
          <a:bodyPr wrap="square" rtlCol="0">
            <a:spAutoFit/>
          </a:bodyPr>
          <a:lstStyle/>
          <a:p>
            <a:r>
              <a:rPr lang="en-US" sz="1200" b="0" noProof="1">
                <a:solidFill>
                  <a:srgbClr val="6A9955"/>
                </a:solidFill>
                <a:effectLst/>
                <a:highlight>
                  <a:srgbClr val="1F1F1F"/>
                </a:highlight>
                <a:latin typeface="Consolas" panose="020B0609020204030204" pitchFamily="49" charset="0"/>
              </a:rPr>
              <a:t>// File assign_sim.v</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`timescale</a:t>
            </a:r>
            <a:r>
              <a:rPr lang="en-US" sz="1200" b="0" noProof="1">
                <a:solidFill>
                  <a:srgbClr val="CCCCCC"/>
                </a:solidFill>
                <a:effectLst/>
                <a:highlight>
                  <a:srgbClr val="1F1F1F"/>
                </a:highlight>
                <a:latin typeface="Consolas" panose="020B0609020204030204" pitchFamily="49" charset="0"/>
              </a:rPr>
              <a:t> 10ns</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100ps</a:t>
            </a:r>
          </a:p>
          <a:p>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tf</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reg</a:t>
            </a:r>
            <a:r>
              <a:rPr lang="en-US" sz="1200" b="0" noProof="1">
                <a:solidFill>
                  <a:srgbClr val="CCCCCC"/>
                </a:solidFill>
                <a:effectLst/>
                <a:highlight>
                  <a:srgbClr val="1F1F1F"/>
                </a:highlight>
                <a:latin typeface="Consolas" panose="020B0609020204030204" pitchFamily="49" charset="0"/>
              </a:rPr>
              <a:t> a, b, c;</a:t>
            </a:r>
            <a:r>
              <a:rPr lang="en-US" sz="1200" b="0" noProof="1">
                <a:solidFill>
                  <a:schemeClr val="bg1"/>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wire</a:t>
            </a:r>
            <a:r>
              <a:rPr lang="en-US" sz="1200" b="0" noProof="1">
                <a:solidFill>
                  <a:srgbClr val="CCCCCC"/>
                </a:solidFill>
                <a:effectLst/>
                <a:highlight>
                  <a:srgbClr val="1F1F1F"/>
                </a:highlight>
                <a:latin typeface="Consolas" panose="020B0609020204030204" pitchFamily="49" charset="0"/>
              </a:rPr>
              <a:t> z;</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initial</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begin</a:t>
            </a:r>
            <a:endParaRPr lang="en-US" sz="1200" b="0" noProof="1">
              <a:solidFill>
                <a:srgbClr val="CCCCCC"/>
              </a:solidFill>
              <a:effectLst/>
              <a:highlight>
                <a:srgbClr val="1F1F1F"/>
              </a:highlight>
              <a:latin typeface="Consolas" panose="020B0609020204030204" pitchFamily="49" charset="0"/>
            </a:endParaRPr>
          </a:p>
          <a:p>
            <a:r>
              <a:rPr lang="en-US" sz="1200" b="0" noProof="1">
                <a:solidFill>
                  <a:srgbClr val="CCCCCC"/>
                </a:solidFill>
                <a:effectLst/>
                <a:highlight>
                  <a:srgbClr val="1F1F1F"/>
                </a:highlight>
                <a:latin typeface="Consolas" panose="020B0609020204030204" pitchFamily="49" charset="0"/>
              </a:rPr>
              <a:t>    $monitor( a, b, c,, z );</a:t>
            </a:r>
          </a:p>
          <a:p>
            <a:r>
              <a:rPr lang="en-US" sz="1200" b="0" noProof="1">
                <a:solidFill>
                  <a:srgbClr val="DCDCAA"/>
                </a:solidFill>
                <a:effectLst/>
                <a:highlight>
                  <a:srgbClr val="1F1F1F"/>
                </a:highlight>
                <a:latin typeface="Consolas" panose="020B0609020204030204" pitchFamily="49" charset="0"/>
              </a:rPr>
              <a:t>    $dumpvars</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tf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0</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B5CEA8"/>
                </a:solidFill>
                <a:effectLst/>
                <a:highlight>
                  <a:srgbClr val="1F1F1F"/>
                </a:highlight>
                <a:latin typeface="Consolas" panose="020B0609020204030204" pitchFamily="49" charset="0"/>
              </a:rPr>
              <a:t>#10</a:t>
            </a:r>
            <a:r>
              <a:rPr lang="en-US" sz="1200" b="0" noProof="1">
                <a:solidFill>
                  <a:srgbClr val="CCCCCC"/>
                </a:solidFill>
                <a:effectLst/>
                <a:highlight>
                  <a:srgbClr val="1F1F1F"/>
                </a:highlight>
                <a:latin typeface="Consolas" panose="020B0609020204030204" pitchFamily="49" charset="0"/>
              </a:rPr>
              <a:t>        </a:t>
            </a: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DCDCAA"/>
                </a:solidFill>
                <a:effectLst/>
                <a:highlight>
                  <a:srgbClr val="1F1F1F"/>
                </a:highlight>
                <a:latin typeface="Consolas" panose="020B0609020204030204" pitchFamily="49" charset="0"/>
              </a:rPr>
              <a:t>$finish</a:t>
            </a:r>
            <a:r>
              <a:rPr lang="en-US" sz="1200" b="0" noProof="1">
                <a:solidFill>
                  <a:srgbClr val="CCCCCC"/>
                </a:solidFill>
                <a:effectLst/>
                <a:highlight>
                  <a:srgbClr val="1F1F1F"/>
                </a:highlight>
                <a:latin typeface="Consolas" panose="020B0609020204030204" pitchFamily="49" charset="0"/>
              </a:rPr>
              <a:t>;</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end</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device_under_test</a:t>
            </a:r>
            <a:r>
              <a:rPr lang="en-US" sz="1200" b="0" noProof="1">
                <a:solidFill>
                  <a:srgbClr val="CCCCCC"/>
                </a:solidFill>
                <a:effectLst/>
                <a:highlight>
                  <a:srgbClr val="1F1F1F"/>
                </a:highlight>
                <a:latin typeface="Consolas" panose="020B0609020204030204" pitchFamily="49" charset="0"/>
              </a:rPr>
              <a:t>( a, b, c, z );</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a:p>
            <a:br>
              <a:rPr lang="en-US" sz="1200" b="0" noProof="1">
                <a:solidFill>
                  <a:srgbClr val="CCCCCC"/>
                </a:solidFill>
                <a:effectLst/>
                <a:highlight>
                  <a:srgbClr val="1F1F1F"/>
                </a:highlight>
                <a:latin typeface="Consolas" panose="020B0609020204030204" pitchFamily="49" charset="0"/>
              </a:rPr>
            </a:br>
            <a:r>
              <a:rPr lang="en-US" sz="1200" b="0" noProof="1">
                <a:solidFill>
                  <a:srgbClr val="569CD6"/>
                </a:solidFill>
                <a:effectLst/>
                <a:highlight>
                  <a:srgbClr val="1F1F1F"/>
                </a:highlight>
                <a:latin typeface="Consolas" panose="020B0609020204030204" pitchFamily="49" charset="0"/>
              </a:rPr>
              <a:t>module</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4EC9B0"/>
                </a:solidFill>
                <a:effectLst/>
                <a:highlight>
                  <a:srgbClr val="1F1F1F"/>
                </a:highlight>
                <a:latin typeface="Consolas" panose="020B0609020204030204" pitchFamily="49" charset="0"/>
              </a:rPr>
              <a:t>fn_z</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input</a:t>
            </a:r>
            <a:r>
              <a:rPr lang="en-US" sz="1200" b="0" noProof="1">
                <a:solidFill>
                  <a:srgbClr val="CCCCCC"/>
                </a:solidFill>
                <a:effectLst/>
                <a:highlight>
                  <a:srgbClr val="1F1F1F"/>
                </a:highlight>
                <a:latin typeface="Consolas" panose="020B0609020204030204" pitchFamily="49" charset="0"/>
              </a:rPr>
              <a:t> a, b, c, </a:t>
            </a:r>
            <a:r>
              <a:rPr lang="en-US" sz="1200" b="0" noProof="1">
                <a:solidFill>
                  <a:srgbClr val="569CD6"/>
                </a:solidFill>
                <a:effectLst/>
                <a:highlight>
                  <a:srgbClr val="1F1F1F"/>
                </a:highlight>
                <a:latin typeface="Consolas" panose="020B0609020204030204" pitchFamily="49" charset="0"/>
              </a:rPr>
              <a:t>output</a:t>
            </a:r>
            <a:r>
              <a:rPr lang="en-US" sz="1200" b="0" noProof="1">
                <a:solidFill>
                  <a:srgbClr val="CCCCCC"/>
                </a:solidFill>
                <a:effectLst/>
                <a:highlight>
                  <a:srgbClr val="1F1F1F"/>
                </a:highlight>
                <a:latin typeface="Consolas" panose="020B0609020204030204" pitchFamily="49" charset="0"/>
              </a:rPr>
              <a:t> z );</a:t>
            </a:r>
          </a:p>
          <a:p>
            <a:r>
              <a:rPr lang="en-US" sz="1200" b="0" noProof="1">
                <a:solidFill>
                  <a:srgbClr val="CCCCCC"/>
                </a:solidFill>
                <a:effectLst/>
                <a:highlight>
                  <a:srgbClr val="1F1F1F"/>
                </a:highlight>
                <a:latin typeface="Consolas" panose="020B0609020204030204" pitchFamily="49" charset="0"/>
              </a:rPr>
              <a:t>  </a:t>
            </a:r>
            <a:r>
              <a:rPr lang="en-US" sz="1200" b="0" noProof="1">
                <a:solidFill>
                  <a:srgbClr val="569CD6"/>
                </a:solidFill>
                <a:effectLst/>
                <a:highlight>
                  <a:srgbClr val="1F1F1F"/>
                </a:highlight>
                <a:latin typeface="Consolas" panose="020B0609020204030204" pitchFamily="49" charset="0"/>
              </a:rPr>
              <a:t>assign</a:t>
            </a:r>
            <a:r>
              <a:rPr lang="en-US" sz="1200" b="0" noProof="1">
                <a:solidFill>
                  <a:srgbClr val="CCCCCC"/>
                </a:solidFill>
                <a:effectLst/>
                <a:highlight>
                  <a:srgbClr val="1F1F1F"/>
                </a:highlight>
                <a:latin typeface="Consolas" panose="020B0609020204030204" pitchFamily="49" charset="0"/>
              </a:rPr>
              <a:t> z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c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a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t>
            </a:r>
            <a:r>
              <a:rPr lang="en-US" sz="1200" b="0" noProof="1">
                <a:solidFill>
                  <a:srgbClr val="CCCCCC"/>
                </a:solidFill>
                <a:effectLst/>
                <a:highlight>
                  <a:srgbClr val="1F1F1F"/>
                </a:highlight>
                <a:latin typeface="Consolas" panose="020B0609020204030204" pitchFamily="49" charset="0"/>
              </a:rPr>
              <a:t> b </a:t>
            </a:r>
            <a:r>
              <a:rPr lang="en-US" sz="1200" b="0" noProof="1">
                <a:solidFill>
                  <a:srgbClr val="D4D4D4"/>
                </a:solidFill>
                <a:effectLst/>
                <a:highlight>
                  <a:srgbClr val="1F1F1F"/>
                </a:highlight>
                <a:latin typeface="Consolas" panose="020B0609020204030204" pitchFamily="49" charset="0"/>
              </a:rPr>
              <a:t>&amp;</a:t>
            </a:r>
            <a:r>
              <a:rPr lang="en-US" sz="1200" b="0" noProof="1">
                <a:solidFill>
                  <a:srgbClr val="CCCCCC"/>
                </a:solidFill>
                <a:effectLst/>
                <a:highlight>
                  <a:srgbClr val="1F1F1F"/>
                </a:highlight>
                <a:latin typeface="Consolas" panose="020B0609020204030204" pitchFamily="49" charset="0"/>
              </a:rPr>
              <a:t> c;</a:t>
            </a:r>
          </a:p>
          <a:p>
            <a:r>
              <a:rPr lang="en-US" sz="1200" b="0" noProof="1">
                <a:solidFill>
                  <a:srgbClr val="569CD6"/>
                </a:solidFill>
                <a:effectLst/>
                <a:highlight>
                  <a:srgbClr val="1F1F1F"/>
                </a:highlight>
                <a:latin typeface="Consolas" panose="020B0609020204030204" pitchFamily="49" charset="0"/>
              </a:rPr>
              <a:t>endmodule</a:t>
            </a:r>
            <a:endParaRPr lang="en-US" sz="1200" b="0" noProof="1">
              <a:solidFill>
                <a:srgbClr val="CCCCCC"/>
              </a:solidFill>
              <a:effectLst/>
              <a:highlight>
                <a:srgbClr val="1F1F1F"/>
              </a:highlight>
              <a:latin typeface="Consolas" panose="020B0609020204030204" pitchFamily="49" charset="0"/>
            </a:endParaRPr>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2" y="1478603"/>
            <a:ext cx="6334043" cy="504379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Modules:</a:t>
            </a:r>
          </a:p>
          <a:p>
            <a:r>
              <a:rPr lang="en-US" dirty="0"/>
              <a:t>The actual stimuli consist of sequences of values assigned to the </a:t>
            </a:r>
            <a:r>
              <a:rPr lang="en-US" dirty="0">
                <a:solidFill>
                  <a:schemeClr val="tx1">
                    <a:lumMod val="95000"/>
                  </a:schemeClr>
                </a:solidFill>
              </a:rPr>
              <a:t>registers</a:t>
            </a:r>
            <a:r>
              <a:rPr lang="en-US" dirty="0"/>
              <a:t>.</a:t>
            </a:r>
          </a:p>
          <a:p>
            <a:r>
              <a:rPr lang="en-US" dirty="0"/>
              <a:t>Verilog "test benches" should include a `timescale directive. The first value defines the default time unit and the second the simulation resolution. In this example, the default time unit is 10 ns and the simulation resolution is 100 ps.</a:t>
            </a:r>
          </a:p>
          <a:p>
            <a:r>
              <a:rPr lang="en-US" dirty="0"/>
              <a:t>After each assignment to registers </a:t>
            </a:r>
            <a:r>
              <a:rPr lang="en-US" i="1" dirty="0"/>
              <a:t>a</a:t>
            </a:r>
            <a:r>
              <a:rPr lang="en-US" dirty="0"/>
              <a:t>, </a:t>
            </a:r>
            <a:r>
              <a:rPr lang="en-US" i="1" dirty="0"/>
              <a:t>b</a:t>
            </a:r>
            <a:r>
              <a:rPr lang="en-US" dirty="0"/>
              <a:t>, and </a:t>
            </a:r>
            <a:r>
              <a:rPr lang="en-US" i="1" dirty="0"/>
              <a:t>c</a:t>
            </a:r>
            <a:r>
              <a:rPr lang="en-US" dirty="0"/>
              <a:t>, the # operator is present. In our case, # suspends processing for a period of time computed by multiplying the time unit defined by the </a:t>
            </a:r>
            <a:r>
              <a:rPr lang="en-US" i="1" dirty="0" err="1"/>
              <a:t>timescale</a:t>
            </a:r>
            <a:r>
              <a:rPr lang="en-US" dirty="0"/>
              <a:t> directive by the value that follows the operator itself. A delay of #10 results in a step of 100 ns. </a:t>
            </a:r>
          </a:p>
          <a:p>
            <a:endParaRPr lang="en-US" dirty="0"/>
          </a:p>
        </p:txBody>
      </p:sp>
      <p:sp>
        <p:nvSpPr>
          <p:cNvPr id="4" name="Rettangolo 3">
            <a:extLst>
              <a:ext uri="{FF2B5EF4-FFF2-40B4-BE49-F238E27FC236}">
                <a16:creationId xmlns:a16="http://schemas.microsoft.com/office/drawing/2014/main" id="{B27E897E-F1B4-E6D7-48B0-F687B5788967}"/>
              </a:ext>
            </a:extLst>
          </p:cNvPr>
          <p:cNvSpPr/>
          <p:nvPr/>
        </p:nvSpPr>
        <p:spPr>
          <a:xfrm>
            <a:off x="9827811" y="2948459"/>
            <a:ext cx="395283" cy="1478570"/>
          </a:xfrm>
          <a:prstGeom prst="rect">
            <a:avLst/>
          </a:prstGeom>
          <a:no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2691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CE6AF5C6-F0FA-A8FF-2E7A-1EFFCDB8D1B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6A9955"/>
                </a:solidFill>
                <a:effectLst/>
                <a:highlight>
                  <a:srgbClr val="1F1F1F"/>
                </a:highlight>
                <a:latin typeface="Consolas" panose="020B0609020204030204" pitchFamily="49" charset="0"/>
              </a:rPr>
              <a:t>// File assign_sim_b.v</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`timescale</a:t>
            </a:r>
            <a:r>
              <a:rPr lang="en-US" sz="1100" b="0" noProof="1">
                <a:solidFill>
                  <a:srgbClr val="CCCCCC"/>
                </a:solidFill>
                <a:effectLst/>
                <a:highlight>
                  <a:srgbClr val="1F1F1F"/>
                </a:highlight>
                <a:latin typeface="Consolas" panose="020B0609020204030204" pitchFamily="49" charset="0"/>
              </a:rPr>
              <a:t> 10ns</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100ps</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tf</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in;</a:t>
            </a:r>
          </a:p>
          <a:p>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wire out;</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$monitor( in,,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$dumpvars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tf );</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$finish</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device_under_test</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a, b, c, </a:t>
            </a:r>
            <a:r>
              <a:rPr lang="en-US" sz="1100" b="0" noProof="1">
                <a:solidFill>
                  <a:srgbClr val="569CD6"/>
                </a:solidFill>
                <a:effectLst/>
                <a:highlight>
                  <a:srgbClr val="1F1F1F"/>
                </a:highlight>
                <a:latin typeface="Consolas" panose="020B0609020204030204" pitchFamily="49" charset="0"/>
              </a:rPr>
              <a:t>output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assign</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c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c;</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(8/1)</a:t>
            </a:r>
          </a:p>
        </p:txBody>
      </p:sp>
      <p:sp>
        <p:nvSpPr>
          <p:cNvPr id="6" name="Segnaposto contenuto 2">
            <a:extLst>
              <a:ext uri="{FF2B5EF4-FFF2-40B4-BE49-F238E27FC236}">
                <a16:creationId xmlns:a16="http://schemas.microsoft.com/office/drawing/2014/main" id="{645856B2-D6A9-5B0C-3180-52D462316864}"/>
              </a:ext>
            </a:extLst>
          </p:cNvPr>
          <p:cNvSpPr>
            <a:spLocks noGrp="1"/>
          </p:cNvSpPr>
          <p:nvPr>
            <p:ph idx="1"/>
          </p:nvPr>
        </p:nvSpPr>
        <p:spPr>
          <a:xfrm>
            <a:off x="1141411" y="1336917"/>
            <a:ext cx="6547499" cy="1208320"/>
          </a:xfrm>
        </p:spPr>
        <p:txBody>
          <a:bodyPr>
            <a:normAutofit fontScale="85000" lnSpcReduction="10000"/>
          </a:bodyPr>
          <a:lstStyle/>
          <a:p>
            <a:r>
              <a:rPr lang="en-US" dirty="0" err="1"/>
              <a:t>Verilog has nets and variables of scalar and vector type.</a:t>
            </a:r>
          </a:p>
          <a:p>
            <a:pPr lvl="1">
              <a:buFont typeface="Tw Cen MT" panose="020B0602020104020603" pitchFamily="34" charset="0"/>
              <a:buChar char="–"/>
            </a:pPr>
            <a:r>
              <a:rPr lang="en-US" dirty="0"/>
              <a:t>A declaration </a:t>
            </a:r>
            <a:r>
              <a:rPr lang="en-US" u="sng" dirty="0"/>
              <a:t>without specifying a so-called "range"</a:t>
            </a:r>
            <a:r>
              <a:rPr lang="en-US" dirty="0"/>
              <a:t> is</a:t>
            </a:r>
            <a:br>
              <a:rPr lang="en-US" dirty="0"/>
            </a:br>
            <a:r>
              <a:rPr lang="en-US" dirty="0"/>
              <a:t>one bit wide and is a scalar.</a:t>
            </a:r>
          </a:p>
        </p:txBody>
      </p:sp>
    </p:spTree>
    <p:extLst>
      <p:ext uri="{BB962C8B-B14F-4D97-AF65-F5344CB8AC3E}">
        <p14:creationId xmlns:p14="http://schemas.microsoft.com/office/powerpoint/2010/main" val="74105192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1" y="1336916"/>
            <a:ext cx="6547499" cy="2678493"/>
          </a:xfrm>
        </p:spPr>
        <p:txBody>
          <a:bodyPr>
            <a:normAutofit fontScale="85000" lnSpcReduction="10000"/>
          </a:bodyPr>
          <a:lstStyle/>
          <a:p>
            <a:r>
              <a:rPr lang="en-US" dirty="0" err="1"/>
              <a:t>Verilog has nets and variables of scalar and vector type.</a:t>
            </a:r>
          </a:p>
          <a:p>
            <a:pPr lvl="1">
              <a:buFont typeface="Tw Cen MT" panose="020B0602020104020603" pitchFamily="34" charset="0"/>
              <a:buChar char="–"/>
            </a:pPr>
            <a:r>
              <a:rPr lang="en-US" dirty="0"/>
              <a:t>A declaration </a:t>
            </a:r>
            <a:r>
              <a:rPr lang="en-US" u="sng" dirty="0"/>
              <a:t>without specifying a so-called "range"</a:t>
            </a:r>
            <a:r>
              <a:rPr lang="en-US" dirty="0"/>
              <a:t> is</a:t>
            </a:r>
            <a:br>
              <a:rPr lang="en-US" dirty="0"/>
            </a:br>
            <a:r>
              <a:rPr lang="en-US" dirty="0"/>
              <a:t>one bit wide and is a scalar.</a:t>
            </a:r>
          </a:p>
          <a:p>
            <a:pPr lvl="1">
              <a:buFont typeface="Tw Cen MT" panose="020B0602020104020603" pitchFamily="34" charset="0"/>
              <a:buChar char="–"/>
            </a:pPr>
            <a:r>
              <a:rPr lang="en-US" dirty="0"/>
              <a:t>If a declaration </a:t>
            </a:r>
            <a:r>
              <a:rPr lang="en-US" u="sng" dirty="0"/>
              <a:t>specifies a range</a:t>
            </a:r>
            <a:r>
              <a:rPr lang="en-US" dirty="0"/>
              <a:t>, we get a multi-bit entity also known as a "vector". The syntax for defining a range (and therefore a vector) is the following:</a:t>
            </a:r>
          </a:p>
          <a:p>
            <a:pPr marL="457200" lvl="1" indent="0">
              <a:buNone/>
            </a:pPr>
            <a:r>
              <a:rPr lang="en-US" dirty="0">
                <a:solidFill>
                  <a:srgbClr val="FFFF00"/>
                </a:solidFill>
              </a:rPr>
              <a:t>    [MSB bit index : LSB bit index]</a:t>
            </a:r>
          </a:p>
        </p:txBody>
      </p:sp>
      <p:sp>
        <p:nvSpPr>
          <p:cNvPr id="4" name="CasellaDiTesto 3">
            <a:extLst>
              <a:ext uri="{FF2B5EF4-FFF2-40B4-BE49-F238E27FC236}">
                <a16:creationId xmlns:a16="http://schemas.microsoft.com/office/drawing/2014/main" id="{CE6AF5C6-F0FA-A8FF-2E7A-1EFFCDB8D1B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6A9955"/>
                </a:solidFill>
                <a:effectLst/>
                <a:highlight>
                  <a:srgbClr val="1F1F1F"/>
                </a:highlight>
                <a:latin typeface="Consolas" panose="020B0609020204030204" pitchFamily="49" charset="0"/>
              </a:rPr>
              <a:t>// File assign_sim_b.v</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`timescale</a:t>
            </a:r>
            <a:r>
              <a:rPr lang="en-US" sz="1100" b="0" noProof="1">
                <a:solidFill>
                  <a:srgbClr val="CCCCCC"/>
                </a:solidFill>
                <a:effectLst/>
                <a:highlight>
                  <a:srgbClr val="1F1F1F"/>
                </a:highlight>
                <a:latin typeface="Consolas" panose="020B0609020204030204" pitchFamily="49" charset="0"/>
              </a:rPr>
              <a:t> 10ns</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100ps</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tf</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reg [2:0] in;</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wire</a:t>
            </a:r>
            <a:r>
              <a:rPr lang="en-US" sz="1100" b="0" noProof="1">
                <a:solidFill>
                  <a:srgbClr val="CCCCCC"/>
                </a:solidFill>
                <a:effectLst/>
                <a:highlight>
                  <a:srgbClr val="1F1F1F"/>
                </a:highlight>
                <a:latin typeface="Consolas" panose="020B0609020204030204" pitchFamily="49" charset="0"/>
              </a:rPr>
              <a:t> out;</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$monitor( in,,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$dumpvars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tf );</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$finish</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device_under_test</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a, b, c, </a:t>
            </a:r>
            <a:r>
              <a:rPr lang="en-US" sz="1100" b="0" noProof="1">
                <a:solidFill>
                  <a:srgbClr val="569CD6"/>
                </a:solidFill>
                <a:effectLst/>
                <a:highlight>
                  <a:srgbClr val="1F1F1F"/>
                </a:highlight>
                <a:latin typeface="Consolas" panose="020B0609020204030204" pitchFamily="49" charset="0"/>
              </a:rPr>
              <a:t>output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assign</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c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c;</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(8/2)</a:t>
            </a:r>
          </a:p>
        </p:txBody>
      </p:sp>
    </p:spTree>
    <p:extLst>
      <p:ext uri="{BB962C8B-B14F-4D97-AF65-F5344CB8AC3E}">
        <p14:creationId xmlns:p14="http://schemas.microsoft.com/office/powerpoint/2010/main" val="72438456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1" y="1336915"/>
            <a:ext cx="6547499" cy="5170645"/>
          </a:xfrm>
        </p:spPr>
        <p:txBody>
          <a:bodyPr>
            <a:normAutofit fontScale="85000" lnSpcReduction="10000"/>
          </a:bodyPr>
          <a:lstStyle/>
          <a:p>
            <a:r>
              <a:rPr lang="en-US" dirty="0" err="1"/>
              <a:t>Verilog has nets and variables of scalar and vector type.</a:t>
            </a:r>
          </a:p>
          <a:p>
            <a:pPr lvl="1">
              <a:buFont typeface="Tw Cen MT" panose="020B0602020104020603" pitchFamily="34" charset="0"/>
              <a:buChar char="–"/>
            </a:pPr>
            <a:r>
              <a:rPr lang="en-US" dirty="0"/>
              <a:t>A declaration </a:t>
            </a:r>
            <a:r>
              <a:rPr lang="en-US" u="sng" dirty="0"/>
              <a:t>without specifying a so-called "range"</a:t>
            </a:r>
            <a:r>
              <a:rPr lang="en-US" dirty="0"/>
              <a:t> is</a:t>
            </a:r>
            <a:br>
              <a:rPr lang="en-US" dirty="0"/>
            </a:br>
            <a:r>
              <a:rPr lang="en-US" dirty="0"/>
              <a:t>one bit wide and is a scalar.</a:t>
            </a:r>
          </a:p>
          <a:p>
            <a:pPr lvl="1">
              <a:buFont typeface="Tw Cen MT" panose="020B0602020104020603" pitchFamily="34" charset="0"/>
              <a:buChar char="–"/>
            </a:pPr>
            <a:r>
              <a:rPr lang="en-US" dirty="0"/>
              <a:t>If a declaration </a:t>
            </a:r>
            <a:r>
              <a:rPr lang="en-US" u="sng" dirty="0"/>
              <a:t>specifies a range</a:t>
            </a:r>
            <a:r>
              <a:rPr lang="en-US" dirty="0"/>
              <a:t>, we get a multi-bit entity also known as a "vector". The syntax for defining a range (and therefore a vector) is the following:</a:t>
            </a:r>
          </a:p>
          <a:p>
            <a:pPr marL="457200" lvl="1" indent="0">
              <a:buNone/>
            </a:pPr>
            <a:r>
              <a:rPr lang="en-US" dirty="0">
                <a:solidFill>
                  <a:srgbClr val="FFFF00"/>
                </a:solidFill>
              </a:rPr>
              <a:t>    </a:t>
            </a:r>
            <a:r>
              <a:rPr lang="en-US" dirty="0"/>
              <a:t>[MSB bit index : LSB bit index]</a:t>
            </a:r>
          </a:p>
          <a:p>
            <a:r>
              <a:rPr lang="en-US" dirty="0"/>
              <a:t>In Verilog the following syntax is used to specify values:</a:t>
            </a:r>
          </a:p>
          <a:p>
            <a:pPr marL="457200" lvl="1" indent="0">
              <a:buNone/>
            </a:pPr>
            <a:r>
              <a:rPr lang="en-US" dirty="0">
                <a:solidFill>
                  <a:srgbClr val="FFFF00"/>
                </a:solidFill>
              </a:rPr>
              <a:t>[</a:t>
            </a:r>
            <a:r>
              <a:rPr lang="en-US" i="1" dirty="0">
                <a:solidFill>
                  <a:srgbClr val="FFFF00"/>
                </a:solidFill>
              </a:rPr>
              <a:t>width</a:t>
            </a:r>
            <a:r>
              <a:rPr lang="en-US" dirty="0">
                <a:solidFill>
                  <a:srgbClr val="FFFF00"/>
                </a:solidFill>
              </a:rPr>
              <a:t>]’[</a:t>
            </a:r>
            <a:r>
              <a:rPr lang="en-US" i="1" dirty="0">
                <a:solidFill>
                  <a:srgbClr val="FFFF00"/>
                </a:solidFill>
              </a:rPr>
              <a:t>radix</a:t>
            </a:r>
            <a:r>
              <a:rPr lang="en-US" dirty="0">
                <a:solidFill>
                  <a:srgbClr val="FFFF00"/>
                </a:solidFill>
              </a:rPr>
              <a:t>][</a:t>
            </a:r>
            <a:r>
              <a:rPr lang="en-US" i="1" dirty="0">
                <a:solidFill>
                  <a:srgbClr val="FFFF00"/>
                </a:solidFill>
              </a:rPr>
              <a:t>literal</a:t>
            </a:r>
            <a:r>
              <a:rPr lang="en-US" dirty="0">
                <a:solidFill>
                  <a:srgbClr val="FFFF00"/>
                </a:solidFill>
              </a:rPr>
              <a:t>]</a:t>
            </a:r>
          </a:p>
          <a:p>
            <a:pPr marL="457200" lvl="1" indent="0">
              <a:buNone/>
            </a:pPr>
            <a:r>
              <a:rPr lang="en-US" i="1" dirty="0"/>
              <a:t>width:</a:t>
            </a:r>
            <a:r>
              <a:rPr lang="en-US" dirty="0"/>
              <a:t> declares the width of the value in bits;</a:t>
            </a:r>
          </a:p>
          <a:p>
            <a:pPr marL="457200" lvl="1" indent="0">
              <a:buNone/>
            </a:pPr>
            <a:r>
              <a:rPr lang="en-US" i="1" dirty="0"/>
              <a:t>literal:</a:t>
            </a:r>
            <a:r>
              <a:rPr lang="en-US" dirty="0"/>
              <a:t> represents the actual value</a:t>
            </a:r>
          </a:p>
          <a:p>
            <a:pPr marL="457200" lvl="1" indent="0">
              <a:buNone/>
            </a:pPr>
            <a:r>
              <a:rPr lang="en-US" i="1" dirty="0" err="1"/>
              <a:t>radix: </a:t>
            </a:r>
            <a:r>
              <a:rPr lang="en-US" dirty="0"/>
              <a:t>specifies the nature of the value expressed by </a:t>
            </a:r>
            <a:r>
              <a:rPr lang="en-US" i="1" dirty="0" err="1"/>
              <a:t>literal</a:t>
            </a:r>
            <a:r>
              <a:rPr lang="en-US" dirty="0"/>
              <a:t> and can be: </a:t>
            </a:r>
            <a:r>
              <a:rPr lang="en-US" i="1" dirty="0"/>
              <a:t>d</a:t>
            </a:r>
            <a:r>
              <a:rPr lang="en-US" dirty="0"/>
              <a:t> (decimal), </a:t>
            </a:r>
            <a:r>
              <a:rPr lang="en-US" i="1" dirty="0"/>
              <a:t>h</a:t>
            </a:r>
            <a:r>
              <a:rPr lang="en-US" dirty="0"/>
              <a:t> (hexadecimal), </a:t>
            </a:r>
            <a:r>
              <a:rPr lang="en-US" i="1" dirty="0"/>
              <a:t>o</a:t>
            </a:r>
            <a:r>
              <a:rPr lang="en-US" dirty="0"/>
              <a:t> (octal), </a:t>
            </a:r>
            <a:r>
              <a:rPr lang="en-US" i="1" dirty="0"/>
              <a:t>b</a:t>
            </a:r>
            <a:r>
              <a:rPr lang="en-US" dirty="0"/>
              <a:t> (binary).</a:t>
            </a:r>
          </a:p>
        </p:txBody>
      </p:sp>
      <p:sp>
        <p:nvSpPr>
          <p:cNvPr id="4" name="CasellaDiTesto 3">
            <a:extLst>
              <a:ext uri="{FF2B5EF4-FFF2-40B4-BE49-F238E27FC236}">
                <a16:creationId xmlns:a16="http://schemas.microsoft.com/office/drawing/2014/main" id="{CE6AF5C6-F0FA-A8FF-2E7A-1EFFCDB8D1B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6A9955"/>
                </a:solidFill>
                <a:effectLst/>
                <a:highlight>
                  <a:srgbClr val="1F1F1F"/>
                </a:highlight>
                <a:latin typeface="Consolas" panose="020B0609020204030204" pitchFamily="49" charset="0"/>
              </a:rPr>
              <a:t>// File assign_sim_b.v</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`timescale</a:t>
            </a:r>
            <a:r>
              <a:rPr lang="en-US" sz="1100" b="0" noProof="1">
                <a:solidFill>
                  <a:srgbClr val="CCCCCC"/>
                </a:solidFill>
                <a:effectLst/>
                <a:highlight>
                  <a:srgbClr val="1F1F1F"/>
                </a:highlight>
                <a:latin typeface="Consolas" panose="020B0609020204030204" pitchFamily="49" charset="0"/>
              </a:rPr>
              <a:t> 10ns</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100ps</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tf</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in;</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wire</a:t>
            </a:r>
            <a:r>
              <a:rPr lang="en-US" sz="1100" b="0" noProof="1">
                <a:solidFill>
                  <a:srgbClr val="CCCCCC"/>
                </a:solidFill>
                <a:effectLst/>
                <a:highlight>
                  <a:srgbClr val="1F1F1F"/>
                </a:highlight>
                <a:latin typeface="Consolas" panose="020B0609020204030204" pitchFamily="49" charset="0"/>
              </a:rPr>
              <a:t> out;</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$monitor( in,,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$dumpvars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tf );</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$finish</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device_under_test</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a, b, c, </a:t>
            </a:r>
            <a:r>
              <a:rPr lang="en-US" sz="1100" b="0" noProof="1">
                <a:solidFill>
                  <a:srgbClr val="569CD6"/>
                </a:solidFill>
                <a:effectLst/>
                <a:highlight>
                  <a:srgbClr val="1F1F1F"/>
                </a:highlight>
                <a:latin typeface="Consolas" panose="020B0609020204030204" pitchFamily="49" charset="0"/>
              </a:rPr>
              <a:t>output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assign</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c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c;</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(8/3)</a:t>
            </a:r>
          </a:p>
        </p:txBody>
      </p:sp>
      <p:sp>
        <p:nvSpPr>
          <p:cNvPr id="2" name="Rettangolo 1">
            <a:extLst>
              <a:ext uri="{FF2B5EF4-FFF2-40B4-BE49-F238E27FC236}">
                <a16:creationId xmlns:a16="http://schemas.microsoft.com/office/drawing/2014/main" id="{646ACF9F-6655-EF5F-2C70-1814ADAE7117}"/>
              </a:ext>
            </a:extLst>
          </p:cNvPr>
          <p:cNvSpPr/>
          <p:nvPr/>
        </p:nvSpPr>
        <p:spPr>
          <a:xfrm>
            <a:off x="8428383" y="3196424"/>
            <a:ext cx="612250" cy="1407381"/>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88973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5"/>
            <a:ext cx="6388474" cy="5170645"/>
          </a:xfrm>
        </p:spPr>
        <p:txBody>
          <a:bodyPr>
            <a:normAutofit/>
          </a:bodyPr>
          <a:lstStyle/>
          <a:p>
            <a:r>
              <a:rPr lang="en-US" dirty="0" err="1"/>
              <a:t>Vector indexing </a:t>
            </a:r>
            <a:r>
              <a:rPr lang="en-US" dirty="0"/>
              <a:t>To</a:t>
            </a:r>
            <a:br>
              <a:rPr lang="en-US" dirty="0"/>
            </a:br>
            <a:r>
              <a:rPr lang="en-US" dirty="0"/>
              <a:t>select one or more bits belonging to a vector, the [] operator is used, with the following syntax:</a:t>
            </a:r>
            <a:br>
              <a:rPr lang="en-US" dirty="0"/>
            </a:br>
            <a:r>
              <a:rPr lang="en-US" dirty="0">
                <a:solidFill>
                  <a:srgbClr val="FFFF00"/>
                </a:solidFill>
              </a:rPr>
              <a:t>[msb-index:lsb-index] or [bit-index]</a:t>
            </a:r>
          </a:p>
        </p:txBody>
      </p:sp>
      <p:sp>
        <p:nvSpPr>
          <p:cNvPr id="4" name="CasellaDiTesto 3">
            <a:extLst>
              <a:ext uri="{FF2B5EF4-FFF2-40B4-BE49-F238E27FC236}">
                <a16:creationId xmlns:a16="http://schemas.microsoft.com/office/drawing/2014/main" id="{CE6AF5C6-F0FA-A8FF-2E7A-1EFFCDB8D1B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6A9955"/>
                </a:solidFill>
                <a:effectLst/>
                <a:highlight>
                  <a:srgbClr val="1F1F1F"/>
                </a:highlight>
                <a:latin typeface="Consolas" panose="020B0609020204030204" pitchFamily="49" charset="0"/>
              </a:rPr>
              <a:t>// File assign_sim_b.v</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`timescale</a:t>
            </a:r>
            <a:r>
              <a:rPr lang="en-US" sz="1100" b="0" noProof="1">
                <a:solidFill>
                  <a:srgbClr val="CCCCCC"/>
                </a:solidFill>
                <a:effectLst/>
                <a:highlight>
                  <a:srgbClr val="1F1F1F"/>
                </a:highlight>
                <a:latin typeface="Consolas" panose="020B0609020204030204" pitchFamily="49" charset="0"/>
              </a:rPr>
              <a:t> 10ns</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100ps</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tf</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in;</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wire</a:t>
            </a:r>
            <a:r>
              <a:rPr lang="en-US" sz="1100" b="0" noProof="1">
                <a:solidFill>
                  <a:srgbClr val="CCCCCC"/>
                </a:solidFill>
                <a:effectLst/>
                <a:highlight>
                  <a:srgbClr val="1F1F1F"/>
                </a:highlight>
                <a:latin typeface="Consolas" panose="020B0609020204030204" pitchFamily="49" charset="0"/>
              </a:rPr>
              <a:t> out;</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$monitor( in,,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$dumpvars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tf );</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$finish</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device_under_test</a:t>
            </a:r>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in[2], in[1], in[0]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a, b, c, </a:t>
            </a:r>
            <a:r>
              <a:rPr lang="en-US" sz="1100" b="0" noProof="1">
                <a:solidFill>
                  <a:srgbClr val="569CD6"/>
                </a:solidFill>
                <a:effectLst/>
                <a:highlight>
                  <a:srgbClr val="1F1F1F"/>
                </a:highlight>
                <a:latin typeface="Consolas" panose="020B0609020204030204" pitchFamily="49" charset="0"/>
              </a:rPr>
              <a:t>output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assign</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c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c;</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(9/1)</a:t>
            </a:r>
          </a:p>
        </p:txBody>
      </p:sp>
    </p:spTree>
    <p:extLst>
      <p:ext uri="{BB962C8B-B14F-4D97-AF65-F5344CB8AC3E}">
        <p14:creationId xmlns:p14="http://schemas.microsoft.com/office/powerpoint/2010/main" val="163239507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5"/>
            <a:ext cx="6388474" cy="5170645"/>
          </a:xfrm>
        </p:spPr>
        <p:txBody>
          <a:bodyPr>
            <a:normAutofit/>
          </a:bodyPr>
          <a:lstStyle/>
          <a:p>
            <a:r>
              <a:rPr lang="en-US" dirty="0" err="1"/>
              <a:t>Vector indexing To</a:t>
            </a:r>
            <a:br>
              <a:rPr lang="en-US" dirty="0"/>
            </a:br>
            <a:r>
              <a:rPr lang="en-US" dirty="0" err="1"/>
              <a:t>select one or more bits belonging to a vector, the [] operator is used, with the following syntax:</a:t>
            </a:r>
            <a:br>
              <a:rPr lang="en-US" dirty="0"/>
            </a:br>
            <a:r>
              <a:rPr lang="en-US" dirty="0" err="1"/>
              <a:t>[msb-index:lsb-index] or [bit-index]</a:t>
            </a:r>
          </a:p>
          <a:p>
            <a:r>
              <a:rPr lang="en-US" dirty="0"/>
              <a:t>The module can have parameters that describe the interface through which it communicates</a:t>
            </a:r>
            <a:br>
              <a:rPr lang="en-US" dirty="0"/>
            </a:br>
            <a:r>
              <a:rPr lang="en-US" dirty="0"/>
              <a:t>externally. The parameters are associated with the names needed to use them inside the module.</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(9/2)</a:t>
            </a:r>
          </a:p>
        </p:txBody>
      </p:sp>
      <p:sp>
        <p:nvSpPr>
          <p:cNvPr id="2" name="CasellaDiTesto 1">
            <a:extLst>
              <a:ext uri="{FF2B5EF4-FFF2-40B4-BE49-F238E27FC236}">
                <a16:creationId xmlns:a16="http://schemas.microsoft.com/office/drawing/2014/main" id="{BA3F3AFE-A648-C587-E7F0-DE359203108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6A9955"/>
                </a:solidFill>
                <a:effectLst/>
                <a:highlight>
                  <a:srgbClr val="1F1F1F"/>
                </a:highlight>
                <a:latin typeface="Consolas" panose="020B0609020204030204" pitchFamily="49" charset="0"/>
              </a:rPr>
              <a:t>// File assign_sim_b.v</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`timescale</a:t>
            </a:r>
            <a:r>
              <a:rPr lang="en-US" sz="1100" b="0" noProof="1">
                <a:solidFill>
                  <a:srgbClr val="CCCCCC"/>
                </a:solidFill>
                <a:effectLst/>
                <a:highlight>
                  <a:srgbClr val="1F1F1F"/>
                </a:highlight>
                <a:latin typeface="Consolas" panose="020B0609020204030204" pitchFamily="49" charset="0"/>
              </a:rPr>
              <a:t> 10ns</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100ps</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tf</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in;</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wire</a:t>
            </a:r>
            <a:r>
              <a:rPr lang="en-US" sz="1100" b="0" noProof="1">
                <a:solidFill>
                  <a:srgbClr val="CCCCCC"/>
                </a:solidFill>
                <a:effectLst/>
                <a:highlight>
                  <a:srgbClr val="1F1F1F"/>
                </a:highlight>
                <a:latin typeface="Consolas" panose="020B0609020204030204" pitchFamily="49" charset="0"/>
              </a:rPr>
              <a:t> out;</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$monitor( in,,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$dumpvars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tf );</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$finish</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device_under_test</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input a, b, c, output z</a:t>
            </a:r>
            <a:r>
              <a:rPr lang="en-US" sz="1100" b="0" noProof="1">
                <a:solidFill>
                  <a:schemeClr val="bg1"/>
                </a:solidFill>
                <a:effectLst/>
                <a:highlight>
                  <a:srgbClr val="1F1F1F"/>
                </a:highlight>
                <a:latin typeface="Consolas" panose="020B0609020204030204" pitchFamily="49" charset="0"/>
              </a:rPr>
              <a:t> </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assign</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c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c;</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118497471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5"/>
            <a:ext cx="6388474" cy="5170645"/>
          </a:xfrm>
        </p:spPr>
        <p:txBody>
          <a:bodyPr>
            <a:normAutofit/>
          </a:bodyPr>
          <a:lstStyle/>
          <a:p>
            <a:r>
              <a:rPr lang="en-US" dirty="0"/>
              <a:t>Vector indexing To</a:t>
            </a:r>
            <a:br>
              <a:rPr lang="en-US" dirty="0"/>
            </a:br>
            <a:r>
              <a:rPr lang="en-US" dirty="0"/>
              <a:t>select one or more bits belonging to a vector, the [] operator is used, with the following syntax:</a:t>
            </a:r>
            <a:br>
              <a:rPr lang="en-US" dirty="0"/>
            </a:br>
            <a:r>
              <a:rPr lang="en-US" dirty="0"/>
              <a:t>[msb-index:lsb-index] or [bit-index]</a:t>
            </a:r>
          </a:p>
          <a:p>
            <a:r>
              <a:rPr lang="en-US" dirty="0"/>
              <a:t>The module can have parameters that describe the interface through which it communicates</a:t>
            </a:r>
            <a:br>
              <a:rPr lang="en-US" dirty="0"/>
            </a:br>
            <a:r>
              <a:rPr lang="en-US" dirty="0"/>
              <a:t>externally. The parameters are associated with the names needed to use them inside the module.</a:t>
            </a:r>
          </a:p>
          <a:p>
            <a:r>
              <a:rPr lang="en-US" dirty="0"/>
              <a:t>The </a:t>
            </a:r>
            <a:r>
              <a:rPr lang="en-US" dirty="0">
                <a:solidFill>
                  <a:srgbClr val="FFFF00"/>
                </a:solidFill>
              </a:rPr>
              <a:t>direction</a:t>
            </a:r>
            <a:r>
              <a:rPr lang="en-US" dirty="0"/>
              <a:t> of the signals must be declared for all the module's parameters.</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(9/3)</a:t>
            </a:r>
          </a:p>
        </p:txBody>
      </p:sp>
      <p:sp>
        <p:nvSpPr>
          <p:cNvPr id="6" name="CasellaDiTesto 5">
            <a:extLst>
              <a:ext uri="{FF2B5EF4-FFF2-40B4-BE49-F238E27FC236}">
                <a16:creationId xmlns:a16="http://schemas.microsoft.com/office/drawing/2014/main" id="{9319965E-9468-6A6A-8DA2-3F9DBA3D16DD}"/>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6A9955"/>
                </a:solidFill>
                <a:effectLst/>
                <a:highlight>
                  <a:srgbClr val="1F1F1F"/>
                </a:highlight>
                <a:latin typeface="Consolas" panose="020B0609020204030204" pitchFamily="49" charset="0"/>
              </a:rPr>
              <a:t>// File assign_sim_b.v</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`timescale</a:t>
            </a:r>
            <a:r>
              <a:rPr lang="en-US" sz="1100" b="0" noProof="1">
                <a:solidFill>
                  <a:srgbClr val="CCCCCC"/>
                </a:solidFill>
                <a:effectLst/>
                <a:highlight>
                  <a:srgbClr val="1F1F1F"/>
                </a:highlight>
                <a:latin typeface="Consolas" panose="020B0609020204030204" pitchFamily="49" charset="0"/>
              </a:rPr>
              <a:t> 10ns</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100ps</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tf</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in;</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wire</a:t>
            </a:r>
            <a:r>
              <a:rPr lang="en-US" sz="1100" b="0" noProof="1">
                <a:solidFill>
                  <a:srgbClr val="CCCCCC"/>
                </a:solidFill>
                <a:effectLst/>
                <a:highlight>
                  <a:srgbClr val="1F1F1F"/>
                </a:highlight>
                <a:latin typeface="Consolas" panose="020B0609020204030204" pitchFamily="49" charset="0"/>
              </a:rPr>
              <a:t> out;</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$monitor( in,,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$dumpvars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tf );</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$finish</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device_under_test</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a, b, c, </a:t>
            </a:r>
            <a:r>
              <a:rPr lang="en-US" sz="1100" b="0" noProof="1">
                <a:solidFill>
                  <a:schemeClr val="bg1"/>
                </a:solidFill>
                <a:effectLst/>
                <a:highlight>
                  <a:srgbClr val="FFFF00"/>
                </a:highlight>
                <a:latin typeface="Consolas" panose="020B0609020204030204" pitchFamily="49" charset="0"/>
              </a:rPr>
              <a:t>output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assign</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c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c;</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13857814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340865-494D-9F31-E351-E7E3A4EDD25A}"/>
              </a:ext>
            </a:extLst>
          </p:cNvPr>
          <p:cNvSpPr>
            <a:spLocks noGrp="1"/>
          </p:cNvSpPr>
          <p:nvPr>
            <p:ph type="title"/>
          </p:nvPr>
        </p:nvSpPr>
        <p:spPr>
          <a:xfrm>
            <a:off x="1141413" y="346142"/>
            <a:ext cx="9905998" cy="858336"/>
          </a:xfrm>
        </p:spPr>
        <p:txBody>
          <a:bodyPr/>
          <a:lstStyle/>
          <a:p>
            <a:r>
              <a:rPr lang="en-US" dirty="0"/>
              <a:t>INTRO TUTORIAL (10)</a:t>
            </a:r>
          </a:p>
        </p:txBody>
      </p:sp>
      <p:sp>
        <p:nvSpPr>
          <p:cNvPr id="4" name="CasellaDiTesto 3">
            <a:extLst>
              <a:ext uri="{FF2B5EF4-FFF2-40B4-BE49-F238E27FC236}">
                <a16:creationId xmlns:a16="http://schemas.microsoft.com/office/drawing/2014/main" id="{146CD9EB-EDE0-2287-EC05-D39A53111E3F}"/>
              </a:ext>
            </a:extLst>
          </p:cNvPr>
          <p:cNvSpPr txBox="1"/>
          <p:nvPr/>
        </p:nvSpPr>
        <p:spPr>
          <a:xfrm>
            <a:off x="5629523" y="2973788"/>
            <a:ext cx="914400" cy="914400"/>
          </a:xfrm>
          <a:prstGeom prst="rect">
            <a:avLst/>
          </a:prstGeom>
          <a:noFill/>
        </p:spPr>
        <p:txBody>
          <a:bodyPr wrap="square" rtlCol="0">
            <a:spAutoFit/>
          </a:bodyPr>
          <a:lstStyle/>
          <a:p>
            <a:endParaRPr lang="en-US" dirty="0"/>
          </a:p>
        </p:txBody>
      </p:sp>
      <p:sp>
        <p:nvSpPr>
          <p:cNvPr id="5" name="Segnaposto contenuto 2">
            <a:extLst>
              <a:ext uri="{FF2B5EF4-FFF2-40B4-BE49-F238E27FC236}">
                <a16:creationId xmlns:a16="http://schemas.microsoft.com/office/drawing/2014/main" id="{98A6B5E5-9B45-2B52-48BF-BCEB21CAAD00}"/>
              </a:ext>
            </a:extLst>
          </p:cNvPr>
          <p:cNvSpPr txBox="1">
            <a:spLocks/>
          </p:cNvSpPr>
          <p:nvPr/>
        </p:nvSpPr>
        <p:spPr>
          <a:xfrm>
            <a:off x="1141413" y="1089509"/>
            <a:ext cx="10201038" cy="57684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Modules:</a:t>
            </a:r>
          </a:p>
          <a:p>
            <a:r>
              <a:rPr lang="en-US" dirty="0"/>
              <a:t>With the stimuli supplied in module </a:t>
            </a:r>
            <a:r>
              <a:rPr lang="en-US" i="1" dirty="0" err="1"/>
              <a:t>tf</a:t>
            </a:r>
            <a:r>
              <a:rPr lang="en-US" dirty="0"/>
              <a:t> to the </a:t>
            </a:r>
            <a:r>
              <a:rPr lang="en-US" i="1" dirty="0" err="1"/>
              <a:t>device_under_test</a:t>
            </a:r>
            <a:r>
              <a:rPr lang="en-US" dirty="0"/>
              <a:t> instance of type </a:t>
            </a:r>
            <a:r>
              <a:rPr lang="en-US" i="1" dirty="0" err="1"/>
              <a:t>fn_z</a:t>
            </a:r>
            <a:r>
              <a:rPr lang="en-US" dirty="0"/>
              <a:t>, Icarus Verilog is run again.</a:t>
            </a:r>
          </a:p>
          <a:p>
            <a:r>
              <a:rPr lang="en-US" dirty="0"/>
              <a:t>Running the command </a:t>
            </a:r>
            <a:r>
              <a:rPr lang="en-US" i="1" dirty="0" err="1"/>
              <a:t>vvp</a:t>
            </a:r>
            <a:r>
              <a:rPr lang="en-US" dirty="0"/>
              <a:t> (the simulator’s </a:t>
            </a:r>
            <a:br>
              <a:rPr lang="en-US" dirty="0"/>
            </a:br>
            <a:r>
              <a:rPr lang="en-US" dirty="0"/>
              <a:t>run-time engine) and passing it </a:t>
            </a:r>
            <a:r>
              <a:rPr lang="en-US" i="1" dirty="0" err="1"/>
              <a:t>assign_sim.out</a:t>
            </a:r>
            <a:br>
              <a:rPr lang="en-US" dirty="0"/>
            </a:br>
            <a:r>
              <a:rPr lang="en-US" dirty="0"/>
              <a:t>as a parameter, the file </a:t>
            </a:r>
            <a:r>
              <a:rPr lang="en-US" i="1" dirty="0" err="1"/>
              <a:t>dump.vcd</a:t>
            </a:r>
            <a:r>
              <a:rPr lang="en-US" i="1" dirty="0"/>
              <a:t> is produced </a:t>
            </a:r>
            <a:br>
              <a:rPr lang="en-US" i="1" dirty="0"/>
            </a:br>
            <a:r>
              <a:rPr lang="en-US" i="1" dirty="0"/>
              <a:t>and </a:t>
            </a:r>
            <a:r>
              <a:rPr lang="en-US" dirty="0"/>
              <a:t>the simulation result is written to standard</a:t>
            </a:r>
            <a:br>
              <a:rPr lang="en-US" dirty="0"/>
            </a:br>
            <a:r>
              <a:rPr lang="en-US" dirty="0"/>
              <a:t>output. You can see that the last column</a:t>
            </a:r>
            <a:br>
              <a:rPr lang="en-US" dirty="0"/>
            </a:br>
            <a:r>
              <a:rPr lang="en-US" dirty="0"/>
              <a:t>matches what is expected from the truth table </a:t>
            </a:r>
            <a:br>
              <a:rPr lang="en-US" dirty="0"/>
            </a:br>
            <a:r>
              <a:rPr lang="en-US" dirty="0"/>
              <a:t>of function </a:t>
            </a:r>
            <a:r>
              <a:rPr lang="en-US" i="1" dirty="0"/>
              <a:t>z</a:t>
            </a:r>
            <a:r>
              <a:rPr lang="en-US" dirty="0"/>
              <a:t>.</a:t>
            </a:r>
          </a:p>
          <a:p>
            <a:r>
              <a:rPr lang="en-US" dirty="0"/>
              <a:t>Finally, passing the </a:t>
            </a:r>
            <a:r>
              <a:rPr lang="en-US" dirty="0" err="1"/>
              <a:t>dump.vcd</a:t>
            </a:r>
            <a:r>
              <a:rPr lang="en-US" dirty="0"/>
              <a:t> </a:t>
            </a:r>
            <a:br>
              <a:rPr lang="en-US" dirty="0"/>
            </a:br>
            <a:r>
              <a:rPr lang="en-US" dirty="0"/>
              <a:t>file to the </a:t>
            </a:r>
            <a:r>
              <a:rPr lang="en-US" i="1" dirty="0" err="1"/>
              <a:t>gtkwave</a:t>
            </a:r>
            <a:r>
              <a:rPr lang="en-US" dirty="0"/>
              <a:t> software </a:t>
            </a:r>
            <a:br>
              <a:rPr lang="en-US" dirty="0"/>
            </a:br>
            <a:r>
              <a:rPr lang="en-US" dirty="0"/>
              <a:t>lets us display a diagram with</a:t>
            </a:r>
            <a:br>
              <a:rPr lang="en-US" dirty="0"/>
            </a:br>
            <a:r>
              <a:rPr lang="en-US" dirty="0"/>
              <a:t>signals </a:t>
            </a:r>
            <a:r>
              <a:rPr lang="en-US" i="1" dirty="0"/>
              <a:t>a, b, c </a:t>
            </a:r>
            <a:r>
              <a:rPr lang="en-US" dirty="0"/>
              <a:t>and </a:t>
            </a:r>
            <a:r>
              <a:rPr lang="en-US" i="1" dirty="0"/>
              <a:t>z </a:t>
            </a:r>
            <a:r>
              <a:rPr lang="en-US" dirty="0"/>
              <a:t>evolving </a:t>
            </a:r>
            <a:br>
              <a:rPr lang="en-US" dirty="0"/>
            </a:br>
            <a:r>
              <a:rPr lang="en-US" dirty="0"/>
              <a:t>over time.</a:t>
            </a:r>
          </a:p>
        </p:txBody>
      </p:sp>
      <p:sp>
        <p:nvSpPr>
          <p:cNvPr id="3" name="CasellaDiTesto 2">
            <a:extLst>
              <a:ext uri="{FF2B5EF4-FFF2-40B4-BE49-F238E27FC236}">
                <a16:creationId xmlns:a16="http://schemas.microsoft.com/office/drawing/2014/main" id="{2C3631CF-3138-647F-2ECB-EE0108C9D888}"/>
              </a:ext>
            </a:extLst>
          </p:cNvPr>
          <p:cNvSpPr txBox="1"/>
          <p:nvPr/>
        </p:nvSpPr>
        <p:spPr>
          <a:xfrm>
            <a:off x="7762630" y="2182504"/>
            <a:ext cx="4126418" cy="2554865"/>
          </a:xfrm>
          <a:prstGeom prst="rect">
            <a:avLst/>
          </a:prstGeom>
          <a:solidFill>
            <a:schemeClr val="bg1"/>
          </a:solidFill>
          <a:ln w="38100">
            <a:solidFill>
              <a:schemeClr val="accent5">
                <a:lumMod val="75000"/>
              </a:schemeClr>
            </a:solidFill>
          </a:ln>
        </p:spPr>
        <p:txBody>
          <a:bodyPr wrap="square" rtlCol="0">
            <a:spAutoFit/>
          </a:bodyPr>
          <a:lstStyle/>
          <a:p>
            <a:r>
              <a:rPr lang="pt-BR" sz="1200" dirty="0">
                <a:solidFill>
                  <a:schemeClr val="accent4">
                    <a:lumMod val="75000"/>
                  </a:schemeClr>
                </a:solidFill>
                <a:latin typeface="Consolas" panose="020B0609020204030204" pitchFamily="49" charset="0"/>
              </a:rPr>
              <a:t>$</a:t>
            </a:r>
            <a:r>
              <a:rPr lang="pt-BR" sz="1200" dirty="0">
                <a:latin typeface="Consolas" panose="020B0609020204030204" pitchFamily="49" charset="0"/>
              </a:rPr>
              <a:t> </a:t>
            </a:r>
            <a:r>
              <a:rPr lang="pt-BR" sz="1200" dirty="0">
                <a:solidFill>
                  <a:schemeClr val="accent6">
                    <a:lumMod val="75000"/>
                  </a:schemeClr>
                </a:solidFill>
                <a:latin typeface="Consolas" panose="020B0609020204030204" pitchFamily="49" charset="0"/>
              </a:rPr>
              <a:t>iverilog</a:t>
            </a:r>
            <a:r>
              <a:rPr lang="pt-BR" sz="1200" dirty="0">
                <a:latin typeface="Consolas" panose="020B0609020204030204" pitchFamily="49" charset="0"/>
              </a:rPr>
              <a:t> </a:t>
            </a:r>
            <a:r>
              <a:rPr lang="pt-BR" sz="1200" dirty="0">
                <a:solidFill>
                  <a:srgbClr val="92D050"/>
                </a:solidFill>
                <a:latin typeface="Consolas" panose="020B0609020204030204" pitchFamily="49" charset="0"/>
              </a:rPr>
              <a:t>assign_sim.v -o assign_sim.out</a:t>
            </a:r>
          </a:p>
          <a:p>
            <a:r>
              <a:rPr lang="pt-BR" sz="1200" dirty="0">
                <a:solidFill>
                  <a:schemeClr val="accent4">
                    <a:lumMod val="75000"/>
                  </a:schemeClr>
                </a:solidFill>
                <a:latin typeface="Consolas" panose="020B0609020204030204" pitchFamily="49" charset="0"/>
              </a:rPr>
              <a:t>$</a:t>
            </a:r>
            <a:r>
              <a:rPr lang="pt-BR" sz="1200" dirty="0">
                <a:latin typeface="Consolas" panose="020B0609020204030204" pitchFamily="49" charset="0"/>
              </a:rPr>
              <a:t> </a:t>
            </a:r>
            <a:r>
              <a:rPr lang="pt-BR" sz="1200" dirty="0">
                <a:solidFill>
                  <a:schemeClr val="accent6">
                    <a:lumMod val="75000"/>
                  </a:schemeClr>
                </a:solidFill>
                <a:latin typeface="Consolas" panose="020B0609020204030204" pitchFamily="49" charset="0"/>
              </a:rPr>
              <a:t>vvp</a:t>
            </a:r>
            <a:r>
              <a:rPr lang="pt-BR" sz="1200" dirty="0">
                <a:latin typeface="Consolas" panose="020B0609020204030204" pitchFamily="49" charset="0"/>
              </a:rPr>
              <a:t> </a:t>
            </a:r>
            <a:r>
              <a:rPr lang="pt-BR" sz="1200" dirty="0">
                <a:solidFill>
                  <a:srgbClr val="92D050"/>
                </a:solidFill>
                <a:latin typeface="Consolas" panose="020B0609020204030204" pitchFamily="49" charset="0"/>
              </a:rPr>
              <a:t>assign_sim.out</a:t>
            </a:r>
          </a:p>
          <a:p>
            <a:r>
              <a:rPr lang="pt-BR" sz="1200" dirty="0">
                <a:latin typeface="Consolas" panose="020B0609020204030204" pitchFamily="49" charset="0"/>
              </a:rPr>
              <a:t>VCD info: dumpfile dump.vcd opened for output.</a:t>
            </a:r>
          </a:p>
          <a:p>
            <a:r>
              <a:rPr lang="pt-BR" sz="1200" dirty="0">
                <a:latin typeface="Consolas" panose="020B0609020204030204" pitchFamily="49" charset="0"/>
              </a:rPr>
              <a:t>000 1</a:t>
            </a:r>
          </a:p>
          <a:p>
            <a:r>
              <a:rPr lang="pt-BR" sz="1200" dirty="0">
                <a:latin typeface="Consolas" panose="020B0609020204030204" pitchFamily="49" charset="0"/>
              </a:rPr>
              <a:t>001 0</a:t>
            </a:r>
          </a:p>
          <a:p>
            <a:r>
              <a:rPr lang="pt-BR" sz="1200" dirty="0">
                <a:latin typeface="Consolas" panose="020B0609020204030204" pitchFamily="49" charset="0"/>
              </a:rPr>
              <a:t>010 0</a:t>
            </a:r>
          </a:p>
          <a:p>
            <a:r>
              <a:rPr lang="pt-BR" sz="1200" dirty="0">
                <a:latin typeface="Consolas" panose="020B0609020204030204" pitchFamily="49" charset="0"/>
              </a:rPr>
              <a:t>011 1</a:t>
            </a:r>
          </a:p>
          <a:p>
            <a:r>
              <a:rPr lang="pt-BR" sz="1200" dirty="0">
                <a:latin typeface="Consolas" panose="020B0609020204030204" pitchFamily="49" charset="0"/>
              </a:rPr>
              <a:t>100 0</a:t>
            </a:r>
          </a:p>
          <a:p>
            <a:r>
              <a:rPr lang="pt-BR" sz="1200" dirty="0">
                <a:latin typeface="Consolas" panose="020B0609020204030204" pitchFamily="49" charset="0"/>
              </a:rPr>
              <a:t>101 0</a:t>
            </a:r>
          </a:p>
          <a:p>
            <a:r>
              <a:rPr lang="pt-BR" sz="1200" dirty="0">
                <a:latin typeface="Consolas" panose="020B0609020204030204" pitchFamily="49" charset="0"/>
              </a:rPr>
              <a:t>110 1</a:t>
            </a:r>
          </a:p>
          <a:p>
            <a:r>
              <a:rPr lang="pt-BR" sz="1200" dirty="0">
                <a:latin typeface="Consolas" panose="020B0609020204030204" pitchFamily="49" charset="0"/>
              </a:rPr>
              <a:t>111 1</a:t>
            </a:r>
          </a:p>
          <a:p>
            <a:r>
              <a:rPr lang="pt-BR" sz="1200" dirty="0">
                <a:solidFill>
                  <a:schemeClr val="accent4">
                    <a:lumMod val="75000"/>
                  </a:schemeClr>
                </a:solidFill>
                <a:latin typeface="Consolas" panose="020B0609020204030204" pitchFamily="49" charset="0"/>
              </a:rPr>
              <a:t>$</a:t>
            </a:r>
            <a:r>
              <a:rPr lang="pt-BR" sz="1200" dirty="0">
                <a:latin typeface="Consolas" panose="020B0609020204030204" pitchFamily="49" charset="0"/>
              </a:rPr>
              <a:t> </a:t>
            </a:r>
            <a:r>
              <a:rPr lang="pt-BR" sz="1200" dirty="0">
                <a:solidFill>
                  <a:schemeClr val="accent6">
                    <a:lumMod val="75000"/>
                  </a:schemeClr>
                </a:solidFill>
                <a:latin typeface="Consolas" panose="020B0609020204030204" pitchFamily="49" charset="0"/>
              </a:rPr>
              <a:t>gtkwave</a:t>
            </a:r>
            <a:r>
              <a:rPr lang="pt-BR" sz="1200" dirty="0">
                <a:latin typeface="Consolas" panose="020B0609020204030204" pitchFamily="49" charset="0"/>
              </a:rPr>
              <a:t> </a:t>
            </a:r>
            <a:r>
              <a:rPr lang="pt-BR" sz="1200" dirty="0">
                <a:solidFill>
                  <a:srgbClr val="92D050"/>
                </a:solidFill>
                <a:latin typeface="Consolas" panose="020B0609020204030204" pitchFamily="49" charset="0"/>
              </a:rPr>
              <a:t>dump.vcd</a:t>
            </a:r>
            <a:r>
              <a:rPr lang="pt-BR" sz="1200" dirty="0">
                <a:latin typeface="Consolas" panose="020B0609020204030204" pitchFamily="49" charset="0"/>
              </a:rPr>
              <a:t> &amp;</a:t>
            </a:r>
          </a:p>
          <a:p>
            <a:r>
              <a:rPr lang="pt-BR" sz="1200" dirty="0">
                <a:solidFill>
                  <a:schemeClr val="accent4">
                    <a:lumMod val="75000"/>
                  </a:schemeClr>
                </a:solidFill>
                <a:latin typeface="Consolas" panose="020B0609020204030204" pitchFamily="49" charset="0"/>
              </a:rPr>
              <a:t>$</a:t>
            </a:r>
            <a:r>
              <a:rPr lang="pt-BR" sz="1200" dirty="0">
                <a:solidFill>
                  <a:schemeClr val="tx1">
                    <a:lumMod val="65000"/>
                  </a:schemeClr>
                </a:solidFill>
                <a:latin typeface="Consolas" panose="020B0609020204030204" pitchFamily="49" charset="0"/>
              </a:rPr>
              <a:t> _</a:t>
            </a:r>
            <a:endParaRPr lang="en-US" sz="1200" dirty="0">
              <a:solidFill>
                <a:schemeClr val="accent1">
                  <a:lumMod val="60000"/>
                  <a:lumOff val="40000"/>
                </a:schemeClr>
              </a:solidFill>
              <a:latin typeface="Consolas" panose="020B0609020204030204" pitchFamily="49" charset="0"/>
            </a:endParaRPr>
          </a:p>
        </p:txBody>
      </p:sp>
      <p:pic>
        <p:nvPicPr>
          <p:cNvPr id="6" name="Elemento grafico 5">
            <a:extLst>
              <a:ext uri="{FF2B5EF4-FFF2-40B4-BE49-F238E27FC236}">
                <a16:creationId xmlns:a16="http://schemas.microsoft.com/office/drawing/2014/main" id="{D580C86C-C778-8036-FA59-BB82436514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14844" y="2514111"/>
            <a:ext cx="919894" cy="1727149"/>
          </a:xfrm>
          <a:prstGeom prst="rect">
            <a:avLst/>
          </a:prstGeom>
        </p:spPr>
      </p:pic>
      <p:pic>
        <p:nvPicPr>
          <p:cNvPr id="17" name="Immagine 16">
            <a:extLst>
              <a:ext uri="{FF2B5EF4-FFF2-40B4-BE49-F238E27FC236}">
                <a16:creationId xmlns:a16="http://schemas.microsoft.com/office/drawing/2014/main" id="{836812A6-CCCA-45D3-ED75-7701A3089F3C}"/>
              </a:ext>
            </a:extLst>
          </p:cNvPr>
          <p:cNvPicPr>
            <a:picLocks noChangeAspect="1"/>
          </p:cNvPicPr>
          <p:nvPr/>
        </p:nvPicPr>
        <p:blipFill>
          <a:blip r:embed="rId3"/>
          <a:stretch>
            <a:fillRect/>
          </a:stretch>
        </p:blipFill>
        <p:spPr>
          <a:xfrm>
            <a:off x="5009745" y="4928963"/>
            <a:ext cx="6879303" cy="1463277"/>
          </a:xfrm>
          <a:prstGeom prst="rect">
            <a:avLst/>
          </a:prstGeom>
        </p:spPr>
      </p:pic>
    </p:spTree>
    <p:extLst>
      <p:ext uri="{BB962C8B-B14F-4D97-AF65-F5344CB8AC3E}">
        <p14:creationId xmlns:p14="http://schemas.microsoft.com/office/powerpoint/2010/main" val="83870473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6"/>
            <a:ext cx="6245350" cy="3290743"/>
          </a:xfrm>
        </p:spPr>
        <p:txBody>
          <a:bodyPr>
            <a:normAutofit fontScale="70000" lnSpcReduction="20000"/>
          </a:bodyPr>
          <a:lstStyle/>
          <a:p>
            <a:r>
              <a:rPr lang="en-US" dirty="0"/>
              <a:t>As we have seen, data types are used to characterize the memory elements (</a:t>
            </a:r>
            <a:r>
              <a:rPr lang="en-US" i="1" dirty="0"/>
              <a:t>reg</a:t>
            </a:r>
            <a:r>
              <a:rPr lang="en-US" dirty="0"/>
              <a:t>) and the "nets", which in Verilog, remember, can be likened to </a:t>
            </a:r>
            <a:r>
              <a:rPr lang="en-US" i="1" dirty="0" err="1"/>
              <a:t>wire</a:t>
            </a:r>
            <a:r>
              <a:rPr lang="en-US" dirty="0"/>
              <a:t>s. Several </a:t>
            </a:r>
            <a:r>
              <a:rPr lang="en-US" i="1" dirty="0" err="1"/>
              <a:t>wire</a:t>
            </a:r>
            <a:r>
              <a:rPr lang="en-US" dirty="0"/>
              <a:t>s or </a:t>
            </a:r>
            <a:r>
              <a:rPr lang="en-US" i="1" dirty="0"/>
              <a:t>reg</a:t>
            </a:r>
            <a:r>
              <a:rPr lang="en-US" dirty="0"/>
              <a:t>s can be grouped in an orderly way to represent a single data type.</a:t>
            </a:r>
          </a:p>
          <a:p>
            <a:r>
              <a:rPr lang="en-US" dirty="0"/>
              <a:t>Groups of </a:t>
            </a:r>
            <a:r>
              <a:rPr lang="en-US" i="1" dirty="0" err="1"/>
              <a:t>wire</a:t>
            </a:r>
            <a:r>
              <a:rPr lang="en-US" dirty="0"/>
              <a:t>s can be regarded as so-called "Buses", as they are classically represented in the context of digital systems.</a:t>
            </a:r>
          </a:p>
          <a:p>
            <a:r>
              <a:rPr lang="en-US" dirty="0"/>
              <a:t>Memory elements can be likened to variables in programming languages; a single Flip-Flop (</a:t>
            </a:r>
            <a:r>
              <a:rPr lang="en-US" i="1" dirty="0"/>
              <a:t>reg</a:t>
            </a:r>
            <a:r>
              <a:rPr lang="en-US" dirty="0"/>
              <a:t>) is an example of a variable that stores one bit. A group of </a:t>
            </a:r>
            <a:r>
              <a:rPr lang="en-US" i="1" dirty="0"/>
              <a:t>reg</a:t>
            </a:r>
            <a:r>
              <a:rPr lang="en-US" dirty="0"/>
              <a:t>s</a:t>
            </a:r>
            <a:br>
              <a:rPr lang="en-US" dirty="0"/>
            </a:br>
            <a:r>
              <a:rPr lang="en-US" dirty="0"/>
              <a:t>represents a typical </a:t>
            </a:r>
            <a:r>
              <a:rPr lang="en-US" i="1" dirty="0"/>
              <a:t>n-</a:t>
            </a:r>
            <a:r>
              <a:rPr lang="en-US" dirty="0"/>
              <a:t>bit register.</a:t>
            </a:r>
          </a:p>
          <a:p>
            <a:endParaRPr lang="en-US" dirty="0"/>
          </a:p>
        </p:txBody>
      </p:sp>
      <p:sp>
        <p:nvSpPr>
          <p:cNvPr id="4" name="CasellaDiTesto 3">
            <a:extLst>
              <a:ext uri="{FF2B5EF4-FFF2-40B4-BE49-F238E27FC236}">
                <a16:creationId xmlns:a16="http://schemas.microsoft.com/office/drawing/2014/main" id="{CE6AF5C6-F0FA-A8FF-2E7A-1EFFCDB8D1BE}"/>
              </a:ext>
            </a:extLst>
          </p:cNvPr>
          <p:cNvSpPr txBox="1"/>
          <p:nvPr/>
        </p:nvSpPr>
        <p:spPr>
          <a:xfrm>
            <a:off x="7688911" y="1336916"/>
            <a:ext cx="4222143" cy="5170646"/>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6A9955"/>
                </a:solidFill>
                <a:effectLst/>
                <a:highlight>
                  <a:srgbClr val="1F1F1F"/>
                </a:highlight>
                <a:latin typeface="Consolas" panose="020B0609020204030204" pitchFamily="49" charset="0"/>
              </a:rPr>
              <a:t>// File assign_sim_b.v</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`timescale</a:t>
            </a:r>
            <a:r>
              <a:rPr lang="en-US" sz="1100" b="0" noProof="1">
                <a:solidFill>
                  <a:srgbClr val="CCCCCC"/>
                </a:solidFill>
                <a:effectLst/>
                <a:highlight>
                  <a:srgbClr val="1F1F1F"/>
                </a:highlight>
                <a:latin typeface="Consolas" panose="020B0609020204030204" pitchFamily="49" charset="0"/>
              </a:rPr>
              <a:t> 10ns</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100ps</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tf</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in;</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wire</a:t>
            </a:r>
            <a:r>
              <a:rPr lang="en-US" sz="1100" b="0" noProof="1">
                <a:solidFill>
                  <a:srgbClr val="CCCCCC"/>
                </a:solidFill>
                <a:effectLst/>
                <a:highlight>
                  <a:srgbClr val="1F1F1F"/>
                </a:highlight>
                <a:latin typeface="Consolas" panose="020B0609020204030204" pitchFamily="49" charset="0"/>
              </a:rPr>
              <a:t> out;</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$monitor( in,,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$dumpvars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tf );</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in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$finish</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device_under_test</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in[</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a, b, c, </a:t>
            </a:r>
            <a:r>
              <a:rPr lang="en-US" sz="1100" b="0" noProof="1">
                <a:solidFill>
                  <a:srgbClr val="569CD6"/>
                </a:solidFill>
                <a:effectLst/>
                <a:highlight>
                  <a:srgbClr val="1F1F1F"/>
                </a:highlight>
                <a:latin typeface="Consolas" panose="020B0609020204030204" pitchFamily="49" charset="0"/>
              </a:rPr>
              <a:t>output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assign</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c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c;</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pic>
        <p:nvPicPr>
          <p:cNvPr id="6" name="Immagine 5">
            <a:extLst>
              <a:ext uri="{FF2B5EF4-FFF2-40B4-BE49-F238E27FC236}">
                <a16:creationId xmlns:a16="http://schemas.microsoft.com/office/drawing/2014/main" id="{DF9A584E-B268-8CC4-D264-547CC5BD66A3}"/>
              </a:ext>
            </a:extLst>
          </p:cNvPr>
          <p:cNvPicPr>
            <a:picLocks noChangeAspect="1"/>
          </p:cNvPicPr>
          <p:nvPr/>
        </p:nvPicPr>
        <p:blipFill>
          <a:blip r:embed="rId2"/>
          <a:stretch>
            <a:fillRect/>
          </a:stretch>
        </p:blipFill>
        <p:spPr>
          <a:xfrm>
            <a:off x="1254145" y="4774012"/>
            <a:ext cx="5972175" cy="1733550"/>
          </a:xfrm>
          <a:prstGeom prst="rect">
            <a:avLst/>
          </a:prstGeom>
        </p:spPr>
      </p:pic>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(11)</a:t>
            </a:r>
          </a:p>
        </p:txBody>
      </p:sp>
    </p:spTree>
    <p:extLst>
      <p:ext uri="{BB962C8B-B14F-4D97-AF65-F5344CB8AC3E}">
        <p14:creationId xmlns:p14="http://schemas.microsoft.com/office/powerpoint/2010/main" val="422718092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0" y="1336914"/>
            <a:ext cx="4780946" cy="1195614"/>
          </a:xfrm>
        </p:spPr>
        <p:txBody>
          <a:bodyPr>
            <a:normAutofit fontScale="62500" lnSpcReduction="20000"/>
          </a:bodyPr>
          <a:lstStyle/>
          <a:p>
            <a:pPr marL="0" indent="0">
              <a:buNone/>
            </a:pPr>
            <a:r>
              <a:rPr lang="en-US" dirty="0"/>
              <a:t>Operators</a:t>
            </a:r>
          </a:p>
          <a:p>
            <a:pPr marL="0" indent="0">
              <a:buNone/>
            </a:pPr>
            <a:r>
              <a:rPr lang="en-US" dirty="0" err="1"/>
              <a:t>Verilog has several operators: alongside we see a summary table where we can also find the logical (bitwise) operators used so far. Below it, the precedence table.</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(12)</a:t>
            </a:r>
          </a:p>
        </p:txBody>
      </p:sp>
      <p:pic>
        <p:nvPicPr>
          <p:cNvPr id="7" name="Elemento grafico 6">
            <a:extLst>
              <a:ext uri="{FF2B5EF4-FFF2-40B4-BE49-F238E27FC236}">
                <a16:creationId xmlns:a16="http://schemas.microsoft.com/office/drawing/2014/main" id="{71C83016-73AA-4E13-8C58-12F16E1C24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2356" y="1129085"/>
            <a:ext cx="5976243" cy="5580575"/>
          </a:xfrm>
          <a:prstGeom prst="rect">
            <a:avLst/>
          </a:prstGeom>
        </p:spPr>
      </p:pic>
      <p:pic>
        <p:nvPicPr>
          <p:cNvPr id="10" name="Elemento grafico 9">
            <a:extLst>
              <a:ext uri="{FF2B5EF4-FFF2-40B4-BE49-F238E27FC236}">
                <a16:creationId xmlns:a16="http://schemas.microsoft.com/office/drawing/2014/main" id="{25755DA3-B8F7-91A0-7EF1-BEC4C21245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30014" y="2445065"/>
            <a:ext cx="3338148" cy="4177132"/>
          </a:xfrm>
          <a:prstGeom prst="rect">
            <a:avLst/>
          </a:prstGeom>
        </p:spPr>
      </p:pic>
    </p:spTree>
    <p:extLst>
      <p:ext uri="{BB962C8B-B14F-4D97-AF65-F5344CB8AC3E}">
        <p14:creationId xmlns:p14="http://schemas.microsoft.com/office/powerpoint/2010/main" val="185608981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6"/>
            <a:ext cx="9905998" cy="2980641"/>
          </a:xfrm>
        </p:spPr>
        <p:txBody>
          <a:bodyPr>
            <a:normAutofit fontScale="92500" lnSpcReduction="20000"/>
          </a:bodyPr>
          <a:lstStyle/>
          <a:p>
            <a:pPr marL="0" indent="0">
              <a:buNone/>
            </a:pPr>
            <a:r>
              <a:rPr lang="en-US" dirty="0" err="1"/>
              <a:t>Always Block</a:t>
            </a:r>
          </a:p>
          <a:p>
            <a:r>
              <a:rPr lang="en-US" dirty="0" err="1"/>
              <a:t>Verilog allows more complex logic than</a:t>
            </a:r>
            <a:br>
              <a:rPr lang="en-US" dirty="0"/>
            </a:br>
            <a:r>
              <a:rPr lang="en-US" dirty="0" err="1"/>
              <a:t>the simple </a:t>
            </a:r>
            <a:r>
              <a:rPr lang="en-US" i="1" dirty="0" err="1"/>
              <a:t>assign</a:t>
            </a:r>
            <a:r>
              <a:rPr lang="en-US" dirty="0"/>
              <a:t> thanks to the use of </a:t>
            </a:r>
            <a:r>
              <a:rPr lang="en-US" i="1" dirty="0" err="1">
                <a:solidFill>
                  <a:srgbClr val="FFFF00"/>
                </a:solidFill>
              </a:rPr>
              <a:t>always</a:t>
            </a:r>
            <a:br>
              <a:rPr lang="en-US" dirty="0"/>
            </a:br>
            <a:r>
              <a:rPr lang="en-US" dirty="0"/>
              <a:t>blocks. Combinational logic can be</a:t>
            </a:r>
            <a:br>
              <a:rPr lang="en-US" dirty="0"/>
            </a:br>
            <a:r>
              <a:rPr lang="en-US" dirty="0"/>
              <a:t>written using </a:t>
            </a:r>
            <a:r>
              <a:rPr lang="en-US" i="1" dirty="0" err="1"/>
              <a:t>always @(*)</a:t>
            </a:r>
            <a:r>
              <a:rPr lang="en-US" dirty="0"/>
              <a:t>. The value inside</a:t>
            </a:r>
            <a:br>
              <a:rPr lang="en-US" dirty="0"/>
            </a:br>
            <a:r>
              <a:rPr lang="en-US" dirty="0"/>
              <a:t>the parentheses is called the</a:t>
            </a:r>
            <a:br>
              <a:rPr lang="en-US" dirty="0"/>
            </a:br>
            <a:r>
              <a:rPr lang="en-US" dirty="0"/>
              <a:t>"sensitivity list". Using * tells the tool to compute this "sensitivity</a:t>
            </a:r>
            <a:br>
              <a:rPr lang="en-US" dirty="0"/>
            </a:br>
            <a:r>
              <a:rPr lang="en-US" dirty="0"/>
              <a:t>list" automatically.</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(13/1)</a:t>
            </a:r>
          </a:p>
        </p:txBody>
      </p:sp>
      <p:sp>
        <p:nvSpPr>
          <p:cNvPr id="12" name="CasellaDiTesto 11">
            <a:extLst>
              <a:ext uri="{FF2B5EF4-FFF2-40B4-BE49-F238E27FC236}">
                <a16:creationId xmlns:a16="http://schemas.microsoft.com/office/drawing/2014/main" id="{FABCBA91-A89B-F543-A6D6-3CFDC2A1825C}"/>
              </a:ext>
            </a:extLst>
          </p:cNvPr>
          <p:cNvSpPr txBox="1"/>
          <p:nvPr/>
        </p:nvSpPr>
        <p:spPr>
          <a:xfrm>
            <a:off x="7291347" y="1756445"/>
            <a:ext cx="3840480" cy="1615827"/>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a, b, c, </a:t>
            </a:r>
            <a:r>
              <a:rPr lang="en-US" sz="1100" b="0" noProof="1">
                <a:solidFill>
                  <a:srgbClr val="569CD6"/>
                </a:solidFill>
                <a:effectLst/>
                <a:highlight>
                  <a:srgbClr val="1F1F1F"/>
                </a:highlight>
                <a:latin typeface="Consolas" panose="020B0609020204030204" pitchFamily="49" charset="0"/>
              </a:rPr>
              <a:t>output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6A9955"/>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6A9955"/>
                </a:solidFill>
                <a:effectLst/>
                <a:highlight>
                  <a:srgbClr val="1F1F1F"/>
                </a:highlight>
                <a:latin typeface="Consolas" panose="020B0609020204030204" pitchFamily="49" charset="0"/>
              </a:rPr>
              <a:t>// required with always</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6A9955"/>
                </a:solidFill>
                <a:effectLst/>
                <a:highlight>
                  <a:srgbClr val="1F1F1F"/>
                </a:highlight>
                <a:latin typeface="Consolas" panose="020B0609020204030204" pitchFamily="49" charset="0"/>
              </a:rPr>
              <a:t>// assign z = ~a &amp; ~b &amp; ~c | a &amp; b | b &amp; c;</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6A9955"/>
                </a:solidFill>
                <a:effectLst/>
                <a:highlight>
                  <a:srgbClr val="1F1F1F"/>
                </a:highlight>
                <a:latin typeface="Consolas" panose="020B0609020204030204" pitchFamily="49" charset="0"/>
              </a:rPr>
              <a:t>// always @(a,b,c) </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always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c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c;</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
        <p:nvSpPr>
          <p:cNvPr id="13" name="Rettangolo 12">
            <a:extLst>
              <a:ext uri="{FF2B5EF4-FFF2-40B4-BE49-F238E27FC236}">
                <a16:creationId xmlns:a16="http://schemas.microsoft.com/office/drawing/2014/main" id="{1D872D41-5DA8-52D7-6B3B-68D4268EF763}"/>
              </a:ext>
            </a:extLst>
          </p:cNvPr>
          <p:cNvSpPr/>
          <p:nvPr/>
        </p:nvSpPr>
        <p:spPr>
          <a:xfrm>
            <a:off x="7490131" y="2471531"/>
            <a:ext cx="2926078" cy="675862"/>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92876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5"/>
            <a:ext cx="9905998" cy="4952567"/>
          </a:xfrm>
        </p:spPr>
        <p:txBody>
          <a:bodyPr>
            <a:normAutofit fontScale="92500" lnSpcReduction="10000"/>
          </a:bodyPr>
          <a:lstStyle/>
          <a:p>
            <a:pPr marL="0" indent="0">
              <a:buNone/>
            </a:pPr>
            <a:r>
              <a:rPr lang="en-US" dirty="0" err="1"/>
              <a:t>Always Block</a:t>
            </a:r>
          </a:p>
          <a:p>
            <a:r>
              <a:rPr lang="en-US" dirty="0" err="1"/>
              <a:t>Verilog allows more complex logic than</a:t>
            </a:r>
            <a:br>
              <a:rPr lang="en-US" dirty="0"/>
            </a:br>
            <a:r>
              <a:rPr lang="en-US" dirty="0" err="1"/>
              <a:t>the simple </a:t>
            </a:r>
            <a:r>
              <a:rPr lang="en-US" i="1" dirty="0" err="1"/>
              <a:t>assign</a:t>
            </a:r>
            <a:r>
              <a:rPr lang="en-US" dirty="0"/>
              <a:t> thanks to the use of </a:t>
            </a:r>
            <a:r>
              <a:rPr lang="en-US" i="1" dirty="0" err="1"/>
              <a:t>always</a:t>
            </a:r>
            <a:br>
              <a:rPr lang="en-US" dirty="0"/>
            </a:br>
            <a:r>
              <a:rPr lang="en-US" dirty="0"/>
              <a:t>blocks. Combinational logic can be</a:t>
            </a:r>
            <a:br>
              <a:rPr lang="en-US" dirty="0"/>
            </a:br>
            <a:r>
              <a:rPr lang="en-US" dirty="0"/>
              <a:t>written using </a:t>
            </a:r>
            <a:r>
              <a:rPr lang="en-US" i="1" dirty="0" err="1"/>
              <a:t>always @(*)</a:t>
            </a:r>
            <a:r>
              <a:rPr lang="en-US" dirty="0"/>
              <a:t>. The value inside</a:t>
            </a:r>
            <a:br>
              <a:rPr lang="en-US" dirty="0"/>
            </a:br>
            <a:r>
              <a:rPr lang="en-US" dirty="0"/>
              <a:t>the parentheses is called the</a:t>
            </a:r>
            <a:br>
              <a:rPr lang="en-US" dirty="0"/>
            </a:br>
            <a:r>
              <a:rPr lang="en-US" dirty="0"/>
              <a:t>"sensitivity list". Using * tells the tool to compute this "sensitivity</a:t>
            </a:r>
            <a:br>
              <a:rPr lang="en-US" dirty="0"/>
            </a:br>
            <a:r>
              <a:rPr lang="en-US" dirty="0"/>
              <a:t>list" automatically.</a:t>
            </a:r>
          </a:p>
          <a:p>
            <a:r>
              <a:rPr lang="en-US" dirty="0"/>
              <a:t>If a signal is driven inside an </a:t>
            </a:r>
            <a:r>
              <a:rPr lang="en-US" i="1" dirty="0" err="1"/>
              <a:t>always</a:t>
            </a:r>
            <a:r>
              <a:rPr lang="en-US" dirty="0"/>
              <a:t> block, it must be </a:t>
            </a:r>
            <a:r>
              <a:rPr lang="en-US" dirty="0">
                <a:solidFill>
                  <a:srgbClr val="FFFF00"/>
                </a:solidFill>
              </a:rPr>
              <a:t>defined as </a:t>
            </a:r>
            <a:r>
              <a:rPr lang="en-US" i="1" dirty="0">
                <a:solidFill>
                  <a:srgbClr val="FFFF00"/>
                </a:solidFill>
              </a:rPr>
              <a:t>reg</a:t>
            </a:r>
            <a:r>
              <a:rPr lang="en-US" i="1" dirty="0"/>
              <a:t>.</a:t>
            </a:r>
            <a:r>
              <a:rPr lang="en-US" dirty="0"/>
              <a:t> Conversely, as we have seen, if a continuous assignment (</a:t>
            </a:r>
            <a:r>
              <a:rPr lang="en-US" i="1" dirty="0" err="1"/>
              <a:t>assign</a:t>
            </a:r>
            <a:r>
              <a:rPr lang="en-US" dirty="0"/>
              <a:t>) is used, it can be defined as </a:t>
            </a:r>
            <a:r>
              <a:rPr lang="en-US" i="1" dirty="0" err="1"/>
              <a:t>wire</a:t>
            </a:r>
            <a:r>
              <a:rPr lang="en-US" dirty="0"/>
              <a:t> which always represents a connection, whereas a </a:t>
            </a:r>
            <a:r>
              <a:rPr lang="en-US" i="1" dirty="0"/>
              <a:t>reg</a:t>
            </a:r>
            <a:r>
              <a:rPr lang="en-US" dirty="0"/>
              <a:t> is equivalent to a </a:t>
            </a:r>
            <a:r>
              <a:rPr lang="en-US" i="1" dirty="0" err="1"/>
              <a:t>wire</a:t>
            </a:r>
            <a:r>
              <a:rPr lang="en-US" dirty="0"/>
              <a:t> if it is used inside an </a:t>
            </a:r>
            <a:r>
              <a:rPr lang="en-US" i="1" dirty="0" err="1"/>
              <a:t>always @(*)</a:t>
            </a:r>
            <a:r>
              <a:rPr lang="en-US" dirty="0"/>
              <a:t> construct.</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(13/2)</a:t>
            </a:r>
          </a:p>
        </p:txBody>
      </p:sp>
      <p:sp>
        <p:nvSpPr>
          <p:cNvPr id="12" name="CasellaDiTesto 11">
            <a:extLst>
              <a:ext uri="{FF2B5EF4-FFF2-40B4-BE49-F238E27FC236}">
                <a16:creationId xmlns:a16="http://schemas.microsoft.com/office/drawing/2014/main" id="{FABCBA91-A89B-F543-A6D6-3CFDC2A1825C}"/>
              </a:ext>
            </a:extLst>
          </p:cNvPr>
          <p:cNvSpPr txBox="1"/>
          <p:nvPr/>
        </p:nvSpPr>
        <p:spPr>
          <a:xfrm>
            <a:off x="7291347" y="1756445"/>
            <a:ext cx="3840480" cy="1615827"/>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fn_z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a, b, c, </a:t>
            </a:r>
            <a:r>
              <a:rPr lang="en-US" sz="1100" b="0" noProof="1">
                <a:solidFill>
                  <a:srgbClr val="569CD6"/>
                </a:solidFill>
                <a:effectLst/>
                <a:highlight>
                  <a:srgbClr val="1F1F1F"/>
                </a:highlight>
                <a:latin typeface="Consolas" panose="020B0609020204030204" pitchFamily="49" charset="0"/>
              </a:rPr>
              <a:t>output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6A9955"/>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reg 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6A9955"/>
                </a:solidFill>
                <a:effectLst/>
                <a:highlight>
                  <a:srgbClr val="1F1F1F"/>
                </a:highlight>
                <a:latin typeface="Consolas" panose="020B0609020204030204" pitchFamily="49" charset="0"/>
              </a:rPr>
              <a:t>// required with always</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6A9955"/>
                </a:solidFill>
                <a:effectLst/>
                <a:highlight>
                  <a:srgbClr val="1F1F1F"/>
                </a:highlight>
                <a:latin typeface="Consolas" panose="020B0609020204030204" pitchFamily="49" charset="0"/>
              </a:rPr>
              <a:t>// assign z = ~a &amp; ~b &amp; ~c | a &amp; b | b &amp; c;</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6A9955"/>
                </a:solidFill>
                <a:effectLst/>
                <a:highlight>
                  <a:srgbClr val="1F1F1F"/>
                </a:highlight>
                <a:latin typeface="Consolas" panose="020B0609020204030204" pitchFamily="49" charset="0"/>
              </a:rPr>
              <a:t>// always @(a,b,c) </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always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z</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c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b </a:t>
            </a:r>
            <a:r>
              <a:rPr lang="en-US" sz="1100" b="0" noProof="1">
                <a:solidFill>
                  <a:srgbClr val="D4D4D4"/>
                </a:solidFill>
                <a:effectLst/>
                <a:highlight>
                  <a:srgbClr val="1F1F1F"/>
                </a:highlight>
                <a:latin typeface="Consolas" panose="020B0609020204030204" pitchFamily="49" charset="0"/>
              </a:rPr>
              <a:t>&amp;</a:t>
            </a:r>
            <a:r>
              <a:rPr lang="en-US" sz="1100" b="0" noProof="1">
                <a:solidFill>
                  <a:srgbClr val="CCCCCC"/>
                </a:solidFill>
                <a:effectLst/>
                <a:highlight>
                  <a:srgbClr val="1F1F1F"/>
                </a:highlight>
                <a:latin typeface="Consolas" panose="020B0609020204030204" pitchFamily="49" charset="0"/>
              </a:rPr>
              <a:t> c;</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422245801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(14)</a:t>
            </a:r>
          </a:p>
        </p:txBody>
      </p:sp>
      <p:sp>
        <p:nvSpPr>
          <p:cNvPr id="7" name="CasellaDiTesto 6">
            <a:extLst>
              <a:ext uri="{FF2B5EF4-FFF2-40B4-BE49-F238E27FC236}">
                <a16:creationId xmlns:a16="http://schemas.microsoft.com/office/drawing/2014/main" id="{AA5DBA62-CC2B-8DA6-44EE-4BE204F8BF36}"/>
              </a:ext>
            </a:extLst>
          </p:cNvPr>
          <p:cNvSpPr txBox="1"/>
          <p:nvPr/>
        </p:nvSpPr>
        <p:spPr>
          <a:xfrm>
            <a:off x="7279420" y="1483178"/>
            <a:ext cx="4222143" cy="2800767"/>
          </a:xfrm>
          <a:prstGeom prst="rect">
            <a:avLst/>
          </a:prstGeom>
          <a:solidFill>
            <a:srgbClr val="1F1F1F"/>
          </a:solidFill>
          <a:ln w="38100">
            <a:solidFill>
              <a:schemeClr val="accent5">
                <a:lumMod val="75000"/>
              </a:schemeClr>
            </a:solidFill>
          </a:ln>
        </p:spPr>
        <p:txBody>
          <a:bodyPr wrap="square" rtlCol="0">
            <a:spAutoFit/>
          </a:bodyPr>
          <a:lstStyle/>
          <a:p>
            <a:r>
              <a:rPr lang="en-US" sz="1100" b="0" dirty="0" err="1">
                <a:solidFill>
                  <a:srgbClr val="569CD6"/>
                </a:solidFill>
                <a:effectLst/>
                <a:highlight>
                  <a:srgbClr val="1F1F1F"/>
                </a:highlight>
                <a:latin typeface="Consolas" panose="020B0609020204030204" pitchFamily="49" charset="0"/>
              </a:rPr>
              <a:t>module</a:t>
            </a:r>
            <a:r>
              <a:rPr lang="en-US" sz="1100" b="0" dirty="0">
                <a:solidFill>
                  <a:srgbClr val="CCCCCC"/>
                </a:solidFill>
                <a:effectLst/>
                <a:highlight>
                  <a:srgbClr val="1F1F1F"/>
                </a:highlight>
                <a:latin typeface="Consolas" panose="020B0609020204030204" pitchFamily="49" charset="0"/>
              </a:rPr>
              <a:t> </a:t>
            </a:r>
            <a:r>
              <a:rPr lang="en-US" sz="1100" b="0" dirty="0">
                <a:solidFill>
                  <a:srgbClr val="4EC9B0"/>
                </a:solidFill>
                <a:effectLst/>
                <a:highlight>
                  <a:srgbClr val="1F1F1F"/>
                </a:highlight>
                <a:latin typeface="Consolas" panose="020B0609020204030204" pitchFamily="49" charset="0"/>
              </a:rPr>
              <a:t>counter</a:t>
            </a:r>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input</a:t>
            </a:r>
            <a:r>
              <a:rPr lang="en-US" sz="1100" b="0" dirty="0">
                <a:solidFill>
                  <a:srgbClr val="CCCCCC"/>
                </a:solidFill>
                <a:effectLst/>
                <a:highlight>
                  <a:srgbClr val="1F1F1F"/>
                </a:highlight>
                <a:latin typeface="Consolas" panose="020B0609020204030204" pitchFamily="49" charset="0"/>
              </a:rPr>
              <a:t> Clk, </a:t>
            </a:r>
            <a:r>
              <a:rPr lang="en-US" sz="1100" b="0" dirty="0">
                <a:solidFill>
                  <a:srgbClr val="569CD6"/>
                </a:solidFill>
                <a:effectLst/>
                <a:highlight>
                  <a:srgbClr val="1F1F1F"/>
                </a:highlight>
                <a:latin typeface="Consolas" panose="020B0609020204030204" pitchFamily="49" charset="0"/>
              </a:rPr>
              <a:t>input</a:t>
            </a:r>
            <a:r>
              <a:rPr lang="en-US" sz="1100" b="0" dirty="0">
                <a:solidFill>
                  <a:srgbClr val="CCCCCC"/>
                </a:solidFill>
                <a:effectLst/>
                <a:highlight>
                  <a:srgbClr val="1F1F1F"/>
                </a:highlight>
                <a:latin typeface="Consolas" panose="020B0609020204030204" pitchFamily="49" charset="0"/>
              </a:rPr>
              <a:t> G );</a:t>
            </a:r>
          </a:p>
          <a:p>
            <a:r>
              <a:rPr lang="en-US" sz="1100" b="0" dirty="0">
                <a:solidFill>
                  <a:srgbClr val="CCCCCC"/>
                </a:solidFill>
                <a:effectLst/>
                <a:highlight>
                  <a:srgbClr val="1F1F1F"/>
                </a:highlight>
                <a:latin typeface="Consolas" panose="020B0609020204030204" pitchFamily="49" charset="0"/>
              </a:rPr>
              <a:t>  </a:t>
            </a:r>
            <a:r>
              <a:rPr lang="en-US" sz="1100" b="0" dirty="0">
                <a:solidFill>
                  <a:schemeClr val="bg1"/>
                </a:solidFill>
                <a:effectLst/>
                <a:highlight>
                  <a:srgbClr val="FFFF00"/>
                </a:highlight>
                <a:latin typeface="Consolas" panose="020B0609020204030204" pitchFamily="49" charset="0"/>
              </a:rPr>
              <a:t>reg</a:t>
            </a:r>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2</a:t>
            </a:r>
            <a:r>
              <a:rPr lang="en-US" sz="1100" b="0" dirty="0">
                <a:solidFill>
                  <a:srgbClr val="CCCCCC"/>
                </a:solidFill>
                <a:effectLst/>
                <a:highlight>
                  <a:srgbClr val="1F1F1F"/>
                </a:highlight>
                <a:latin typeface="Consolas" panose="020B0609020204030204" pitchFamily="49" charset="0"/>
              </a:rPr>
              <a:t>:</a:t>
            </a:r>
            <a:r>
              <a:rPr lang="en-US" sz="1100" b="0" dirty="0">
                <a:solidFill>
                  <a:srgbClr val="B5CEA8"/>
                </a:solidFill>
                <a:effectLst/>
                <a:highlight>
                  <a:srgbClr val="1F1F1F"/>
                </a:highlight>
                <a:latin typeface="Consolas" panose="020B0609020204030204" pitchFamily="49" charset="0"/>
              </a:rPr>
              <a:t>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3’d0</a:t>
            </a:r>
            <a:r>
              <a:rPr lang="en-US" sz="1100" b="0" dirty="0">
                <a:solidFill>
                  <a:srgbClr val="CCCCCC"/>
                </a:solidFill>
                <a:effectLst/>
                <a:highlight>
                  <a:srgbClr val="1F1F1F"/>
                </a:highlight>
                <a:latin typeface="Consolas" panose="020B0609020204030204" pitchFamily="49" charset="0"/>
              </a:rPr>
              <a:t>; </a:t>
            </a:r>
            <a:r>
              <a:rPr lang="en-US" sz="1100" b="0" dirty="0">
                <a:solidFill>
                  <a:srgbClr val="6A9955"/>
                </a:solidFill>
                <a:effectLst/>
                <a:highlight>
                  <a:srgbClr val="1F1F1F"/>
                </a:highlight>
                <a:latin typeface="Consolas" panose="020B0609020204030204" pitchFamily="49" charset="0"/>
              </a:rPr>
              <a:t>// WARNING: not synthesizable</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p>
          <a:p>
            <a:r>
              <a:rPr lang="en-US" sz="1100" b="0" dirty="0">
                <a:solidFill>
                  <a:srgbClr val="CCCCCC"/>
                </a:solidFill>
                <a:effectLst/>
                <a:highlight>
                  <a:srgbClr val="1F1F1F"/>
                </a:highlight>
                <a:latin typeface="Consolas" panose="020B0609020204030204" pitchFamily="49" charset="0"/>
              </a:rPr>
              <a:t>  </a:t>
            </a:r>
            <a:r>
              <a:rPr lang="en-US" sz="1100" b="0" dirty="0" err="1">
                <a:solidFill>
                  <a:srgbClr val="569CD6"/>
                </a:solidFill>
                <a:effectLst/>
                <a:highlight>
                  <a:srgbClr val="1F1F1F"/>
                </a:highlight>
                <a:latin typeface="Consolas" panose="020B0609020204030204" pitchFamily="49" charset="0"/>
              </a:rPr>
              <a:t>always</a:t>
            </a:r>
            <a:r>
              <a:rPr lang="en-US" sz="1100" b="0" dirty="0">
                <a:solidFill>
                  <a:srgbClr val="CCCCCC"/>
                </a:solidFill>
                <a:effectLst/>
                <a:highlight>
                  <a:srgbClr val="1F1F1F"/>
                </a:highlight>
                <a:latin typeface="Consolas" panose="020B0609020204030204" pitchFamily="49" charset="0"/>
              </a:rPr>
              <a:t> </a:t>
            </a:r>
            <a:r>
              <a:rPr lang="en-US" sz="1100" b="0" dirty="0">
                <a:solidFill>
                  <a:schemeClr val="bg1"/>
                </a:solidFill>
                <a:effectLst/>
                <a:highlight>
                  <a:srgbClr val="FFFF00"/>
                </a:highlight>
                <a:latin typeface="Consolas" panose="020B0609020204030204" pitchFamily="49" charset="0"/>
              </a:rPr>
              <a:t>@( posedge Clk )</a:t>
            </a:r>
            <a:r>
              <a:rPr lang="en-US" sz="1100" b="0" dirty="0">
                <a:solidFill>
                  <a:schemeClr val="bg1"/>
                </a:solidFill>
                <a:effectLst/>
                <a:highlight>
                  <a:srgbClr val="1F1F1F"/>
                </a:highlight>
                <a:latin typeface="Consolas" panose="020B0609020204030204" pitchFamily="49" charset="0"/>
              </a:rPr>
              <a:t> </a:t>
            </a:r>
            <a:r>
              <a:rPr lang="en-US" sz="1100" b="0" dirty="0" err="1">
                <a:solidFill>
                  <a:srgbClr val="569CD6"/>
                </a:solidFill>
                <a:effectLst/>
                <a:highlight>
                  <a:srgbClr val="1F1F1F"/>
                </a:highlight>
                <a:latin typeface="Consolas" panose="020B0609020204030204" pitchFamily="49" charset="0"/>
              </a:rPr>
              <a:t>begin</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case</a:t>
            </a:r>
            <a:r>
              <a:rPr lang="en-US" sz="1100" b="0" dirty="0">
                <a:solidFill>
                  <a:srgbClr val="CCCCCC"/>
                </a:solidFill>
                <a:effectLst/>
                <a:highlight>
                  <a:srgbClr val="1F1F1F"/>
                </a:highlight>
                <a:latin typeface="Consolas" panose="020B0609020204030204" pitchFamily="49" charset="0"/>
              </a:rPr>
              <a:t>( S )</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err="1">
                <a:solidFill>
                  <a:srgbClr val="569CD6"/>
                </a:solidFill>
                <a:effectLst/>
                <a:highlight>
                  <a:srgbClr val="1F1F1F"/>
                </a:highlight>
                <a:latin typeface="Consolas" panose="020B0609020204030204" pitchFamily="49" charset="0"/>
              </a:rPr>
              <a:t>endcase</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end</a:t>
            </a:r>
            <a:endParaRPr lang="en-US" sz="1100" b="0" dirty="0">
              <a:solidFill>
                <a:srgbClr val="CCCCCC"/>
              </a:solidFill>
              <a:effectLst/>
              <a:highlight>
                <a:srgbClr val="1F1F1F"/>
              </a:highlight>
              <a:latin typeface="Consolas" panose="020B0609020204030204" pitchFamily="49" charset="0"/>
            </a:endParaRPr>
          </a:p>
          <a:p>
            <a:r>
              <a:rPr lang="en-US" sz="1100" b="0" dirty="0" err="1">
                <a:solidFill>
                  <a:srgbClr val="569CD6"/>
                </a:solidFill>
                <a:effectLst/>
                <a:highlight>
                  <a:srgbClr val="1F1F1F"/>
                </a:highlight>
                <a:latin typeface="Consolas" panose="020B0609020204030204" pitchFamily="49" charset="0"/>
              </a:rPr>
              <a:t>endmodule</a:t>
            </a:r>
            <a:endParaRPr lang="en-US" sz="1100" b="0" dirty="0">
              <a:solidFill>
                <a:srgbClr val="CCCCCC"/>
              </a:solidFill>
              <a:effectLst/>
              <a:highlight>
                <a:srgbClr val="1F1F1F"/>
              </a:highlight>
              <a:latin typeface="Consolas" panose="020B0609020204030204" pitchFamily="49" charset="0"/>
            </a:endParaRPr>
          </a:p>
        </p:txBody>
      </p:sp>
      <p:sp>
        <p:nvSpPr>
          <p:cNvPr id="8" name="Rettangolo 7">
            <a:extLst>
              <a:ext uri="{FF2B5EF4-FFF2-40B4-BE49-F238E27FC236}">
                <a16:creationId xmlns:a16="http://schemas.microsoft.com/office/drawing/2014/main" id="{5A39440F-37E1-A4DD-54C2-62703832B913}"/>
              </a:ext>
            </a:extLst>
          </p:cNvPr>
          <p:cNvSpPr/>
          <p:nvPr/>
        </p:nvSpPr>
        <p:spPr>
          <a:xfrm>
            <a:off x="7482181" y="2014045"/>
            <a:ext cx="3005590" cy="2035533"/>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egnaposto contenuto 2">
            <a:extLst>
              <a:ext uri="{FF2B5EF4-FFF2-40B4-BE49-F238E27FC236}">
                <a16:creationId xmlns:a16="http://schemas.microsoft.com/office/drawing/2014/main" id="{37DBD7CC-6431-B0CB-F8D0-1513023E1052}"/>
              </a:ext>
            </a:extLst>
          </p:cNvPr>
          <p:cNvSpPr txBox="1">
            <a:spLocks/>
          </p:cNvSpPr>
          <p:nvPr/>
        </p:nvSpPr>
        <p:spPr>
          <a:xfrm>
            <a:off x="1141411" y="1105232"/>
            <a:ext cx="9982463" cy="1741335"/>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The </a:t>
            </a:r>
            <a:r>
              <a:rPr lang="en-US" i="1" dirty="0"/>
              <a:t>always block</a:t>
            </a:r>
          </a:p>
          <a:p>
            <a:r>
              <a:rPr lang="en-US" dirty="0"/>
              <a:t>A </a:t>
            </a:r>
            <a:r>
              <a:rPr lang="en-US" i="1" dirty="0">
                <a:solidFill>
                  <a:srgbClr val="FFFF00"/>
                </a:solidFill>
              </a:rPr>
              <a:t>reg</a:t>
            </a:r>
            <a:r>
              <a:rPr lang="en-US" dirty="0"/>
              <a:t> represents a register if it is used inside an </a:t>
            </a:r>
            <a:br>
              <a:rPr lang="en-US" dirty="0"/>
            </a:br>
            <a:r>
              <a:rPr lang="en-US" i="1" dirty="0" err="1">
                <a:solidFill>
                  <a:srgbClr val="FFFF00"/>
                </a:solidFill>
              </a:rPr>
              <a:t>always</a:t>
            </a:r>
            <a:r>
              <a:rPr lang="en-US" dirty="0"/>
              <a:t> block with synchronous sequential logic,</a:t>
            </a:r>
            <a:br>
              <a:rPr lang="en-US" dirty="0"/>
            </a:br>
            <a:r>
              <a:rPr lang="en-US" dirty="0"/>
              <a:t>which is generated by specifying the list of signals</a:t>
            </a:r>
            <a:br>
              <a:rPr lang="en-US" dirty="0">
                <a:solidFill>
                  <a:srgbClr val="FFFF00"/>
                </a:solidFill>
              </a:rPr>
            </a:br>
            <a:r>
              <a:rPr lang="en-US" dirty="0"/>
              <a:t>in the </a:t>
            </a:r>
            <a:r>
              <a:rPr lang="en-US" dirty="0">
                <a:solidFill>
                  <a:srgbClr val="FFFF00"/>
                </a:solidFill>
              </a:rPr>
              <a:t>"sensitivity list"</a:t>
            </a:r>
            <a:r>
              <a:rPr lang="en-US" dirty="0"/>
              <a:t> of the </a:t>
            </a:r>
            <a:r>
              <a:rPr lang="en-US" i="1" dirty="0" err="1"/>
              <a:t>always</a:t>
            </a:r>
            <a:r>
              <a:rPr lang="en-US" dirty="0"/>
              <a:t> block.</a:t>
            </a:r>
          </a:p>
        </p:txBody>
      </p:sp>
    </p:spTree>
    <p:extLst>
      <p:ext uri="{BB962C8B-B14F-4D97-AF65-F5344CB8AC3E}">
        <p14:creationId xmlns:p14="http://schemas.microsoft.com/office/powerpoint/2010/main" val="400758250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(14/2)</a:t>
            </a:r>
          </a:p>
        </p:txBody>
      </p:sp>
      <p:sp>
        <p:nvSpPr>
          <p:cNvPr id="2" name="CasellaDiTesto 1">
            <a:extLst>
              <a:ext uri="{FF2B5EF4-FFF2-40B4-BE49-F238E27FC236}">
                <a16:creationId xmlns:a16="http://schemas.microsoft.com/office/drawing/2014/main" id="{B6D6F4ED-8D82-BB7B-7488-3264D0E3380A}"/>
              </a:ext>
            </a:extLst>
          </p:cNvPr>
          <p:cNvSpPr txBox="1"/>
          <p:nvPr/>
        </p:nvSpPr>
        <p:spPr>
          <a:xfrm>
            <a:off x="7279420" y="1483178"/>
            <a:ext cx="4222143" cy="2800767"/>
          </a:xfrm>
          <a:prstGeom prst="rect">
            <a:avLst/>
          </a:prstGeom>
          <a:solidFill>
            <a:srgbClr val="1F1F1F"/>
          </a:solidFill>
          <a:ln w="38100">
            <a:solidFill>
              <a:schemeClr val="accent5">
                <a:lumMod val="75000"/>
              </a:schemeClr>
            </a:solidFill>
          </a:ln>
        </p:spPr>
        <p:txBody>
          <a:bodyPr wrap="square" rtlCol="0">
            <a:spAutoFit/>
          </a:bodyPr>
          <a:lstStyle/>
          <a:p>
            <a:r>
              <a:rPr lang="en-US" sz="1100" b="0" dirty="0" err="1">
                <a:solidFill>
                  <a:srgbClr val="569CD6"/>
                </a:solidFill>
                <a:effectLst/>
                <a:highlight>
                  <a:srgbClr val="1F1F1F"/>
                </a:highlight>
                <a:latin typeface="Consolas" panose="020B0609020204030204" pitchFamily="49" charset="0"/>
              </a:rPr>
              <a:t>module</a:t>
            </a:r>
            <a:r>
              <a:rPr lang="en-US" sz="1100" b="0" dirty="0">
                <a:solidFill>
                  <a:srgbClr val="CCCCCC"/>
                </a:solidFill>
                <a:effectLst/>
                <a:highlight>
                  <a:srgbClr val="1F1F1F"/>
                </a:highlight>
                <a:latin typeface="Consolas" panose="020B0609020204030204" pitchFamily="49" charset="0"/>
              </a:rPr>
              <a:t> </a:t>
            </a:r>
            <a:r>
              <a:rPr lang="en-US" sz="1100" b="0" dirty="0">
                <a:solidFill>
                  <a:srgbClr val="4EC9B0"/>
                </a:solidFill>
                <a:effectLst/>
                <a:highlight>
                  <a:srgbClr val="1F1F1F"/>
                </a:highlight>
                <a:latin typeface="Consolas" panose="020B0609020204030204" pitchFamily="49" charset="0"/>
              </a:rPr>
              <a:t>counter</a:t>
            </a:r>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input</a:t>
            </a:r>
            <a:r>
              <a:rPr lang="en-US" sz="1100" b="0" dirty="0">
                <a:solidFill>
                  <a:srgbClr val="CCCCCC"/>
                </a:solidFill>
                <a:effectLst/>
                <a:highlight>
                  <a:srgbClr val="1F1F1F"/>
                </a:highlight>
                <a:latin typeface="Consolas" panose="020B0609020204030204" pitchFamily="49" charset="0"/>
              </a:rPr>
              <a:t> Clk, </a:t>
            </a:r>
            <a:r>
              <a:rPr lang="en-US" sz="1100" b="0" dirty="0">
                <a:solidFill>
                  <a:srgbClr val="569CD6"/>
                </a:solidFill>
                <a:effectLst/>
                <a:highlight>
                  <a:srgbClr val="1F1F1F"/>
                </a:highlight>
                <a:latin typeface="Consolas" panose="020B0609020204030204" pitchFamily="49" charset="0"/>
              </a:rPr>
              <a:t>input</a:t>
            </a:r>
            <a:r>
              <a:rPr lang="en-US" sz="1100" b="0" dirty="0">
                <a:solidFill>
                  <a:srgbClr val="CCCCCC"/>
                </a:solidFill>
                <a:effectLst/>
                <a:highlight>
                  <a:srgbClr val="1F1F1F"/>
                </a:highlight>
                <a:latin typeface="Consolas" panose="020B0609020204030204" pitchFamily="49" charset="0"/>
              </a:rPr>
              <a:t> G );</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reg</a:t>
            </a:r>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2</a:t>
            </a:r>
            <a:r>
              <a:rPr lang="en-US" sz="1100" b="0" dirty="0">
                <a:solidFill>
                  <a:srgbClr val="CCCCCC"/>
                </a:solidFill>
                <a:effectLst/>
                <a:highlight>
                  <a:srgbClr val="1F1F1F"/>
                </a:highlight>
                <a:latin typeface="Consolas" panose="020B0609020204030204" pitchFamily="49" charset="0"/>
              </a:rPr>
              <a:t>:</a:t>
            </a:r>
            <a:r>
              <a:rPr lang="en-US" sz="1100" b="0" dirty="0">
                <a:solidFill>
                  <a:srgbClr val="B5CEA8"/>
                </a:solidFill>
                <a:effectLst/>
                <a:highlight>
                  <a:srgbClr val="1F1F1F"/>
                </a:highlight>
                <a:latin typeface="Consolas" panose="020B0609020204030204" pitchFamily="49" charset="0"/>
              </a:rPr>
              <a:t>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3’d0</a:t>
            </a:r>
            <a:r>
              <a:rPr lang="en-US" sz="1100" b="0" dirty="0">
                <a:solidFill>
                  <a:srgbClr val="CCCCCC"/>
                </a:solidFill>
                <a:effectLst/>
                <a:highlight>
                  <a:srgbClr val="1F1F1F"/>
                </a:highlight>
                <a:latin typeface="Consolas" panose="020B0609020204030204" pitchFamily="49" charset="0"/>
              </a:rPr>
              <a:t>; </a:t>
            </a:r>
            <a:r>
              <a:rPr lang="en-US" sz="1100" b="0" dirty="0">
                <a:solidFill>
                  <a:srgbClr val="6A9955"/>
                </a:solidFill>
                <a:effectLst/>
                <a:highlight>
                  <a:srgbClr val="1F1F1F"/>
                </a:highlight>
                <a:latin typeface="Consolas" panose="020B0609020204030204" pitchFamily="49" charset="0"/>
              </a:rPr>
              <a:t>// WARNING: not synthesizable</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p>
          <a:p>
            <a:r>
              <a:rPr lang="en-US" sz="1100" b="0" dirty="0">
                <a:solidFill>
                  <a:srgbClr val="CCCCCC"/>
                </a:solidFill>
                <a:effectLst/>
                <a:highlight>
                  <a:srgbClr val="1F1F1F"/>
                </a:highlight>
                <a:latin typeface="Consolas" panose="020B0609020204030204" pitchFamily="49" charset="0"/>
              </a:rPr>
              <a:t>  </a:t>
            </a:r>
            <a:r>
              <a:rPr lang="en-US" sz="1100" b="0" dirty="0" err="1">
                <a:solidFill>
                  <a:srgbClr val="569CD6"/>
                </a:solidFill>
                <a:effectLst/>
                <a:highlight>
                  <a:srgbClr val="1F1F1F"/>
                </a:highlight>
                <a:latin typeface="Consolas" panose="020B0609020204030204" pitchFamily="49" charset="0"/>
              </a:rPr>
              <a:t>always</a:t>
            </a:r>
            <a:r>
              <a:rPr lang="en-US" sz="1100" b="0" dirty="0">
                <a:solidFill>
                  <a:srgbClr val="CCCCCC"/>
                </a:solidFill>
                <a:effectLst/>
                <a:highlight>
                  <a:srgbClr val="1F1F1F"/>
                </a:highlight>
                <a:latin typeface="Consolas" panose="020B0609020204030204" pitchFamily="49" charset="0"/>
              </a:rPr>
              <a:t> @( </a:t>
            </a:r>
            <a:r>
              <a:rPr lang="en-US" sz="1100" b="0" dirty="0" err="1">
                <a:solidFill>
                  <a:schemeClr val="bg1"/>
                </a:solidFill>
                <a:effectLst/>
                <a:highlight>
                  <a:srgbClr val="FFFF00"/>
                </a:highlight>
                <a:latin typeface="Consolas" panose="020B0609020204030204" pitchFamily="49" charset="0"/>
              </a:rPr>
              <a:t>posedge</a:t>
            </a:r>
            <a:r>
              <a:rPr lang="en-US" sz="1100" b="0" dirty="0">
                <a:solidFill>
                  <a:srgbClr val="CCCCCC"/>
                </a:solidFill>
                <a:effectLst/>
                <a:highlight>
                  <a:srgbClr val="1F1F1F"/>
                </a:highlight>
                <a:latin typeface="Consolas" panose="020B0609020204030204" pitchFamily="49" charset="0"/>
              </a:rPr>
              <a:t> Clk ) </a:t>
            </a:r>
            <a:r>
              <a:rPr lang="en-US" sz="1100" b="0" dirty="0" err="1">
                <a:solidFill>
                  <a:srgbClr val="569CD6"/>
                </a:solidFill>
                <a:effectLst/>
                <a:highlight>
                  <a:srgbClr val="1F1F1F"/>
                </a:highlight>
                <a:latin typeface="Consolas" panose="020B0609020204030204" pitchFamily="49" charset="0"/>
              </a:rPr>
              <a:t>begin</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case</a:t>
            </a:r>
            <a:r>
              <a:rPr lang="en-US" sz="1100" b="0" dirty="0">
                <a:solidFill>
                  <a:srgbClr val="CCCCCC"/>
                </a:solidFill>
                <a:effectLst/>
                <a:highlight>
                  <a:srgbClr val="1F1F1F"/>
                </a:highlight>
                <a:latin typeface="Consolas" panose="020B0609020204030204" pitchFamily="49" charset="0"/>
              </a:rPr>
              <a:t>( S )</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err="1">
                <a:solidFill>
                  <a:srgbClr val="569CD6"/>
                </a:solidFill>
                <a:effectLst/>
                <a:highlight>
                  <a:srgbClr val="1F1F1F"/>
                </a:highlight>
                <a:latin typeface="Consolas" panose="020B0609020204030204" pitchFamily="49" charset="0"/>
              </a:rPr>
              <a:t>endcase</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end</a:t>
            </a:r>
            <a:endParaRPr lang="en-US" sz="1100" b="0" dirty="0">
              <a:solidFill>
                <a:srgbClr val="CCCCCC"/>
              </a:solidFill>
              <a:effectLst/>
              <a:highlight>
                <a:srgbClr val="1F1F1F"/>
              </a:highlight>
              <a:latin typeface="Consolas" panose="020B0609020204030204" pitchFamily="49" charset="0"/>
            </a:endParaRPr>
          </a:p>
          <a:p>
            <a:r>
              <a:rPr lang="en-US" sz="1100" b="0" dirty="0" err="1">
                <a:solidFill>
                  <a:srgbClr val="569CD6"/>
                </a:solidFill>
                <a:effectLst/>
                <a:highlight>
                  <a:srgbClr val="1F1F1F"/>
                </a:highlight>
                <a:latin typeface="Consolas" panose="020B0609020204030204" pitchFamily="49" charset="0"/>
              </a:rPr>
              <a:t>endmodule</a:t>
            </a:r>
            <a:endParaRPr lang="en-US" sz="1100" b="0" dirty="0">
              <a:solidFill>
                <a:srgbClr val="CCCCCC"/>
              </a:solidFill>
              <a:effectLst/>
              <a:highlight>
                <a:srgbClr val="1F1F1F"/>
              </a:highlight>
              <a:latin typeface="Consolas" panose="020B0609020204030204" pitchFamily="49" charset="0"/>
            </a:endParaRPr>
          </a:p>
        </p:txBody>
      </p:sp>
      <mc:AlternateContent xmlns:mc="http://schemas.openxmlformats.org/markup-compatibility/2006" xmlns:a14="http://schemas.microsoft.com/office/drawing/2010/main">
        <mc:Choice Requires="a14">
          <p:sp>
            <p:nvSpPr>
              <p:cNvPr id="6" name="Segnaposto contenuto 2">
                <a:extLst>
                  <a:ext uri="{FF2B5EF4-FFF2-40B4-BE49-F238E27FC236}">
                    <a16:creationId xmlns:a16="http://schemas.microsoft.com/office/drawing/2014/main" id="{11454517-9DFC-AEA9-65EE-84036C21684E}"/>
                  </a:ext>
                </a:extLst>
              </p:cNvPr>
              <p:cNvSpPr txBox="1">
                <a:spLocks/>
              </p:cNvSpPr>
              <p:nvPr/>
            </p:nvSpPr>
            <p:spPr>
              <a:xfrm>
                <a:off x="1141411" y="1105231"/>
                <a:ext cx="9982463" cy="274319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The </a:t>
                </a:r>
                <a:r>
                  <a:rPr lang="en-US" i="1" dirty="0"/>
                  <a:t>always block</a:t>
                </a:r>
              </a:p>
              <a:p>
                <a:r>
                  <a:rPr lang="en-US" dirty="0"/>
                  <a:t>A </a:t>
                </a:r>
                <a:r>
                  <a:rPr lang="en-US" i="1" dirty="0"/>
                  <a:t>reg</a:t>
                </a:r>
                <a:r>
                  <a:rPr lang="en-US" dirty="0"/>
                  <a:t> represents a register if it is used inside an</a:t>
                </a:r>
                <a:br>
                  <a:rPr lang="en-US" dirty="0"/>
                </a:br>
                <a:r>
                  <a:rPr lang="en-US" i="1" dirty="0" err="1"/>
                  <a:t>always</a:t>
                </a:r>
                <a:r>
                  <a:rPr lang="en-US" dirty="0"/>
                  <a:t> block with synchronous sequential logic,</a:t>
                </a:r>
                <a:br>
                  <a:rPr lang="en-US" dirty="0"/>
                </a:br>
                <a:r>
                  <a:rPr lang="en-US" dirty="0"/>
                  <a:t>which is generated by specifying the list of signals</a:t>
                </a:r>
                <a:br>
                  <a:rPr lang="en-US" dirty="0"/>
                </a:br>
                <a:r>
                  <a:rPr lang="en-US" dirty="0"/>
                  <a:t>in the "sensitivity list" of the </a:t>
                </a:r>
                <a:r>
                  <a:rPr lang="en-US" i="1" dirty="0" err="1"/>
                  <a:t>always</a:t>
                </a:r>
                <a:r>
                  <a:rPr lang="en-US" dirty="0"/>
                  <a:t> block.</a:t>
                </a:r>
              </a:p>
              <a:p>
                <a:r>
                  <a:rPr lang="en-US" dirty="0"/>
                  <a:t>Moreover, with the keywords </a:t>
                </a:r>
                <a:r>
                  <a:rPr lang="en-US" i="1" dirty="0" err="1">
                    <a:solidFill>
                      <a:srgbClr val="FFFF00"/>
                    </a:solidFill>
                  </a:rPr>
                  <a:t>posedge</a:t>
                </a:r>
                <a:r>
                  <a:rPr lang="en-US" dirty="0"/>
                  <a:t> and </a:t>
                </a:r>
                <a:r>
                  <a:rPr lang="en-US" i="1" dirty="0" err="1"/>
                  <a:t>negedge</a:t>
                </a:r>
                <a:r>
                  <a:rPr lang="en-US" dirty="0"/>
                  <a:t> you </a:t>
                </a:r>
                <a:br>
                  <a:rPr lang="en-US" dirty="0"/>
                </a:br>
                <a:r>
                  <a:rPr lang="en-US" dirty="0"/>
                  <a:t>can specify on which edge (signal change) the </a:t>
                </a:r>
                <a:br>
                  <a:rPr lang="en-US" dirty="0"/>
                </a:br>
                <a:r>
                  <a:rPr lang="en-US" dirty="0"/>
                  <a:t>block is activated: </a:t>
                </a:r>
                <a:r>
                  <a:rPr lang="en-US" i="1" dirty="0" err="1"/>
                  <a:t>posedge</a:t>
                </a:r>
                <a:r>
                  <a:rPr lang="en-US" i="1" dirty="0"/>
                  <a:t> 0</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i="1" dirty="0"/>
                  <a:t>1, negedge 1</a:t>
                </a:r>
                <a14:m>
                  <m:oMath xmlns:m="http://schemas.openxmlformats.org/officeDocument/2006/math">
                    <m:r>
                      <a:rPr lang="en-US" i="1">
                        <a:latin typeface="Cambria Math" panose="02040503050406030204" pitchFamily="18" charset="0"/>
                        <a:ea typeface="Cambria Math" panose="02040503050406030204" pitchFamily="18" charset="0"/>
                      </a:rPr>
                      <m:t>→ </m:t>
                    </m:r>
                  </m:oMath>
                </a14:m>
                <a:r>
                  <a:rPr lang="en-US" i="1" dirty="0"/>
                  <a:t>0.</a:t>
                </a:r>
                <a:endParaRPr lang="en-US" dirty="0"/>
              </a:p>
            </p:txBody>
          </p:sp>
        </mc:Choice>
        <mc:Fallback xmlns="">
          <p:sp>
            <p:nvSpPr>
              <p:cNvPr id="6" name="Segnaposto contenuto 2">
                <a:extLst>
                  <a:ext uri="{FF2B5EF4-FFF2-40B4-BE49-F238E27FC236}">
                    <a16:creationId xmlns:a16="http://schemas.microsoft.com/office/drawing/2014/main" id="{11454517-9DFC-AEA9-65EE-84036C21684E}"/>
                  </a:ext>
                </a:extLst>
              </p:cNvPr>
              <p:cNvSpPr txBox="1">
                <a:spLocks noRot="1" noChangeAspect="1" noMove="1" noResize="1" noEditPoints="1" noAdjustHandles="1" noChangeArrowheads="1" noChangeShapeType="1" noTextEdit="1"/>
              </p:cNvSpPr>
              <p:nvPr/>
            </p:nvSpPr>
            <p:spPr>
              <a:xfrm>
                <a:off x="1141411" y="1105231"/>
                <a:ext cx="9982463" cy="2743199"/>
              </a:xfrm>
              <a:prstGeom prst="rect">
                <a:avLst/>
              </a:prstGeom>
              <a:blipFill>
                <a:blip r:embed="rId2"/>
                <a:stretch>
                  <a:fillRect l="-733" t="-1333" b="-889"/>
                </a:stretch>
              </a:blipFill>
            </p:spPr>
            <p:txBody>
              <a:bodyPr/>
              <a:lstStyle/>
              <a:p>
                <a:r>
                  <a:rPr lang="it-IT">
                    <a:noFill/>
                  </a:rPr>
                  <a:t> </a:t>
                </a:r>
              </a:p>
            </p:txBody>
          </p:sp>
        </mc:Fallback>
      </mc:AlternateContent>
    </p:spTree>
    <p:extLst>
      <p:ext uri="{BB962C8B-B14F-4D97-AF65-F5344CB8AC3E}">
        <p14:creationId xmlns:p14="http://schemas.microsoft.com/office/powerpoint/2010/main" val="36688113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1" y="1105232"/>
                <a:ext cx="9982463" cy="4627658"/>
              </a:xfrm>
            </p:spPr>
            <p:txBody>
              <a:bodyPr>
                <a:normAutofit fontScale="77500" lnSpcReduction="20000"/>
              </a:bodyPr>
              <a:lstStyle/>
              <a:p>
                <a:pPr marL="0" indent="0">
                  <a:buNone/>
                </a:pPr>
                <a:r>
                  <a:rPr lang="en-US" dirty="0"/>
                  <a:t>The </a:t>
                </a:r>
                <a:r>
                  <a:rPr lang="en-US" i="1" dirty="0"/>
                  <a:t>always block</a:t>
                </a:r>
              </a:p>
              <a:p>
                <a:r>
                  <a:rPr lang="en-US" dirty="0"/>
                  <a:t>A </a:t>
                </a:r>
                <a:r>
                  <a:rPr lang="en-US" i="1" dirty="0"/>
                  <a:t>reg</a:t>
                </a:r>
                <a:r>
                  <a:rPr lang="en-US" dirty="0"/>
                  <a:t> represents a register if it is used inside an</a:t>
                </a:r>
                <a:br>
                  <a:rPr lang="en-US" dirty="0"/>
                </a:br>
                <a:r>
                  <a:rPr lang="en-US" i="1" dirty="0" err="1"/>
                  <a:t>always</a:t>
                </a:r>
                <a:r>
                  <a:rPr lang="en-US" dirty="0"/>
                  <a:t> block with synchronous sequential logic,</a:t>
                </a:r>
                <a:br>
                  <a:rPr lang="en-US" dirty="0"/>
                </a:br>
                <a:r>
                  <a:rPr lang="en-US" dirty="0"/>
                  <a:t>which is generated by specifying the list of signals</a:t>
                </a:r>
                <a:br>
                  <a:rPr lang="en-US" dirty="0"/>
                </a:br>
                <a:r>
                  <a:rPr lang="en-US" dirty="0"/>
                  <a:t>in the "sensitivity list" of the </a:t>
                </a:r>
                <a:r>
                  <a:rPr lang="en-US" i="1" dirty="0" err="1"/>
                  <a:t>always</a:t>
                </a:r>
                <a:r>
                  <a:rPr lang="en-US" dirty="0"/>
                  <a:t> block.</a:t>
                </a:r>
              </a:p>
              <a:p>
                <a:r>
                  <a:rPr lang="en-US" dirty="0"/>
                  <a:t>Moreover, with the keywords </a:t>
                </a:r>
                <a:r>
                  <a:rPr lang="en-US" i="1" dirty="0" err="1"/>
                  <a:t>posedge</a:t>
                </a:r>
                <a:r>
                  <a:rPr lang="en-US" dirty="0"/>
                  <a:t> and </a:t>
                </a:r>
                <a:r>
                  <a:rPr lang="en-US" i="1" dirty="0" err="1"/>
                  <a:t>negedge</a:t>
                </a:r>
                <a:r>
                  <a:rPr lang="en-US" dirty="0"/>
                  <a:t> you </a:t>
                </a:r>
                <a:br>
                  <a:rPr lang="en-US" dirty="0"/>
                </a:br>
                <a:r>
                  <a:rPr lang="en-US" dirty="0"/>
                  <a:t>can specify on which edge (signal change) the </a:t>
                </a:r>
                <a:br>
                  <a:rPr lang="en-US" dirty="0"/>
                </a:br>
                <a:r>
                  <a:rPr lang="en-US" dirty="0"/>
                  <a:t>block is activated: </a:t>
                </a:r>
                <a:r>
                  <a:rPr lang="en-US" i="1" dirty="0" err="1"/>
                  <a:t>posedge</a:t>
                </a:r>
                <a:r>
                  <a:rPr lang="en-US" i="1" dirty="0"/>
                  <a:t> 0</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i="1" dirty="0"/>
                  <a:t>1, negedge 1</a:t>
                </a:r>
                <a14:m>
                  <m:oMath xmlns:m="http://schemas.openxmlformats.org/officeDocument/2006/math">
                    <m:r>
                      <a:rPr lang="en-US" i="1">
                        <a:latin typeface="Cambria Math" panose="02040503050406030204" pitchFamily="18" charset="0"/>
                        <a:ea typeface="Cambria Math" panose="02040503050406030204" pitchFamily="18" charset="0"/>
                      </a:rPr>
                      <m:t>→ </m:t>
                    </m:r>
                  </m:oMath>
                </a14:m>
                <a:r>
                  <a:rPr lang="en-US" i="1" dirty="0"/>
                  <a:t>0.</a:t>
                </a:r>
                <a:endParaRPr lang="en-US" dirty="0"/>
              </a:p>
              <a:p>
                <a:r>
                  <a:rPr lang="en-US" dirty="0"/>
                  <a:t>Inside the </a:t>
                </a:r>
                <a:r>
                  <a:rPr lang="en-US" i="1" dirty="0" err="1"/>
                  <a:t>always</a:t>
                </a:r>
                <a:r>
                  <a:rPr lang="en-US" dirty="0"/>
                  <a:t> block there is a </a:t>
                </a:r>
                <a:br>
                  <a:rPr lang="en-US" dirty="0"/>
                </a:br>
                <a:r>
                  <a:rPr lang="en-US" i="1" dirty="0">
                    <a:solidFill>
                      <a:srgbClr val="FFFF00"/>
                    </a:solidFill>
                  </a:rPr>
                  <a:t>case</a:t>
                </a:r>
                <a:r>
                  <a:rPr lang="en-US" dirty="0"/>
                  <a:t> statement that serves to synthesize the</a:t>
                </a:r>
                <a:br>
                  <a:rPr lang="en-US" dirty="0"/>
                </a:br>
                <a:r>
                  <a:rPr lang="en-US" dirty="0"/>
                  <a:t>next-state function, taken from the Gray/Binary counter example seen earlier. As is known, the function that computes the next state is a combinational structure, and note that in this case no equations were used to define it. </a:t>
                </a:r>
                <a:r>
                  <a:rPr lang="en-US" i="1" dirty="0" err="1"/>
                  <a:t>always</a:t>
                </a:r>
                <a:r>
                  <a:rPr lang="en-US" dirty="0"/>
                  <a:t> blocks can make the code more readable and easier to understand.</a:t>
                </a:r>
              </a:p>
            </p:txBody>
          </p:sp>
        </mc:Choice>
        <mc:Fallback xmlns="">
          <p:sp>
            <p:nvSpPr>
              <p:cNvPr id="3" name="Segnaposto contenuto 2">
                <a:extLst>
                  <a:ext uri="{FF2B5EF4-FFF2-40B4-BE49-F238E27FC236}">
                    <a16:creationId xmlns:a16="http://schemas.microsoft.com/office/drawing/2014/main" id="{E5263DDB-373B-EAA4-8628-924DA43E44AB}"/>
                  </a:ext>
                </a:extLst>
              </p:cNvPr>
              <p:cNvSpPr>
                <a:spLocks noGrp="1" noRot="1" noChangeAspect="1" noMove="1" noResize="1" noEditPoints="1" noAdjustHandles="1" noChangeArrowheads="1" noChangeShapeType="1" noTextEdit="1"/>
              </p:cNvSpPr>
              <p:nvPr>
                <p:ph idx="1"/>
              </p:nvPr>
            </p:nvSpPr>
            <p:spPr>
              <a:xfrm>
                <a:off x="1141411" y="1105232"/>
                <a:ext cx="9982463" cy="4627658"/>
              </a:xfrm>
              <a:blipFill>
                <a:blip r:embed="rId2"/>
                <a:stretch>
                  <a:fillRect l="-733" t="-791"/>
                </a:stretch>
              </a:blipFill>
            </p:spPr>
            <p:txBody>
              <a:bodyPr/>
              <a:lstStyle/>
              <a:p>
                <a:r>
                  <a:rPr lang="it-IT">
                    <a:noFill/>
                  </a:rPr>
                  <a:t> </a:t>
                </a:r>
              </a:p>
            </p:txBody>
          </p:sp>
        </mc:Fallback>
      </mc:AlternateContent>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(14/3)</a:t>
            </a:r>
          </a:p>
        </p:txBody>
      </p:sp>
      <p:sp>
        <p:nvSpPr>
          <p:cNvPr id="2" name="CasellaDiTesto 1">
            <a:extLst>
              <a:ext uri="{FF2B5EF4-FFF2-40B4-BE49-F238E27FC236}">
                <a16:creationId xmlns:a16="http://schemas.microsoft.com/office/drawing/2014/main" id="{B6D6F4ED-8D82-BB7B-7488-3264D0E3380A}"/>
              </a:ext>
            </a:extLst>
          </p:cNvPr>
          <p:cNvSpPr txBox="1"/>
          <p:nvPr/>
        </p:nvSpPr>
        <p:spPr>
          <a:xfrm>
            <a:off x="7279420" y="1483178"/>
            <a:ext cx="4583926" cy="2800767"/>
          </a:xfrm>
          <a:prstGeom prst="rect">
            <a:avLst/>
          </a:prstGeom>
          <a:solidFill>
            <a:srgbClr val="1F1F1F"/>
          </a:solidFill>
          <a:ln w="38100">
            <a:solidFill>
              <a:schemeClr val="accent5">
                <a:lumMod val="75000"/>
              </a:schemeClr>
            </a:solidFill>
          </a:ln>
        </p:spPr>
        <p:txBody>
          <a:bodyPr wrap="square" rtlCol="0">
            <a:spAutoFit/>
          </a:bodyPr>
          <a:lstStyle/>
          <a:p>
            <a:r>
              <a:rPr lang="en-US" sz="1100" b="0" dirty="0" err="1">
                <a:solidFill>
                  <a:srgbClr val="569CD6"/>
                </a:solidFill>
                <a:effectLst/>
                <a:highlight>
                  <a:srgbClr val="1F1F1F"/>
                </a:highlight>
                <a:latin typeface="Consolas" panose="020B0609020204030204" pitchFamily="49" charset="0"/>
              </a:rPr>
              <a:t>module</a:t>
            </a:r>
            <a:r>
              <a:rPr lang="en-US" sz="1100" b="0" dirty="0">
                <a:solidFill>
                  <a:srgbClr val="CCCCCC"/>
                </a:solidFill>
                <a:effectLst/>
                <a:highlight>
                  <a:srgbClr val="1F1F1F"/>
                </a:highlight>
                <a:latin typeface="Consolas" panose="020B0609020204030204" pitchFamily="49" charset="0"/>
              </a:rPr>
              <a:t> </a:t>
            </a:r>
            <a:r>
              <a:rPr lang="en-US" sz="1100" b="0" dirty="0">
                <a:solidFill>
                  <a:srgbClr val="4EC9B0"/>
                </a:solidFill>
                <a:effectLst/>
                <a:highlight>
                  <a:srgbClr val="1F1F1F"/>
                </a:highlight>
                <a:latin typeface="Consolas" panose="020B0609020204030204" pitchFamily="49" charset="0"/>
              </a:rPr>
              <a:t>counter</a:t>
            </a:r>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input</a:t>
            </a:r>
            <a:r>
              <a:rPr lang="en-US" sz="1100" b="0" dirty="0">
                <a:solidFill>
                  <a:srgbClr val="CCCCCC"/>
                </a:solidFill>
                <a:effectLst/>
                <a:highlight>
                  <a:srgbClr val="1F1F1F"/>
                </a:highlight>
                <a:latin typeface="Consolas" panose="020B0609020204030204" pitchFamily="49" charset="0"/>
              </a:rPr>
              <a:t> Clk, </a:t>
            </a:r>
            <a:r>
              <a:rPr lang="en-US" sz="1100" b="0" dirty="0">
                <a:solidFill>
                  <a:srgbClr val="569CD6"/>
                </a:solidFill>
                <a:effectLst/>
                <a:highlight>
                  <a:srgbClr val="1F1F1F"/>
                </a:highlight>
                <a:latin typeface="Consolas" panose="020B0609020204030204" pitchFamily="49" charset="0"/>
              </a:rPr>
              <a:t>input</a:t>
            </a:r>
            <a:r>
              <a:rPr lang="en-US" sz="1100" b="0" dirty="0">
                <a:solidFill>
                  <a:srgbClr val="CCCCCC"/>
                </a:solidFill>
                <a:effectLst/>
                <a:highlight>
                  <a:srgbClr val="1F1F1F"/>
                </a:highlight>
                <a:latin typeface="Consolas" panose="020B0609020204030204" pitchFamily="49" charset="0"/>
              </a:rPr>
              <a:t> G );</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reg</a:t>
            </a:r>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2</a:t>
            </a:r>
            <a:r>
              <a:rPr lang="en-US" sz="1100" b="0" dirty="0">
                <a:solidFill>
                  <a:srgbClr val="CCCCCC"/>
                </a:solidFill>
                <a:effectLst/>
                <a:highlight>
                  <a:srgbClr val="1F1F1F"/>
                </a:highlight>
                <a:latin typeface="Consolas" panose="020B0609020204030204" pitchFamily="49" charset="0"/>
              </a:rPr>
              <a:t>:</a:t>
            </a:r>
            <a:r>
              <a:rPr lang="en-US" sz="1100" b="0" dirty="0">
                <a:solidFill>
                  <a:srgbClr val="B5CEA8"/>
                </a:solidFill>
                <a:effectLst/>
                <a:highlight>
                  <a:srgbClr val="1F1F1F"/>
                </a:highlight>
                <a:latin typeface="Consolas" panose="020B0609020204030204" pitchFamily="49" charset="0"/>
              </a:rPr>
              <a:t>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3’d0</a:t>
            </a:r>
            <a:r>
              <a:rPr lang="en-US" sz="1100" b="0" dirty="0">
                <a:solidFill>
                  <a:srgbClr val="CCCCCC"/>
                </a:solidFill>
                <a:effectLst/>
                <a:highlight>
                  <a:srgbClr val="1F1F1F"/>
                </a:highlight>
                <a:latin typeface="Consolas" panose="020B0609020204030204" pitchFamily="49" charset="0"/>
              </a:rPr>
              <a:t>; </a:t>
            </a:r>
            <a:r>
              <a:rPr lang="en-US" sz="1100" b="0" dirty="0">
                <a:solidFill>
                  <a:srgbClr val="6A9955"/>
                </a:solidFill>
                <a:effectLst/>
                <a:highlight>
                  <a:srgbClr val="1F1F1F"/>
                </a:highlight>
                <a:latin typeface="Consolas" panose="020B0609020204030204" pitchFamily="49" charset="0"/>
              </a:rPr>
              <a:t>// WARNING: not synthesizable</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p>
          <a:p>
            <a:r>
              <a:rPr lang="en-US" sz="1100" b="0" dirty="0">
                <a:solidFill>
                  <a:srgbClr val="CCCCCC"/>
                </a:solidFill>
                <a:effectLst/>
                <a:highlight>
                  <a:srgbClr val="1F1F1F"/>
                </a:highlight>
                <a:latin typeface="Consolas" panose="020B0609020204030204" pitchFamily="49" charset="0"/>
              </a:rPr>
              <a:t>  </a:t>
            </a:r>
            <a:r>
              <a:rPr lang="en-US" sz="1100" b="0" dirty="0" err="1">
                <a:solidFill>
                  <a:srgbClr val="569CD6"/>
                </a:solidFill>
                <a:effectLst/>
                <a:highlight>
                  <a:srgbClr val="1F1F1F"/>
                </a:highlight>
                <a:latin typeface="Consolas" panose="020B0609020204030204" pitchFamily="49" charset="0"/>
              </a:rPr>
              <a:t>always</a:t>
            </a:r>
            <a:r>
              <a:rPr lang="en-US" sz="1100" b="0" dirty="0">
                <a:solidFill>
                  <a:srgbClr val="CCCCCC"/>
                </a:solidFill>
                <a:effectLst/>
                <a:highlight>
                  <a:srgbClr val="1F1F1F"/>
                </a:highlight>
                <a:latin typeface="Consolas" panose="020B0609020204030204" pitchFamily="49" charset="0"/>
              </a:rPr>
              <a:t> @( </a:t>
            </a:r>
            <a:r>
              <a:rPr lang="en-US" sz="1100" b="0" dirty="0" err="1">
                <a:solidFill>
                  <a:srgbClr val="569CD6"/>
                </a:solidFill>
                <a:effectLst/>
                <a:highlight>
                  <a:srgbClr val="1F1F1F"/>
                </a:highlight>
                <a:latin typeface="Consolas" panose="020B0609020204030204" pitchFamily="49" charset="0"/>
              </a:rPr>
              <a:t>posedge</a:t>
            </a:r>
            <a:r>
              <a:rPr lang="en-US" sz="1100" b="0" dirty="0">
                <a:solidFill>
                  <a:srgbClr val="CCCCCC"/>
                </a:solidFill>
                <a:effectLst/>
                <a:highlight>
                  <a:srgbClr val="1F1F1F"/>
                </a:highlight>
                <a:latin typeface="Consolas" panose="020B0609020204030204" pitchFamily="49" charset="0"/>
              </a:rPr>
              <a:t> Clk )</a:t>
            </a:r>
            <a:r>
              <a:rPr lang="en-US" sz="1100" b="0" dirty="0">
                <a:solidFill>
                  <a:schemeClr val="bg1"/>
                </a:solidFill>
                <a:effectLst/>
                <a:highlight>
                  <a:srgbClr val="1F1F1F"/>
                </a:highlight>
                <a:latin typeface="Consolas" panose="020B0609020204030204" pitchFamily="49" charset="0"/>
              </a:rPr>
              <a:t> </a:t>
            </a:r>
            <a:r>
              <a:rPr lang="en-US" sz="1100" b="0" dirty="0" err="1">
                <a:solidFill>
                  <a:srgbClr val="569CD6"/>
                </a:solidFill>
                <a:effectLst/>
                <a:highlight>
                  <a:srgbClr val="1F1F1F"/>
                </a:highlight>
                <a:latin typeface="Consolas" panose="020B0609020204030204" pitchFamily="49" charset="0"/>
              </a:rPr>
              <a:t>begin</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case</a:t>
            </a:r>
            <a:r>
              <a:rPr lang="en-US" sz="1100" b="0" dirty="0">
                <a:solidFill>
                  <a:srgbClr val="CCCCCC"/>
                </a:solidFill>
                <a:effectLst/>
                <a:highlight>
                  <a:srgbClr val="1F1F1F"/>
                </a:highlight>
                <a:latin typeface="Consolas" panose="020B0609020204030204" pitchFamily="49" charset="0"/>
              </a:rPr>
              <a:t>( S )</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err="1">
                <a:solidFill>
                  <a:srgbClr val="569CD6"/>
                </a:solidFill>
                <a:effectLst/>
                <a:highlight>
                  <a:srgbClr val="1F1F1F"/>
                </a:highlight>
                <a:latin typeface="Consolas" panose="020B0609020204030204" pitchFamily="49" charset="0"/>
              </a:rPr>
              <a:t>endcase</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end</a:t>
            </a:r>
            <a:endParaRPr lang="en-US" sz="1100" b="0" dirty="0">
              <a:solidFill>
                <a:srgbClr val="CCCCCC"/>
              </a:solidFill>
              <a:effectLst/>
              <a:highlight>
                <a:srgbClr val="1F1F1F"/>
              </a:highlight>
              <a:latin typeface="Consolas" panose="020B0609020204030204" pitchFamily="49" charset="0"/>
            </a:endParaRPr>
          </a:p>
          <a:p>
            <a:r>
              <a:rPr lang="en-US" sz="1100" b="0" dirty="0" err="1">
                <a:solidFill>
                  <a:srgbClr val="569CD6"/>
                </a:solidFill>
                <a:effectLst/>
                <a:highlight>
                  <a:srgbClr val="1F1F1F"/>
                </a:highlight>
                <a:latin typeface="Consolas" panose="020B0609020204030204" pitchFamily="49" charset="0"/>
              </a:rPr>
              <a:t>endmodule</a:t>
            </a:r>
            <a:endParaRPr lang="en-US" sz="1100" b="0" dirty="0">
              <a:solidFill>
                <a:srgbClr val="CCCCCC"/>
              </a:solidFill>
              <a:effectLst/>
              <a:highlight>
                <a:srgbClr val="1F1F1F"/>
              </a:highlight>
              <a:latin typeface="Consolas" panose="020B0609020204030204" pitchFamily="49" charset="0"/>
            </a:endParaRPr>
          </a:p>
        </p:txBody>
      </p:sp>
      <p:sp>
        <p:nvSpPr>
          <p:cNvPr id="5" name="Rettangolo 4">
            <a:extLst>
              <a:ext uri="{FF2B5EF4-FFF2-40B4-BE49-F238E27FC236}">
                <a16:creationId xmlns:a16="http://schemas.microsoft.com/office/drawing/2014/main" id="{6883197C-B91B-061B-2D26-A3DC369A7E35}"/>
              </a:ext>
            </a:extLst>
          </p:cNvPr>
          <p:cNvSpPr/>
          <p:nvPr/>
        </p:nvSpPr>
        <p:spPr>
          <a:xfrm>
            <a:off x="7649155" y="2210462"/>
            <a:ext cx="2838616" cy="166977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Elemento grafico 5">
            <a:extLst>
              <a:ext uri="{FF2B5EF4-FFF2-40B4-BE49-F238E27FC236}">
                <a16:creationId xmlns:a16="http://schemas.microsoft.com/office/drawing/2014/main" id="{733C0900-ABE1-E4CF-7A40-94AC098A67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67199" y="1827377"/>
            <a:ext cx="1192780" cy="1900584"/>
          </a:xfrm>
          <a:prstGeom prst="rect">
            <a:avLst/>
          </a:prstGeom>
        </p:spPr>
      </p:pic>
    </p:spTree>
    <p:extLst>
      <p:ext uri="{BB962C8B-B14F-4D97-AF65-F5344CB8AC3E}">
        <p14:creationId xmlns:p14="http://schemas.microsoft.com/office/powerpoint/2010/main" val="237463889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1" y="1105231"/>
                <a:ext cx="9982463" cy="5752769"/>
              </a:xfrm>
            </p:spPr>
            <p:txBody>
              <a:bodyPr>
                <a:normAutofit fontScale="77500" lnSpcReduction="20000"/>
              </a:bodyPr>
              <a:lstStyle/>
              <a:p>
                <a:pPr marL="0" indent="0">
                  <a:buNone/>
                </a:pPr>
                <a:r>
                  <a:rPr lang="en-US" dirty="0"/>
                  <a:t>The </a:t>
                </a:r>
                <a:r>
                  <a:rPr lang="en-US" i="1" dirty="0"/>
                  <a:t>always block</a:t>
                </a:r>
              </a:p>
              <a:p>
                <a:r>
                  <a:rPr lang="en-US" dirty="0"/>
                  <a:t>A </a:t>
                </a:r>
                <a:r>
                  <a:rPr lang="en-US" i="1" dirty="0"/>
                  <a:t>reg</a:t>
                </a:r>
                <a:r>
                  <a:rPr lang="en-US" dirty="0"/>
                  <a:t> represents a register if it is used inside an</a:t>
                </a:r>
                <a:br>
                  <a:rPr lang="en-US" dirty="0"/>
                </a:br>
                <a:r>
                  <a:rPr lang="en-US" i="1" dirty="0" err="1"/>
                  <a:t>always</a:t>
                </a:r>
                <a:r>
                  <a:rPr lang="en-US" dirty="0"/>
                  <a:t> block with synchronous sequential logic,</a:t>
                </a:r>
                <a:br>
                  <a:rPr lang="en-US" dirty="0"/>
                </a:br>
                <a:r>
                  <a:rPr lang="en-US" dirty="0"/>
                  <a:t>which is generated by specifying the list of signals</a:t>
                </a:r>
                <a:br>
                  <a:rPr lang="en-US" dirty="0"/>
                </a:br>
                <a:r>
                  <a:rPr lang="en-US" dirty="0"/>
                  <a:t>in the "sensitivity list" of the </a:t>
                </a:r>
                <a:r>
                  <a:rPr lang="en-US" i="1" dirty="0" err="1"/>
                  <a:t>always</a:t>
                </a:r>
                <a:r>
                  <a:rPr lang="en-US" dirty="0"/>
                  <a:t> block.</a:t>
                </a:r>
              </a:p>
              <a:p>
                <a:r>
                  <a:rPr lang="en-US" dirty="0"/>
                  <a:t>Moreover, with the keywords </a:t>
                </a:r>
                <a:r>
                  <a:rPr lang="en-US" i="1" dirty="0" err="1"/>
                  <a:t>posedge</a:t>
                </a:r>
                <a:r>
                  <a:rPr lang="en-US" dirty="0"/>
                  <a:t> and </a:t>
                </a:r>
                <a:r>
                  <a:rPr lang="en-US" i="1" dirty="0" err="1"/>
                  <a:t>negedge</a:t>
                </a:r>
                <a:r>
                  <a:rPr lang="en-US" dirty="0"/>
                  <a:t> you </a:t>
                </a:r>
                <a:br>
                  <a:rPr lang="en-US" dirty="0"/>
                </a:br>
                <a:r>
                  <a:rPr lang="en-US" dirty="0"/>
                  <a:t>can specify on which edge (signal change) the </a:t>
                </a:r>
                <a:br>
                  <a:rPr lang="en-US" dirty="0"/>
                </a:br>
                <a:r>
                  <a:rPr lang="en-US" dirty="0"/>
                  <a:t>block is activated: </a:t>
                </a:r>
                <a:r>
                  <a:rPr lang="en-US" i="1" dirty="0" err="1"/>
                  <a:t>posedge</a:t>
                </a:r>
                <a:r>
                  <a:rPr lang="en-US" i="1" dirty="0"/>
                  <a:t> 0</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i="1" dirty="0"/>
                  <a:t>1, negedge 1</a:t>
                </a:r>
                <a14:m>
                  <m:oMath xmlns:m="http://schemas.openxmlformats.org/officeDocument/2006/math">
                    <m:r>
                      <a:rPr lang="en-US" i="1">
                        <a:latin typeface="Cambria Math" panose="02040503050406030204" pitchFamily="18" charset="0"/>
                        <a:ea typeface="Cambria Math" panose="02040503050406030204" pitchFamily="18" charset="0"/>
                      </a:rPr>
                      <m:t>→ </m:t>
                    </m:r>
                  </m:oMath>
                </a14:m>
                <a:r>
                  <a:rPr lang="en-US" i="1" dirty="0"/>
                  <a:t>0.</a:t>
                </a:r>
                <a:endParaRPr lang="en-US" dirty="0"/>
              </a:p>
              <a:p>
                <a:r>
                  <a:rPr lang="en-US" dirty="0"/>
                  <a:t>Inside the </a:t>
                </a:r>
                <a:r>
                  <a:rPr lang="en-US" i="1" dirty="0" err="1"/>
                  <a:t>always</a:t>
                </a:r>
                <a:r>
                  <a:rPr lang="en-US" dirty="0"/>
                  <a:t> block there is a </a:t>
                </a:r>
                <a:br>
                  <a:rPr lang="en-US" dirty="0"/>
                </a:br>
                <a:r>
                  <a:rPr lang="en-US" i="1" dirty="0"/>
                  <a:t>case</a:t>
                </a:r>
                <a:r>
                  <a:rPr lang="en-US" dirty="0"/>
                  <a:t> statement that serves to synthesize the</a:t>
                </a:r>
                <a:br>
                  <a:rPr lang="en-US" dirty="0"/>
                </a:br>
                <a:r>
                  <a:rPr lang="en-US" dirty="0"/>
                  <a:t>next-state function, taken from the Gray/Binary counter example seen earlier. As is known, the function that computes the next state is a combinational structure, and note that in this case no equations were used to define it. </a:t>
                </a:r>
                <a:r>
                  <a:rPr lang="en-US" i="1" dirty="0" err="1"/>
                  <a:t>always</a:t>
                </a:r>
                <a:r>
                  <a:rPr lang="en-US" dirty="0"/>
                  <a:t> blocks can make the code more readable and easier to understand.</a:t>
                </a:r>
              </a:p>
              <a:p>
                <a:r>
                  <a:rPr lang="en-US" dirty="0" err="1"/>
                  <a:t>Verilog has two assignment operators: blocking (=) and non-blocking (</a:t>
                </a:r>
                <a:r>
                  <a:rPr lang="en-US" dirty="0">
                    <a:solidFill>
                      <a:srgbClr val="FFFF00"/>
                    </a:solidFill>
                  </a:rPr>
                  <a:t>&lt;=</a:t>
                </a:r>
                <a:r>
                  <a:rPr lang="en-US" dirty="0"/>
                  <a:t>). The blocking operator (=) is used for combinational logic and the non-blocking one for synchronous sequential logic.</a:t>
                </a:r>
              </a:p>
            </p:txBody>
          </p:sp>
        </mc:Choice>
        <mc:Fallback xmlns="">
          <p:sp>
            <p:nvSpPr>
              <p:cNvPr id="3" name="Segnaposto contenuto 2">
                <a:extLst>
                  <a:ext uri="{FF2B5EF4-FFF2-40B4-BE49-F238E27FC236}">
                    <a16:creationId xmlns:a16="http://schemas.microsoft.com/office/drawing/2014/main" id="{E5263DDB-373B-EAA4-8628-924DA43E44AB}"/>
                  </a:ext>
                </a:extLst>
              </p:cNvPr>
              <p:cNvSpPr>
                <a:spLocks noGrp="1" noRot="1" noChangeAspect="1" noMove="1" noResize="1" noEditPoints="1" noAdjustHandles="1" noChangeArrowheads="1" noChangeShapeType="1" noTextEdit="1"/>
              </p:cNvSpPr>
              <p:nvPr>
                <p:ph idx="1"/>
              </p:nvPr>
            </p:nvSpPr>
            <p:spPr>
              <a:xfrm>
                <a:off x="1141411" y="1105231"/>
                <a:ext cx="9982463" cy="5752769"/>
              </a:xfrm>
              <a:blipFill>
                <a:blip r:embed="rId2"/>
                <a:stretch>
                  <a:fillRect l="-733" t="-636"/>
                </a:stretch>
              </a:blipFill>
            </p:spPr>
            <p:txBody>
              <a:bodyPr/>
              <a:lstStyle/>
              <a:p>
                <a:r>
                  <a:rPr lang="it-IT">
                    <a:noFill/>
                  </a:rPr>
                  <a:t> </a:t>
                </a:r>
              </a:p>
            </p:txBody>
          </p:sp>
        </mc:Fallback>
      </mc:AlternateContent>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(14/4)</a:t>
            </a:r>
          </a:p>
        </p:txBody>
      </p:sp>
      <p:sp>
        <p:nvSpPr>
          <p:cNvPr id="2" name="CasellaDiTesto 1">
            <a:extLst>
              <a:ext uri="{FF2B5EF4-FFF2-40B4-BE49-F238E27FC236}">
                <a16:creationId xmlns:a16="http://schemas.microsoft.com/office/drawing/2014/main" id="{B6D6F4ED-8D82-BB7B-7488-3264D0E3380A}"/>
              </a:ext>
            </a:extLst>
          </p:cNvPr>
          <p:cNvSpPr txBox="1"/>
          <p:nvPr/>
        </p:nvSpPr>
        <p:spPr>
          <a:xfrm>
            <a:off x="7279420" y="1483178"/>
            <a:ext cx="4583926" cy="2800767"/>
          </a:xfrm>
          <a:prstGeom prst="rect">
            <a:avLst/>
          </a:prstGeom>
          <a:solidFill>
            <a:srgbClr val="1F1F1F"/>
          </a:solidFill>
          <a:ln w="38100">
            <a:solidFill>
              <a:schemeClr val="accent5">
                <a:lumMod val="75000"/>
              </a:schemeClr>
            </a:solidFill>
          </a:ln>
        </p:spPr>
        <p:txBody>
          <a:bodyPr wrap="square" rtlCol="0">
            <a:spAutoFit/>
          </a:bodyPr>
          <a:lstStyle/>
          <a:p>
            <a:r>
              <a:rPr lang="en-US" sz="1100" b="0" dirty="0" err="1">
                <a:solidFill>
                  <a:srgbClr val="569CD6"/>
                </a:solidFill>
                <a:effectLst/>
                <a:highlight>
                  <a:srgbClr val="1F1F1F"/>
                </a:highlight>
                <a:latin typeface="Consolas" panose="020B0609020204030204" pitchFamily="49" charset="0"/>
              </a:rPr>
              <a:t>module</a:t>
            </a:r>
            <a:r>
              <a:rPr lang="en-US" sz="1100" b="0" dirty="0">
                <a:solidFill>
                  <a:srgbClr val="CCCCCC"/>
                </a:solidFill>
                <a:effectLst/>
                <a:highlight>
                  <a:srgbClr val="1F1F1F"/>
                </a:highlight>
                <a:latin typeface="Consolas" panose="020B0609020204030204" pitchFamily="49" charset="0"/>
              </a:rPr>
              <a:t> </a:t>
            </a:r>
            <a:r>
              <a:rPr lang="en-US" sz="1100" b="0" dirty="0">
                <a:solidFill>
                  <a:srgbClr val="4EC9B0"/>
                </a:solidFill>
                <a:effectLst/>
                <a:highlight>
                  <a:srgbClr val="1F1F1F"/>
                </a:highlight>
                <a:latin typeface="Consolas" panose="020B0609020204030204" pitchFamily="49" charset="0"/>
              </a:rPr>
              <a:t>counter</a:t>
            </a:r>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input</a:t>
            </a:r>
            <a:r>
              <a:rPr lang="en-US" sz="1100" b="0" dirty="0">
                <a:solidFill>
                  <a:srgbClr val="CCCCCC"/>
                </a:solidFill>
                <a:effectLst/>
                <a:highlight>
                  <a:srgbClr val="1F1F1F"/>
                </a:highlight>
                <a:latin typeface="Consolas" panose="020B0609020204030204" pitchFamily="49" charset="0"/>
              </a:rPr>
              <a:t> Clk, </a:t>
            </a:r>
            <a:r>
              <a:rPr lang="en-US" sz="1100" b="0" dirty="0">
                <a:solidFill>
                  <a:srgbClr val="569CD6"/>
                </a:solidFill>
                <a:effectLst/>
                <a:highlight>
                  <a:srgbClr val="1F1F1F"/>
                </a:highlight>
                <a:latin typeface="Consolas" panose="020B0609020204030204" pitchFamily="49" charset="0"/>
              </a:rPr>
              <a:t>input</a:t>
            </a:r>
            <a:r>
              <a:rPr lang="en-US" sz="1100" b="0" dirty="0">
                <a:solidFill>
                  <a:srgbClr val="CCCCCC"/>
                </a:solidFill>
                <a:effectLst/>
                <a:highlight>
                  <a:srgbClr val="1F1F1F"/>
                </a:highlight>
                <a:latin typeface="Consolas" panose="020B0609020204030204" pitchFamily="49" charset="0"/>
              </a:rPr>
              <a:t> G );</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reg</a:t>
            </a:r>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2</a:t>
            </a:r>
            <a:r>
              <a:rPr lang="en-US" sz="1100" b="0" dirty="0">
                <a:solidFill>
                  <a:srgbClr val="CCCCCC"/>
                </a:solidFill>
                <a:effectLst/>
                <a:highlight>
                  <a:srgbClr val="1F1F1F"/>
                </a:highlight>
                <a:latin typeface="Consolas" panose="020B0609020204030204" pitchFamily="49" charset="0"/>
              </a:rPr>
              <a:t>:</a:t>
            </a:r>
            <a:r>
              <a:rPr lang="en-US" sz="1100" b="0" dirty="0">
                <a:solidFill>
                  <a:srgbClr val="B5CEA8"/>
                </a:solidFill>
                <a:effectLst/>
                <a:highlight>
                  <a:srgbClr val="1F1F1F"/>
                </a:highlight>
                <a:latin typeface="Consolas" panose="020B0609020204030204" pitchFamily="49" charset="0"/>
              </a:rPr>
              <a:t>0</a:t>
            </a:r>
            <a:r>
              <a:rPr lang="en-US" sz="1100" b="0" dirty="0">
                <a:solidFill>
                  <a:srgbClr val="CCCCCC"/>
                </a:solidFill>
                <a:effectLst/>
                <a:highlight>
                  <a:srgbClr val="1F1F1F"/>
                </a:highlight>
                <a:latin typeface="Consolas" panose="020B0609020204030204" pitchFamily="49" charset="0"/>
              </a:rPr>
              <a:t>] S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3’d0</a:t>
            </a:r>
            <a:r>
              <a:rPr lang="en-US" sz="1100" b="0" dirty="0">
                <a:solidFill>
                  <a:srgbClr val="CCCCCC"/>
                </a:solidFill>
                <a:effectLst/>
                <a:highlight>
                  <a:srgbClr val="1F1F1F"/>
                </a:highlight>
                <a:latin typeface="Consolas" panose="020B0609020204030204" pitchFamily="49" charset="0"/>
              </a:rPr>
              <a:t>; </a:t>
            </a:r>
            <a:r>
              <a:rPr lang="en-US" sz="1100" b="0" dirty="0">
                <a:solidFill>
                  <a:srgbClr val="6A9955"/>
                </a:solidFill>
                <a:effectLst/>
                <a:highlight>
                  <a:srgbClr val="1F1F1F"/>
                </a:highlight>
                <a:latin typeface="Consolas" panose="020B0609020204030204" pitchFamily="49" charset="0"/>
              </a:rPr>
              <a:t>// WARNING: not synthesizable</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p>
          <a:p>
            <a:r>
              <a:rPr lang="en-US" sz="1100" b="0" dirty="0">
                <a:solidFill>
                  <a:srgbClr val="CCCCCC"/>
                </a:solidFill>
                <a:effectLst/>
                <a:highlight>
                  <a:srgbClr val="1F1F1F"/>
                </a:highlight>
                <a:latin typeface="Consolas" panose="020B0609020204030204" pitchFamily="49" charset="0"/>
              </a:rPr>
              <a:t>  </a:t>
            </a:r>
            <a:r>
              <a:rPr lang="en-US" sz="1100" b="0" dirty="0" err="1">
                <a:solidFill>
                  <a:srgbClr val="569CD6"/>
                </a:solidFill>
                <a:effectLst/>
                <a:highlight>
                  <a:srgbClr val="1F1F1F"/>
                </a:highlight>
                <a:latin typeface="Consolas" panose="020B0609020204030204" pitchFamily="49" charset="0"/>
              </a:rPr>
              <a:t>always</a:t>
            </a:r>
            <a:r>
              <a:rPr lang="en-US" sz="1100" b="0" dirty="0">
                <a:solidFill>
                  <a:srgbClr val="CCCCCC"/>
                </a:solidFill>
                <a:effectLst/>
                <a:highlight>
                  <a:srgbClr val="1F1F1F"/>
                </a:highlight>
                <a:latin typeface="Consolas" panose="020B0609020204030204" pitchFamily="49" charset="0"/>
              </a:rPr>
              <a:t> @( </a:t>
            </a:r>
            <a:r>
              <a:rPr lang="en-US" sz="1100" b="0" dirty="0" err="1">
                <a:solidFill>
                  <a:srgbClr val="569CD6"/>
                </a:solidFill>
                <a:effectLst/>
                <a:highlight>
                  <a:srgbClr val="1F1F1F"/>
                </a:highlight>
                <a:latin typeface="Consolas" panose="020B0609020204030204" pitchFamily="49" charset="0"/>
              </a:rPr>
              <a:t>posedge</a:t>
            </a:r>
            <a:r>
              <a:rPr lang="en-US" sz="1100" b="0" dirty="0">
                <a:solidFill>
                  <a:srgbClr val="CCCCCC"/>
                </a:solidFill>
                <a:effectLst/>
                <a:highlight>
                  <a:srgbClr val="1F1F1F"/>
                </a:highlight>
                <a:latin typeface="Consolas" panose="020B0609020204030204" pitchFamily="49" charset="0"/>
              </a:rPr>
              <a:t> Clk )</a:t>
            </a:r>
            <a:r>
              <a:rPr lang="en-US" sz="1100" b="0" dirty="0">
                <a:solidFill>
                  <a:schemeClr val="bg1"/>
                </a:solidFill>
                <a:effectLst/>
                <a:highlight>
                  <a:srgbClr val="1F1F1F"/>
                </a:highlight>
                <a:latin typeface="Consolas" panose="020B0609020204030204" pitchFamily="49" charset="0"/>
              </a:rPr>
              <a:t> </a:t>
            </a:r>
            <a:r>
              <a:rPr lang="en-US" sz="1100" b="0" dirty="0" err="1">
                <a:solidFill>
                  <a:srgbClr val="569CD6"/>
                </a:solidFill>
                <a:effectLst/>
                <a:highlight>
                  <a:srgbClr val="1F1F1F"/>
                </a:highlight>
                <a:latin typeface="Consolas" panose="020B0609020204030204" pitchFamily="49" charset="0"/>
              </a:rPr>
              <a:t>begin</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case</a:t>
            </a:r>
            <a:r>
              <a:rPr lang="en-US" sz="1100" b="0" dirty="0">
                <a:solidFill>
                  <a:srgbClr val="CCCCCC"/>
                </a:solidFill>
                <a:effectLst/>
                <a:highlight>
                  <a:srgbClr val="1F1F1F"/>
                </a:highlight>
                <a:latin typeface="Consolas" panose="020B0609020204030204" pitchFamily="49" charset="0"/>
              </a:rPr>
              <a:t>( S )</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 S </a:t>
            </a:r>
            <a:r>
              <a:rPr lang="en-US" sz="1100" b="0" dirty="0">
                <a:solidFill>
                  <a:schemeClr val="bg1"/>
                </a:solidFill>
                <a:effectLst/>
                <a:highlight>
                  <a:srgbClr val="FFFF00"/>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3'b001</a:t>
            </a:r>
            <a:r>
              <a:rPr lang="en-US" sz="1100" b="0" dirty="0">
                <a:solidFill>
                  <a:srgbClr val="CCCCCC"/>
                </a:solidFill>
                <a:effectLst/>
                <a:highlight>
                  <a:srgbClr val="1F1F1F"/>
                </a:highlight>
                <a:latin typeface="Consolas" panose="020B0609020204030204" pitchFamily="49" charset="0"/>
              </a:rPr>
              <a:t>: S </a:t>
            </a:r>
            <a:r>
              <a:rPr lang="en-US" sz="1100" b="0" dirty="0">
                <a:solidFill>
                  <a:schemeClr val="bg1"/>
                </a:solidFill>
                <a:effectLst/>
                <a:highlight>
                  <a:srgbClr val="FFFF00"/>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 S </a:t>
            </a:r>
            <a:r>
              <a:rPr lang="en-US" sz="1100" b="0" dirty="0">
                <a:solidFill>
                  <a:schemeClr val="bg1"/>
                </a:solidFill>
                <a:effectLst/>
                <a:highlight>
                  <a:srgbClr val="FFFF00"/>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3'b011</a:t>
            </a:r>
            <a:r>
              <a:rPr lang="en-US" sz="1100" b="0" dirty="0">
                <a:solidFill>
                  <a:srgbClr val="CCCCCC"/>
                </a:solidFill>
                <a:effectLst/>
                <a:highlight>
                  <a:srgbClr val="1F1F1F"/>
                </a:highlight>
                <a:latin typeface="Consolas" panose="020B0609020204030204" pitchFamily="49" charset="0"/>
              </a:rPr>
              <a:t>: S </a:t>
            </a:r>
            <a:r>
              <a:rPr lang="en-US" sz="1100" b="0" dirty="0">
                <a:solidFill>
                  <a:schemeClr val="bg1"/>
                </a:solidFill>
                <a:effectLst/>
                <a:highlight>
                  <a:srgbClr val="FFFF00"/>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3'b010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 S </a:t>
            </a:r>
            <a:r>
              <a:rPr lang="en-US" sz="1100" b="0" dirty="0">
                <a:solidFill>
                  <a:schemeClr val="bg1"/>
                </a:solidFill>
                <a:effectLst/>
                <a:highlight>
                  <a:srgbClr val="FFFF00"/>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 S </a:t>
            </a:r>
            <a:r>
              <a:rPr lang="en-US" sz="1100" b="0" dirty="0">
                <a:solidFill>
                  <a:schemeClr val="bg1"/>
                </a:solidFill>
                <a:effectLst/>
                <a:highlight>
                  <a:srgbClr val="FFFF00"/>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3'b100</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3'b110</a:t>
            </a:r>
            <a:r>
              <a:rPr lang="en-US" sz="1100" b="0" dirty="0">
                <a:solidFill>
                  <a:srgbClr val="CCCCCC"/>
                </a:solidFill>
                <a:effectLst/>
                <a:highlight>
                  <a:srgbClr val="1F1F1F"/>
                </a:highlight>
                <a:latin typeface="Consolas" panose="020B0609020204030204" pitchFamily="49" charset="0"/>
              </a:rPr>
              <a:t>: S </a:t>
            </a:r>
            <a:r>
              <a:rPr lang="en-US" sz="1100" b="0" dirty="0">
                <a:solidFill>
                  <a:schemeClr val="bg1"/>
                </a:solidFill>
                <a:effectLst/>
                <a:highlight>
                  <a:srgbClr val="FFFF00"/>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B5CEA8"/>
                </a:solidFill>
                <a:effectLst/>
                <a:highlight>
                  <a:srgbClr val="1F1F1F"/>
                </a:highlight>
                <a:latin typeface="Consolas" panose="020B0609020204030204" pitchFamily="49" charset="0"/>
              </a:rPr>
              <a:t>3'b111</a:t>
            </a:r>
            <a:r>
              <a:rPr lang="en-US" sz="1100" b="0" dirty="0">
                <a:solidFill>
                  <a:srgbClr val="CCCCCC"/>
                </a:solidFill>
                <a:effectLst/>
                <a:highlight>
                  <a:srgbClr val="1F1F1F"/>
                </a:highlight>
                <a:latin typeface="Consolas" panose="020B0609020204030204" pitchFamily="49" charset="0"/>
              </a:rPr>
              <a:t>: S </a:t>
            </a:r>
            <a:r>
              <a:rPr lang="en-US" sz="1100" b="0" dirty="0">
                <a:solidFill>
                  <a:schemeClr val="bg1"/>
                </a:solidFill>
                <a:effectLst/>
                <a:highlight>
                  <a:srgbClr val="FFFF00"/>
                </a:highlight>
                <a:latin typeface="Consolas" panose="020B0609020204030204" pitchFamily="49" charset="0"/>
              </a:rPr>
              <a:t>&lt;=</a:t>
            </a:r>
            <a:r>
              <a:rPr lang="en-US" sz="1100" b="0" dirty="0">
                <a:solidFill>
                  <a:srgbClr val="CCCCCC"/>
                </a:solidFill>
                <a:effectLst/>
                <a:highlight>
                  <a:srgbClr val="1F1F1F"/>
                </a:highlight>
                <a:latin typeface="Consolas" panose="020B0609020204030204" pitchFamily="49" charset="0"/>
              </a:rPr>
              <a:t> </a:t>
            </a:r>
            <a:r>
              <a:rPr lang="en-US" sz="1100" b="0" dirty="0">
                <a:solidFill>
                  <a:srgbClr val="D4D4D4"/>
                </a:solidFill>
                <a:effectLst/>
                <a:highlight>
                  <a:srgbClr val="1F1F1F"/>
                </a:highlight>
                <a:latin typeface="Consolas" panose="020B0609020204030204" pitchFamily="49" charset="0"/>
              </a:rPr>
              <a:t>!</a:t>
            </a:r>
            <a:r>
              <a:rPr lang="en-US" sz="1100" b="0" dirty="0">
                <a:solidFill>
                  <a:srgbClr val="CCCCCC"/>
                </a:solidFill>
                <a:effectLst/>
                <a:highlight>
                  <a:srgbClr val="1F1F1F"/>
                </a:highlight>
                <a:latin typeface="Consolas" panose="020B0609020204030204" pitchFamily="49" charset="0"/>
              </a:rPr>
              <a:t>G ? </a:t>
            </a:r>
            <a:r>
              <a:rPr lang="en-US" sz="1100" b="0" dirty="0">
                <a:solidFill>
                  <a:srgbClr val="B5CEA8"/>
                </a:solidFill>
                <a:effectLst/>
                <a:highlight>
                  <a:srgbClr val="1F1F1F"/>
                </a:highlight>
                <a:latin typeface="Consolas" panose="020B0609020204030204" pitchFamily="49" charset="0"/>
              </a:rPr>
              <a:t>3'b000</a:t>
            </a:r>
            <a:r>
              <a:rPr lang="en-US" sz="1100" b="0" dirty="0">
                <a:solidFill>
                  <a:srgbClr val="CCCCCC"/>
                </a:solidFill>
                <a:effectLst/>
                <a:highlight>
                  <a:srgbClr val="1F1F1F"/>
                </a:highlight>
                <a:latin typeface="Consolas" panose="020B0609020204030204" pitchFamily="49" charset="0"/>
              </a:rPr>
              <a:t> : </a:t>
            </a:r>
            <a:r>
              <a:rPr lang="en-US" sz="1100" b="0" dirty="0">
                <a:solidFill>
                  <a:srgbClr val="B5CEA8"/>
                </a:solidFill>
                <a:effectLst/>
                <a:highlight>
                  <a:srgbClr val="1F1F1F"/>
                </a:highlight>
                <a:latin typeface="Consolas" panose="020B0609020204030204" pitchFamily="49" charset="0"/>
              </a:rPr>
              <a:t>3'b101</a:t>
            </a:r>
            <a:r>
              <a:rPr lang="en-US" sz="1100" b="0" dirty="0">
                <a:solidFill>
                  <a:srgbClr val="CCCCCC"/>
                </a:solidFill>
                <a:effectLst/>
                <a:highlight>
                  <a:srgbClr val="1F1F1F"/>
                </a:highlight>
                <a:latin typeface="Consolas" panose="020B0609020204030204" pitchFamily="49" charset="0"/>
              </a:rPr>
              <a:t>;</a:t>
            </a:r>
          </a:p>
          <a:p>
            <a:r>
              <a:rPr lang="en-US" sz="1100" b="0" dirty="0">
                <a:solidFill>
                  <a:srgbClr val="CCCCCC"/>
                </a:solidFill>
                <a:effectLst/>
                <a:highlight>
                  <a:srgbClr val="1F1F1F"/>
                </a:highlight>
                <a:latin typeface="Consolas" panose="020B0609020204030204" pitchFamily="49" charset="0"/>
              </a:rPr>
              <a:t>    </a:t>
            </a:r>
            <a:r>
              <a:rPr lang="en-US" sz="1100" b="0" dirty="0" err="1">
                <a:solidFill>
                  <a:srgbClr val="569CD6"/>
                </a:solidFill>
                <a:effectLst/>
                <a:highlight>
                  <a:srgbClr val="1F1F1F"/>
                </a:highlight>
                <a:latin typeface="Consolas" panose="020B0609020204030204" pitchFamily="49" charset="0"/>
              </a:rPr>
              <a:t>endcase</a:t>
            </a:r>
            <a:endParaRPr lang="en-US" sz="1100" b="0" dirty="0">
              <a:solidFill>
                <a:srgbClr val="CCCCCC"/>
              </a:solidFill>
              <a:effectLst/>
              <a:highlight>
                <a:srgbClr val="1F1F1F"/>
              </a:highlight>
              <a:latin typeface="Consolas" panose="020B0609020204030204" pitchFamily="49" charset="0"/>
            </a:endParaRPr>
          </a:p>
          <a:p>
            <a:r>
              <a:rPr lang="en-US" sz="1100" b="0" dirty="0">
                <a:solidFill>
                  <a:srgbClr val="CCCCCC"/>
                </a:solidFill>
                <a:effectLst/>
                <a:highlight>
                  <a:srgbClr val="1F1F1F"/>
                </a:highlight>
                <a:latin typeface="Consolas" panose="020B0609020204030204" pitchFamily="49" charset="0"/>
              </a:rPr>
              <a:t>  </a:t>
            </a:r>
            <a:r>
              <a:rPr lang="en-US" sz="1100" b="0" dirty="0">
                <a:solidFill>
                  <a:srgbClr val="569CD6"/>
                </a:solidFill>
                <a:effectLst/>
                <a:highlight>
                  <a:srgbClr val="1F1F1F"/>
                </a:highlight>
                <a:latin typeface="Consolas" panose="020B0609020204030204" pitchFamily="49" charset="0"/>
              </a:rPr>
              <a:t>end</a:t>
            </a:r>
            <a:endParaRPr lang="en-US" sz="1100" b="0" dirty="0">
              <a:solidFill>
                <a:srgbClr val="CCCCCC"/>
              </a:solidFill>
              <a:effectLst/>
              <a:highlight>
                <a:srgbClr val="1F1F1F"/>
              </a:highlight>
              <a:latin typeface="Consolas" panose="020B0609020204030204" pitchFamily="49" charset="0"/>
            </a:endParaRPr>
          </a:p>
          <a:p>
            <a:r>
              <a:rPr lang="en-US" sz="1100" b="0" dirty="0" err="1">
                <a:solidFill>
                  <a:srgbClr val="569CD6"/>
                </a:solidFill>
                <a:effectLst/>
                <a:highlight>
                  <a:srgbClr val="1F1F1F"/>
                </a:highlight>
                <a:latin typeface="Consolas" panose="020B0609020204030204" pitchFamily="49" charset="0"/>
              </a:rPr>
              <a:t>endmodule</a:t>
            </a:r>
            <a:endParaRPr lang="en-US" sz="11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380543895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6"/>
            <a:ext cx="6515694" cy="2092084"/>
          </a:xfrm>
        </p:spPr>
        <p:txBody>
          <a:bodyPr>
            <a:normAutofit fontScale="85000" lnSpcReduction="20000"/>
          </a:bodyPr>
          <a:lstStyle/>
          <a:p>
            <a:pPr marL="0" indent="0">
              <a:buNone/>
            </a:pPr>
            <a:r>
              <a:rPr lang="en-US" dirty="0"/>
              <a:t>"Test Bench" modules</a:t>
            </a:r>
          </a:p>
          <a:p>
            <a:r>
              <a:rPr lang="en-US" dirty="0"/>
              <a:t>In addition to the actual counter module, an additional module (</a:t>
            </a:r>
            <a:r>
              <a:rPr lang="en-US" dirty="0">
                <a:solidFill>
                  <a:srgbClr val="FFFF00"/>
                </a:solidFill>
              </a:rPr>
              <a:t>clock</a:t>
            </a:r>
            <a:r>
              <a:rPr lang="en-US" dirty="0"/>
              <a:t>) is needed that generates the cadence (clk_gen). As written, this module is not synthesizable, but that is not a problem since it only serves to generate one of the two test vectors (Cp) for counter_1.</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(15/1)</a:t>
            </a:r>
          </a:p>
        </p:txBody>
      </p:sp>
      <p:sp>
        <p:nvSpPr>
          <p:cNvPr id="6" name="CasellaDiTesto 5">
            <a:extLst>
              <a:ext uri="{FF2B5EF4-FFF2-40B4-BE49-F238E27FC236}">
                <a16:creationId xmlns:a16="http://schemas.microsoft.com/office/drawing/2014/main" id="{AAB7AEDF-521A-801C-B253-A29B4A115451}"/>
              </a:ext>
            </a:extLst>
          </p:cNvPr>
          <p:cNvSpPr txBox="1"/>
          <p:nvPr/>
        </p:nvSpPr>
        <p:spPr>
          <a:xfrm>
            <a:off x="7792278" y="1336915"/>
            <a:ext cx="3816627" cy="4832092"/>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569CD6"/>
                </a:solidFill>
                <a:effectLst/>
                <a:highlight>
                  <a:srgbClr val="1F1F1F"/>
                </a:highlight>
                <a:latin typeface="Consolas" panose="020B0609020204030204" pitchFamily="49" charset="0"/>
              </a:rPr>
              <a:t>`timescale</a:t>
            </a:r>
            <a:r>
              <a:rPr lang="en-US" sz="1100" b="0" noProof="1">
                <a:solidFill>
                  <a:srgbClr val="CCCCCC"/>
                </a:solidFill>
                <a:effectLst/>
                <a:highlight>
                  <a:srgbClr val="1F1F1F"/>
                </a:highlight>
                <a:latin typeface="Consolas" panose="020B0609020204030204" pitchFamily="49" charset="0"/>
              </a:rPr>
              <a:t> 10ns</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100ps</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tf</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Mode; </a:t>
            </a:r>
            <a:r>
              <a:rPr lang="en-US" sz="1100" b="0" noProof="1">
                <a:solidFill>
                  <a:srgbClr val="6A9955"/>
                </a:solidFill>
                <a:effectLst/>
                <a:highlight>
                  <a:srgbClr val="1F1F1F"/>
                </a:highlight>
                <a:latin typeface="Consolas" panose="020B0609020204030204" pitchFamily="49" charset="0"/>
              </a:rPr>
              <a:t>// 0=Bin 1=Gray</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wire</a:t>
            </a:r>
            <a:r>
              <a:rPr lang="en-US" sz="1100" b="0" noProof="1">
                <a:solidFill>
                  <a:srgbClr val="CCCCCC"/>
                </a:solidFill>
                <a:effectLst/>
                <a:highlight>
                  <a:srgbClr val="1F1F1F"/>
                </a:highlight>
                <a:latin typeface="Consolas" panose="020B0609020204030204" pitchFamily="49" charset="0"/>
              </a:rPr>
              <a:t> Cp;</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$dumpvars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tf );</a:t>
            </a:r>
          </a:p>
          <a:p>
            <a:r>
              <a:rPr lang="en-US" sz="1100" b="0" noProof="1">
                <a:solidFill>
                  <a:srgbClr val="CCCCCC"/>
                </a:solidFill>
                <a:effectLst/>
                <a:highlight>
                  <a:srgbClr val="1F1F1F"/>
                </a:highlight>
                <a:latin typeface="Consolas" panose="020B0609020204030204" pitchFamily="49" charset="0"/>
              </a:rPr>
              <a:t>    Mode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#102</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Mode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#108</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$finish</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clock</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clk_gen</a:t>
            </a:r>
            <a:r>
              <a:rPr lang="en-US" sz="1100" b="0" noProof="1">
                <a:solidFill>
                  <a:srgbClr val="CCCCCC"/>
                </a:solidFill>
                <a:effectLst/>
                <a:highlight>
                  <a:srgbClr val="1F1F1F"/>
                </a:highlight>
                <a:latin typeface="Consolas" panose="020B0609020204030204" pitchFamily="49" charset="0"/>
              </a:rPr>
              <a:t>( .Out( Cp )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counter</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counter_1</a:t>
            </a:r>
            <a:r>
              <a:rPr lang="en-US" sz="1100" b="0" noProof="1">
                <a:solidFill>
                  <a:srgbClr val="CCCCCC"/>
                </a:solidFill>
                <a:effectLst/>
                <a:highlight>
                  <a:srgbClr val="1F1F1F"/>
                </a:highlight>
                <a:latin typeface="Consolas" panose="020B0609020204030204" pitchFamily="49" charset="0"/>
              </a:rPr>
              <a:t>( .Clk( Cp ), .G( Mode ) );</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clock</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output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6A9955"/>
                </a:solidFill>
                <a:effectLst/>
                <a:highlight>
                  <a:srgbClr val="1F1F1F"/>
                </a:highlight>
                <a:latin typeface="Consolas" panose="020B0609020204030204" pitchFamily="49" charset="0"/>
              </a:rPr>
              <a:t>// WARNING: module not synthesizable</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Out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always</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#5</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Out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
        <p:nvSpPr>
          <p:cNvPr id="7" name="Rettangolo 6">
            <a:extLst>
              <a:ext uri="{FF2B5EF4-FFF2-40B4-BE49-F238E27FC236}">
                <a16:creationId xmlns:a16="http://schemas.microsoft.com/office/drawing/2014/main" id="{34FB1C7E-EC93-F4A1-E2D2-B344C2719DD8}"/>
              </a:ext>
            </a:extLst>
          </p:cNvPr>
          <p:cNvSpPr/>
          <p:nvPr/>
        </p:nvSpPr>
        <p:spPr>
          <a:xfrm>
            <a:off x="7850126" y="4230035"/>
            <a:ext cx="3077155" cy="1860605"/>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001248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6"/>
            <a:ext cx="6515694" cy="2956788"/>
          </a:xfrm>
        </p:spPr>
        <p:txBody>
          <a:bodyPr>
            <a:normAutofit fontScale="85000" lnSpcReduction="20000"/>
          </a:bodyPr>
          <a:lstStyle/>
          <a:p>
            <a:pPr marL="0" indent="0">
              <a:buNone/>
            </a:pPr>
            <a:r>
              <a:rPr lang="en-US" dirty="0"/>
              <a:t>"Test Bench" modules</a:t>
            </a:r>
          </a:p>
          <a:p>
            <a:r>
              <a:rPr lang="en-US" dirty="0"/>
              <a:t>In addition to the actual counter module, an additional module (clock) is needed that generates the cadence (clk_gen). As written, this module is not synthesizable, but that is not a problem since it only serves to generate one of the two test vectors (Cp) for counter_1.</a:t>
            </a:r>
          </a:p>
          <a:p>
            <a:r>
              <a:rPr lang="en-US" dirty="0"/>
              <a:t>The two modules declared inside </a:t>
            </a:r>
            <a:r>
              <a:rPr lang="en-US" i="1" dirty="0" err="1"/>
              <a:t>tf</a:t>
            </a:r>
            <a:r>
              <a:rPr lang="en-US" dirty="0"/>
              <a:t>, namely </a:t>
            </a:r>
            <a:r>
              <a:rPr lang="en-US" dirty="0" err="1">
                <a:solidFill>
                  <a:srgbClr val="FFFF00"/>
                </a:solidFill>
              </a:rPr>
              <a:t>clk_gen</a:t>
            </a:r>
            <a:r>
              <a:rPr lang="en-US" dirty="0"/>
              <a:t> and </a:t>
            </a:r>
            <a:r>
              <a:rPr lang="en-US" dirty="0">
                <a:solidFill>
                  <a:srgbClr val="FFFF00"/>
                </a:solidFill>
              </a:rPr>
              <a:t>counter_1</a:t>
            </a:r>
            <a:r>
              <a:rPr lang="en-US" dirty="0"/>
              <a:t>, are interconnected through the net </a:t>
            </a:r>
            <a:r>
              <a:rPr lang="en-US" dirty="0">
                <a:solidFill>
                  <a:srgbClr val="FFFF00"/>
                </a:solidFill>
              </a:rPr>
              <a:t>Cp</a:t>
            </a:r>
            <a:r>
              <a:rPr lang="en-US" dirty="0"/>
              <a:t> (</a:t>
            </a:r>
            <a:r>
              <a:rPr lang="en-US" i="1" dirty="0" err="1"/>
              <a:t>wire</a:t>
            </a:r>
            <a:r>
              <a:rPr lang="en-US" dirty="0"/>
              <a:t>).</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(15/2)</a:t>
            </a:r>
          </a:p>
        </p:txBody>
      </p:sp>
      <p:sp>
        <p:nvSpPr>
          <p:cNvPr id="2" name="CasellaDiTesto 1">
            <a:extLst>
              <a:ext uri="{FF2B5EF4-FFF2-40B4-BE49-F238E27FC236}">
                <a16:creationId xmlns:a16="http://schemas.microsoft.com/office/drawing/2014/main" id="{B6D6F4ED-8D82-BB7B-7488-3264D0E3380A}"/>
              </a:ext>
            </a:extLst>
          </p:cNvPr>
          <p:cNvSpPr txBox="1"/>
          <p:nvPr/>
        </p:nvSpPr>
        <p:spPr>
          <a:xfrm>
            <a:off x="7792278" y="1336915"/>
            <a:ext cx="3816627" cy="4832092"/>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569CD6"/>
                </a:solidFill>
                <a:effectLst/>
                <a:highlight>
                  <a:srgbClr val="1F1F1F"/>
                </a:highlight>
                <a:latin typeface="Consolas" panose="020B0609020204030204" pitchFamily="49" charset="0"/>
              </a:rPr>
              <a:t>`timescale</a:t>
            </a:r>
            <a:r>
              <a:rPr lang="en-US" sz="1100" b="0" noProof="1">
                <a:solidFill>
                  <a:srgbClr val="CCCCCC"/>
                </a:solidFill>
                <a:effectLst/>
                <a:highlight>
                  <a:srgbClr val="1F1F1F"/>
                </a:highlight>
                <a:latin typeface="Consolas" panose="020B0609020204030204" pitchFamily="49" charset="0"/>
              </a:rPr>
              <a:t> 10ns</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100ps</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tf</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Mode; </a:t>
            </a:r>
            <a:r>
              <a:rPr lang="en-US" sz="1100" b="0" noProof="1">
                <a:solidFill>
                  <a:srgbClr val="6A9955"/>
                </a:solidFill>
                <a:effectLst/>
                <a:highlight>
                  <a:srgbClr val="1F1F1F"/>
                </a:highlight>
                <a:latin typeface="Consolas" panose="020B0609020204030204" pitchFamily="49" charset="0"/>
              </a:rPr>
              <a:t>// 0=Bin 1=Gray</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wire Cp;</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$dumpvars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tf );</a:t>
            </a:r>
          </a:p>
          <a:p>
            <a:r>
              <a:rPr lang="en-US" sz="1100" b="0" noProof="1">
                <a:solidFill>
                  <a:srgbClr val="CCCCCC"/>
                </a:solidFill>
                <a:effectLst/>
                <a:highlight>
                  <a:srgbClr val="1F1F1F"/>
                </a:highlight>
                <a:latin typeface="Consolas" panose="020B0609020204030204" pitchFamily="49" charset="0"/>
              </a:rPr>
              <a:t>    Mode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#102</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Mode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#108</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$finish</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clock</a:t>
            </a:r>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clk_gen</a:t>
            </a:r>
            <a:r>
              <a:rPr lang="en-US" sz="1100" b="0" noProof="1">
                <a:solidFill>
                  <a:srgbClr val="CCCCCC"/>
                </a:solidFill>
                <a:effectLst/>
                <a:highlight>
                  <a:srgbClr val="1F1F1F"/>
                </a:highlight>
                <a:latin typeface="Consolas" panose="020B0609020204030204" pitchFamily="49" charset="0"/>
              </a:rPr>
              <a:t>( .Out( </a:t>
            </a:r>
            <a:r>
              <a:rPr lang="en-US" sz="1100" b="0" noProof="1">
                <a:solidFill>
                  <a:schemeClr val="bg1"/>
                </a:solidFill>
                <a:effectLst/>
                <a:highlight>
                  <a:srgbClr val="FFFF00"/>
                </a:highlight>
                <a:latin typeface="Consolas" panose="020B0609020204030204" pitchFamily="49" charset="0"/>
              </a:rPr>
              <a:t>Cp</a:t>
            </a:r>
            <a:r>
              <a:rPr lang="en-US" sz="1100" b="0" noProof="1">
                <a:solidFill>
                  <a:srgbClr val="CCCCCC"/>
                </a:solidFill>
                <a:effectLst/>
                <a:highlight>
                  <a:srgbClr val="1F1F1F"/>
                </a:highlight>
                <a:latin typeface="Consolas" panose="020B0609020204030204" pitchFamily="49" charset="0"/>
              </a:rPr>
              <a:t> )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counter</a:t>
            </a:r>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counter_1</a:t>
            </a:r>
            <a:r>
              <a:rPr lang="en-US" sz="1100" b="0" noProof="1">
                <a:solidFill>
                  <a:srgbClr val="CCCCCC"/>
                </a:solidFill>
                <a:effectLst/>
                <a:highlight>
                  <a:srgbClr val="1F1F1F"/>
                </a:highlight>
                <a:latin typeface="Consolas" panose="020B0609020204030204" pitchFamily="49" charset="0"/>
              </a:rPr>
              <a:t>( .Clk( </a:t>
            </a:r>
            <a:r>
              <a:rPr lang="en-US" sz="1100" b="0" noProof="1">
                <a:solidFill>
                  <a:schemeClr val="bg1"/>
                </a:solidFill>
                <a:effectLst/>
                <a:highlight>
                  <a:srgbClr val="FFFF00"/>
                </a:highlight>
                <a:latin typeface="Consolas" panose="020B0609020204030204" pitchFamily="49" charset="0"/>
              </a:rPr>
              <a:t>Cp</a:t>
            </a:r>
            <a:r>
              <a:rPr lang="en-US" sz="1100" b="0" noProof="1">
                <a:solidFill>
                  <a:srgbClr val="CCCCCC"/>
                </a:solidFill>
                <a:effectLst/>
                <a:highlight>
                  <a:srgbClr val="1F1F1F"/>
                </a:highlight>
                <a:latin typeface="Consolas" panose="020B0609020204030204" pitchFamily="49" charset="0"/>
              </a:rPr>
              <a:t> ), .G( Mode ) );</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clock</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output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6A9955"/>
                </a:solidFill>
                <a:effectLst/>
                <a:highlight>
                  <a:srgbClr val="1F1F1F"/>
                </a:highlight>
                <a:latin typeface="Consolas" panose="020B0609020204030204" pitchFamily="49" charset="0"/>
              </a:rPr>
              <a:t>// WARNING: module not synthesizable</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Out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always</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#5</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Out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3753706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E5263DDB-373B-EAA4-8628-924DA43E44AB}"/>
              </a:ext>
            </a:extLst>
          </p:cNvPr>
          <p:cNvSpPr>
            <a:spLocks noGrp="1"/>
          </p:cNvSpPr>
          <p:nvPr>
            <p:ph idx="1"/>
          </p:nvPr>
        </p:nvSpPr>
        <p:spPr>
          <a:xfrm>
            <a:off x="1141412" y="1336915"/>
            <a:ext cx="6515694" cy="5170645"/>
          </a:xfrm>
        </p:spPr>
        <p:txBody>
          <a:bodyPr>
            <a:normAutofit fontScale="85000" lnSpcReduction="20000"/>
          </a:bodyPr>
          <a:lstStyle/>
          <a:p>
            <a:pPr marL="0" indent="0">
              <a:buNone/>
            </a:pPr>
            <a:r>
              <a:rPr lang="en-US" dirty="0"/>
              <a:t>"Test Bench" modules</a:t>
            </a:r>
          </a:p>
          <a:p>
            <a:r>
              <a:rPr lang="en-US" dirty="0"/>
              <a:t>In addition to the actual counter module, an additional module (clock) is needed that generates the cadence (clk_gen). As written, this module is not synthesizable, but that is not a problem since it only serves to generate one of the two test vectors (Cp) for counter_1.</a:t>
            </a:r>
          </a:p>
          <a:p>
            <a:r>
              <a:rPr lang="en-US" dirty="0"/>
              <a:t>The two modules declared inside tf, namely clk_gen and counter_1, are interconnected through the net Cp (wire).</a:t>
            </a:r>
          </a:p>
          <a:p>
            <a:r>
              <a:rPr lang="en-US" dirty="0"/>
              <a:t>In the example there are two constructs that</a:t>
            </a:r>
            <a:br>
              <a:rPr lang="en-US" dirty="0"/>
            </a:br>
            <a:r>
              <a:rPr lang="en-US" dirty="0"/>
              <a:t>start with $. The first (</a:t>
            </a:r>
            <a:r>
              <a:rPr lang="en-US" dirty="0">
                <a:solidFill>
                  <a:srgbClr val="FFFF00"/>
                </a:solidFill>
              </a:rPr>
              <a:t>$dumpvars</a:t>
            </a:r>
            <a:r>
              <a:rPr lang="en-US" dirty="0"/>
              <a:t>) instructs the simulator to consider the future observation of all the nets of the main module (the </a:t>
            </a:r>
            <a:r>
              <a:rPr lang="en-US" u="sng" dirty="0"/>
              <a:t>top module</a:t>
            </a:r>
            <a:r>
              <a:rPr lang="en-US" i="1" dirty="0" err="1"/>
              <a:t>tf</a:t>
            </a:r>
            <a:r>
              <a:rPr lang="en-US" dirty="0"/>
              <a:t>).</a:t>
            </a:r>
            <a:br>
              <a:rPr lang="en-US" dirty="0"/>
            </a:br>
            <a:br>
              <a:rPr lang="en-US" dirty="0"/>
            </a:br>
            <a:r>
              <a:rPr lang="en-US" dirty="0"/>
              <a:t>The second construct is </a:t>
            </a:r>
            <a:r>
              <a:rPr lang="en-US" dirty="0">
                <a:solidFill>
                  <a:srgbClr val="FFFF00"/>
                </a:solidFill>
              </a:rPr>
              <a:t>$finish</a:t>
            </a:r>
            <a:r>
              <a:rPr lang="en-US" dirty="0"/>
              <a:t>. This "system task" tells the simulator to stop and terminate.</a:t>
            </a:r>
          </a:p>
        </p:txBody>
      </p:sp>
      <p:sp>
        <p:nvSpPr>
          <p:cNvPr id="9" name="Titolo 1">
            <a:extLst>
              <a:ext uri="{FF2B5EF4-FFF2-40B4-BE49-F238E27FC236}">
                <a16:creationId xmlns:a16="http://schemas.microsoft.com/office/drawing/2014/main" id="{352D195D-EF89-5FD2-4865-17B71C9EAF81}"/>
              </a:ext>
            </a:extLst>
          </p:cNvPr>
          <p:cNvSpPr txBox="1">
            <a:spLocks/>
          </p:cNvSpPr>
          <p:nvPr/>
        </p:nvSpPr>
        <p:spPr>
          <a:xfrm>
            <a:off x="1141413" y="346142"/>
            <a:ext cx="9905998" cy="8583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dirty="0"/>
              <a:t>INTRO TUTORIAL (15/3)</a:t>
            </a:r>
          </a:p>
        </p:txBody>
      </p:sp>
      <p:sp>
        <p:nvSpPr>
          <p:cNvPr id="2" name="CasellaDiTesto 1">
            <a:extLst>
              <a:ext uri="{FF2B5EF4-FFF2-40B4-BE49-F238E27FC236}">
                <a16:creationId xmlns:a16="http://schemas.microsoft.com/office/drawing/2014/main" id="{B6D6F4ED-8D82-BB7B-7488-3264D0E3380A}"/>
              </a:ext>
            </a:extLst>
          </p:cNvPr>
          <p:cNvSpPr txBox="1"/>
          <p:nvPr/>
        </p:nvSpPr>
        <p:spPr>
          <a:xfrm>
            <a:off x="7792278" y="1336915"/>
            <a:ext cx="3816627" cy="4832092"/>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569CD6"/>
                </a:solidFill>
                <a:effectLst/>
                <a:highlight>
                  <a:srgbClr val="1F1F1F"/>
                </a:highlight>
                <a:latin typeface="Consolas" panose="020B0609020204030204" pitchFamily="49" charset="0"/>
              </a:rPr>
              <a:t>`timescale</a:t>
            </a:r>
            <a:r>
              <a:rPr lang="en-US" sz="1100" b="0" noProof="1">
                <a:solidFill>
                  <a:srgbClr val="CCCCCC"/>
                </a:solidFill>
                <a:effectLst/>
                <a:highlight>
                  <a:srgbClr val="1F1F1F"/>
                </a:highlight>
                <a:latin typeface="Consolas" panose="020B0609020204030204" pitchFamily="49" charset="0"/>
              </a:rPr>
              <a:t> 10ns</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100ps</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tf</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Mode; </a:t>
            </a:r>
            <a:r>
              <a:rPr lang="en-US" sz="1100" b="0" noProof="1">
                <a:solidFill>
                  <a:srgbClr val="6A9955"/>
                </a:solidFill>
                <a:effectLst/>
                <a:highlight>
                  <a:srgbClr val="1F1F1F"/>
                </a:highlight>
                <a:latin typeface="Consolas" panose="020B0609020204030204" pitchFamily="49" charset="0"/>
              </a:rPr>
              <a:t>// 0=Bin 1=Gray</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wire</a:t>
            </a:r>
            <a:r>
              <a:rPr lang="en-US" sz="1100" b="0" noProof="1">
                <a:solidFill>
                  <a:srgbClr val="CCCCCC"/>
                </a:solidFill>
                <a:effectLst/>
                <a:highlight>
                  <a:srgbClr val="1F1F1F"/>
                </a:highlight>
                <a:latin typeface="Consolas" panose="020B0609020204030204" pitchFamily="49" charset="0"/>
              </a:rPr>
              <a:t> Cp;</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$dumpvars( 0, tf );</a:t>
            </a:r>
          </a:p>
          <a:p>
            <a:r>
              <a:rPr lang="en-US" sz="1100" b="0" noProof="1">
                <a:solidFill>
                  <a:srgbClr val="CCCCCC"/>
                </a:solidFill>
                <a:effectLst/>
                <a:highlight>
                  <a:srgbClr val="1F1F1F"/>
                </a:highlight>
                <a:latin typeface="Consolas" panose="020B0609020204030204" pitchFamily="49" charset="0"/>
              </a:rPr>
              <a:t>    Mode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#102</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Mode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#108</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$finish;</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clock</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clk_gen</a:t>
            </a:r>
            <a:r>
              <a:rPr lang="en-US" sz="1100" b="0" noProof="1">
                <a:solidFill>
                  <a:srgbClr val="CCCCCC"/>
                </a:solidFill>
                <a:effectLst/>
                <a:highlight>
                  <a:srgbClr val="1F1F1F"/>
                </a:highlight>
                <a:latin typeface="Consolas" panose="020B0609020204030204" pitchFamily="49" charset="0"/>
              </a:rPr>
              <a:t>( .Out( Cp )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counter</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counter_1</a:t>
            </a:r>
            <a:r>
              <a:rPr lang="en-US" sz="1100" b="0" noProof="1">
                <a:solidFill>
                  <a:srgbClr val="CCCCCC"/>
                </a:solidFill>
                <a:effectLst/>
                <a:highlight>
                  <a:srgbClr val="1F1F1F"/>
                </a:highlight>
                <a:latin typeface="Consolas" panose="020B0609020204030204" pitchFamily="49" charset="0"/>
              </a:rPr>
              <a:t>( .Clk( Cp ), .G( Mode ) );</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clock</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output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6A9955"/>
                </a:solidFill>
                <a:effectLst/>
                <a:highlight>
                  <a:srgbClr val="1F1F1F"/>
                </a:highlight>
                <a:latin typeface="Consolas" panose="020B0609020204030204" pitchFamily="49" charset="0"/>
              </a:rPr>
              <a:t>// WARNING: module not synthesizable</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Out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always</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#5</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Out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Out;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113372171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808344-2EC7-DD14-F4D5-E837FAAAF5B5}"/>
              </a:ext>
            </a:extLst>
          </p:cNvPr>
          <p:cNvSpPr>
            <a:spLocks noGrp="1"/>
          </p:cNvSpPr>
          <p:nvPr>
            <p:ph type="title"/>
          </p:nvPr>
        </p:nvSpPr>
        <p:spPr/>
        <p:txBody>
          <a:bodyPr/>
          <a:lstStyle/>
          <a:p>
            <a:r>
              <a:rPr lang="en-US" dirty="0"/>
              <a:t>INTRO TUTORIAL (16/1)</a:t>
            </a:r>
          </a:p>
        </p:txBody>
      </p:sp>
      <p:sp>
        <p:nvSpPr>
          <p:cNvPr id="3" name="Segnaposto contenuto 2">
            <a:extLst>
              <a:ext uri="{FF2B5EF4-FFF2-40B4-BE49-F238E27FC236}">
                <a16:creationId xmlns:a16="http://schemas.microsoft.com/office/drawing/2014/main" id="{7737CCD8-8870-66FA-36E4-EB247F037CA7}"/>
              </a:ext>
            </a:extLst>
          </p:cNvPr>
          <p:cNvSpPr>
            <a:spLocks noGrp="1"/>
          </p:cNvSpPr>
          <p:nvPr>
            <p:ph idx="1"/>
          </p:nvPr>
        </p:nvSpPr>
        <p:spPr>
          <a:xfrm>
            <a:off x="1141412" y="1630011"/>
            <a:ext cx="6364619" cy="1288118"/>
          </a:xfrm>
        </p:spPr>
        <p:txBody>
          <a:bodyPr>
            <a:normAutofit fontScale="77500" lnSpcReduction="20000"/>
          </a:bodyPr>
          <a:lstStyle/>
          <a:p>
            <a:r>
              <a:rPr lang="en-US" dirty="0"/>
              <a:t>To make the counter synthesizable, a mechanism must be added to clear the state from outside. For this purpose an </a:t>
            </a:r>
            <a:r>
              <a:rPr lang="en-US" i="1" dirty="0"/>
              <a:t>input</a:t>
            </a:r>
            <a:r>
              <a:rPr lang="en-US" dirty="0"/>
              <a:t> (net </a:t>
            </a:r>
            <a:r>
              <a:rPr lang="en-US" i="1" dirty="0" err="1">
                <a:solidFill>
                  <a:srgbClr val="FFFF00"/>
                </a:solidFill>
              </a:rPr>
              <a:t>Rst</a:t>
            </a:r>
            <a:r>
              <a:rPr lang="en-US" dirty="0"/>
              <a:t>) can be added to the module's list of inputs/outputs.</a:t>
            </a:r>
          </a:p>
        </p:txBody>
      </p:sp>
      <p:sp>
        <p:nvSpPr>
          <p:cNvPr id="4" name="CasellaDiTesto 3">
            <a:extLst>
              <a:ext uri="{FF2B5EF4-FFF2-40B4-BE49-F238E27FC236}">
                <a16:creationId xmlns:a16="http://schemas.microsoft.com/office/drawing/2014/main" id="{6DFEC0E0-087C-B67C-A88D-7D2C08256AFC}"/>
              </a:ext>
            </a:extLst>
          </p:cNvPr>
          <p:cNvSpPr txBox="1"/>
          <p:nvPr/>
        </p:nvSpPr>
        <p:spPr>
          <a:xfrm>
            <a:off x="7609399" y="1806042"/>
            <a:ext cx="3912042" cy="4154984"/>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counter</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Clk,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Rst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G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S;</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always</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569CD6"/>
                </a:solidFill>
                <a:effectLst/>
                <a:highlight>
                  <a:srgbClr val="1F1F1F"/>
                </a:highlight>
                <a:latin typeface="Consolas" panose="020B0609020204030204" pitchFamily="49" charset="0"/>
              </a:rPr>
              <a:t>posedge</a:t>
            </a:r>
            <a:r>
              <a:rPr lang="en-US" sz="1100" b="0" noProof="1">
                <a:solidFill>
                  <a:srgbClr val="CCCCCC"/>
                </a:solidFill>
                <a:effectLst/>
                <a:highlight>
                  <a:srgbClr val="1F1F1F"/>
                </a:highlight>
                <a:latin typeface="Consolas" panose="020B0609020204030204" pitchFamily="49" charset="0"/>
              </a:rPr>
              <a:t> Clk </a:t>
            </a:r>
            <a:r>
              <a:rPr lang="en-US" sz="1100" b="0" noProof="1">
                <a:solidFill>
                  <a:srgbClr val="569CD6"/>
                </a:solidFill>
                <a:effectLst/>
                <a:highlight>
                  <a:srgbClr val="1F1F1F"/>
                </a:highlight>
                <a:latin typeface="Consolas" panose="020B0609020204030204" pitchFamily="49" charset="0"/>
              </a:rPr>
              <a:t>or</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posedge</a:t>
            </a:r>
            <a:r>
              <a:rPr lang="en-US" sz="1100" b="0" noProof="1">
                <a:solidFill>
                  <a:srgbClr val="CCCCCC"/>
                </a:solidFill>
                <a:effectLst/>
                <a:highlight>
                  <a:srgbClr val="1F1F1F"/>
                </a:highlight>
                <a:latin typeface="Consolas" panose="020B0609020204030204" pitchFamily="49" charset="0"/>
              </a:rPr>
              <a:t> Rst )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if </a:t>
            </a:r>
            <a:r>
              <a:rPr lang="en-US" sz="1100" b="0" noProof="1">
                <a:solidFill>
                  <a:srgbClr val="CCCCCC"/>
                </a:solidFill>
                <a:effectLst/>
                <a:highlight>
                  <a:srgbClr val="1F1F1F"/>
                </a:highlight>
                <a:latin typeface="Consolas" panose="020B0609020204030204" pitchFamily="49" charset="0"/>
              </a:rPr>
              <a:t>( Rst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else</a:t>
            </a:r>
            <a:r>
              <a:rPr lang="en-US" sz="1100" b="0" noProof="1">
                <a:solidFill>
                  <a:srgbClr val="CCCCCC"/>
                </a:solidFill>
                <a:effectLst/>
                <a:highlight>
                  <a:srgbClr val="1F1F1F"/>
                </a:highlight>
                <a:latin typeface="Consolas" panose="020B0609020204030204" pitchFamily="49" charset="0"/>
              </a:rPr>
              <a:t>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case </a:t>
            </a:r>
            <a:r>
              <a:rPr lang="en-US" sz="1100" b="0" noProof="1">
                <a:solidFill>
                  <a:srgbClr val="CCCCCC"/>
                </a:solidFill>
                <a:effectLst/>
                <a:highlight>
                  <a:srgbClr val="1F1F1F"/>
                </a:highlight>
                <a:latin typeface="Consolas" panose="020B0609020204030204" pitchFamily="49" charset="0"/>
              </a:rPr>
              <a:t>( S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endcase</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38700058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808344-2EC7-DD14-F4D5-E837FAAAF5B5}"/>
              </a:ext>
            </a:extLst>
          </p:cNvPr>
          <p:cNvSpPr>
            <a:spLocks noGrp="1"/>
          </p:cNvSpPr>
          <p:nvPr>
            <p:ph type="title"/>
          </p:nvPr>
        </p:nvSpPr>
        <p:spPr/>
        <p:txBody>
          <a:bodyPr/>
          <a:lstStyle/>
          <a:p>
            <a:r>
              <a:rPr lang="en-US" dirty="0"/>
              <a:t>INTRO TUTORIAL (16/2)</a:t>
            </a:r>
          </a:p>
        </p:txBody>
      </p:sp>
      <p:sp>
        <p:nvSpPr>
          <p:cNvPr id="3" name="Segnaposto contenuto 2">
            <a:extLst>
              <a:ext uri="{FF2B5EF4-FFF2-40B4-BE49-F238E27FC236}">
                <a16:creationId xmlns:a16="http://schemas.microsoft.com/office/drawing/2014/main" id="{7737CCD8-8870-66FA-36E4-EB247F037CA7}"/>
              </a:ext>
            </a:extLst>
          </p:cNvPr>
          <p:cNvSpPr>
            <a:spLocks noGrp="1"/>
          </p:cNvSpPr>
          <p:nvPr>
            <p:ph idx="1"/>
          </p:nvPr>
        </p:nvSpPr>
        <p:spPr>
          <a:xfrm>
            <a:off x="1141412" y="1630010"/>
            <a:ext cx="6364619" cy="2258177"/>
          </a:xfrm>
        </p:spPr>
        <p:txBody>
          <a:bodyPr>
            <a:normAutofit fontScale="77500" lnSpcReduction="20000"/>
          </a:bodyPr>
          <a:lstStyle/>
          <a:p>
            <a:r>
              <a:rPr lang="en-US" dirty="0"/>
              <a:t>To make the counter synthesizable, a mechanism must be added to clear the state from outside. For this purpose an </a:t>
            </a:r>
            <a:r>
              <a:rPr lang="en-US" i="1" dirty="0"/>
              <a:t>input</a:t>
            </a:r>
            <a:r>
              <a:rPr lang="en-US" dirty="0"/>
              <a:t> (net </a:t>
            </a:r>
            <a:r>
              <a:rPr lang="en-US" i="1" dirty="0" err="1"/>
              <a:t>Rst</a:t>
            </a:r>
            <a:r>
              <a:rPr lang="en-US" dirty="0"/>
              <a:t>) can be added to the module's list of inputs/outputs.</a:t>
            </a:r>
          </a:p>
          <a:p>
            <a:r>
              <a:rPr lang="en-US" dirty="0"/>
              <a:t>The net </a:t>
            </a:r>
            <a:r>
              <a:rPr lang="en-US" i="1" dirty="0" err="1"/>
              <a:t>Rst</a:t>
            </a:r>
            <a:r>
              <a:rPr lang="en-US" dirty="0"/>
              <a:t> is therefore also added to the </a:t>
            </a:r>
            <a:r>
              <a:rPr lang="en-US" i="1" dirty="0" err="1">
                <a:solidFill>
                  <a:srgbClr val="FFFF00"/>
                </a:solidFill>
              </a:rPr>
              <a:t>sensitivity list</a:t>
            </a:r>
            <a:r>
              <a:rPr lang="en-US" dirty="0"/>
              <a:t> of the </a:t>
            </a:r>
            <a:r>
              <a:rPr lang="en-US" i="1" dirty="0" err="1"/>
              <a:t>always </a:t>
            </a:r>
            <a:r>
              <a:rPr lang="en-US" dirty="0"/>
              <a:t>statement, and every change of it (</a:t>
            </a:r>
            <a:r>
              <a:rPr lang="en-US" i="1" dirty="0" err="1">
                <a:solidFill>
                  <a:srgbClr val="FFFF00"/>
                </a:solidFill>
              </a:rPr>
              <a:t>posedge</a:t>
            </a:r>
            <a:r>
              <a:rPr lang="en-US" dirty="0"/>
              <a:t>) will therefore be taken into account.</a:t>
            </a:r>
          </a:p>
        </p:txBody>
      </p:sp>
      <p:sp>
        <p:nvSpPr>
          <p:cNvPr id="4" name="CasellaDiTesto 3">
            <a:extLst>
              <a:ext uri="{FF2B5EF4-FFF2-40B4-BE49-F238E27FC236}">
                <a16:creationId xmlns:a16="http://schemas.microsoft.com/office/drawing/2014/main" id="{6DFEC0E0-087C-B67C-A88D-7D2C08256AFC}"/>
              </a:ext>
            </a:extLst>
          </p:cNvPr>
          <p:cNvSpPr txBox="1"/>
          <p:nvPr/>
        </p:nvSpPr>
        <p:spPr>
          <a:xfrm>
            <a:off x="7609399" y="1806042"/>
            <a:ext cx="3912042" cy="4154984"/>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counter</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Clk,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Rst,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G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S;</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always</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569CD6"/>
                </a:solidFill>
                <a:effectLst/>
                <a:highlight>
                  <a:srgbClr val="1F1F1F"/>
                </a:highlight>
                <a:latin typeface="Consolas" panose="020B0609020204030204" pitchFamily="49" charset="0"/>
              </a:rPr>
              <a:t>posedge</a:t>
            </a:r>
            <a:r>
              <a:rPr lang="en-US" sz="1100" b="0" noProof="1">
                <a:solidFill>
                  <a:srgbClr val="CCCCCC"/>
                </a:solidFill>
                <a:effectLst/>
                <a:highlight>
                  <a:srgbClr val="1F1F1F"/>
                </a:highlight>
                <a:latin typeface="Consolas" panose="020B0609020204030204" pitchFamily="49" charset="0"/>
              </a:rPr>
              <a:t> Clk </a:t>
            </a:r>
            <a:r>
              <a:rPr lang="en-US" sz="1100" b="0" noProof="1">
                <a:solidFill>
                  <a:srgbClr val="569CD6"/>
                </a:solidFill>
                <a:effectLst/>
                <a:highlight>
                  <a:srgbClr val="1F1F1F"/>
                </a:highlight>
                <a:latin typeface="Consolas" panose="020B0609020204030204" pitchFamily="49" charset="0"/>
              </a:rPr>
              <a:t>or</a:t>
            </a:r>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lumMod val="95000"/>
                    <a:lumOff val="5000"/>
                  </a:schemeClr>
                </a:solidFill>
                <a:effectLst/>
                <a:highlight>
                  <a:srgbClr val="FFFF00"/>
                </a:highlight>
                <a:latin typeface="Consolas" panose="020B0609020204030204" pitchFamily="49" charset="0"/>
              </a:rPr>
              <a:t>posedge Rst</a:t>
            </a:r>
            <a:r>
              <a:rPr lang="en-US" sz="1100" b="0" noProof="1">
                <a:solidFill>
                  <a:srgbClr val="CCCCCC"/>
                </a:solidFill>
                <a:effectLst/>
                <a:highlight>
                  <a:srgbClr val="FFFF00"/>
                </a:highlight>
                <a:latin typeface="Consolas" panose="020B0609020204030204" pitchFamily="49" charset="0"/>
              </a:rPr>
              <a:t> </a:t>
            </a:r>
            <a:r>
              <a:rPr lang="en-US" sz="1100" b="0" noProof="1">
                <a:solidFill>
                  <a:srgbClr val="CCCCCC"/>
                </a:solidFill>
                <a:effectLst/>
                <a:highlight>
                  <a:srgbClr val="1F1F1F"/>
                </a:highlight>
                <a:latin typeface="Consolas" panose="020B0609020204030204" pitchFamily="49" charset="0"/>
              </a:rPr>
              <a:t>)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if </a:t>
            </a:r>
            <a:r>
              <a:rPr lang="en-US" sz="1100" b="0" noProof="1">
                <a:solidFill>
                  <a:srgbClr val="CCCCCC"/>
                </a:solidFill>
                <a:effectLst/>
                <a:highlight>
                  <a:srgbClr val="1F1F1F"/>
                </a:highlight>
                <a:latin typeface="Consolas" panose="020B0609020204030204" pitchFamily="49" charset="0"/>
              </a:rPr>
              <a:t>( Rst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else</a:t>
            </a:r>
            <a:r>
              <a:rPr lang="en-US" sz="1100" b="0" noProof="1">
                <a:solidFill>
                  <a:srgbClr val="CCCCCC"/>
                </a:solidFill>
                <a:effectLst/>
                <a:highlight>
                  <a:srgbClr val="1F1F1F"/>
                </a:highlight>
                <a:latin typeface="Consolas" panose="020B0609020204030204" pitchFamily="49" charset="0"/>
              </a:rPr>
              <a:t>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case </a:t>
            </a:r>
            <a:r>
              <a:rPr lang="en-US" sz="1100" b="0" noProof="1">
                <a:solidFill>
                  <a:srgbClr val="CCCCCC"/>
                </a:solidFill>
                <a:effectLst/>
                <a:highlight>
                  <a:srgbClr val="1F1F1F"/>
                </a:highlight>
                <a:latin typeface="Consolas" panose="020B0609020204030204" pitchFamily="49" charset="0"/>
              </a:rPr>
              <a:t>( S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endcase</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0853565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808344-2EC7-DD14-F4D5-E837FAAAF5B5}"/>
              </a:ext>
            </a:extLst>
          </p:cNvPr>
          <p:cNvSpPr>
            <a:spLocks noGrp="1"/>
          </p:cNvSpPr>
          <p:nvPr>
            <p:ph type="title"/>
          </p:nvPr>
        </p:nvSpPr>
        <p:spPr/>
        <p:txBody>
          <a:bodyPr/>
          <a:lstStyle/>
          <a:p>
            <a:r>
              <a:rPr lang="en-US" dirty="0"/>
              <a:t>INTRO TUTORIAL (16/3)</a:t>
            </a:r>
          </a:p>
        </p:txBody>
      </p:sp>
      <p:sp>
        <p:nvSpPr>
          <p:cNvPr id="3" name="Segnaposto contenuto 2">
            <a:extLst>
              <a:ext uri="{FF2B5EF4-FFF2-40B4-BE49-F238E27FC236}">
                <a16:creationId xmlns:a16="http://schemas.microsoft.com/office/drawing/2014/main" id="{7737CCD8-8870-66FA-36E4-EB247F037CA7}"/>
              </a:ext>
            </a:extLst>
          </p:cNvPr>
          <p:cNvSpPr>
            <a:spLocks noGrp="1"/>
          </p:cNvSpPr>
          <p:nvPr>
            <p:ph idx="1"/>
          </p:nvPr>
        </p:nvSpPr>
        <p:spPr>
          <a:xfrm>
            <a:off x="1141412" y="1630011"/>
            <a:ext cx="6364619" cy="3307750"/>
          </a:xfrm>
        </p:spPr>
        <p:txBody>
          <a:bodyPr>
            <a:normAutofit fontScale="77500" lnSpcReduction="20000"/>
          </a:bodyPr>
          <a:lstStyle/>
          <a:p>
            <a:r>
              <a:rPr lang="en-US" dirty="0"/>
              <a:t>To make the counter synthesizable, a mechanism must be added to clear the state from outside. For this purpose an </a:t>
            </a:r>
            <a:r>
              <a:rPr lang="en-US" i="1" dirty="0"/>
              <a:t>input</a:t>
            </a:r>
            <a:r>
              <a:rPr lang="en-US" dirty="0"/>
              <a:t> (net </a:t>
            </a:r>
            <a:r>
              <a:rPr lang="en-US" i="1" dirty="0" err="1"/>
              <a:t>Rst</a:t>
            </a:r>
            <a:r>
              <a:rPr lang="en-US" dirty="0"/>
              <a:t>) can be added to the module's list of inputs/outputs.</a:t>
            </a:r>
          </a:p>
          <a:p>
            <a:r>
              <a:rPr lang="en-US" dirty="0"/>
              <a:t>The net </a:t>
            </a:r>
            <a:r>
              <a:rPr lang="en-US" i="1" dirty="0" err="1"/>
              <a:t>Rst</a:t>
            </a:r>
            <a:r>
              <a:rPr lang="en-US" dirty="0"/>
              <a:t> is therefore also added to the </a:t>
            </a:r>
            <a:r>
              <a:rPr lang="en-US" i="1" dirty="0" err="1"/>
              <a:t>sensitivity list</a:t>
            </a:r>
            <a:r>
              <a:rPr lang="en-US" dirty="0"/>
              <a:t> of the </a:t>
            </a:r>
            <a:r>
              <a:rPr lang="en-US" i="1" dirty="0" err="1"/>
              <a:t>always </a:t>
            </a:r>
            <a:r>
              <a:rPr lang="en-US" dirty="0"/>
              <a:t>statement, and every change of it (</a:t>
            </a:r>
            <a:r>
              <a:rPr lang="en-US" i="1" dirty="0" err="1"/>
              <a:t>posedge</a:t>
            </a:r>
            <a:r>
              <a:rPr lang="en-US" dirty="0"/>
              <a:t>) will therefore be taken into account.</a:t>
            </a:r>
          </a:p>
          <a:p>
            <a:r>
              <a:rPr lang="en-US" dirty="0"/>
              <a:t>If, when the </a:t>
            </a:r>
            <a:r>
              <a:rPr lang="en-US" i="1" dirty="0" err="1"/>
              <a:t>always</a:t>
            </a:r>
            <a:r>
              <a:rPr lang="en-US" dirty="0"/>
              <a:t> block is triggered, the value of </a:t>
            </a:r>
            <a:r>
              <a:rPr lang="en-US" i="1" dirty="0" err="1"/>
              <a:t>Rst</a:t>
            </a:r>
            <a:r>
              <a:rPr lang="en-US" dirty="0"/>
              <a:t> is equal to 1, we are facing a request to clear the register that holds the state.</a:t>
            </a:r>
          </a:p>
        </p:txBody>
      </p:sp>
      <p:sp>
        <p:nvSpPr>
          <p:cNvPr id="4" name="CasellaDiTesto 3">
            <a:extLst>
              <a:ext uri="{FF2B5EF4-FFF2-40B4-BE49-F238E27FC236}">
                <a16:creationId xmlns:a16="http://schemas.microsoft.com/office/drawing/2014/main" id="{6DFEC0E0-087C-B67C-A88D-7D2C08256AFC}"/>
              </a:ext>
            </a:extLst>
          </p:cNvPr>
          <p:cNvSpPr txBox="1"/>
          <p:nvPr/>
        </p:nvSpPr>
        <p:spPr>
          <a:xfrm>
            <a:off x="7609399" y="1806042"/>
            <a:ext cx="3912042" cy="4154984"/>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counter</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Clk,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Rst,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G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S;</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always</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569CD6"/>
                </a:solidFill>
                <a:effectLst/>
                <a:highlight>
                  <a:srgbClr val="1F1F1F"/>
                </a:highlight>
                <a:latin typeface="Consolas" panose="020B0609020204030204" pitchFamily="49" charset="0"/>
              </a:rPr>
              <a:t>posedge</a:t>
            </a:r>
            <a:r>
              <a:rPr lang="en-US" sz="1100" b="0" noProof="1">
                <a:solidFill>
                  <a:srgbClr val="CCCCCC"/>
                </a:solidFill>
                <a:effectLst/>
                <a:highlight>
                  <a:srgbClr val="1F1F1F"/>
                </a:highlight>
                <a:latin typeface="Consolas" panose="020B0609020204030204" pitchFamily="49" charset="0"/>
              </a:rPr>
              <a:t> Clk </a:t>
            </a:r>
            <a:r>
              <a:rPr lang="en-US" sz="1100" b="0" noProof="1">
                <a:solidFill>
                  <a:srgbClr val="569CD6"/>
                </a:solidFill>
                <a:effectLst/>
                <a:highlight>
                  <a:srgbClr val="1F1F1F"/>
                </a:highlight>
                <a:latin typeface="Consolas" panose="020B0609020204030204" pitchFamily="49" charset="0"/>
              </a:rPr>
              <a:t>or</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posedge</a:t>
            </a:r>
            <a:r>
              <a:rPr lang="en-US" sz="1100" b="0" noProof="1">
                <a:solidFill>
                  <a:srgbClr val="CCCCCC"/>
                </a:solidFill>
                <a:effectLst/>
                <a:highlight>
                  <a:srgbClr val="1F1F1F"/>
                </a:highlight>
                <a:latin typeface="Consolas" panose="020B0609020204030204" pitchFamily="49" charset="0"/>
              </a:rPr>
              <a:t> Rst )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if </a:t>
            </a:r>
            <a:r>
              <a:rPr lang="en-US" sz="1100" b="0" noProof="1">
                <a:solidFill>
                  <a:srgbClr val="CCCCCC"/>
                </a:solidFill>
                <a:effectLst/>
                <a:highlight>
                  <a:srgbClr val="1F1F1F"/>
                </a:highlight>
                <a:latin typeface="Consolas" panose="020B0609020204030204" pitchFamily="49" charset="0"/>
              </a:rPr>
              <a:t>( Rst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chemeClr val="bg1"/>
                </a:solidFill>
                <a:effectLst/>
                <a:highlight>
                  <a:srgbClr val="FFFF00"/>
                </a:highlight>
                <a:latin typeface="Consolas" panose="020B0609020204030204" pitchFamily="49" charset="0"/>
              </a:rPr>
              <a:t>S &lt;= 3'b000;</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else</a:t>
            </a:r>
            <a:r>
              <a:rPr lang="en-US" sz="1100" b="0" noProof="1">
                <a:solidFill>
                  <a:srgbClr val="CCCCCC"/>
                </a:solidFill>
                <a:effectLst/>
                <a:highlight>
                  <a:srgbClr val="1F1F1F"/>
                </a:highlight>
                <a:latin typeface="Consolas" panose="020B0609020204030204" pitchFamily="49" charset="0"/>
              </a:rPr>
              <a:t>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case </a:t>
            </a:r>
            <a:r>
              <a:rPr lang="en-US" sz="1100" b="0" noProof="1">
                <a:solidFill>
                  <a:srgbClr val="CCCCCC"/>
                </a:solidFill>
                <a:effectLst/>
                <a:highlight>
                  <a:srgbClr val="1F1F1F"/>
                </a:highlight>
                <a:latin typeface="Consolas" panose="020B0609020204030204" pitchFamily="49" charset="0"/>
              </a:rPr>
              <a:t>( S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endcase</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
        <p:nvSpPr>
          <p:cNvPr id="5" name="Rettangolo 4">
            <a:extLst>
              <a:ext uri="{FF2B5EF4-FFF2-40B4-BE49-F238E27FC236}">
                <a16:creationId xmlns:a16="http://schemas.microsoft.com/office/drawing/2014/main" id="{4EEAD860-877B-43F0-335D-973E0F307047}"/>
              </a:ext>
            </a:extLst>
          </p:cNvPr>
          <p:cNvSpPr/>
          <p:nvPr/>
        </p:nvSpPr>
        <p:spPr>
          <a:xfrm>
            <a:off x="8112520" y="2671582"/>
            <a:ext cx="1317727" cy="882652"/>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25876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808344-2EC7-DD14-F4D5-E837FAAAF5B5}"/>
              </a:ext>
            </a:extLst>
          </p:cNvPr>
          <p:cNvSpPr>
            <a:spLocks noGrp="1"/>
          </p:cNvSpPr>
          <p:nvPr>
            <p:ph type="title"/>
          </p:nvPr>
        </p:nvSpPr>
        <p:spPr/>
        <p:txBody>
          <a:bodyPr/>
          <a:lstStyle/>
          <a:p>
            <a:r>
              <a:rPr lang="en-US" dirty="0"/>
              <a:t>INTRO TUTORIAL (16/4)</a:t>
            </a:r>
          </a:p>
        </p:txBody>
      </p:sp>
      <p:sp>
        <p:nvSpPr>
          <p:cNvPr id="3" name="Segnaposto contenuto 2">
            <a:extLst>
              <a:ext uri="{FF2B5EF4-FFF2-40B4-BE49-F238E27FC236}">
                <a16:creationId xmlns:a16="http://schemas.microsoft.com/office/drawing/2014/main" id="{7737CCD8-8870-66FA-36E4-EB247F037CA7}"/>
              </a:ext>
            </a:extLst>
          </p:cNvPr>
          <p:cNvSpPr>
            <a:spLocks noGrp="1"/>
          </p:cNvSpPr>
          <p:nvPr>
            <p:ph idx="1"/>
          </p:nvPr>
        </p:nvSpPr>
        <p:spPr>
          <a:xfrm>
            <a:off x="1141412" y="1630010"/>
            <a:ext cx="6364619" cy="4635611"/>
          </a:xfrm>
        </p:spPr>
        <p:txBody>
          <a:bodyPr>
            <a:normAutofit fontScale="77500" lnSpcReduction="20000"/>
          </a:bodyPr>
          <a:lstStyle/>
          <a:p>
            <a:r>
              <a:rPr lang="en-US" dirty="0"/>
              <a:t>To make the counter synthesizable, a mechanism must be added to clear the state from outside. For this purpose an </a:t>
            </a:r>
            <a:r>
              <a:rPr lang="en-US" i="1" dirty="0"/>
              <a:t>input</a:t>
            </a:r>
            <a:r>
              <a:rPr lang="en-US" dirty="0"/>
              <a:t> (net </a:t>
            </a:r>
            <a:r>
              <a:rPr lang="en-US" i="1" dirty="0" err="1"/>
              <a:t>Rst</a:t>
            </a:r>
            <a:r>
              <a:rPr lang="en-US" dirty="0"/>
              <a:t>) can be added to the module's list of inputs/outputs.</a:t>
            </a:r>
          </a:p>
          <a:p>
            <a:r>
              <a:rPr lang="en-US" dirty="0"/>
              <a:t>The net </a:t>
            </a:r>
            <a:r>
              <a:rPr lang="en-US" i="1" dirty="0" err="1"/>
              <a:t>Rst</a:t>
            </a:r>
            <a:r>
              <a:rPr lang="en-US" dirty="0"/>
              <a:t> is therefore also added to the </a:t>
            </a:r>
            <a:r>
              <a:rPr lang="en-US" i="1" dirty="0" err="1"/>
              <a:t>sensitivity list</a:t>
            </a:r>
            <a:r>
              <a:rPr lang="en-US" dirty="0"/>
              <a:t> of the </a:t>
            </a:r>
            <a:r>
              <a:rPr lang="en-US" i="1" dirty="0" err="1"/>
              <a:t>always </a:t>
            </a:r>
            <a:r>
              <a:rPr lang="en-US" dirty="0"/>
              <a:t>statement, and every change of it (</a:t>
            </a:r>
            <a:r>
              <a:rPr lang="en-US" i="1" dirty="0" err="1"/>
              <a:t>posedge</a:t>
            </a:r>
            <a:r>
              <a:rPr lang="en-US" dirty="0"/>
              <a:t>) will therefore be taken into account.</a:t>
            </a:r>
          </a:p>
          <a:p>
            <a:r>
              <a:rPr lang="en-US" dirty="0"/>
              <a:t>If, when the </a:t>
            </a:r>
            <a:r>
              <a:rPr lang="en-US" i="1" dirty="0" err="1"/>
              <a:t>always</a:t>
            </a:r>
            <a:r>
              <a:rPr lang="en-US" dirty="0"/>
              <a:t> block is triggered, the value of </a:t>
            </a:r>
            <a:r>
              <a:rPr lang="en-US" i="1" dirty="0" err="1"/>
              <a:t>Rst</a:t>
            </a:r>
            <a:r>
              <a:rPr lang="en-US" dirty="0"/>
              <a:t> is equal to 1, we are facing a request to clear the register that holds the state.</a:t>
            </a:r>
          </a:p>
          <a:p>
            <a:r>
              <a:rPr lang="en-US" dirty="0"/>
              <a:t>If it was not </a:t>
            </a:r>
            <a:r>
              <a:rPr lang="en-US" i="1" dirty="0" err="1"/>
              <a:t>Rst</a:t>
            </a:r>
            <a:r>
              <a:rPr lang="en-US" dirty="0"/>
              <a:t> that triggered the </a:t>
            </a:r>
            <a:r>
              <a:rPr lang="en-US" i="1" dirty="0" err="1"/>
              <a:t>always</a:t>
            </a:r>
            <a:r>
              <a:rPr lang="en-US" dirty="0"/>
              <a:t> block, then it was certainly the </a:t>
            </a:r>
            <a:r>
              <a:rPr lang="en-US" i="1" dirty="0" err="1">
                <a:solidFill>
                  <a:srgbClr val="FFFF00"/>
                </a:solidFill>
              </a:rPr>
              <a:t>Clk</a:t>
            </a:r>
            <a:r>
              <a:rPr lang="en-US" dirty="0"/>
              <a:t> input. The register will therefore be updated with the rule seen earlier, contained in the </a:t>
            </a:r>
            <a:r>
              <a:rPr lang="en-US" i="1" dirty="0"/>
              <a:t>case</a:t>
            </a:r>
            <a:r>
              <a:rPr lang="en-US" dirty="0"/>
              <a:t> statement.</a:t>
            </a:r>
          </a:p>
        </p:txBody>
      </p:sp>
      <p:sp>
        <p:nvSpPr>
          <p:cNvPr id="4" name="CasellaDiTesto 3">
            <a:extLst>
              <a:ext uri="{FF2B5EF4-FFF2-40B4-BE49-F238E27FC236}">
                <a16:creationId xmlns:a16="http://schemas.microsoft.com/office/drawing/2014/main" id="{6DFEC0E0-087C-B67C-A88D-7D2C08256AFC}"/>
              </a:ext>
            </a:extLst>
          </p:cNvPr>
          <p:cNvSpPr txBox="1"/>
          <p:nvPr/>
        </p:nvSpPr>
        <p:spPr>
          <a:xfrm>
            <a:off x="7609399" y="1806042"/>
            <a:ext cx="3912042" cy="4154984"/>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counter</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Clk,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Rst, </a:t>
            </a:r>
            <a:r>
              <a:rPr lang="en-US" sz="1100" b="0" noProof="1">
                <a:solidFill>
                  <a:srgbClr val="569CD6"/>
                </a:solidFill>
                <a:effectLst/>
                <a:highlight>
                  <a:srgbClr val="1F1F1F"/>
                </a:highlight>
                <a:latin typeface="Consolas" panose="020B0609020204030204" pitchFamily="49" charset="0"/>
              </a:rPr>
              <a:t>input</a:t>
            </a:r>
            <a:r>
              <a:rPr lang="en-US" sz="1100" b="0" noProof="1">
                <a:solidFill>
                  <a:srgbClr val="CCCCCC"/>
                </a:solidFill>
                <a:effectLst/>
                <a:highlight>
                  <a:srgbClr val="1F1F1F"/>
                </a:highlight>
                <a:latin typeface="Consolas" panose="020B0609020204030204" pitchFamily="49" charset="0"/>
              </a:rPr>
              <a:t> G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S;</a:t>
            </a: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always</a:t>
            </a:r>
            <a:r>
              <a:rPr lang="en-US" sz="1100" b="0" noProof="1">
                <a:solidFill>
                  <a:srgbClr val="CCCCCC"/>
                </a:solidFill>
                <a:effectLst/>
                <a:highlight>
                  <a:srgbClr val="1F1F1F"/>
                </a:highlight>
                <a:latin typeface="Consolas" panose="020B0609020204030204" pitchFamily="49" charset="0"/>
              </a:rPr>
              <a:t> @( </a:t>
            </a:r>
            <a:r>
              <a:rPr lang="en-US" sz="1100" b="0" noProof="1">
                <a:solidFill>
                  <a:schemeClr val="bg1">
                    <a:lumMod val="95000"/>
                    <a:lumOff val="5000"/>
                  </a:schemeClr>
                </a:solidFill>
                <a:effectLst/>
                <a:highlight>
                  <a:srgbClr val="FFFF00"/>
                </a:highlight>
                <a:latin typeface="Consolas" panose="020B0609020204030204" pitchFamily="49" charset="0"/>
              </a:rPr>
              <a:t>posedge Clk</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or</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posedge</a:t>
            </a:r>
            <a:r>
              <a:rPr lang="en-US" sz="1100" b="0" noProof="1">
                <a:solidFill>
                  <a:srgbClr val="CCCCCC"/>
                </a:solidFill>
                <a:effectLst/>
                <a:highlight>
                  <a:srgbClr val="1F1F1F"/>
                </a:highlight>
                <a:latin typeface="Consolas" panose="020B0609020204030204" pitchFamily="49" charset="0"/>
              </a:rPr>
              <a:t> Rst )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if </a:t>
            </a:r>
            <a:r>
              <a:rPr lang="en-US" sz="1100" b="0" noProof="1">
                <a:solidFill>
                  <a:srgbClr val="CCCCCC"/>
                </a:solidFill>
                <a:effectLst/>
                <a:highlight>
                  <a:srgbClr val="1F1F1F"/>
                </a:highlight>
                <a:latin typeface="Consolas" panose="020B0609020204030204" pitchFamily="49" charset="0"/>
              </a:rPr>
              <a:t>( Rst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else</a:t>
            </a:r>
            <a:r>
              <a:rPr lang="en-US" sz="1100" b="0" noProof="1">
                <a:solidFill>
                  <a:srgbClr val="CCCCCC"/>
                </a:solidFill>
                <a:effectLst/>
                <a:highlight>
                  <a:srgbClr val="1F1F1F"/>
                </a:highlight>
                <a:latin typeface="Consolas" panose="020B0609020204030204" pitchFamily="49" charset="0"/>
              </a:rPr>
              <a:t> </a:t>
            </a:r>
          </a:p>
          <a:p>
            <a:r>
              <a:rPr lang="en-US" sz="1100" noProof="1">
                <a:solidFill>
                  <a:srgbClr val="CCCCCC"/>
                </a:solidFill>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case </a:t>
            </a:r>
            <a:r>
              <a:rPr lang="en-US" sz="1100" b="0" noProof="1">
                <a:solidFill>
                  <a:srgbClr val="CCCCCC"/>
                </a:solidFill>
                <a:effectLst/>
                <a:highlight>
                  <a:srgbClr val="1F1F1F"/>
                </a:highlight>
                <a:latin typeface="Consolas" panose="020B0609020204030204" pitchFamily="49" charset="0"/>
              </a:rPr>
              <a:t>( S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3'b001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3'b011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3'b010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3'b100</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3'b110</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3'b111</a:t>
            </a:r>
            <a:r>
              <a:rPr lang="en-US" sz="1100" b="0" noProof="1">
                <a:solidFill>
                  <a:srgbClr val="CCCCCC"/>
                </a:solidFill>
                <a:effectLst/>
                <a:highlight>
                  <a:srgbClr val="1F1F1F"/>
                </a:highlight>
                <a:latin typeface="Consolas" panose="020B0609020204030204" pitchFamily="49" charset="0"/>
              </a:rPr>
              <a:t>: S </a:t>
            </a:r>
            <a:r>
              <a:rPr lang="en-US" sz="1100" b="0" noProof="1">
                <a:solidFill>
                  <a:srgbClr val="D4D4D4"/>
                </a:solidFill>
                <a:effectLst/>
                <a:highlight>
                  <a:srgbClr val="1F1F1F"/>
                </a:highlight>
                <a:latin typeface="Consolas" panose="020B0609020204030204" pitchFamily="49" charset="0"/>
              </a:rPr>
              <a:t>&lt;=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G ? </a:t>
            </a:r>
            <a:r>
              <a:rPr lang="en-US" sz="1100" b="0" noProof="1">
                <a:solidFill>
                  <a:srgbClr val="B5CEA8"/>
                </a:solidFill>
                <a:effectLst/>
                <a:highlight>
                  <a:srgbClr val="1F1F1F"/>
                </a:highlight>
                <a:latin typeface="Consolas" panose="020B0609020204030204" pitchFamily="49" charset="0"/>
              </a:rPr>
              <a:t>3'b000</a:t>
            </a:r>
            <a:r>
              <a:rPr lang="en-US" sz="1100" b="0" noProof="1">
                <a:solidFill>
                  <a:srgbClr val="CCCCCC"/>
                </a:solidFill>
                <a:effectLst/>
                <a:highlight>
                  <a:srgbClr val="1F1F1F"/>
                </a:highlight>
                <a:latin typeface="Consolas" panose="020B0609020204030204" pitchFamily="49" charset="0"/>
              </a:rPr>
              <a:t> : </a:t>
            </a:r>
            <a:r>
              <a:rPr lang="en-US" sz="1100" b="0" noProof="1">
                <a:solidFill>
                  <a:srgbClr val="B5CEA8"/>
                </a:solidFill>
                <a:effectLst/>
                <a:highlight>
                  <a:srgbClr val="1F1F1F"/>
                </a:highlight>
                <a:latin typeface="Consolas" panose="020B0609020204030204" pitchFamily="49" charset="0"/>
              </a:rPr>
              <a:t>3'b101</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endcase</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
        <p:nvSpPr>
          <p:cNvPr id="5" name="Rettangolo 4">
            <a:extLst>
              <a:ext uri="{FF2B5EF4-FFF2-40B4-BE49-F238E27FC236}">
                <a16:creationId xmlns:a16="http://schemas.microsoft.com/office/drawing/2014/main" id="{3CEEEE71-592F-DF03-9F40-38A5BEA915C1}"/>
              </a:ext>
            </a:extLst>
          </p:cNvPr>
          <p:cNvSpPr/>
          <p:nvPr/>
        </p:nvSpPr>
        <p:spPr>
          <a:xfrm>
            <a:off x="8136376" y="3355394"/>
            <a:ext cx="3146526" cy="219461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257482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C52C1C9-6050-2163-F188-801A61DC266F}"/>
              </a:ext>
            </a:extLst>
          </p:cNvPr>
          <p:cNvSpPr>
            <a:spLocks noGrp="1"/>
          </p:cNvSpPr>
          <p:nvPr>
            <p:ph type="title"/>
          </p:nvPr>
        </p:nvSpPr>
        <p:spPr>
          <a:xfrm>
            <a:off x="1141413" y="618518"/>
            <a:ext cx="9905998" cy="780912"/>
          </a:xfrm>
        </p:spPr>
        <p:txBody>
          <a:bodyPr/>
          <a:lstStyle/>
          <a:p>
            <a:r>
              <a:rPr lang="en-US" dirty="0"/>
              <a:t>INTRO TUTORIAL (17)</a:t>
            </a:r>
          </a:p>
        </p:txBody>
      </p:sp>
      <p:pic>
        <p:nvPicPr>
          <p:cNvPr id="5" name="Segnaposto contenuto 4">
            <a:extLst>
              <a:ext uri="{FF2B5EF4-FFF2-40B4-BE49-F238E27FC236}">
                <a16:creationId xmlns:a16="http://schemas.microsoft.com/office/drawing/2014/main" id="{B525304F-6528-6D8D-06D4-57643999C9A7}"/>
              </a:ext>
            </a:extLst>
          </p:cNvPr>
          <p:cNvPicPr>
            <a:picLocks noGrp="1" noChangeAspect="1"/>
          </p:cNvPicPr>
          <p:nvPr>
            <p:ph idx="1"/>
          </p:nvPr>
        </p:nvPicPr>
        <p:blipFill>
          <a:blip r:embed="rId2"/>
          <a:stretch>
            <a:fillRect/>
          </a:stretch>
        </p:blipFill>
        <p:spPr>
          <a:xfrm>
            <a:off x="362185" y="4881429"/>
            <a:ext cx="9139624" cy="1437247"/>
          </a:xfrm>
        </p:spPr>
      </p:pic>
      <p:sp>
        <p:nvSpPr>
          <p:cNvPr id="6" name="CasellaDiTesto 5">
            <a:extLst>
              <a:ext uri="{FF2B5EF4-FFF2-40B4-BE49-F238E27FC236}">
                <a16:creationId xmlns:a16="http://schemas.microsoft.com/office/drawing/2014/main" id="{772F4800-8374-C728-677D-93D94193C779}"/>
              </a:ext>
            </a:extLst>
          </p:cNvPr>
          <p:cNvSpPr txBox="1"/>
          <p:nvPr/>
        </p:nvSpPr>
        <p:spPr>
          <a:xfrm>
            <a:off x="9605176" y="1148030"/>
            <a:ext cx="2337682" cy="5170646"/>
          </a:xfrm>
          <a:prstGeom prst="rect">
            <a:avLst/>
          </a:prstGeom>
          <a:solidFill>
            <a:srgbClr val="1F1F1F"/>
          </a:solidFill>
          <a:ln w="38100">
            <a:solidFill>
              <a:schemeClr val="accent5">
                <a:lumMod val="75000"/>
              </a:schemeClr>
            </a:solidFill>
          </a:ln>
        </p:spPr>
        <p:txBody>
          <a:bodyPr wrap="square" rtlCol="0">
            <a:spAutoFit/>
          </a:bodyPr>
          <a:lstStyle/>
          <a:p>
            <a:r>
              <a:rPr lang="en-US" sz="1100" b="0" noProof="1">
                <a:solidFill>
                  <a:srgbClr val="569CD6"/>
                </a:solidFill>
                <a:effectLst/>
                <a:highlight>
                  <a:srgbClr val="1F1F1F"/>
                </a:highlight>
                <a:latin typeface="Consolas" panose="020B0609020204030204" pitchFamily="49" charset="0"/>
              </a:rPr>
              <a:t>`timescale</a:t>
            </a:r>
            <a:r>
              <a:rPr lang="en-US" sz="1100" b="0" noProof="1">
                <a:solidFill>
                  <a:srgbClr val="CCCCCC"/>
                </a:solidFill>
                <a:effectLst/>
                <a:highlight>
                  <a:srgbClr val="1F1F1F"/>
                </a:highlight>
                <a:latin typeface="Consolas" panose="020B0609020204030204" pitchFamily="49" charset="0"/>
              </a:rPr>
              <a:t> 10ns</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100ps</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569CD6"/>
                </a:solidFill>
                <a:effectLst/>
                <a:highlight>
                  <a:srgbClr val="1F1F1F"/>
                </a:highlight>
                <a:latin typeface="Consolas" panose="020B0609020204030204" pitchFamily="49" charset="0"/>
              </a:rPr>
              <a:t>module</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4EC9B0"/>
                </a:solidFill>
                <a:effectLst/>
                <a:highlight>
                  <a:srgbClr val="1F1F1F"/>
                </a:highlight>
                <a:latin typeface="Consolas" panose="020B0609020204030204" pitchFamily="49" charset="0"/>
              </a:rPr>
              <a:t>tf</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Mode;</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wire</a:t>
            </a:r>
            <a:r>
              <a:rPr lang="en-US" sz="1100" b="0" noProof="1">
                <a:solidFill>
                  <a:srgbClr val="CCCCCC"/>
                </a:solidFill>
                <a:effectLst/>
                <a:highlight>
                  <a:srgbClr val="1F1F1F"/>
                </a:highlight>
                <a:latin typeface="Consolas" panose="020B0609020204030204" pitchFamily="49" charset="0"/>
              </a:rPr>
              <a:t> Cp;</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reg</a:t>
            </a:r>
            <a:r>
              <a:rPr lang="en-US" sz="1100" b="0" noProof="1">
                <a:solidFill>
                  <a:srgbClr val="CCCCCC"/>
                </a:solidFill>
                <a:effectLst/>
                <a:highlight>
                  <a:srgbClr val="1F1F1F"/>
                </a:highlight>
                <a:latin typeface="Consolas" panose="020B0609020204030204" pitchFamily="49" charset="0"/>
              </a:rPr>
              <a:t> Reset;</a:t>
            </a: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$dumpvars</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tf );</a:t>
            </a:r>
          </a:p>
          <a:p>
            <a:r>
              <a:rPr lang="en-US" sz="1100" b="0" noProof="1">
                <a:solidFill>
                  <a:srgbClr val="CCCCCC"/>
                </a:solidFill>
                <a:effectLst/>
                <a:highlight>
                  <a:srgbClr val="1F1F1F"/>
                </a:highlight>
                <a:latin typeface="Consolas" panose="020B0609020204030204" pitchFamily="49" charset="0"/>
              </a:rPr>
              <a:t>    Mode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#154</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Mode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#60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DCDCAA"/>
                </a:solidFill>
                <a:effectLst/>
                <a:highlight>
                  <a:srgbClr val="1F1F1F"/>
                </a:highlight>
                <a:latin typeface="Consolas" panose="020B0609020204030204" pitchFamily="49" charset="0"/>
              </a:rPr>
              <a:t>$finish</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initial</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begin</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Reset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#10</a:t>
            </a:r>
            <a:endParaRPr lang="en-US" sz="1100" b="0" noProof="1">
              <a:solidFill>
                <a:srgbClr val="CCCCCC"/>
              </a:solidFill>
              <a:effectLst/>
              <a:highlight>
                <a:srgbClr val="1F1F1F"/>
              </a:highlight>
              <a:latin typeface="Consolas" panose="020B0609020204030204" pitchFamily="49" charset="0"/>
            </a:endParaRPr>
          </a:p>
          <a:p>
            <a:r>
              <a:rPr lang="en-US" sz="1100" b="0" noProof="1">
                <a:solidFill>
                  <a:srgbClr val="CCCCCC"/>
                </a:solidFill>
                <a:effectLst/>
                <a:highlight>
                  <a:srgbClr val="1F1F1F"/>
                </a:highlight>
                <a:latin typeface="Consolas" panose="020B0609020204030204" pitchFamily="49" charset="0"/>
              </a:rPr>
              <a:t>    Reset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Reset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#60</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Reset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1</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#20</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Reset </a:t>
            </a:r>
            <a:r>
              <a:rPr lang="en-US" sz="1100" b="0" noProof="1">
                <a:solidFill>
                  <a:srgbClr val="D4D4D4"/>
                </a:solidFill>
                <a:effectLst/>
                <a:highlight>
                  <a:srgbClr val="1F1F1F"/>
                </a:highlight>
                <a:latin typeface="Consolas" panose="020B0609020204030204" pitchFamily="49" charset="0"/>
              </a:rPr>
              <a:t>=</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B5CEA8"/>
                </a:solidFill>
                <a:effectLst/>
                <a:highlight>
                  <a:srgbClr val="1F1F1F"/>
                </a:highlight>
                <a:latin typeface="Consolas" panose="020B0609020204030204" pitchFamily="49" charset="0"/>
              </a:rPr>
              <a:t>0</a:t>
            </a:r>
            <a:r>
              <a:rPr lang="en-US" sz="1100" b="0" noProof="1">
                <a:solidFill>
                  <a:srgbClr val="CCCCCC"/>
                </a:solidFill>
                <a:effectLst/>
                <a:highlight>
                  <a:srgbClr val="1F1F1F"/>
                </a:highlight>
                <a:latin typeface="Consolas" panose="020B0609020204030204" pitchFamily="49" charset="0"/>
              </a:rPr>
              <a:t>;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end</a:t>
            </a:r>
            <a:endParaRPr lang="en-US" sz="1100" b="0" noProof="1">
              <a:solidFill>
                <a:srgbClr val="CCCCCC"/>
              </a:solidFill>
              <a:effectLst/>
              <a:highlight>
                <a:srgbClr val="1F1F1F"/>
              </a:highlight>
              <a:latin typeface="Consolas" panose="020B0609020204030204" pitchFamily="49" charset="0"/>
            </a:endParaRPr>
          </a:p>
          <a:p>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clock</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Clk</a:t>
            </a:r>
            <a:r>
              <a:rPr lang="en-US" sz="1100" b="0" noProof="1">
                <a:solidFill>
                  <a:srgbClr val="CCCCCC"/>
                </a:solidFill>
                <a:effectLst/>
                <a:highlight>
                  <a:srgbClr val="1F1F1F"/>
                </a:highlight>
                <a:latin typeface="Consolas" panose="020B0609020204030204" pitchFamily="49" charset="0"/>
              </a:rPr>
              <a:t>( .Out( Cp ) );</a:t>
            </a:r>
          </a:p>
          <a:p>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counter</a:t>
            </a:r>
            <a:r>
              <a:rPr lang="en-US" sz="1100" b="0" noProof="1">
                <a:solidFill>
                  <a:srgbClr val="CCCCCC"/>
                </a:solidFill>
                <a:effectLst/>
                <a:highlight>
                  <a:srgbClr val="1F1F1F"/>
                </a:highlight>
                <a:latin typeface="Consolas" panose="020B0609020204030204" pitchFamily="49" charset="0"/>
              </a:rPr>
              <a:t> </a:t>
            </a:r>
            <a:r>
              <a:rPr lang="en-US" sz="1100" b="0" noProof="1">
                <a:solidFill>
                  <a:srgbClr val="569CD6"/>
                </a:solidFill>
                <a:effectLst/>
                <a:highlight>
                  <a:srgbClr val="1F1F1F"/>
                </a:highlight>
                <a:latin typeface="Consolas" panose="020B0609020204030204" pitchFamily="49" charset="0"/>
              </a:rPr>
              <a:t>counter_1</a:t>
            </a:r>
            <a:r>
              <a:rPr lang="en-US" sz="1100" b="0" noProof="1">
                <a:solidFill>
                  <a:srgbClr val="CCCCCC"/>
                </a:solidFill>
                <a:effectLst/>
                <a:highlight>
                  <a:srgbClr val="1F1F1F"/>
                </a:highlight>
                <a:latin typeface="Consolas" panose="020B0609020204030204" pitchFamily="49" charset="0"/>
              </a:rPr>
              <a:t> ( </a:t>
            </a:r>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.Clk( Cp ), </a:t>
            </a:r>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.Rst( Reset ), </a:t>
            </a:r>
            <a:br>
              <a:rPr lang="en-US" sz="1100" b="0" noProof="1">
                <a:solidFill>
                  <a:srgbClr val="CCCCCC"/>
                </a:solidFill>
                <a:effectLst/>
                <a:highlight>
                  <a:srgbClr val="1F1F1F"/>
                </a:highlight>
                <a:latin typeface="Consolas" panose="020B0609020204030204" pitchFamily="49" charset="0"/>
              </a:rPr>
            </a:br>
            <a:r>
              <a:rPr lang="en-US" sz="1100" b="0" noProof="1">
                <a:solidFill>
                  <a:srgbClr val="CCCCCC"/>
                </a:solidFill>
                <a:effectLst/>
                <a:highlight>
                  <a:srgbClr val="1F1F1F"/>
                </a:highlight>
                <a:latin typeface="Consolas" panose="020B0609020204030204" pitchFamily="49" charset="0"/>
              </a:rPr>
              <a:t>    .G( Mode ) </a:t>
            </a:r>
          </a:p>
          <a:p>
            <a:r>
              <a:rPr lang="en-US" sz="1100" noProof="1">
                <a:solidFill>
                  <a:srgbClr val="CCCCCC"/>
                </a:solidFill>
                <a:highlight>
                  <a:srgbClr val="1F1F1F"/>
                </a:highlight>
                <a:latin typeface="Consolas" panose="020B0609020204030204" pitchFamily="49" charset="0"/>
              </a:rPr>
              <a:t>  </a:t>
            </a:r>
            <a:r>
              <a:rPr lang="en-US" sz="1100" b="0" noProof="1">
                <a:solidFill>
                  <a:srgbClr val="CCCCCC"/>
                </a:solidFill>
                <a:effectLst/>
                <a:highlight>
                  <a:srgbClr val="1F1F1F"/>
                </a:highlight>
                <a:latin typeface="Consolas" panose="020B0609020204030204" pitchFamily="49" charset="0"/>
              </a:rPr>
              <a:t>);</a:t>
            </a:r>
          </a:p>
          <a:p>
            <a:r>
              <a:rPr lang="en-US" sz="1100" b="0" noProof="1">
                <a:solidFill>
                  <a:srgbClr val="569CD6"/>
                </a:solidFill>
                <a:effectLst/>
                <a:highlight>
                  <a:srgbClr val="1F1F1F"/>
                </a:highlight>
                <a:latin typeface="Consolas" panose="020B0609020204030204" pitchFamily="49" charset="0"/>
              </a:rPr>
              <a:t>endmodule</a:t>
            </a:r>
            <a:endParaRPr lang="en-US" sz="1100" b="0" noProof="1">
              <a:solidFill>
                <a:srgbClr val="CCCCCC"/>
              </a:solidFill>
              <a:effectLst/>
              <a:highlight>
                <a:srgbClr val="1F1F1F"/>
              </a:highlight>
              <a:latin typeface="Consolas" panose="020B0609020204030204" pitchFamily="49" charset="0"/>
            </a:endParaRPr>
          </a:p>
        </p:txBody>
      </p:sp>
      <p:sp>
        <p:nvSpPr>
          <p:cNvPr id="7" name="Segnaposto contenuto 2">
            <a:extLst>
              <a:ext uri="{FF2B5EF4-FFF2-40B4-BE49-F238E27FC236}">
                <a16:creationId xmlns:a16="http://schemas.microsoft.com/office/drawing/2014/main" id="{3E2A2ACF-C01B-C4AF-DDAD-9C91BDB37999}"/>
              </a:ext>
            </a:extLst>
          </p:cNvPr>
          <p:cNvSpPr txBox="1">
            <a:spLocks/>
          </p:cNvSpPr>
          <p:nvPr/>
        </p:nvSpPr>
        <p:spPr>
          <a:xfrm>
            <a:off x="1141412" y="1630010"/>
            <a:ext cx="8360397" cy="31309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endParaRPr lang="en-US" dirty="0"/>
          </a:p>
        </p:txBody>
      </p:sp>
      <p:sp>
        <p:nvSpPr>
          <p:cNvPr id="8" name="Segnaposto contenuto 2">
            <a:extLst>
              <a:ext uri="{FF2B5EF4-FFF2-40B4-BE49-F238E27FC236}">
                <a16:creationId xmlns:a16="http://schemas.microsoft.com/office/drawing/2014/main" id="{8BF9D7B6-D36E-D2AA-C426-C1A4B60DDFBE}"/>
              </a:ext>
            </a:extLst>
          </p:cNvPr>
          <p:cNvSpPr txBox="1">
            <a:spLocks/>
          </p:cNvSpPr>
          <p:nvPr/>
        </p:nvSpPr>
        <p:spPr>
          <a:xfrm>
            <a:off x="1141412" y="1399430"/>
            <a:ext cx="8360397" cy="336148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t>Once the test fixtures have been updated to support the new Reset input, the simulation can be run to verify that the counter works correctly. As can be seen in the diagrams below, the Rst pulse initially clears the register, which started with an undefined value (xxx). When Rst is released, the subsequent clock pulses (Clk) advance the count. An Rst level of 1 held long enough to exceed the period of several clock cycles shows that the Rst input has priority, like an asynchronous reset applied directly to the registers.</a:t>
            </a:r>
          </a:p>
          <a:p>
            <a:pPr marL="0" indent="0">
              <a:buNone/>
            </a:pPr>
            <a:r>
              <a:rPr lang="en-US" dirty="0"/>
              <a:t>Lastly, you can see that a change from zero to one of the G input modifies the counting criterion, switching from Binary to Gray code.</a:t>
            </a:r>
          </a:p>
        </p:txBody>
      </p:sp>
    </p:spTree>
    <p:extLst>
      <p:ext uri="{BB962C8B-B14F-4D97-AF65-F5344CB8AC3E}">
        <p14:creationId xmlns:p14="http://schemas.microsoft.com/office/powerpoint/2010/main" val="354115886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3C8D35-A45B-D04F-47A8-763D13558492}"/>
              </a:ext>
            </a:extLst>
          </p:cNvPr>
          <p:cNvSpPr>
            <a:spLocks noGrp="1"/>
          </p:cNvSpPr>
          <p:nvPr>
            <p:ph type="title"/>
          </p:nvPr>
        </p:nvSpPr>
        <p:spPr/>
        <p:txBody>
          <a:bodyPr/>
          <a:lstStyle/>
          <a:p>
            <a:r>
              <a:rPr lang="en-US" dirty="0"/>
              <a:t>Q&amp;A</a:t>
            </a:r>
          </a:p>
        </p:txBody>
      </p:sp>
      <p:sp>
        <p:nvSpPr>
          <p:cNvPr id="3" name="Segnaposto contenuto 2">
            <a:extLst>
              <a:ext uri="{FF2B5EF4-FFF2-40B4-BE49-F238E27FC236}">
                <a16:creationId xmlns:a16="http://schemas.microsoft.com/office/drawing/2014/main" id="{A881C381-A9FB-3960-9BBF-7CB175779715}"/>
              </a:ext>
            </a:extLst>
          </p:cNvPr>
          <p:cNvSpPr>
            <a:spLocks noGrp="1"/>
          </p:cNvSpPr>
          <p:nvPr>
            <p:ph idx="1"/>
          </p:nvPr>
        </p:nvSpPr>
        <p:spPr>
          <a:xfrm>
            <a:off x="1141412" y="2249487"/>
            <a:ext cx="9905999" cy="1757970"/>
          </a:xfrm>
        </p:spPr>
        <p:txBody>
          <a:bodyPr/>
          <a:lstStyle/>
          <a:p>
            <a:r>
              <a:rPr lang="en-US" dirty="0"/>
              <a:t>Speakers:</a:t>
            </a:r>
          </a:p>
          <a:p>
            <a:pPr marL="457200" lvl="1" indent="0">
              <a:buNone/>
            </a:pPr>
            <a:r>
              <a:rPr lang="en-US" dirty="0"/>
              <a:t>Emanuel Conti (</a:t>
            </a:r>
            <a:r>
              <a:rPr lang="en-US" dirty="0">
                <a:hlinkClick r:id="rId2"/>
              </a:rPr>
              <a:t>e.conti@embedded.sm</a:t>
            </a:r>
            <a:r>
              <a:rPr lang="en-US" dirty="0"/>
              <a:t>)</a:t>
            </a:r>
          </a:p>
          <a:p>
            <a:pPr marL="457200" lvl="1" indent="0">
              <a:buNone/>
            </a:pPr>
            <a:r>
              <a:rPr lang="en-US" dirty="0"/>
              <a:t>Giuliano Cardinali (</a:t>
            </a:r>
            <a:r>
              <a:rPr lang="en-US" dirty="0">
                <a:hlinkClick r:id="rId3"/>
              </a:rPr>
              <a:t>giulicard@gmail.com</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292013345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1B154E0-9859-0454-03C4-417DCB9FA068}"/>
              </a:ext>
            </a:extLst>
          </p:cNvPr>
          <p:cNvSpPr>
            <a:spLocks noGrp="1"/>
          </p:cNvSpPr>
          <p:nvPr>
            <p:ph type="title"/>
          </p:nvPr>
        </p:nvSpPr>
        <p:spPr/>
        <p:txBody>
          <a:bodyPr/>
          <a:lstStyle/>
          <a:p>
            <a:r>
              <a:rPr lang="en-US" dirty="0"/>
              <a:t>BIBLIOGRAPHY</a:t>
            </a:r>
          </a:p>
        </p:txBody>
      </p:sp>
      <p:sp>
        <p:nvSpPr>
          <p:cNvPr id="3" name="Segnaposto contenuto 2">
            <a:extLst>
              <a:ext uri="{FF2B5EF4-FFF2-40B4-BE49-F238E27FC236}">
                <a16:creationId xmlns:a16="http://schemas.microsoft.com/office/drawing/2014/main" id="{DB7C34A2-264D-6F9E-5F92-456FC95F2490}"/>
              </a:ext>
            </a:extLst>
          </p:cNvPr>
          <p:cNvSpPr>
            <a:spLocks noGrp="1"/>
          </p:cNvSpPr>
          <p:nvPr>
            <p:ph idx="1"/>
          </p:nvPr>
        </p:nvSpPr>
        <p:spPr>
          <a:xfrm>
            <a:off x="1141412" y="2027584"/>
            <a:ext cx="9905999" cy="4420924"/>
          </a:xfrm>
        </p:spPr>
        <p:txBody>
          <a:bodyPr>
            <a:normAutofit fontScale="85000" lnSpcReduction="20000"/>
          </a:bodyPr>
          <a:lstStyle/>
          <a:p>
            <a:r>
              <a:rPr lang="en-US" sz="1800" dirty="0"/>
              <a:t>Reti logiche e</a:t>
            </a:r>
            <a:br>
              <a:rPr lang="en-US" sz="1800" dirty="0"/>
            </a:br>
            <a:r>
              <a:rPr lang="en-US" sz="1800" dirty="0"/>
              <a:t>calcolatori F. Luccio, L. Pagli –</a:t>
            </a:r>
            <a:br>
              <a:rPr lang="en-US" sz="1800" dirty="0"/>
            </a:br>
            <a:r>
              <a:rPr lang="en-US" sz="1800" dirty="0"/>
              <a:t>ISBN: 978-8833954870</a:t>
            </a:r>
          </a:p>
          <a:p>
            <a:r>
              <a:rPr lang="en-US" sz="1800" dirty="0" err="1"/>
              <a:t>FPGAs: Instant Access</a:t>
            </a:r>
            <a:br>
              <a:rPr lang="en-US" sz="1800" dirty="0"/>
            </a:br>
            <a:r>
              <a:rPr lang="en-US" sz="1800" dirty="0"/>
              <a:t>Clive Maxfield - ISBN: 978-0750689748</a:t>
            </a:r>
          </a:p>
          <a:p>
            <a:r>
              <a:rPr lang="en-US" sz="1800" dirty="0"/>
              <a:t>Bebop to the Boolean Boogie: An Unconventional Guide to Electronics</a:t>
            </a:r>
            <a:br>
              <a:rPr lang="en-US" sz="1800" dirty="0"/>
            </a:br>
            <a:r>
              <a:rPr lang="en-US" sz="1800" dirty="0"/>
              <a:t>Clive Maxfield - ISBN: 978-1856175074</a:t>
            </a:r>
          </a:p>
          <a:p>
            <a:r>
              <a:rPr lang="en-US" sz="1800" dirty="0" err="1"/>
              <a:t>Logic Circuit Design: Selected Topics and Methods, Second Ed. </a:t>
            </a:r>
            <a:br>
              <a:rPr lang="en-US" sz="1800" dirty="0"/>
            </a:br>
            <a:r>
              <a:rPr lang="en-US" sz="1800" dirty="0"/>
              <a:t>Shimon P. Vingron - ISBN: 978-3031406720</a:t>
            </a:r>
          </a:p>
          <a:p>
            <a:r>
              <a:rPr lang="en-US" sz="1800" dirty="0"/>
              <a:t>The Verilog® Hardware Description Language, 5th Ed.</a:t>
            </a:r>
            <a:br>
              <a:rPr lang="en-US" sz="1800" dirty="0"/>
            </a:br>
            <a:r>
              <a:rPr lang="en-US" sz="1800" dirty="0"/>
              <a:t>Donald E. Thomas, Philip R. Moorby - ISBN: 978-1402070896</a:t>
            </a:r>
          </a:p>
          <a:p>
            <a:r>
              <a:rPr lang="en-US" sz="1800" dirty="0"/>
              <a:t>Digital design : with an introduction to the verilog hdl</a:t>
            </a:r>
            <a:br>
              <a:rPr lang="en-US" sz="1800" dirty="0"/>
            </a:br>
            <a:r>
              <a:rPr lang="en-US" sz="1800" dirty="0"/>
              <a:t>M. Morris Mano, Michael D. Ciletti.—5th ed. - ISBN-13: 978-0132774208</a:t>
            </a:r>
          </a:p>
          <a:p>
            <a:r>
              <a:rPr lang="en-US" sz="1800" dirty="0"/>
              <a:t>Digital Design Principles and Practices</a:t>
            </a:r>
            <a:br>
              <a:rPr lang="en-US" sz="1800" dirty="0"/>
            </a:br>
            <a:r>
              <a:rPr lang="en-US" sz="1800" dirty="0"/>
              <a:t>John F. Wakerly - ISBN: 978-0134460093</a:t>
            </a:r>
          </a:p>
        </p:txBody>
      </p:sp>
    </p:spTree>
    <p:extLst>
      <p:ext uri="{BB962C8B-B14F-4D97-AF65-F5344CB8AC3E}">
        <p14:creationId xmlns:p14="http://schemas.microsoft.com/office/powerpoint/2010/main" val="38239804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1_Circuito">
  <a:themeElements>
    <a:clrScheme name="Circuito">
      <a:dk1>
        <a:sysClr val="windowText" lastClr="000000"/>
      </a:dk1>
      <a:lt1>
        <a:sysClr val="window" lastClr="FFFFFF"/>
      </a:lt1>
      <a:dk2>
        <a:srgbClr val="8D1E14"/>
      </a:dk2>
      <a:lt2>
        <a:srgbClr val="FF744E"/>
      </a:lt2>
      <a:accent1>
        <a:srgbClr val="E9B758"/>
      </a:accent1>
      <a:accent2>
        <a:srgbClr val="FE8943"/>
      </a:accent2>
      <a:accent3>
        <a:srgbClr val="AEA27C"/>
      </a:accent3>
      <a:accent4>
        <a:srgbClr val="90B46E"/>
      </a:accent4>
      <a:accent5>
        <a:srgbClr val="71AEC1"/>
      </a:accent5>
      <a:accent6>
        <a:srgbClr val="C98DE7"/>
      </a:accent6>
      <a:hlink>
        <a:srgbClr val="FF7A22"/>
      </a:hlink>
      <a:folHlink>
        <a:srgbClr val="FDCD86"/>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2000"/>
                <a:satMod val="150000"/>
                <a:lumMod val="15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971C58-AB76-4A2A-B231-5F8CA03CF491}"/>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TM04033919[[fn=Circuito]]</Template>
  <TotalTime>29361</TotalTime>
  <Words>17423</Words>
  <Application>Microsoft Office PowerPoint</Application>
  <PresentationFormat>Widescreen</PresentationFormat>
  <Paragraphs>1309</Paragraphs>
  <Slides>131</Slides>
  <Notes>2</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131</vt:i4>
      </vt:variant>
    </vt:vector>
  </HeadingPairs>
  <TitlesOfParts>
    <vt:vector size="140" baseType="lpstr">
      <vt:lpstr>-apple-system</vt:lpstr>
      <vt:lpstr>Arial</vt:lpstr>
      <vt:lpstr>Calibri</vt:lpstr>
      <vt:lpstr>Cambria Math</vt:lpstr>
      <vt:lpstr>Consolas</vt:lpstr>
      <vt:lpstr>Courier New</vt:lpstr>
      <vt:lpstr>Tw Cen MT</vt:lpstr>
      <vt:lpstr>Circuito</vt:lpstr>
      <vt:lpstr>1_Circuito</vt:lpstr>
      <vt:lpstr>Informational meeting on hardware description languages (HDL)</vt:lpstr>
      <vt:lpstr>PART ONE  LOGIC NETWORKS</vt:lpstr>
      <vt:lpstr>HISTORICAL NOTES</vt:lpstr>
      <vt:lpstr>Logic Networks</vt:lpstr>
      <vt:lpstr>SIGNALS IN THE CONTEXT OF LOGIC NETWORKS</vt:lpstr>
      <vt:lpstr>REAL SIGNALS AND LOGIC NETWORKS</vt:lpstr>
      <vt:lpstr>SIGNAL INTEGRITY: THEY CAN DEGRADE DUE TO…</vt:lpstr>
      <vt:lpstr>SIGNAL INTERPRETATION IN LOGIC NETWORKS</vt:lpstr>
      <vt:lpstr>Logic networks as blackboxes</vt:lpstr>
      <vt:lpstr>LOGIC DESIGN (1)</vt:lpstr>
      <vt:lpstr>LOGIC DESIGN (2)</vt:lpstr>
      <vt:lpstr>Logic networks: FUNDAMENTAL OPERATORS (1)</vt:lpstr>
      <vt:lpstr>Logic networks: FUNDAMENTAL OPERATORS (2)</vt:lpstr>
      <vt:lpstr>ALGEBRAIC PROPERTIES (1)</vt:lpstr>
      <vt:lpstr>ALGEBRAIC PROPERTIES (2)</vt:lpstr>
      <vt:lpstr>ENUMERATION OF FUNCTIONS (1)</vt:lpstr>
      <vt:lpstr>ENUMERATION OF FUNCTIONS (2)</vt:lpstr>
      <vt:lpstr>ENUMERATION OF FUNCTIONS (3)</vt:lpstr>
      <vt:lpstr>ENUMERATION OF FUNCTIONS (4)</vt:lpstr>
      <vt:lpstr>ENUMERATION OF FUNCTIONS (5)</vt:lpstr>
      <vt:lpstr>ENUMERATION OF FUNCTIONS (6)</vt:lpstr>
      <vt:lpstr>STRUCTURE OF LOGIC NETWORKS</vt:lpstr>
      <vt:lpstr>MANUAL SYNTHESIS OF COMBINATIONAL NETWORKS (1)</vt:lpstr>
      <vt:lpstr>MANUAL SYNTHESIS OF COMBINATIONAL NETWORKS (2)</vt:lpstr>
      <vt:lpstr>SYNTHESIS AND MINIMIZATION OF COMBINATIONAL NETWORKS</vt:lpstr>
      <vt:lpstr>From equations to circuits</vt:lpstr>
      <vt:lpstr>CATEGORIES OF COMBINATIONAL LOGIC</vt:lpstr>
      <vt:lpstr>COMBINATIONAL LOGIC NETWORKS (CANONICAL forms)</vt:lpstr>
      <vt:lpstr>DESIGN EXAMPLE</vt:lpstr>
      <vt:lpstr>Implementation with logic gates</vt:lpstr>
      <vt:lpstr>MINIMIZATION WITH THE GRAPHICAL method (1)</vt:lpstr>
      <vt:lpstr>MINIMIZATION WITH THE GRAPHICAL METHOD (2)</vt:lpstr>
      <vt:lpstr>Minimization with ESPRESSO software (1)</vt:lpstr>
      <vt:lpstr>Minimization with ESPRESSO software (2)</vt:lpstr>
      <vt:lpstr>Minimization with ESPRESSO software (3)</vt:lpstr>
      <vt:lpstr>Minimization with ESPRESSO software (4)</vt:lpstr>
      <vt:lpstr>why ESPRESSO?</vt:lpstr>
      <vt:lpstr>ASICs (1)</vt:lpstr>
      <vt:lpstr>ASICs (2)</vt:lpstr>
      <vt:lpstr>PROGRAMMABLE LOGIC (PLD)</vt:lpstr>
      <vt:lpstr>TAXONOMY OF PROGRAMMABLE LOGIC (1)</vt:lpstr>
      <vt:lpstr>FIELD PROGRAMMABLE LOGIC (1)</vt:lpstr>
      <vt:lpstr>FIELD PROGRAMMABLE LOGIC (2)</vt:lpstr>
      <vt:lpstr>CLASSIC DEVICES IMPLEMENTING THE SOP CANONICAL FORMS (SSI)</vt:lpstr>
      <vt:lpstr>EXAMPLE WITH PAL16L8 (SSI)</vt:lpstr>
      <vt:lpstr>Presentazione standard di PowerPoint</vt:lpstr>
      <vt:lpstr>Programming OTP SPLDs</vt:lpstr>
      <vt:lpstr>Presentazione standard di PowerPoint</vt:lpstr>
      <vt:lpstr>Presentazione standard di PowerPoint</vt:lpstr>
      <vt:lpstr>Presentazione standard di PowerPoint</vt:lpstr>
      <vt:lpstr>Presentazione standard di PowerPoint</vt:lpstr>
      <vt:lpstr>Presentazione standard di PowerPoint</vt:lpstr>
      <vt:lpstr>MULTILEVEL COMBINATIONAL LOGIC NETWORKS</vt:lpstr>
      <vt:lpstr>HAZARDS</vt:lpstr>
      <vt:lpstr>STATIC HAZARDS</vt:lpstr>
      <vt:lpstr>DYNAMIC HAZARDS</vt:lpstr>
      <vt:lpstr>MEMORY ELEMENTS</vt:lpstr>
      <vt:lpstr>TERNARY or three-valued logic (3VL)</vt:lpstr>
      <vt:lpstr>NOT, OR AND AND IN THREE-VALUED LOGIC</vt:lpstr>
      <vt:lpstr>S-R LATCH SIMULATION WITH THREE-VALUED LOGIC</vt:lpstr>
      <vt:lpstr>S-R LATCH SIMULATION WITH THREE-VALUED LOGIC</vt:lpstr>
      <vt:lpstr>S-R LATCH SIMULATION WITH THREE-VALUED LOGIC</vt:lpstr>
      <vt:lpstr>S-R LATCH SIMULATION WITH THREE-VALUED LOGIC</vt:lpstr>
      <vt:lpstr>S-R LATCH SIMULATION WITH THREE-VALUED LOGIC</vt:lpstr>
      <vt:lpstr>S-R LATCH SIMULATION WITH THREE-VALUED LOGIC</vt:lpstr>
      <vt:lpstr>S-R LATCH SIMULATION WITH THREE-VALUED LOGIC</vt:lpstr>
      <vt:lpstr>S-R LATCH SIMULATION WITH THREE-VALUED LOGIC</vt:lpstr>
      <vt:lpstr>S-R LATCH SIMULATION WITH THREE-VALUED LOGIC</vt:lpstr>
      <vt:lpstr>S-R LATCH SIMULATION WITH THREE-VALUED LOGIC</vt:lpstr>
      <vt:lpstr>S-R LATCH SIMULATION WITH THREE-VALUED LOGIC</vt:lpstr>
      <vt:lpstr>SEQUENTIAL LOGIC NETWORKS (1)</vt:lpstr>
      <vt:lpstr>SEQUENTIAL LOGIC NETWORKS (2)</vt:lpstr>
      <vt:lpstr>ASYNCHRONOUS SEQUENTIAL NETWORK MODEL</vt:lpstr>
      <vt:lpstr>SYNCHRONOUS SEQUENTIAL NETWORKS (1)</vt:lpstr>
      <vt:lpstr>SYNCHRONOUS SEQUENTIAL NETWORKS (2)</vt:lpstr>
      <vt:lpstr>SYNCHRONOUS SEQUENTIAL NETWORKS (3)</vt:lpstr>
      <vt:lpstr>SYNCHRONOUS SEQUENTIAL EXAMPLE (1)</vt:lpstr>
      <vt:lpstr>SYNCHRONOUS SEQUENTIAL EXAMPLE (2)</vt:lpstr>
      <vt:lpstr>INCREASING CIRCUIT COMPLEXITY</vt:lpstr>
      <vt:lpstr>CPLD</vt:lpstr>
      <vt:lpstr>FPGA</vt:lpstr>
      <vt:lpstr>MANAGING CIRCUIT COMPLEXITY</vt:lpstr>
      <vt:lpstr>PART TWO HARDWARE DESCRIPTION LANGUAGES</vt:lpstr>
      <vt:lpstr>automated design</vt:lpstr>
      <vt:lpstr>EDA – Electronic Design Automation (1)</vt:lpstr>
      <vt:lpstr>EDA – Electronic Design Automation (2)</vt:lpstr>
      <vt:lpstr>PART TWO The VERILOG LANGUAGE®</vt:lpstr>
      <vt:lpstr>A BRIEF HISTORY OF THE VERILOG LANGUAGE</vt:lpstr>
      <vt:lpstr>VERILOG AND COMPUTER LANGUAGES</vt:lpstr>
      <vt:lpstr>Introduction to the VERILOG language</vt:lpstr>
      <vt:lpstr>LEVELS OF ABSTRACTION</vt:lpstr>
      <vt:lpstr>HDL-BASED ASIC DEVELOPMENT FLOW (1)</vt:lpstr>
      <vt:lpstr>HDL-BASED ASIC DEVELOPMENT FLOW (2)</vt:lpstr>
      <vt:lpstr>INTRO TUTORIAL (1)</vt:lpstr>
      <vt:lpstr>INTRO TUTORIAL (2)</vt:lpstr>
      <vt:lpstr>INTRO TUTORIAL (3)</vt:lpstr>
      <vt:lpstr>INTRO TUTORIAL (4/1)</vt:lpstr>
      <vt:lpstr>INTRO TUTORIAL (4/2)</vt:lpstr>
      <vt:lpstr>INTRO TUTORIAL (5/1)</vt:lpstr>
      <vt:lpstr>INTRO TUTORIAL (5/2)</vt:lpstr>
      <vt:lpstr>INTRO TUTORIAL (5/3)</vt:lpstr>
      <vt:lpstr>INTRO TUTORIAL (6/1)</vt:lpstr>
      <vt:lpstr>INTRO TUTORIAL (6/2)</vt:lpstr>
      <vt:lpstr>INTRO TUTORIAL (7/1)</vt:lpstr>
      <vt:lpstr>INTRO TUTORIAL (7/2)</vt:lpstr>
      <vt:lpstr>INTRO TUTORIAL (7/3)</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INTRO TUTORIAL (10)</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INTRO TUTORIAL (16/1)</vt:lpstr>
      <vt:lpstr>INTRO TUTORIAL (16/2)</vt:lpstr>
      <vt:lpstr>INTRO TUTORIAL (16/3)</vt:lpstr>
      <vt:lpstr>INTRO TUTORIAL (16/4)</vt:lpstr>
      <vt:lpstr>INTRO TUTORIAL (17)</vt:lpstr>
      <vt:lpstr>Q&amp;A</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Giuliano Cardinali</dc:creator>
  <cp:lastModifiedBy>Giuliano Cardinali</cp:lastModifiedBy>
  <cp:revision>267</cp:revision>
  <dcterms:created xsi:type="dcterms:W3CDTF">2023-12-26T17:10:44Z</dcterms:created>
  <dcterms:modified xsi:type="dcterms:W3CDTF">2026-10-28T07:16:11Z</dcterms:modified>
</cp:coreProperties>
</file>