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 id="2147483705" r:id="rId2"/>
  </p:sldMasterIdLst>
  <p:notesMasterIdLst>
    <p:notesMasterId r:id="rId134"/>
  </p:notesMasterIdLst>
  <p:sldIdLst>
    <p:sldId id="256" r:id="rId3"/>
    <p:sldId id="289" r:id="rId4"/>
    <p:sldId id="257" r:id="rId5"/>
    <p:sldId id="258" r:id="rId6"/>
    <p:sldId id="260" r:id="rId7"/>
    <p:sldId id="264" r:id="rId8"/>
    <p:sldId id="262" r:id="rId9"/>
    <p:sldId id="265" r:id="rId10"/>
    <p:sldId id="261" r:id="rId11"/>
    <p:sldId id="305" r:id="rId12"/>
    <p:sldId id="306" r:id="rId13"/>
    <p:sldId id="259" r:id="rId14"/>
    <p:sldId id="309" r:id="rId15"/>
    <p:sldId id="310" r:id="rId16"/>
    <p:sldId id="311" r:id="rId17"/>
    <p:sldId id="318" r:id="rId18"/>
    <p:sldId id="360" r:id="rId19"/>
    <p:sldId id="319" r:id="rId20"/>
    <p:sldId id="320" r:id="rId21"/>
    <p:sldId id="321" r:id="rId22"/>
    <p:sldId id="322" r:id="rId23"/>
    <p:sldId id="263" r:id="rId24"/>
    <p:sldId id="307" r:id="rId25"/>
    <p:sldId id="308" r:id="rId26"/>
    <p:sldId id="270" r:id="rId27"/>
    <p:sldId id="271" r:id="rId28"/>
    <p:sldId id="329" r:id="rId29"/>
    <p:sldId id="266" r:id="rId30"/>
    <p:sldId id="304" r:id="rId31"/>
    <p:sldId id="312" r:id="rId32"/>
    <p:sldId id="313" r:id="rId33"/>
    <p:sldId id="314" r:id="rId34"/>
    <p:sldId id="315" r:id="rId35"/>
    <p:sldId id="316" r:id="rId36"/>
    <p:sldId id="330" r:id="rId37"/>
    <p:sldId id="331" r:id="rId38"/>
    <p:sldId id="336" r:id="rId39"/>
    <p:sldId id="323" r:id="rId40"/>
    <p:sldId id="358" r:id="rId41"/>
    <p:sldId id="349" r:id="rId42"/>
    <p:sldId id="288" r:id="rId43"/>
    <p:sldId id="403" r:id="rId44"/>
    <p:sldId id="404" r:id="rId45"/>
    <p:sldId id="285" r:id="rId46"/>
    <p:sldId id="286" r:id="rId47"/>
    <p:sldId id="291" r:id="rId48"/>
    <p:sldId id="324" r:id="rId49"/>
    <p:sldId id="292" r:id="rId50"/>
    <p:sldId id="293" r:id="rId51"/>
    <p:sldId id="333" r:id="rId52"/>
    <p:sldId id="334" r:id="rId53"/>
    <p:sldId id="335" r:id="rId54"/>
    <p:sldId id="268" r:id="rId55"/>
    <p:sldId id="325" r:id="rId56"/>
    <p:sldId id="405" r:id="rId57"/>
    <p:sldId id="406" r:id="rId58"/>
    <p:sldId id="284" r:id="rId59"/>
    <p:sldId id="340" r:id="rId60"/>
    <p:sldId id="361" r:id="rId61"/>
    <p:sldId id="362" r:id="rId62"/>
    <p:sldId id="368" r:id="rId63"/>
    <p:sldId id="369" r:id="rId64"/>
    <p:sldId id="370" r:id="rId65"/>
    <p:sldId id="371" r:id="rId66"/>
    <p:sldId id="372" r:id="rId67"/>
    <p:sldId id="373" r:id="rId68"/>
    <p:sldId id="374" r:id="rId69"/>
    <p:sldId id="375" r:id="rId70"/>
    <p:sldId id="376" r:id="rId71"/>
    <p:sldId id="367" r:id="rId72"/>
    <p:sldId id="267" r:id="rId73"/>
    <p:sldId id="378" r:id="rId74"/>
    <p:sldId id="379" r:id="rId75"/>
    <p:sldId id="380" r:id="rId76"/>
    <p:sldId id="381" r:id="rId77"/>
    <p:sldId id="272" r:id="rId78"/>
    <p:sldId id="377" r:id="rId79"/>
    <p:sldId id="390" r:id="rId80"/>
    <p:sldId id="273" r:id="rId81"/>
    <p:sldId id="328" r:id="rId82"/>
    <p:sldId id="407" r:id="rId83"/>
    <p:sldId id="274" r:id="rId84"/>
    <p:sldId id="290" r:id="rId85"/>
    <p:sldId id="275" r:id="rId86"/>
    <p:sldId id="276" r:id="rId87"/>
    <p:sldId id="278" r:id="rId88"/>
    <p:sldId id="299" r:id="rId89"/>
    <p:sldId id="277" r:id="rId90"/>
    <p:sldId id="279" r:id="rId91"/>
    <p:sldId id="280" r:id="rId92"/>
    <p:sldId id="282" r:id="rId93"/>
    <p:sldId id="281" r:id="rId94"/>
    <p:sldId id="287" r:id="rId95"/>
    <p:sldId id="283" r:id="rId96"/>
    <p:sldId id="301" r:id="rId97"/>
    <p:sldId id="337" r:id="rId98"/>
    <p:sldId id="302" r:id="rId99"/>
    <p:sldId id="359" r:id="rId100"/>
    <p:sldId id="357" r:id="rId101"/>
    <p:sldId id="344" r:id="rId102"/>
    <p:sldId id="343" r:id="rId103"/>
    <p:sldId id="346" r:id="rId104"/>
    <p:sldId id="347" r:id="rId105"/>
    <p:sldId id="345" r:id="rId106"/>
    <p:sldId id="382" r:id="rId107"/>
    <p:sldId id="383" r:id="rId108"/>
    <p:sldId id="355" r:id="rId109"/>
    <p:sldId id="353" r:id="rId110"/>
    <p:sldId id="354" r:id="rId111"/>
    <p:sldId id="356" r:id="rId112"/>
    <p:sldId id="365" r:id="rId113"/>
    <p:sldId id="366" r:id="rId114"/>
    <p:sldId id="338" r:id="rId115"/>
    <p:sldId id="352" r:id="rId116"/>
    <p:sldId id="363" r:id="rId117"/>
    <p:sldId id="364" r:id="rId118"/>
    <p:sldId id="389" r:id="rId119"/>
    <p:sldId id="387" r:id="rId120"/>
    <p:sldId id="392" r:id="rId121"/>
    <p:sldId id="393" r:id="rId122"/>
    <p:sldId id="398" r:id="rId123"/>
    <p:sldId id="391" r:id="rId124"/>
    <p:sldId id="395" r:id="rId125"/>
    <p:sldId id="394" r:id="rId126"/>
    <p:sldId id="396" r:id="rId127"/>
    <p:sldId id="400" r:id="rId128"/>
    <p:sldId id="399" r:id="rId129"/>
    <p:sldId id="401" r:id="rId130"/>
    <p:sldId id="402" r:id="rId131"/>
    <p:sldId id="341" r:id="rId132"/>
    <p:sldId id="408" r:id="rId1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7843"/>
    <a:srgbClr val="3D462A"/>
    <a:srgbClr val="404040"/>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6723" autoAdjust="0"/>
  </p:normalViewPr>
  <p:slideViewPr>
    <p:cSldViewPr snapToGrid="0">
      <p:cViewPr varScale="1">
        <p:scale>
          <a:sx n="120" d="100"/>
          <a:sy n="120" d="100"/>
        </p:scale>
        <p:origin x="120" y="1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8216"/>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notesMaster" Target="notesMasters/notes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A37DF-8C73-4677-AD4A-A76648540842}" type="datetimeFigureOut">
              <a:rPr lang="it-IT" smtClean="0"/>
              <a:t>09/05/2024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F3DE71-A9F2-44CF-ACC4-7F109010CE5E}" type="slidenum">
              <a:rPr lang="it-IT" smtClean="0"/>
              <a:t>‹N›</a:t>
            </a:fld>
            <a:endParaRPr lang="it-IT"/>
          </a:p>
        </p:txBody>
      </p:sp>
    </p:spTree>
    <p:extLst>
      <p:ext uri="{BB962C8B-B14F-4D97-AF65-F5344CB8AC3E}">
        <p14:creationId xmlns:p14="http://schemas.microsoft.com/office/powerpoint/2010/main" val="800207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15F3DE71-A9F2-44CF-ACC4-7F109010CE5E}" type="slidenum">
              <a:rPr lang="it-IT" smtClean="0"/>
              <a:t>27</a:t>
            </a:fld>
            <a:endParaRPr lang="it-IT"/>
          </a:p>
        </p:txBody>
      </p:sp>
    </p:spTree>
    <p:extLst>
      <p:ext uri="{BB962C8B-B14F-4D97-AF65-F5344CB8AC3E}">
        <p14:creationId xmlns:p14="http://schemas.microsoft.com/office/powerpoint/2010/main" val="1857364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15F3DE71-A9F2-44CF-ACC4-7F109010CE5E}" type="slidenum">
              <a:rPr lang="it-IT" smtClean="0"/>
              <a:t>81</a:t>
            </a:fld>
            <a:endParaRPr lang="it-IT"/>
          </a:p>
        </p:txBody>
      </p:sp>
    </p:spTree>
    <p:extLst>
      <p:ext uri="{BB962C8B-B14F-4D97-AF65-F5344CB8AC3E}">
        <p14:creationId xmlns:p14="http://schemas.microsoft.com/office/powerpoint/2010/main" val="36330903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31177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86974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102585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83116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86186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30571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347328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322624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410997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35765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971874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34545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1261742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49409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84468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42674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3542823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37358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259524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19495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518893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6710455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929721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8026750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196211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4941691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4489083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43702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19556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181515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48713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290575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2348467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92093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3.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20">
                    <a14:imgEffect>
                      <a14:brightnessContrast bright="-50000"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5/9/2024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149821719"/>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20">
                    <a14:imgEffect>
                      <a14:brightnessContrast bright="-50000"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5/9/2024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8898930"/>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Gigantua/Espresso"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0.svg"/></Relationships>
</file>

<file path=ppt/slides/_rels/slide4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0.svg"/></Relationships>
</file>

<file path=ppt/slides/_rels/slide48.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770.png"/><Relationship Id="rId1" Type="http://schemas.openxmlformats.org/officeDocument/2006/relationships/slideLayout" Target="../slideLayouts/slideLayout2.xml"/><Relationship Id="rId4" Type="http://schemas.openxmlformats.org/officeDocument/2006/relationships/image" Target="../media/image86.svg"/></Relationships>
</file>

<file path=ppt/slides/_rels/slide6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00.png"/><Relationship Id="rId1" Type="http://schemas.openxmlformats.org/officeDocument/2006/relationships/slideLayout" Target="../slideLayouts/slideLayout2.xml"/><Relationship Id="rId4" Type="http://schemas.openxmlformats.org/officeDocument/2006/relationships/image" Target="../media/image88.svg"/></Relationships>
</file>

<file path=ppt/slides/_rels/slide6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30.png"/><Relationship Id="rId1" Type="http://schemas.openxmlformats.org/officeDocument/2006/relationships/slideLayout" Target="../slideLayouts/slideLayout2.xml"/><Relationship Id="rId4" Type="http://schemas.openxmlformats.org/officeDocument/2006/relationships/image" Target="../media/image90.svg"/></Relationships>
</file>

<file path=ppt/slides/_rels/slide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92.svg"/></Relationships>
</file>

<file path=ppt/slides/_rels/slide6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90.png"/><Relationship Id="rId1" Type="http://schemas.openxmlformats.org/officeDocument/2006/relationships/slideLayout" Target="../slideLayouts/slideLayout2.xml"/><Relationship Id="rId4" Type="http://schemas.openxmlformats.org/officeDocument/2006/relationships/image" Target="../media/image94.svg"/></Relationships>
</file>

<file path=ppt/slides/_rels/slide6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6.svg"/></Relationships>
</file>

<file path=ppt/slides/_rels/slide6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50.png"/><Relationship Id="rId1" Type="http://schemas.openxmlformats.org/officeDocument/2006/relationships/slideLayout" Target="../slideLayouts/slideLayout2.xml"/><Relationship Id="rId4" Type="http://schemas.openxmlformats.org/officeDocument/2006/relationships/image" Target="../media/image98.svg"/></Relationships>
</file>

<file path=ppt/slides/_rels/slide6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100.svg"/></Relationships>
</file>

<file path=ppt/slides/_rels/slide6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10.png"/><Relationship Id="rId1" Type="http://schemas.openxmlformats.org/officeDocument/2006/relationships/slideLayout" Target="../slideLayouts/slideLayout2.xml"/><Relationship Id="rId4" Type="http://schemas.openxmlformats.org/officeDocument/2006/relationships/image" Target="../media/image102.svg"/></Relationships>
</file>

<file path=ppt/slides/_rels/slide70.xml.rels><?xml version="1.0" encoding="UTF-8" standalone="yes"?>
<Relationships xmlns="http://schemas.openxmlformats.org/package/2006/relationships"><Relationship Id="rId3" Type="http://schemas.openxmlformats.org/officeDocument/2006/relationships/image" Target="../media/image104.sv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6.svg"/></Relationships>
</file>

<file path=ppt/slides/_rels/slide7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09.svg"/><Relationship Id="rId5" Type="http://schemas.openxmlformats.org/officeDocument/2006/relationships/image" Target="../media/image108.png"/><Relationship Id="rId4" Type="http://schemas.openxmlformats.org/officeDocument/2006/relationships/image" Target="../media/image106.svg"/></Relationships>
</file>

<file path=ppt/slides/_rels/slide7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112.svg"/></Relationships>
</file>

<file path=ppt/slides/_rels/slide7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5.png"/><Relationship Id="rId1" Type="http://schemas.openxmlformats.org/officeDocument/2006/relationships/slideLayout" Target="../slideLayouts/slideLayout2.xml"/><Relationship Id="rId4" Type="http://schemas.openxmlformats.org/officeDocument/2006/relationships/image" Target="../media/image115.svg"/></Relationships>
</file>

<file path=ppt/slides/_rels/slide7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17.svg"/></Relationships>
</file>

<file path=ppt/slides/_rels/slide76.xml.rels><?xml version="1.0" encoding="UTF-8" standalone="yes"?>
<Relationships xmlns="http://schemas.openxmlformats.org/package/2006/relationships"><Relationship Id="rId3" Type="http://schemas.openxmlformats.org/officeDocument/2006/relationships/image" Target="../media/image120.sv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2.sv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24.sv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26.sv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8.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3" Type="http://schemas.openxmlformats.org/officeDocument/2006/relationships/image" Target="../media/image130.svg"/><Relationship Id="rId2" Type="http://schemas.openxmlformats.org/officeDocument/2006/relationships/image" Target="../media/image129.png"/><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3" Type="http://schemas.openxmlformats.org/officeDocument/2006/relationships/image" Target="../media/image130.svg"/><Relationship Id="rId2" Type="http://schemas.openxmlformats.org/officeDocument/2006/relationships/image" Target="../media/image129.png"/><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3" Type="http://schemas.openxmlformats.org/officeDocument/2006/relationships/image" Target="../media/image132.svg"/><Relationship Id="rId2" Type="http://schemas.openxmlformats.org/officeDocument/2006/relationships/image" Target="../media/image131.png"/><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3" Type="http://schemas.openxmlformats.org/officeDocument/2006/relationships/image" Target="../media/image134.svg"/><Relationship Id="rId2" Type="http://schemas.openxmlformats.org/officeDocument/2006/relationships/image" Target="../media/image133.png"/><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3" Type="http://schemas.openxmlformats.org/officeDocument/2006/relationships/image" Target="../media/image134.svg"/><Relationship Id="rId2" Type="http://schemas.openxmlformats.org/officeDocument/2006/relationships/image" Target="../media/image133.png"/><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3" Type="http://schemas.openxmlformats.org/officeDocument/2006/relationships/image" Target="../media/image136.svg"/><Relationship Id="rId2" Type="http://schemas.openxmlformats.org/officeDocument/2006/relationships/image" Target="../media/image135.png"/><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3" Type="http://schemas.openxmlformats.org/officeDocument/2006/relationships/image" Target="../media/image136.svg"/><Relationship Id="rId2" Type="http://schemas.openxmlformats.org/officeDocument/2006/relationships/image" Target="../media/image135.png"/><Relationship Id="rId1" Type="http://schemas.openxmlformats.org/officeDocument/2006/relationships/slideLayout" Target="../slideLayouts/slideLayout19.xml"/><Relationship Id="rId4" Type="http://schemas.openxmlformats.org/officeDocument/2006/relationships/image" Target="../media/image137.png"/></Relationships>
</file>

<file path=ppt/slides/_rels/slide114.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3" Type="http://schemas.openxmlformats.org/officeDocument/2006/relationships/image" Target="../media/image140.svg"/><Relationship Id="rId2" Type="http://schemas.openxmlformats.org/officeDocument/2006/relationships/image" Target="../media/image139.png"/><Relationship Id="rId1" Type="http://schemas.openxmlformats.org/officeDocument/2006/relationships/slideLayout" Target="../slideLayouts/slideLayout19.xml"/><Relationship Id="rId5" Type="http://schemas.openxmlformats.org/officeDocument/2006/relationships/image" Target="../media/image142.svg"/><Relationship Id="rId4" Type="http://schemas.openxmlformats.org/officeDocument/2006/relationships/image" Target="../media/image14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9.xml.rels><?xml version="1.0" encoding="UTF-8" standalone="yes"?>
<Relationships xmlns="http://schemas.openxmlformats.org/package/2006/relationships"><Relationship Id="rId2" Type="http://schemas.openxmlformats.org/officeDocument/2006/relationships/image" Target="../media/image1390.png"/><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00.png"/><Relationship Id="rId1" Type="http://schemas.openxmlformats.org/officeDocument/2006/relationships/slideLayout" Target="../slideLayouts/slideLayout19.xml"/><Relationship Id="rId4" Type="http://schemas.openxmlformats.org/officeDocument/2006/relationships/image" Target="../media/image144.svg"/></Relationships>
</file>

<file path=ppt/slides/_rels/slide121.xml.rels><?xml version="1.0" encoding="UTF-8" standalone="yes"?>
<Relationships xmlns="http://schemas.openxmlformats.org/package/2006/relationships"><Relationship Id="rId2" Type="http://schemas.openxmlformats.org/officeDocument/2006/relationships/image" Target="../media/image1430.png"/><Relationship Id="rId1" Type="http://schemas.openxmlformats.org/officeDocument/2006/relationships/slideLayout" Target="../slideLayouts/slideLayout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9.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9.xml"/></Relationships>
</file>

<file path=ppt/slides/_rels/slide130.xml.rels><?xml version="1.0" encoding="UTF-8" standalone="yes"?>
<Relationships xmlns="http://schemas.openxmlformats.org/package/2006/relationships"><Relationship Id="rId3" Type="http://schemas.openxmlformats.org/officeDocument/2006/relationships/hyperlink" Target="mailto:giulicard@gmail.com" TargetMode="External"/><Relationship Id="rId2" Type="http://schemas.openxmlformats.org/officeDocument/2006/relationships/hyperlink" Target="mailto:e.conti@embedded.sm" TargetMode="External"/><Relationship Id="rId1" Type="http://schemas.openxmlformats.org/officeDocument/2006/relationships/slideLayout" Target="../slideLayouts/slideLayout1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D9E75A-63ED-E7FA-7C6A-F60918076DB4}"/>
              </a:ext>
            </a:extLst>
          </p:cNvPr>
          <p:cNvSpPr>
            <a:spLocks noGrp="1"/>
          </p:cNvSpPr>
          <p:nvPr>
            <p:ph type="ctrTitle"/>
          </p:nvPr>
        </p:nvSpPr>
        <p:spPr/>
        <p:txBody>
          <a:bodyPr/>
          <a:lstStyle/>
          <a:p>
            <a:r>
              <a:rPr lang="it-IT" dirty="0"/>
              <a:t>Incontro informativo sui linguaggi di descrizione dell'hardware (HDL)</a:t>
            </a:r>
          </a:p>
        </p:txBody>
      </p:sp>
      <p:sp>
        <p:nvSpPr>
          <p:cNvPr id="3" name="Sottotitolo 2">
            <a:extLst>
              <a:ext uri="{FF2B5EF4-FFF2-40B4-BE49-F238E27FC236}">
                <a16:creationId xmlns:a16="http://schemas.microsoft.com/office/drawing/2014/main" id="{E4A22885-C48F-D361-8842-C58BF6F9576C}"/>
              </a:ext>
            </a:extLst>
          </p:cNvPr>
          <p:cNvSpPr>
            <a:spLocks noGrp="1"/>
          </p:cNvSpPr>
          <p:nvPr>
            <p:ph type="subTitle" idx="1"/>
          </p:nvPr>
        </p:nvSpPr>
        <p:spPr>
          <a:xfrm>
            <a:off x="1876424" y="3602038"/>
            <a:ext cx="8245585" cy="2648322"/>
          </a:xfrm>
        </p:spPr>
        <p:txBody>
          <a:bodyPr>
            <a:normAutofit/>
          </a:bodyPr>
          <a:lstStyle/>
          <a:p>
            <a:r>
              <a:rPr lang="it-IT" dirty="0"/>
              <a:t>RELATORI:</a:t>
            </a:r>
          </a:p>
          <a:p>
            <a:pPr lvl="1" algn="l"/>
            <a:r>
              <a:rPr lang="it-IT" dirty="0"/>
              <a:t>Giuliano Cardinali</a:t>
            </a:r>
            <a:br>
              <a:rPr lang="it-IT" dirty="0"/>
            </a:br>
            <a:r>
              <a:rPr lang="it-IT" dirty="0"/>
              <a:t>Emanuel Conti</a:t>
            </a:r>
          </a:p>
          <a:p>
            <a:r>
              <a:rPr lang="it-IT" cap="none" dirty="0"/>
              <a:t>A CURA DI:</a:t>
            </a:r>
          </a:p>
          <a:p>
            <a:pPr lvl="1" algn="l"/>
            <a:r>
              <a:rPr lang="it-IT" cap="none" dirty="0"/>
              <a:t>https://www.pidrsm.sm</a:t>
            </a:r>
            <a:br>
              <a:rPr lang="it-IT" cap="none" dirty="0"/>
            </a:br>
            <a:r>
              <a:rPr lang="it-IT" cap="none" dirty="0"/>
              <a:t>https://www.facebook.com/professionistiperinnovazionedigitale</a:t>
            </a:r>
          </a:p>
        </p:txBody>
      </p:sp>
      <p:pic>
        <p:nvPicPr>
          <p:cNvPr id="7" name="Elemento grafico 6">
            <a:extLst>
              <a:ext uri="{FF2B5EF4-FFF2-40B4-BE49-F238E27FC236}">
                <a16:creationId xmlns:a16="http://schemas.microsoft.com/office/drawing/2014/main" id="{93E62197-BE12-1AC2-B062-9000BC92AE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47193" y="3914753"/>
            <a:ext cx="5120806" cy="1365548"/>
          </a:xfrm>
          <a:prstGeom prst="rect">
            <a:avLst/>
          </a:prstGeom>
        </p:spPr>
      </p:pic>
    </p:spTree>
    <p:extLst>
      <p:ext uri="{BB962C8B-B14F-4D97-AF65-F5344CB8AC3E}">
        <p14:creationId xmlns:p14="http://schemas.microsoft.com/office/powerpoint/2010/main" val="101156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7A9BEB0-721D-0E7F-FD79-2D85C8FDE9F4}"/>
              </a:ext>
            </a:extLst>
          </p:cNvPr>
          <p:cNvSpPr>
            <a:spLocks noGrp="1"/>
          </p:cNvSpPr>
          <p:nvPr>
            <p:ph type="title"/>
          </p:nvPr>
        </p:nvSpPr>
        <p:spPr>
          <a:xfrm>
            <a:off x="1141413" y="618518"/>
            <a:ext cx="9905998" cy="5710720"/>
          </a:xfrm>
        </p:spPr>
        <p:txBody>
          <a:bodyPr>
            <a:normAutofit/>
          </a:bodyPr>
          <a:lstStyle/>
          <a:p>
            <a:pPr algn="ctr"/>
            <a:r>
              <a:rPr lang="it-IT" sz="8000" dirty="0"/>
              <a:t>PARTE PRIMA</a:t>
            </a:r>
            <a:br>
              <a:rPr lang="it-IT" sz="8000" dirty="0"/>
            </a:br>
            <a:r>
              <a:rPr lang="it-IT" sz="8000" dirty="0"/>
              <a:t>RETI LOGICHE</a:t>
            </a:r>
          </a:p>
        </p:txBody>
      </p:sp>
    </p:spTree>
    <p:extLst>
      <p:ext uri="{BB962C8B-B14F-4D97-AF65-F5344CB8AC3E}">
        <p14:creationId xmlns:p14="http://schemas.microsoft.com/office/powerpoint/2010/main" val="420458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6AFC05-6A91-7263-0276-DB052BCA858E}"/>
              </a:ext>
            </a:extLst>
          </p:cNvPr>
          <p:cNvSpPr>
            <a:spLocks noGrp="1"/>
          </p:cNvSpPr>
          <p:nvPr>
            <p:ph type="title"/>
          </p:nvPr>
        </p:nvSpPr>
        <p:spPr/>
        <p:txBody>
          <a:bodyPr/>
          <a:lstStyle/>
          <a:p>
            <a:r>
              <a:rPr lang="it-IT" dirty="0"/>
              <a:t>CENNI STORICI</a:t>
            </a:r>
          </a:p>
        </p:txBody>
      </p:sp>
      <p:sp>
        <p:nvSpPr>
          <p:cNvPr id="3" name="Segnaposto contenuto 2">
            <a:extLst>
              <a:ext uri="{FF2B5EF4-FFF2-40B4-BE49-F238E27FC236}">
                <a16:creationId xmlns:a16="http://schemas.microsoft.com/office/drawing/2014/main" id="{B6E8821A-1F04-A9BC-668E-68D32590CC68}"/>
              </a:ext>
            </a:extLst>
          </p:cNvPr>
          <p:cNvSpPr>
            <a:spLocks noGrp="1"/>
          </p:cNvSpPr>
          <p:nvPr>
            <p:ph idx="1"/>
          </p:nvPr>
        </p:nvSpPr>
        <p:spPr/>
        <p:txBody>
          <a:bodyPr>
            <a:normAutofit fontScale="85000" lnSpcReduction="20000"/>
          </a:bodyPr>
          <a:lstStyle/>
          <a:p>
            <a:r>
              <a:rPr lang="it-IT" dirty="0"/>
              <a:t>Sistema binario: Leibniz (1705).</a:t>
            </a:r>
          </a:p>
          <a:p>
            <a:r>
              <a:rPr lang="it-IT" dirty="0"/>
              <a:t>Algebra booleana: Boole (1847).</a:t>
            </a:r>
          </a:p>
          <a:p>
            <a:r>
              <a:rPr lang="it-IT" dirty="0"/>
              <a:t>Algebra booleana applicata ai circuiti elettrici: grazie a Pierce (1886), al lavoro di alcuni filosofi e matematici dell’ottocento e a seguito degli sviluppi tecnologici dell’inizio del XX secolo, si è giunti alla realizzazione dei primi circuiti logici digitali nel 1924 grazie a Walther </a:t>
            </a:r>
            <a:r>
              <a:rPr lang="it-IT" dirty="0" err="1"/>
              <a:t>Bothe</a:t>
            </a:r>
            <a:r>
              <a:rPr lang="it-IT" dirty="0"/>
              <a:t>.</a:t>
            </a:r>
          </a:p>
          <a:p>
            <a:r>
              <a:rPr lang="it-IT" dirty="0"/>
              <a:t>Claude Shannon, il padre della Teoria dell'Informazione, nel 1938 ha dimostrato che la logica a due valori di Boole e il lavoro di Pierce erano applicabili ai circuiti elettrici (relè) ed elettronici (tubi a vuoto) contribuendo fortemente a creare circuiti digitali descritti mediante la «Teoria delle Reti Logiche».</a:t>
            </a:r>
          </a:p>
        </p:txBody>
      </p:sp>
    </p:spTree>
    <p:extLst>
      <p:ext uri="{BB962C8B-B14F-4D97-AF65-F5344CB8AC3E}">
        <p14:creationId xmlns:p14="http://schemas.microsoft.com/office/powerpoint/2010/main" val="3846859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8B9E26-6059-CFDB-F9E2-802B7FBD08B4}"/>
              </a:ext>
            </a:extLst>
          </p:cNvPr>
          <p:cNvSpPr>
            <a:spLocks noGrp="1"/>
          </p:cNvSpPr>
          <p:nvPr>
            <p:ph type="title"/>
          </p:nvPr>
        </p:nvSpPr>
        <p:spPr/>
        <p:txBody>
          <a:bodyPr/>
          <a:lstStyle/>
          <a:p>
            <a:r>
              <a:rPr lang="it-IT" dirty="0"/>
              <a:t>LE Reti logiche</a:t>
            </a:r>
          </a:p>
        </p:txBody>
      </p:sp>
      <p:sp>
        <p:nvSpPr>
          <p:cNvPr id="3" name="Segnaposto contenuto 2">
            <a:extLst>
              <a:ext uri="{FF2B5EF4-FFF2-40B4-BE49-F238E27FC236}">
                <a16:creationId xmlns:a16="http://schemas.microsoft.com/office/drawing/2014/main" id="{FEE5514F-5892-58C2-2F1F-5176295932CD}"/>
              </a:ext>
            </a:extLst>
          </p:cNvPr>
          <p:cNvSpPr>
            <a:spLocks noGrp="1"/>
          </p:cNvSpPr>
          <p:nvPr>
            <p:ph idx="1"/>
          </p:nvPr>
        </p:nvSpPr>
        <p:spPr/>
        <p:txBody>
          <a:bodyPr>
            <a:normAutofit/>
          </a:bodyPr>
          <a:lstStyle/>
          <a:p>
            <a:r>
              <a:rPr lang="it-IT" dirty="0"/>
              <a:t>Le Reti Logiche elaborano informazioni. Sono alla base di molti dispositivi elettronici e sono il cuore dei moderni computer digitali.</a:t>
            </a:r>
          </a:p>
          <a:p>
            <a:r>
              <a:rPr lang="it-IT" dirty="0"/>
              <a:t>L'algebra di Boole è usata per descriverne struttura e comportamento. </a:t>
            </a:r>
          </a:p>
          <a:p>
            <a:r>
              <a:rPr lang="it-IT" dirty="0"/>
              <a:t>Normalmente i valori trattati sono simboli che rappresentano vero e falso (per convenzione 1 e 0). Le variabili adottano i valori di cui sopra e sono pertanto definite binarie.</a:t>
            </a:r>
          </a:p>
        </p:txBody>
      </p:sp>
    </p:spTree>
    <p:extLst>
      <p:ext uri="{BB962C8B-B14F-4D97-AF65-F5344CB8AC3E}">
        <p14:creationId xmlns:p14="http://schemas.microsoft.com/office/powerpoint/2010/main" val="3819616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EA6D4-0A4E-1E59-CA47-52372BA4D6EE}"/>
              </a:ext>
            </a:extLst>
          </p:cNvPr>
          <p:cNvSpPr>
            <a:spLocks noGrp="1"/>
          </p:cNvSpPr>
          <p:nvPr>
            <p:ph type="title"/>
          </p:nvPr>
        </p:nvSpPr>
        <p:spPr/>
        <p:txBody>
          <a:bodyPr/>
          <a:lstStyle/>
          <a:p>
            <a:r>
              <a:rPr lang="it-IT" dirty="0"/>
              <a:t>SEGNALI NEL CONTESTO DELLE RETI LOGICHE</a:t>
            </a:r>
          </a:p>
        </p:txBody>
      </p:sp>
      <p:sp>
        <p:nvSpPr>
          <p:cNvPr id="3" name="Segnaposto contenuto 2">
            <a:extLst>
              <a:ext uri="{FF2B5EF4-FFF2-40B4-BE49-F238E27FC236}">
                <a16:creationId xmlns:a16="http://schemas.microsoft.com/office/drawing/2014/main" id="{33131127-4A98-A3BC-51C9-1283406F23DE}"/>
              </a:ext>
            </a:extLst>
          </p:cNvPr>
          <p:cNvSpPr>
            <a:spLocks noGrp="1"/>
          </p:cNvSpPr>
          <p:nvPr>
            <p:ph idx="1"/>
          </p:nvPr>
        </p:nvSpPr>
        <p:spPr/>
        <p:txBody>
          <a:bodyPr>
            <a:normAutofit/>
          </a:bodyPr>
          <a:lstStyle/>
          <a:p>
            <a:r>
              <a:rPr lang="it-IT" dirty="0"/>
              <a:t>Nei circuiti digitali elettronici è utile considerare le variabili binarie come segnali: si tratta di tensioni o correnti che evolvono nel tempo. </a:t>
            </a:r>
          </a:p>
          <a:p>
            <a:r>
              <a:rPr lang="it-IT" dirty="0"/>
              <a:t>Quando rappresentati idealmente, riportano discontinuità nei passaggi fra i due valori.</a:t>
            </a:r>
          </a:p>
          <a:p>
            <a:endParaRPr lang="it-IT" dirty="0"/>
          </a:p>
        </p:txBody>
      </p:sp>
      <p:pic>
        <p:nvPicPr>
          <p:cNvPr id="7" name="Elemento grafico 6">
            <a:extLst>
              <a:ext uri="{FF2B5EF4-FFF2-40B4-BE49-F238E27FC236}">
                <a16:creationId xmlns:a16="http://schemas.microsoft.com/office/drawing/2014/main" id="{11AF74D8-037A-71EB-0779-ACB2B7FA2E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23826" y="3877282"/>
            <a:ext cx="7343775" cy="2362200"/>
          </a:xfrm>
          <a:prstGeom prst="rect">
            <a:avLst/>
          </a:prstGeom>
        </p:spPr>
      </p:pic>
    </p:spTree>
    <p:extLst>
      <p:ext uri="{BB962C8B-B14F-4D97-AF65-F5344CB8AC3E}">
        <p14:creationId xmlns:p14="http://schemas.microsoft.com/office/powerpoint/2010/main" val="86274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EA6D4-0A4E-1E59-CA47-52372BA4D6EE}"/>
              </a:ext>
            </a:extLst>
          </p:cNvPr>
          <p:cNvSpPr>
            <a:spLocks noGrp="1"/>
          </p:cNvSpPr>
          <p:nvPr>
            <p:ph type="title"/>
          </p:nvPr>
        </p:nvSpPr>
        <p:spPr/>
        <p:txBody>
          <a:bodyPr/>
          <a:lstStyle/>
          <a:p>
            <a:r>
              <a:rPr lang="it-IT" dirty="0"/>
              <a:t>SEGNALI REALI E RETI LOGICHE </a:t>
            </a:r>
          </a:p>
        </p:txBody>
      </p:sp>
      <p:sp>
        <p:nvSpPr>
          <p:cNvPr id="3" name="Segnaposto contenuto 2">
            <a:extLst>
              <a:ext uri="{FF2B5EF4-FFF2-40B4-BE49-F238E27FC236}">
                <a16:creationId xmlns:a16="http://schemas.microsoft.com/office/drawing/2014/main" id="{33131127-4A98-A3BC-51C9-1283406F23DE}"/>
              </a:ext>
            </a:extLst>
          </p:cNvPr>
          <p:cNvSpPr>
            <a:spLocks noGrp="1"/>
          </p:cNvSpPr>
          <p:nvPr>
            <p:ph idx="1"/>
          </p:nvPr>
        </p:nvSpPr>
        <p:spPr>
          <a:xfrm>
            <a:off x="1141412" y="2249486"/>
            <a:ext cx="9905999" cy="3989995"/>
          </a:xfrm>
        </p:spPr>
        <p:txBody>
          <a:bodyPr>
            <a:normAutofit/>
          </a:bodyPr>
          <a:lstStyle/>
          <a:p>
            <a:r>
              <a:rPr lang="it-IT" dirty="0"/>
              <a:t>Nella realtà delle cose, la funzione che </a:t>
            </a:r>
            <a:br>
              <a:rPr lang="it-IT" dirty="0"/>
            </a:br>
            <a:r>
              <a:rPr lang="it-IT" dirty="0"/>
              <a:t>rappresenta l’evoluzione dei valori nel </a:t>
            </a:r>
            <a:br>
              <a:rPr lang="it-IT" dirty="0"/>
            </a:br>
            <a:r>
              <a:rPr lang="it-IT" dirty="0"/>
              <a:t>tempo non ammette soluzione di continuità.</a:t>
            </a:r>
          </a:p>
          <a:p>
            <a:r>
              <a:rPr lang="it-IT" dirty="0"/>
              <a:t>I segnali possono essere degradati </a:t>
            </a:r>
            <a:br>
              <a:rPr lang="it-IT" dirty="0"/>
            </a:br>
            <a:r>
              <a:rPr lang="it-IT" dirty="0"/>
              <a:t>da fattori o fenomeni fisici interni </a:t>
            </a:r>
            <a:br>
              <a:rPr lang="it-IT" dirty="0"/>
            </a:br>
            <a:r>
              <a:rPr lang="it-IT" dirty="0"/>
              <a:t>o esterni alla rete logica stessa, </a:t>
            </a:r>
            <a:br>
              <a:rPr lang="it-IT" dirty="0"/>
            </a:br>
            <a:r>
              <a:rPr lang="it-IT" dirty="0"/>
              <a:t>che possono comprometterne l’integrità.</a:t>
            </a:r>
          </a:p>
          <a:p>
            <a:pPr marL="0" indent="0">
              <a:buNone/>
            </a:pPr>
            <a:endParaRPr lang="it-IT" dirty="0"/>
          </a:p>
        </p:txBody>
      </p:sp>
      <p:pic>
        <p:nvPicPr>
          <p:cNvPr id="9" name="Immagine 8">
            <a:extLst>
              <a:ext uri="{FF2B5EF4-FFF2-40B4-BE49-F238E27FC236}">
                <a16:creationId xmlns:a16="http://schemas.microsoft.com/office/drawing/2014/main" id="{4C2EB942-0589-06F6-8062-95DFFC17A7A4}"/>
              </a:ext>
            </a:extLst>
          </p:cNvPr>
          <p:cNvPicPr>
            <a:picLocks noChangeAspect="1"/>
          </p:cNvPicPr>
          <p:nvPr/>
        </p:nvPicPr>
        <p:blipFill>
          <a:blip r:embed="rId2"/>
          <a:stretch>
            <a:fillRect/>
          </a:stretch>
        </p:blipFill>
        <p:spPr>
          <a:xfrm>
            <a:off x="7424267" y="1498333"/>
            <a:ext cx="3623144" cy="2717358"/>
          </a:xfrm>
          <a:prstGeom prst="rect">
            <a:avLst/>
          </a:prstGeom>
        </p:spPr>
      </p:pic>
      <p:pic>
        <p:nvPicPr>
          <p:cNvPr id="11" name="Immagine 10">
            <a:extLst>
              <a:ext uri="{FF2B5EF4-FFF2-40B4-BE49-F238E27FC236}">
                <a16:creationId xmlns:a16="http://schemas.microsoft.com/office/drawing/2014/main" id="{98A1B878-4962-4E0D-D71D-EB81F73465C4}"/>
              </a:ext>
            </a:extLst>
          </p:cNvPr>
          <p:cNvPicPr>
            <a:picLocks noChangeAspect="1"/>
          </p:cNvPicPr>
          <p:nvPr/>
        </p:nvPicPr>
        <p:blipFill>
          <a:blip r:embed="rId3"/>
          <a:stretch>
            <a:fillRect/>
          </a:stretch>
        </p:blipFill>
        <p:spPr>
          <a:xfrm>
            <a:off x="7424267" y="4314685"/>
            <a:ext cx="3623146" cy="1924796"/>
          </a:xfrm>
          <a:prstGeom prst="rect">
            <a:avLst/>
          </a:prstGeom>
        </p:spPr>
      </p:pic>
    </p:spTree>
    <p:extLst>
      <p:ext uri="{BB962C8B-B14F-4D97-AF65-F5344CB8AC3E}">
        <p14:creationId xmlns:p14="http://schemas.microsoft.com/office/powerpoint/2010/main" val="1936814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99057B-7C5B-49E4-1B08-2F72FB50DC96}"/>
              </a:ext>
            </a:extLst>
          </p:cNvPr>
          <p:cNvSpPr>
            <a:spLocks noGrp="1"/>
          </p:cNvSpPr>
          <p:nvPr>
            <p:ph type="title"/>
          </p:nvPr>
        </p:nvSpPr>
        <p:spPr/>
        <p:txBody>
          <a:bodyPr/>
          <a:lstStyle/>
          <a:p>
            <a:r>
              <a:rPr lang="it-IT" dirty="0"/>
              <a:t>INTEGRITÀ DEI SEGNALI: POSSONO DEGRADARE A CAUSA DI…</a:t>
            </a:r>
          </a:p>
        </p:txBody>
      </p:sp>
      <p:sp>
        <p:nvSpPr>
          <p:cNvPr id="3" name="Segnaposto contenuto 2">
            <a:extLst>
              <a:ext uri="{FF2B5EF4-FFF2-40B4-BE49-F238E27FC236}">
                <a16:creationId xmlns:a16="http://schemas.microsoft.com/office/drawing/2014/main" id="{DC48C1F2-92E2-32F7-CEC4-2C8F2CB14146}"/>
              </a:ext>
            </a:extLst>
          </p:cNvPr>
          <p:cNvSpPr>
            <a:spLocks noGrp="1"/>
          </p:cNvSpPr>
          <p:nvPr>
            <p:ph idx="1"/>
          </p:nvPr>
        </p:nvSpPr>
        <p:spPr/>
        <p:txBody>
          <a:bodyPr>
            <a:normAutofit fontScale="77500" lnSpcReduction="20000"/>
          </a:bodyPr>
          <a:lstStyle/>
          <a:p>
            <a:r>
              <a:rPr lang="it-IT" dirty="0"/>
              <a:t>Attenuazione per dissipazione (termica) di energia nei dispositivi e nei collegamenti elettrici.</a:t>
            </a:r>
          </a:p>
          <a:p>
            <a:r>
              <a:rPr lang="it-IT" dirty="0" err="1"/>
              <a:t>Overshoot</a:t>
            </a:r>
            <a:r>
              <a:rPr lang="it-IT" dirty="0"/>
              <a:t>/</a:t>
            </a:r>
            <a:r>
              <a:rPr lang="it-IT" dirty="0" err="1"/>
              <a:t>Undershoot</a:t>
            </a:r>
            <a:r>
              <a:rPr lang="it-IT" dirty="0"/>
              <a:t>, cioè possono assumere valori che "oltrepassano" i confini assoluti ammissibili a causa degli effetti del secondo ordine dovuti alle componenti reattive distribuite nel circuito (induttanze e capacità parassite).</a:t>
            </a:r>
          </a:p>
          <a:p>
            <a:r>
              <a:rPr lang="it-IT" dirty="0"/>
              <a:t>In regime di parametri distribuiti, ritardi nella propagazione per motivi fisici ineludibili (tempi di propagazione non trascurabili nelle linee)</a:t>
            </a:r>
          </a:p>
          <a:p>
            <a:r>
              <a:rPr lang="it-IT" dirty="0"/>
              <a:t>Riflessioni fra le due estremità di una linea di trasmissione dovute a disadattamenti di impedenza fra sorgente del segnale, carico e linea stessa.</a:t>
            </a:r>
          </a:p>
          <a:p>
            <a:r>
              <a:rPr lang="it-IT" dirty="0"/>
              <a:t>Rumore elettrico di diversa natura (rumore termico intrinseco quale l'effetto Johnson) o indotto (da rumore da accoppiamento induttivo/capacitivo o campi elettromagnetici esterni)</a:t>
            </a:r>
          </a:p>
        </p:txBody>
      </p:sp>
    </p:spTree>
    <p:extLst>
      <p:ext uri="{BB962C8B-B14F-4D97-AF65-F5344CB8AC3E}">
        <p14:creationId xmlns:p14="http://schemas.microsoft.com/office/powerpoint/2010/main" val="3331935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EA6D4-0A4E-1E59-CA47-52372BA4D6EE}"/>
              </a:ext>
            </a:extLst>
          </p:cNvPr>
          <p:cNvSpPr>
            <a:spLocks noGrp="1"/>
          </p:cNvSpPr>
          <p:nvPr>
            <p:ph type="title"/>
          </p:nvPr>
        </p:nvSpPr>
        <p:spPr/>
        <p:txBody>
          <a:bodyPr/>
          <a:lstStyle/>
          <a:p>
            <a:r>
              <a:rPr lang="it-IT" dirty="0"/>
              <a:t>INTERPRETAZIONE DEI SEGNALI NELLE RETI LOGICHE</a:t>
            </a:r>
          </a:p>
        </p:txBody>
      </p:sp>
      <p:sp>
        <p:nvSpPr>
          <p:cNvPr id="3" name="Segnaposto contenuto 2">
            <a:extLst>
              <a:ext uri="{FF2B5EF4-FFF2-40B4-BE49-F238E27FC236}">
                <a16:creationId xmlns:a16="http://schemas.microsoft.com/office/drawing/2014/main" id="{33131127-4A98-A3BC-51C9-1283406F23DE}"/>
              </a:ext>
            </a:extLst>
          </p:cNvPr>
          <p:cNvSpPr>
            <a:spLocks noGrp="1"/>
          </p:cNvSpPr>
          <p:nvPr>
            <p:ph idx="1"/>
          </p:nvPr>
        </p:nvSpPr>
        <p:spPr>
          <a:xfrm>
            <a:off x="1141412" y="2249486"/>
            <a:ext cx="9905999" cy="4151314"/>
          </a:xfrm>
        </p:spPr>
        <p:txBody>
          <a:bodyPr>
            <a:normAutofit fontScale="85000" lnSpcReduction="20000"/>
          </a:bodyPr>
          <a:lstStyle/>
          <a:p>
            <a:r>
              <a:rPr lang="it-IT" dirty="0"/>
              <a:t>Per mitigare gli errori di interpretazione </a:t>
            </a:r>
            <a:br>
              <a:rPr lang="it-IT" dirty="0"/>
            </a:br>
            <a:r>
              <a:rPr lang="it-IT" dirty="0"/>
              <a:t>dei segnali in variabili binarie, si usa definire </a:t>
            </a:r>
            <a:br>
              <a:rPr lang="it-IT" dirty="0"/>
            </a:br>
            <a:r>
              <a:rPr lang="it-IT" dirty="0"/>
              <a:t>due soglie (livelli convenzionali) S</a:t>
            </a:r>
            <a:r>
              <a:rPr lang="it-IT" sz="1400" dirty="0"/>
              <a:t>0  </a:t>
            </a:r>
            <a:r>
              <a:rPr lang="it-IT" dirty="0"/>
              <a:t>e S</a:t>
            </a:r>
            <a:r>
              <a:rPr lang="it-IT" sz="1400" dirty="0"/>
              <a:t>1</a:t>
            </a:r>
            <a:r>
              <a:rPr lang="it-IT" dirty="0"/>
              <a:t>. </a:t>
            </a:r>
            <a:br>
              <a:rPr lang="it-IT" dirty="0"/>
            </a:br>
            <a:r>
              <a:rPr lang="it-IT" dirty="0"/>
              <a:t>Quando il segnale di input sorpassa la soglia S</a:t>
            </a:r>
            <a:r>
              <a:rPr lang="it-IT" sz="1400" dirty="0"/>
              <a:t>1 </a:t>
            </a:r>
            <a:br>
              <a:rPr lang="it-IT" sz="1400" dirty="0"/>
            </a:br>
            <a:r>
              <a:rPr lang="it-IT" dirty="0"/>
              <a:t>si avrà il valore 1 in uscita. Perché l’uscita possa </a:t>
            </a:r>
            <a:br>
              <a:rPr lang="it-IT" dirty="0"/>
            </a:br>
            <a:r>
              <a:rPr lang="it-IT" dirty="0"/>
              <a:t>tornare a 0, l’ingresso deve scendere sotto </a:t>
            </a:r>
            <a:br>
              <a:rPr lang="it-IT" dirty="0"/>
            </a:br>
            <a:r>
              <a:rPr lang="it-IT" dirty="0"/>
              <a:t>la soglia S</a:t>
            </a:r>
            <a:r>
              <a:rPr lang="it-IT" sz="1400" dirty="0"/>
              <a:t>0. </a:t>
            </a:r>
            <a:r>
              <a:rPr lang="it-IT" dirty="0"/>
              <a:t>L’isteresi definita dalle soglie e dallo stato di uscita, permette di ottenere una uscita priva di incertezze (spike) in presenza di rumore o disturbi di piccola entità. </a:t>
            </a:r>
          </a:p>
          <a:p>
            <a:r>
              <a:rPr lang="it-IT" dirty="0"/>
              <a:t>La discretizzazione operata dalle soglie su segnali perturbati o degradati, genera comunque fenomeni di jitter (tremolii nel tempo ai cambi di valore). Le soglie fanno anche si che un impulso risulti leggermente distorto nella sua durata e ritardato nel tempo. Nella pratica delle cose, la discretizzazione di un segnale non produce mai uscite ideali come in figura.</a:t>
            </a:r>
          </a:p>
          <a:p>
            <a:endParaRPr lang="it-IT" dirty="0"/>
          </a:p>
        </p:txBody>
      </p:sp>
      <p:pic>
        <p:nvPicPr>
          <p:cNvPr id="10" name="Elemento grafico 9">
            <a:extLst>
              <a:ext uri="{FF2B5EF4-FFF2-40B4-BE49-F238E27FC236}">
                <a16:creationId xmlns:a16="http://schemas.microsoft.com/office/drawing/2014/main" id="{37BB5F79-6B5D-1FA9-1CF2-87AE72DA67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04166" y="1834696"/>
            <a:ext cx="5110511" cy="2242996"/>
          </a:xfrm>
          <a:prstGeom prst="rect">
            <a:avLst/>
          </a:prstGeom>
        </p:spPr>
      </p:pic>
    </p:spTree>
    <p:extLst>
      <p:ext uri="{BB962C8B-B14F-4D97-AF65-F5344CB8AC3E}">
        <p14:creationId xmlns:p14="http://schemas.microsoft.com/office/powerpoint/2010/main" val="420243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LE Reti logiche come </a:t>
            </a:r>
            <a:r>
              <a:rPr lang="it-IT" dirty="0" err="1"/>
              <a:t>blackbox</a:t>
            </a:r>
            <a:endParaRPr lang="it-IT" dirty="0"/>
          </a:p>
        </p:txBody>
      </p:sp>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a:xfrm>
            <a:off x="1141412" y="2249487"/>
            <a:ext cx="9905999" cy="3777602"/>
          </a:xfrm>
        </p:spPr>
        <p:txBody>
          <a:bodyPr>
            <a:normAutofit fontScale="85000" lnSpcReduction="20000"/>
          </a:bodyPr>
          <a:lstStyle/>
          <a:p>
            <a:r>
              <a:rPr lang="it-IT" dirty="0"/>
              <a:t>Le reti logiche sono assimilabili a «scatole nere» </a:t>
            </a:r>
            <a:br>
              <a:rPr lang="it-IT" dirty="0"/>
            </a:br>
            <a:r>
              <a:rPr lang="it-IT" dirty="0"/>
              <a:t>(</a:t>
            </a:r>
            <a:r>
              <a:rPr lang="it-IT" dirty="0" err="1"/>
              <a:t>blackbox</a:t>
            </a:r>
            <a:r>
              <a:rPr lang="it-IT" dirty="0"/>
              <a:t>) che possono avere stato di ingresso </a:t>
            </a:r>
            <a:br>
              <a:rPr lang="it-IT" dirty="0"/>
            </a:br>
            <a:r>
              <a:rPr lang="it-IT" dirty="0"/>
              <a:t>e stato d'uscita.</a:t>
            </a:r>
          </a:p>
          <a:p>
            <a:r>
              <a:rPr lang="it-IT" dirty="0"/>
              <a:t>Il raggruppamento di più segnali (variabili binarie) </a:t>
            </a:r>
            <a:br>
              <a:rPr lang="it-IT" dirty="0"/>
            </a:br>
            <a:r>
              <a:rPr lang="it-IT" dirty="0"/>
              <a:t>correlati è assimilabile ad un «vettore» che </a:t>
            </a:r>
            <a:r>
              <a:rPr lang="it-IT" dirty="0" err="1"/>
              <a:t>rappre</a:t>
            </a:r>
            <a:r>
              <a:rPr lang="it-IT" dirty="0"/>
              <a:t>-</a:t>
            </a:r>
            <a:br>
              <a:rPr lang="it-IT" dirty="0"/>
            </a:br>
            <a:r>
              <a:rPr lang="it-IT" dirty="0"/>
              <a:t>senta un cosiddetto «stato»; uno stato può, a sua volta, rappresentare singolarmente più valori ed avere quindi una corrispondenza con «oggetti» conosciuti, come ad esempio numeri o caratteri. Una singola variabile binaria può essa stessa essere considerata uno stato.</a:t>
            </a:r>
          </a:p>
          <a:p>
            <a:r>
              <a:rPr lang="it-IT" dirty="0"/>
              <a:t>Gli stati osservabili sono usati per studiarle e quindi, quando possibile, per descriverne il funzionamento. Possono avere anche stati interni non osservabili benché necessari al loro funzionamento.</a:t>
            </a:r>
          </a:p>
        </p:txBody>
      </p:sp>
      <p:pic>
        <p:nvPicPr>
          <p:cNvPr id="9" name="Elemento grafico 8">
            <a:extLst>
              <a:ext uri="{FF2B5EF4-FFF2-40B4-BE49-F238E27FC236}">
                <a16:creationId xmlns:a16="http://schemas.microsoft.com/office/drawing/2014/main" id="{375DF29B-C33F-8983-56B3-2046A6DFEE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62692" y="1858549"/>
            <a:ext cx="4245827" cy="2029639"/>
          </a:xfrm>
          <a:prstGeom prst="rect">
            <a:avLst/>
          </a:prstGeom>
        </p:spPr>
      </p:pic>
      <p:sp>
        <p:nvSpPr>
          <p:cNvPr id="4" name="Ovale 3">
            <a:extLst>
              <a:ext uri="{FF2B5EF4-FFF2-40B4-BE49-F238E27FC236}">
                <a16:creationId xmlns:a16="http://schemas.microsoft.com/office/drawing/2014/main" id="{6F792200-333C-D12F-1910-269752B77976}"/>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202544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3E0C1D-088E-D001-88E0-E04E024CE16B}"/>
              </a:ext>
            </a:extLst>
          </p:cNvPr>
          <p:cNvSpPr>
            <a:spLocks noGrp="1"/>
          </p:cNvSpPr>
          <p:nvPr>
            <p:ph type="title"/>
          </p:nvPr>
        </p:nvSpPr>
        <p:spPr/>
        <p:txBody>
          <a:bodyPr/>
          <a:lstStyle/>
          <a:p>
            <a:r>
              <a:rPr lang="it-IT" dirty="0"/>
              <a:t>IL PROGETTO LOGICO (1)</a:t>
            </a:r>
          </a:p>
        </p:txBody>
      </p:sp>
      <p:sp>
        <p:nvSpPr>
          <p:cNvPr id="3" name="Segnaposto contenuto 2">
            <a:extLst>
              <a:ext uri="{FF2B5EF4-FFF2-40B4-BE49-F238E27FC236}">
                <a16:creationId xmlns:a16="http://schemas.microsoft.com/office/drawing/2014/main" id="{61A72672-5822-8FC5-695B-DBE75F61733A}"/>
              </a:ext>
            </a:extLst>
          </p:cNvPr>
          <p:cNvSpPr>
            <a:spLocks noGrp="1"/>
          </p:cNvSpPr>
          <p:nvPr>
            <p:ph idx="1"/>
          </p:nvPr>
        </p:nvSpPr>
        <p:spPr/>
        <p:txBody>
          <a:bodyPr>
            <a:normAutofit fontScale="85000" lnSpcReduction="10000"/>
          </a:bodyPr>
          <a:lstStyle/>
          <a:p>
            <a:r>
              <a:rPr lang="it-IT" dirty="0"/>
              <a:t>Il progetto logico mira a realizzare dispositivi digitali che elaborano segnali in entrata e producono segnali in uscita. Il processo di definizione della struttura di una rete logica partendo dalle specifiche è detto «Sintesi». L’operazione opposta è detta «Analisi».</a:t>
            </a:r>
          </a:p>
          <a:p>
            <a:r>
              <a:rPr lang="it-IT" dirty="0"/>
              <a:t>Esistono diverse metodologie per la Sintesi: dai metodi «manuali» ai procedimenti automatici. Attualmente la sintesi manuale è eseguita molto raramente.</a:t>
            </a:r>
          </a:p>
          <a:p>
            <a:r>
              <a:rPr lang="it-IT" dirty="0"/>
              <a:t>Per progettare una rete logica bisogna tradurre le specifiche verbali in specifiche formali, usando diagrammi di segnali ideali, tabelle della verità, equazioni booleane per quanto riguarda le cosiddette «reti combinatorie». Per le reti dette «sequenziali» serviranno generalmente tabelle di flusso, diagrammi degli stati o i cosiddetti ASM chart.</a:t>
            </a:r>
          </a:p>
        </p:txBody>
      </p:sp>
    </p:spTree>
    <p:extLst>
      <p:ext uri="{BB962C8B-B14F-4D97-AF65-F5344CB8AC3E}">
        <p14:creationId xmlns:p14="http://schemas.microsoft.com/office/powerpoint/2010/main" val="3612664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3E0C1D-088E-D001-88E0-E04E024CE16B}"/>
              </a:ext>
            </a:extLst>
          </p:cNvPr>
          <p:cNvSpPr>
            <a:spLocks noGrp="1"/>
          </p:cNvSpPr>
          <p:nvPr>
            <p:ph type="title"/>
          </p:nvPr>
        </p:nvSpPr>
        <p:spPr/>
        <p:txBody>
          <a:bodyPr/>
          <a:lstStyle/>
          <a:p>
            <a:r>
              <a:rPr lang="it-IT" dirty="0"/>
              <a:t>IL PROGETTO LOGICO (2)</a:t>
            </a:r>
          </a:p>
        </p:txBody>
      </p:sp>
      <p:sp>
        <p:nvSpPr>
          <p:cNvPr id="3" name="Segnaposto contenuto 2">
            <a:extLst>
              <a:ext uri="{FF2B5EF4-FFF2-40B4-BE49-F238E27FC236}">
                <a16:creationId xmlns:a16="http://schemas.microsoft.com/office/drawing/2014/main" id="{61A72672-5822-8FC5-695B-DBE75F61733A}"/>
              </a:ext>
            </a:extLst>
          </p:cNvPr>
          <p:cNvSpPr>
            <a:spLocks noGrp="1"/>
          </p:cNvSpPr>
          <p:nvPr>
            <p:ph idx="1"/>
          </p:nvPr>
        </p:nvSpPr>
        <p:spPr/>
        <p:txBody>
          <a:bodyPr>
            <a:normAutofit/>
          </a:bodyPr>
          <a:lstStyle/>
          <a:p>
            <a:r>
              <a:rPr lang="it-IT" dirty="0"/>
              <a:t>Le specifiche determineranno una possibile architettura per il sistema da progettare.</a:t>
            </a:r>
          </a:p>
          <a:p>
            <a:r>
              <a:rPr lang="it-IT" dirty="0"/>
              <a:t>Con le specifiche in mano si possono scegliere le tecnologie da adottare in base all’architettura e ad esigenze squisitamente tecniche o commerciali.</a:t>
            </a:r>
          </a:p>
          <a:p>
            <a:r>
              <a:rPr lang="it-IT" dirty="0"/>
              <a:t>Le tecnologie possono influenzare il tipo di strumenti di sviluppo necessari; </a:t>
            </a:r>
            <a:br>
              <a:rPr lang="it-IT" dirty="0"/>
            </a:br>
            <a:r>
              <a:rPr lang="it-IT" dirty="0"/>
              <a:t>a loro volta, a seconda della disponibilità e del costo, possono ridefinire tecnologie e architettura.</a:t>
            </a:r>
          </a:p>
          <a:p>
            <a:endParaRPr lang="it-IT" dirty="0"/>
          </a:p>
          <a:p>
            <a:endParaRPr lang="it-IT" dirty="0"/>
          </a:p>
          <a:p>
            <a:endParaRPr lang="it-IT" dirty="0"/>
          </a:p>
        </p:txBody>
      </p:sp>
    </p:spTree>
    <p:extLst>
      <p:ext uri="{BB962C8B-B14F-4D97-AF65-F5344CB8AC3E}">
        <p14:creationId xmlns:p14="http://schemas.microsoft.com/office/powerpoint/2010/main" val="185633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LE Reti logiche: OPERATORI FONDAMENTALI (1)</a:t>
            </a:r>
          </a:p>
        </p:txBody>
      </p:sp>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fontScale="85000" lnSpcReduction="10000"/>
          </a:bodyPr>
          <a:lstStyle/>
          <a:p>
            <a:r>
              <a:rPr lang="it-IT" dirty="0"/>
              <a:t>Adoperando i tre operatori fondamentali (nega-</a:t>
            </a:r>
            <a:br>
              <a:rPr lang="it-IT" dirty="0"/>
            </a:br>
            <a:r>
              <a:rPr lang="it-IT" dirty="0"/>
              <a:t>zione, intersezione ed unione) per «combinare» </a:t>
            </a:r>
            <a:br>
              <a:rPr lang="it-IT" dirty="0"/>
            </a:br>
            <a:r>
              <a:rPr lang="it-IT" dirty="0"/>
              <a:t>le variabili binarie, è possibile comporre tutte </a:t>
            </a:r>
            <a:br>
              <a:rPr lang="it-IT" dirty="0"/>
            </a:br>
            <a:r>
              <a:rPr lang="it-IT" dirty="0"/>
              <a:t>le espressioni desiderate.</a:t>
            </a:r>
          </a:p>
          <a:p>
            <a:r>
              <a:rPr lang="it-IT" dirty="0"/>
              <a:t>Nel contesto delle reti logiche le espressioni </a:t>
            </a:r>
            <a:br>
              <a:rPr lang="it-IT" dirty="0"/>
            </a:br>
            <a:r>
              <a:rPr lang="it-IT" dirty="0"/>
              <a:t>rappresentano sempre dei predicati. I predicati, a loro volta, possono essere definiti come espressioni che hanno come risultato solo vero o falso. Fa eccezione solo lo scenario di «simulazione» o di analisi, dove la logica viene estesa a tre valori (logica trivalente), per cui un predicato potrebbe non fornire una risposta certa a monte di informazioni indefinite.</a:t>
            </a:r>
          </a:p>
        </p:txBody>
      </p:sp>
      <p:pic>
        <p:nvPicPr>
          <p:cNvPr id="7" name="Elemento grafico 6">
            <a:extLst>
              <a:ext uri="{FF2B5EF4-FFF2-40B4-BE49-F238E27FC236}">
                <a16:creationId xmlns:a16="http://schemas.microsoft.com/office/drawing/2014/main" id="{B78BC29F-C1A0-575E-F8B3-D1ED5D7B90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77612" y="2019631"/>
            <a:ext cx="3486172" cy="2080226"/>
          </a:xfrm>
          <a:prstGeom prst="rect">
            <a:avLst/>
          </a:prstGeom>
        </p:spPr>
      </p:pic>
      <p:sp>
        <p:nvSpPr>
          <p:cNvPr id="4" name="Ovale 3">
            <a:extLst>
              <a:ext uri="{FF2B5EF4-FFF2-40B4-BE49-F238E27FC236}">
                <a16:creationId xmlns:a16="http://schemas.microsoft.com/office/drawing/2014/main" id="{2C809B02-6809-DF51-4686-505575D89D33}"/>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2094093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2BAA-BAF4-29CD-AD90-5A75E05E60B4}"/>
              </a:ext>
            </a:extLst>
          </p:cNvPr>
          <p:cNvSpPr>
            <a:spLocks noGrp="1"/>
          </p:cNvSpPr>
          <p:nvPr>
            <p:ph type="title"/>
          </p:nvPr>
        </p:nvSpPr>
        <p:spPr/>
        <p:txBody>
          <a:bodyPr/>
          <a:lstStyle/>
          <a:p>
            <a:r>
              <a:rPr lang="it-IT" dirty="0"/>
              <a:t>LE Reti logiche: OPERATORI FONDAMENTALI (2)</a:t>
            </a:r>
          </a:p>
        </p:txBody>
      </p:sp>
      <p:pic>
        <p:nvPicPr>
          <p:cNvPr id="4" name="Elemento grafico 3">
            <a:extLst>
              <a:ext uri="{FF2B5EF4-FFF2-40B4-BE49-F238E27FC236}">
                <a16:creationId xmlns:a16="http://schemas.microsoft.com/office/drawing/2014/main" id="{C39EFB96-874F-EBD3-5C20-D367C43520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9187" y="1950142"/>
            <a:ext cx="9310450" cy="4140406"/>
          </a:xfrm>
          <a:prstGeom prst="rect">
            <a:avLst/>
          </a:prstGeom>
        </p:spPr>
      </p:pic>
      <p:sp>
        <p:nvSpPr>
          <p:cNvPr id="7" name="Rettangolo 6">
            <a:extLst>
              <a:ext uri="{FF2B5EF4-FFF2-40B4-BE49-F238E27FC236}">
                <a16:creationId xmlns:a16="http://schemas.microsoft.com/office/drawing/2014/main" id="{444C970E-FE5A-085D-FDB6-43EA857E752A}"/>
              </a:ext>
            </a:extLst>
          </p:cNvPr>
          <p:cNvSpPr/>
          <p:nvPr/>
        </p:nvSpPr>
        <p:spPr>
          <a:xfrm>
            <a:off x="1438662" y="1948070"/>
            <a:ext cx="9311502" cy="4158532"/>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3101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2BAA-BAF4-29CD-AD90-5A75E05E60B4}"/>
              </a:ext>
            </a:extLst>
          </p:cNvPr>
          <p:cNvSpPr>
            <a:spLocks noGrp="1"/>
          </p:cNvSpPr>
          <p:nvPr>
            <p:ph type="title"/>
          </p:nvPr>
        </p:nvSpPr>
        <p:spPr/>
        <p:txBody>
          <a:bodyPr/>
          <a:lstStyle/>
          <a:p>
            <a:r>
              <a:rPr lang="it-IT" dirty="0" err="1"/>
              <a:t>CENNi</a:t>
            </a:r>
            <a:r>
              <a:rPr lang="it-IT" dirty="0"/>
              <a:t> SULLE PROPRIETÀ ALGEBRICHE (1)</a:t>
            </a:r>
            <a:br>
              <a:rPr lang="it-IT" dirty="0"/>
            </a:br>
            <a:endParaRPr lang="it-IT" dirty="0"/>
          </a:p>
        </p:txBody>
      </p:sp>
      <p:pic>
        <p:nvPicPr>
          <p:cNvPr id="6" name="Elemento grafico 5">
            <a:extLst>
              <a:ext uri="{FF2B5EF4-FFF2-40B4-BE49-F238E27FC236}">
                <a16:creationId xmlns:a16="http://schemas.microsoft.com/office/drawing/2014/main" id="{FFD83BE2-7837-A22A-002F-2DBE1C7E11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56415" y="1609382"/>
            <a:ext cx="9275929" cy="4820333"/>
          </a:xfrm>
          <a:prstGeom prst="rect">
            <a:avLst/>
          </a:prstGeom>
        </p:spPr>
      </p:pic>
      <p:sp>
        <p:nvSpPr>
          <p:cNvPr id="7" name="Rettangolo 6">
            <a:extLst>
              <a:ext uri="{FF2B5EF4-FFF2-40B4-BE49-F238E27FC236}">
                <a16:creationId xmlns:a16="http://schemas.microsoft.com/office/drawing/2014/main" id="{322752D7-9225-26EC-058A-BF7A6A3338F9}"/>
              </a:ext>
            </a:extLst>
          </p:cNvPr>
          <p:cNvSpPr/>
          <p:nvPr/>
        </p:nvSpPr>
        <p:spPr>
          <a:xfrm>
            <a:off x="1456415" y="1609383"/>
            <a:ext cx="9277846" cy="4820334"/>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5132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2BAA-BAF4-29CD-AD90-5A75E05E60B4}"/>
              </a:ext>
            </a:extLst>
          </p:cNvPr>
          <p:cNvSpPr>
            <a:spLocks noGrp="1"/>
          </p:cNvSpPr>
          <p:nvPr>
            <p:ph type="title"/>
          </p:nvPr>
        </p:nvSpPr>
        <p:spPr/>
        <p:txBody>
          <a:bodyPr/>
          <a:lstStyle/>
          <a:p>
            <a:r>
              <a:rPr lang="it-IT" dirty="0" err="1"/>
              <a:t>CENNi</a:t>
            </a:r>
            <a:r>
              <a:rPr lang="it-IT" dirty="0"/>
              <a:t> SULLE PROPRIETÀ ALGEBRICHE (2)</a:t>
            </a:r>
            <a:br>
              <a:rPr lang="it-IT" dirty="0"/>
            </a:br>
            <a:endParaRPr lang="it-IT" dirty="0"/>
          </a:p>
        </p:txBody>
      </p:sp>
      <p:pic>
        <p:nvPicPr>
          <p:cNvPr id="6" name="Elemento grafico 5">
            <a:extLst>
              <a:ext uri="{FF2B5EF4-FFF2-40B4-BE49-F238E27FC236}">
                <a16:creationId xmlns:a16="http://schemas.microsoft.com/office/drawing/2014/main" id="{89EE012E-A974-DA67-E8EE-E5E56B2444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80507" y="1590261"/>
            <a:ext cx="9227810" cy="4963064"/>
          </a:xfrm>
          <a:prstGeom prst="rect">
            <a:avLst/>
          </a:prstGeom>
        </p:spPr>
      </p:pic>
      <p:sp>
        <p:nvSpPr>
          <p:cNvPr id="5" name="Rettangolo 4">
            <a:extLst>
              <a:ext uri="{FF2B5EF4-FFF2-40B4-BE49-F238E27FC236}">
                <a16:creationId xmlns:a16="http://schemas.microsoft.com/office/drawing/2014/main" id="{B3D13454-AE9B-9FCE-1CCB-21E394C93CEC}"/>
              </a:ext>
            </a:extLst>
          </p:cNvPr>
          <p:cNvSpPr/>
          <p:nvPr/>
        </p:nvSpPr>
        <p:spPr>
          <a:xfrm>
            <a:off x="1480506" y="1590261"/>
            <a:ext cx="9227811" cy="4963064"/>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6239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ENUMERAZIONE DI FUNZIONI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it-IT" dirty="0"/>
                  <a:t>Esistono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r>
                          <a:rPr lang="it-IT" b="0" i="1" smtClean="0">
                            <a:latin typeface="Cambria Math" panose="02040503050406030204" pitchFamily="18" charset="0"/>
                          </a:rPr>
                          <m:t>)</m:t>
                        </m:r>
                      </m:sup>
                    </m:sSup>
                  </m:oMath>
                </a14:m>
                <a:r>
                  <a:rPr lang="it-IT" dirty="0"/>
                  <a:t>funzioni possibili che si possono ottenere dalla combinazione </a:t>
                </a:r>
                <a:br>
                  <a:rPr lang="it-IT" dirty="0"/>
                </a:br>
                <a:r>
                  <a:rPr lang="it-IT" dirty="0"/>
                  <a:t>di </a:t>
                </a:r>
                <a:r>
                  <a:rPr lang="it-IT" i="1" dirty="0"/>
                  <a:t>n</a:t>
                </a:r>
                <a:r>
                  <a:rPr lang="it-IT" dirty="0"/>
                  <a:t> variabili binarie. Per </a:t>
                </a:r>
                <a:r>
                  <a:rPr lang="it-IT" i="1" dirty="0"/>
                  <a:t>n</a:t>
                </a:r>
                <a:r>
                  <a:rPr lang="it-IT" dirty="0"/>
                  <a:t>=2 sono le seguenti:</a:t>
                </a:r>
              </a:p>
              <a:p>
                <a:pPr marL="0" indent="0">
                  <a:buNone/>
                </a:pPr>
                <a:endParaRPr lang="it-IT"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5426" y="3346385"/>
            <a:ext cx="6297970" cy="2893097"/>
          </a:xfrm>
          <a:prstGeom prst="rect">
            <a:avLst/>
          </a:prstGeom>
        </p:spPr>
      </p:pic>
    </p:spTree>
    <p:extLst>
      <p:ext uri="{BB962C8B-B14F-4D97-AF65-F5344CB8AC3E}">
        <p14:creationId xmlns:p14="http://schemas.microsoft.com/office/powerpoint/2010/main" val="2016130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ENUMERAZIONE DI FUNZIONI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it-IT" dirty="0"/>
                  <a:t>Esistono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r>
                          <a:rPr lang="it-IT" b="0" i="1" smtClean="0">
                            <a:latin typeface="Cambria Math" panose="02040503050406030204" pitchFamily="18" charset="0"/>
                          </a:rPr>
                          <m:t>)</m:t>
                        </m:r>
                      </m:sup>
                    </m:sSup>
                  </m:oMath>
                </a14:m>
                <a:r>
                  <a:rPr lang="it-IT" dirty="0"/>
                  <a:t>funzioni possibili che si possono ottenere dalla combinazione </a:t>
                </a:r>
                <a:br>
                  <a:rPr lang="it-IT" dirty="0"/>
                </a:br>
                <a:r>
                  <a:rPr lang="it-IT" dirty="0"/>
                  <a:t>di </a:t>
                </a:r>
                <a:r>
                  <a:rPr lang="it-IT" i="1" dirty="0"/>
                  <a:t>n</a:t>
                </a:r>
                <a:r>
                  <a:rPr lang="it-IT" dirty="0"/>
                  <a:t> variabili binarie. Per </a:t>
                </a:r>
                <a:r>
                  <a:rPr lang="it-IT" i="1" dirty="0"/>
                  <a:t>n</a:t>
                </a:r>
                <a:r>
                  <a:rPr lang="it-IT" dirty="0"/>
                  <a:t>=2 sono le seguenti:</a:t>
                </a:r>
              </a:p>
              <a:p>
                <a:pPr marL="0" indent="0">
                  <a:buNone/>
                </a:pPr>
                <a:endParaRPr lang="it-IT"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5426" y="3346385"/>
            <a:ext cx="6297970" cy="2893097"/>
          </a:xfrm>
          <a:prstGeom prst="rect">
            <a:avLst/>
          </a:prstGeom>
        </p:spPr>
      </p:pic>
      <p:cxnSp>
        <p:nvCxnSpPr>
          <p:cNvPr id="10" name="Connettore 2 9">
            <a:extLst>
              <a:ext uri="{FF2B5EF4-FFF2-40B4-BE49-F238E27FC236}">
                <a16:creationId xmlns:a16="http://schemas.microsoft.com/office/drawing/2014/main" id="{782192A9-9411-737C-1514-050DD2D7D351}"/>
              </a:ext>
            </a:extLst>
          </p:cNvPr>
          <p:cNvCxnSpPr/>
          <p:nvPr/>
        </p:nvCxnSpPr>
        <p:spPr>
          <a:xfrm>
            <a:off x="4412973" y="3617843"/>
            <a:ext cx="0" cy="318053"/>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1" name="CasellaDiTesto 10">
            <a:extLst>
              <a:ext uri="{FF2B5EF4-FFF2-40B4-BE49-F238E27FC236}">
                <a16:creationId xmlns:a16="http://schemas.microsoft.com/office/drawing/2014/main" id="{AF3C7341-935C-D655-865B-D19CCAD39EF5}"/>
              </a:ext>
            </a:extLst>
          </p:cNvPr>
          <p:cNvSpPr txBox="1"/>
          <p:nvPr/>
        </p:nvSpPr>
        <p:spPr>
          <a:xfrm>
            <a:off x="4104235" y="3297448"/>
            <a:ext cx="617477" cy="369332"/>
          </a:xfrm>
          <a:prstGeom prst="rect">
            <a:avLst/>
          </a:prstGeom>
          <a:noFill/>
        </p:spPr>
        <p:txBody>
          <a:bodyPr wrap="none" rtlCol="0">
            <a:spAutoFit/>
          </a:bodyPr>
          <a:lstStyle/>
          <a:p>
            <a:pPr algn="ctr"/>
            <a:r>
              <a:rPr lang="it-IT" dirty="0">
                <a:solidFill>
                  <a:srgbClr val="FF0000"/>
                </a:solidFill>
              </a:rPr>
              <a:t>AND</a:t>
            </a:r>
          </a:p>
        </p:txBody>
      </p:sp>
      <p:cxnSp>
        <p:nvCxnSpPr>
          <p:cNvPr id="12" name="Connettore 2 11">
            <a:extLst>
              <a:ext uri="{FF2B5EF4-FFF2-40B4-BE49-F238E27FC236}">
                <a16:creationId xmlns:a16="http://schemas.microsoft.com/office/drawing/2014/main" id="{755450DA-8843-D65E-348A-A43CC4F3839D}"/>
              </a:ext>
            </a:extLst>
          </p:cNvPr>
          <p:cNvCxnSpPr/>
          <p:nvPr/>
        </p:nvCxnSpPr>
        <p:spPr>
          <a:xfrm>
            <a:off x="6282855" y="3617843"/>
            <a:ext cx="0" cy="318053"/>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3" name="CasellaDiTesto 12">
            <a:extLst>
              <a:ext uri="{FF2B5EF4-FFF2-40B4-BE49-F238E27FC236}">
                <a16:creationId xmlns:a16="http://schemas.microsoft.com/office/drawing/2014/main" id="{681C0C95-1B03-098C-CBE0-37B2BC439FD2}"/>
              </a:ext>
            </a:extLst>
          </p:cNvPr>
          <p:cNvSpPr txBox="1"/>
          <p:nvPr/>
        </p:nvSpPr>
        <p:spPr>
          <a:xfrm>
            <a:off x="6043847" y="3297448"/>
            <a:ext cx="478016" cy="369332"/>
          </a:xfrm>
          <a:prstGeom prst="rect">
            <a:avLst/>
          </a:prstGeom>
          <a:noFill/>
        </p:spPr>
        <p:txBody>
          <a:bodyPr wrap="none" rtlCol="0">
            <a:spAutoFit/>
          </a:bodyPr>
          <a:lstStyle/>
          <a:p>
            <a:pPr algn="ctr"/>
            <a:r>
              <a:rPr lang="it-IT" dirty="0">
                <a:solidFill>
                  <a:srgbClr val="FF0000"/>
                </a:solidFill>
              </a:rPr>
              <a:t>OR</a:t>
            </a:r>
          </a:p>
        </p:txBody>
      </p:sp>
      <p:cxnSp>
        <p:nvCxnSpPr>
          <p:cNvPr id="14" name="Connettore 2 13">
            <a:extLst>
              <a:ext uri="{FF2B5EF4-FFF2-40B4-BE49-F238E27FC236}">
                <a16:creationId xmlns:a16="http://schemas.microsoft.com/office/drawing/2014/main" id="{61BA5AFF-1DD3-FBF5-39B6-EB40EA9375D9}"/>
              </a:ext>
            </a:extLst>
          </p:cNvPr>
          <p:cNvCxnSpPr>
            <a:cxnSpLocks/>
          </p:cNvCxnSpPr>
          <p:nvPr/>
        </p:nvCxnSpPr>
        <p:spPr>
          <a:xfrm>
            <a:off x="7684535" y="3617843"/>
            <a:ext cx="136817" cy="540689"/>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cxnSp>
        <p:nvCxnSpPr>
          <p:cNvPr id="16" name="Connettore 2 15">
            <a:extLst>
              <a:ext uri="{FF2B5EF4-FFF2-40B4-BE49-F238E27FC236}">
                <a16:creationId xmlns:a16="http://schemas.microsoft.com/office/drawing/2014/main" id="{EC20F342-C9A0-E284-6AB0-B068F7F2D954}"/>
              </a:ext>
            </a:extLst>
          </p:cNvPr>
          <p:cNvCxnSpPr>
            <a:cxnSpLocks/>
          </p:cNvCxnSpPr>
          <p:nvPr/>
        </p:nvCxnSpPr>
        <p:spPr>
          <a:xfrm flipH="1">
            <a:off x="7225824" y="3617843"/>
            <a:ext cx="160472" cy="540689"/>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7" name="CasellaDiTesto 16">
            <a:extLst>
              <a:ext uri="{FF2B5EF4-FFF2-40B4-BE49-F238E27FC236}">
                <a16:creationId xmlns:a16="http://schemas.microsoft.com/office/drawing/2014/main" id="{02CC024D-575C-FC6F-977D-17CB8A9CE544}"/>
              </a:ext>
            </a:extLst>
          </p:cNvPr>
          <p:cNvSpPr txBox="1"/>
          <p:nvPr/>
        </p:nvSpPr>
        <p:spPr>
          <a:xfrm>
            <a:off x="7240296" y="3297448"/>
            <a:ext cx="612860" cy="369332"/>
          </a:xfrm>
          <a:prstGeom prst="rect">
            <a:avLst/>
          </a:prstGeom>
          <a:noFill/>
        </p:spPr>
        <p:txBody>
          <a:bodyPr wrap="none" rtlCol="0">
            <a:spAutoFit/>
          </a:bodyPr>
          <a:lstStyle/>
          <a:p>
            <a:pPr algn="ctr"/>
            <a:r>
              <a:rPr lang="it-IT" dirty="0">
                <a:solidFill>
                  <a:srgbClr val="FF0000"/>
                </a:solidFill>
              </a:rPr>
              <a:t>NOT</a:t>
            </a:r>
          </a:p>
        </p:txBody>
      </p:sp>
    </p:spTree>
    <p:extLst>
      <p:ext uri="{BB962C8B-B14F-4D97-AF65-F5344CB8AC3E}">
        <p14:creationId xmlns:p14="http://schemas.microsoft.com/office/powerpoint/2010/main" val="3029844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ENUMERAZIONE DI FUNZIONI (3)</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it-IT" dirty="0"/>
                  <a:t>Esistono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r>
                          <a:rPr lang="it-IT" b="0" i="1" smtClean="0">
                            <a:latin typeface="Cambria Math" panose="02040503050406030204" pitchFamily="18" charset="0"/>
                          </a:rPr>
                          <m:t>)</m:t>
                        </m:r>
                      </m:sup>
                    </m:sSup>
                  </m:oMath>
                </a14:m>
                <a:r>
                  <a:rPr lang="it-IT" dirty="0"/>
                  <a:t>funzioni possibili che si possono ottenere dalla combinazione </a:t>
                </a:r>
                <a:br>
                  <a:rPr lang="it-IT" dirty="0"/>
                </a:br>
                <a:r>
                  <a:rPr lang="it-IT" dirty="0"/>
                  <a:t>di </a:t>
                </a:r>
                <a:r>
                  <a:rPr lang="it-IT" i="1" dirty="0"/>
                  <a:t>n</a:t>
                </a:r>
                <a:r>
                  <a:rPr lang="it-IT" dirty="0"/>
                  <a:t> variabili binarie. Per </a:t>
                </a:r>
                <a:r>
                  <a:rPr lang="it-IT" i="1" dirty="0"/>
                  <a:t>n</a:t>
                </a:r>
                <a:r>
                  <a:rPr lang="it-IT" dirty="0"/>
                  <a:t>=2 sono le seguenti:</a:t>
                </a:r>
              </a:p>
              <a:p>
                <a:pPr marL="0" indent="0">
                  <a:buNone/>
                </a:pPr>
                <a:endParaRPr lang="it-IT"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5426" y="3346385"/>
            <a:ext cx="6297970" cy="2893097"/>
          </a:xfrm>
          <a:prstGeom prst="rect">
            <a:avLst/>
          </a:prstGeom>
        </p:spPr>
      </p:pic>
      <p:cxnSp>
        <p:nvCxnSpPr>
          <p:cNvPr id="10" name="Connettore 2 9">
            <a:extLst>
              <a:ext uri="{FF2B5EF4-FFF2-40B4-BE49-F238E27FC236}">
                <a16:creationId xmlns:a16="http://schemas.microsoft.com/office/drawing/2014/main" id="{782192A9-9411-737C-1514-050DD2D7D351}"/>
              </a:ext>
            </a:extLst>
          </p:cNvPr>
          <p:cNvCxnSpPr>
            <a:cxnSpLocks/>
          </p:cNvCxnSpPr>
          <p:nvPr/>
        </p:nvCxnSpPr>
        <p:spPr>
          <a:xfrm>
            <a:off x="6610877" y="3589869"/>
            <a:ext cx="0" cy="139295"/>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11" name="CasellaDiTesto 10">
            <a:extLst>
              <a:ext uri="{FF2B5EF4-FFF2-40B4-BE49-F238E27FC236}">
                <a16:creationId xmlns:a16="http://schemas.microsoft.com/office/drawing/2014/main" id="{AF3C7341-935C-D655-865B-D19CCAD39EF5}"/>
              </a:ext>
            </a:extLst>
          </p:cNvPr>
          <p:cNvSpPr txBox="1"/>
          <p:nvPr/>
        </p:nvSpPr>
        <p:spPr>
          <a:xfrm>
            <a:off x="6319772" y="3325131"/>
            <a:ext cx="582212" cy="338554"/>
          </a:xfrm>
          <a:prstGeom prst="rect">
            <a:avLst/>
          </a:prstGeom>
          <a:noFill/>
        </p:spPr>
        <p:txBody>
          <a:bodyPr wrap="none" rtlCol="0">
            <a:spAutoFit/>
          </a:bodyPr>
          <a:lstStyle/>
          <a:p>
            <a:pPr algn="ctr"/>
            <a:r>
              <a:rPr lang="it-IT" sz="1600" dirty="0">
                <a:solidFill>
                  <a:srgbClr val="FF0000"/>
                </a:solidFill>
              </a:rPr>
              <a:t>NOR</a:t>
            </a:r>
          </a:p>
        </p:txBody>
      </p:sp>
      <p:cxnSp>
        <p:nvCxnSpPr>
          <p:cNvPr id="4" name="Connettore 2 3">
            <a:extLst>
              <a:ext uri="{FF2B5EF4-FFF2-40B4-BE49-F238E27FC236}">
                <a16:creationId xmlns:a16="http://schemas.microsoft.com/office/drawing/2014/main" id="{4D047C82-128B-BA76-7615-A82823181FB8}"/>
              </a:ext>
            </a:extLst>
          </p:cNvPr>
          <p:cNvCxnSpPr>
            <a:cxnSpLocks/>
          </p:cNvCxnSpPr>
          <p:nvPr/>
        </p:nvCxnSpPr>
        <p:spPr>
          <a:xfrm>
            <a:off x="8459167" y="3584930"/>
            <a:ext cx="1" cy="102608"/>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6" name="CasellaDiTesto 5">
            <a:extLst>
              <a:ext uri="{FF2B5EF4-FFF2-40B4-BE49-F238E27FC236}">
                <a16:creationId xmlns:a16="http://schemas.microsoft.com/office/drawing/2014/main" id="{75912CC6-24C0-4645-8A58-9EED62BFDB86}"/>
              </a:ext>
            </a:extLst>
          </p:cNvPr>
          <p:cNvSpPr txBox="1"/>
          <p:nvPr/>
        </p:nvSpPr>
        <p:spPr>
          <a:xfrm>
            <a:off x="8107148" y="3325131"/>
            <a:ext cx="704039" cy="338554"/>
          </a:xfrm>
          <a:prstGeom prst="rect">
            <a:avLst/>
          </a:prstGeom>
          <a:noFill/>
        </p:spPr>
        <p:txBody>
          <a:bodyPr wrap="none" rtlCol="0">
            <a:spAutoFit/>
          </a:bodyPr>
          <a:lstStyle/>
          <a:p>
            <a:pPr algn="ctr"/>
            <a:r>
              <a:rPr lang="it-IT" sz="1600" dirty="0">
                <a:solidFill>
                  <a:srgbClr val="FF0000"/>
                </a:solidFill>
              </a:rPr>
              <a:t>NAND</a:t>
            </a:r>
          </a:p>
        </p:txBody>
      </p:sp>
    </p:spTree>
    <p:extLst>
      <p:ext uri="{BB962C8B-B14F-4D97-AF65-F5344CB8AC3E}">
        <p14:creationId xmlns:p14="http://schemas.microsoft.com/office/powerpoint/2010/main" val="831934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ENUMERAZIONE DI FUNZIONI (4)</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it-IT" dirty="0"/>
                  <a:t>Esistono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r>
                          <a:rPr lang="it-IT" b="0" i="1" smtClean="0">
                            <a:latin typeface="Cambria Math" panose="02040503050406030204" pitchFamily="18" charset="0"/>
                          </a:rPr>
                          <m:t>)</m:t>
                        </m:r>
                      </m:sup>
                    </m:sSup>
                  </m:oMath>
                </a14:m>
                <a:r>
                  <a:rPr lang="it-IT" dirty="0"/>
                  <a:t>funzioni possibili che si possono ottenere dalla combinazione </a:t>
                </a:r>
                <a:br>
                  <a:rPr lang="it-IT" dirty="0"/>
                </a:br>
                <a:r>
                  <a:rPr lang="it-IT" dirty="0"/>
                  <a:t>di </a:t>
                </a:r>
                <a:r>
                  <a:rPr lang="it-IT" i="1" dirty="0"/>
                  <a:t>n</a:t>
                </a:r>
                <a:r>
                  <a:rPr lang="it-IT" dirty="0"/>
                  <a:t> variabili binarie. Per </a:t>
                </a:r>
                <a:r>
                  <a:rPr lang="it-IT" i="1" dirty="0"/>
                  <a:t>n</a:t>
                </a:r>
                <a:r>
                  <a:rPr lang="it-IT" dirty="0"/>
                  <a:t>=2 sono le seguenti:</a:t>
                </a:r>
              </a:p>
              <a:p>
                <a:pPr marL="0" indent="0">
                  <a:buNone/>
                </a:pPr>
                <a:endParaRPr lang="it-IT"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5426" y="3346385"/>
            <a:ext cx="6297970" cy="2893097"/>
          </a:xfrm>
          <a:prstGeom prst="rect">
            <a:avLst/>
          </a:prstGeom>
        </p:spPr>
      </p:pic>
      <p:cxnSp>
        <p:nvCxnSpPr>
          <p:cNvPr id="12" name="Connettore 2 11">
            <a:extLst>
              <a:ext uri="{FF2B5EF4-FFF2-40B4-BE49-F238E27FC236}">
                <a16:creationId xmlns:a16="http://schemas.microsoft.com/office/drawing/2014/main" id="{755450DA-8843-D65E-348A-A43CC4F3839D}"/>
              </a:ext>
            </a:extLst>
          </p:cNvPr>
          <p:cNvCxnSpPr>
            <a:cxnSpLocks/>
          </p:cNvCxnSpPr>
          <p:nvPr/>
        </p:nvCxnSpPr>
        <p:spPr>
          <a:xfrm>
            <a:off x="5964797" y="3570133"/>
            <a:ext cx="0" cy="326006"/>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13" name="CasellaDiTesto 12">
            <a:extLst>
              <a:ext uri="{FF2B5EF4-FFF2-40B4-BE49-F238E27FC236}">
                <a16:creationId xmlns:a16="http://schemas.microsoft.com/office/drawing/2014/main" id="{681C0C95-1B03-098C-CBE0-37B2BC439FD2}"/>
              </a:ext>
            </a:extLst>
          </p:cNvPr>
          <p:cNvSpPr txBox="1"/>
          <p:nvPr/>
        </p:nvSpPr>
        <p:spPr>
          <a:xfrm>
            <a:off x="5687958" y="3297448"/>
            <a:ext cx="553677" cy="338554"/>
          </a:xfrm>
          <a:prstGeom prst="rect">
            <a:avLst/>
          </a:prstGeom>
          <a:noFill/>
          <a:ln w="28575">
            <a:noFill/>
          </a:ln>
        </p:spPr>
        <p:txBody>
          <a:bodyPr wrap="none" rtlCol="0">
            <a:spAutoFit/>
          </a:bodyPr>
          <a:lstStyle/>
          <a:p>
            <a:pPr algn="ctr"/>
            <a:r>
              <a:rPr lang="it-IT" sz="1600" dirty="0">
                <a:solidFill>
                  <a:srgbClr val="FF0000"/>
                </a:solidFill>
              </a:rPr>
              <a:t>XOR</a:t>
            </a:r>
          </a:p>
        </p:txBody>
      </p:sp>
      <p:cxnSp>
        <p:nvCxnSpPr>
          <p:cNvPr id="7" name="Connettore 2 6">
            <a:extLst>
              <a:ext uri="{FF2B5EF4-FFF2-40B4-BE49-F238E27FC236}">
                <a16:creationId xmlns:a16="http://schemas.microsoft.com/office/drawing/2014/main" id="{FB3B7446-AA22-C487-8F41-5CE50F45FDF9}"/>
              </a:ext>
            </a:extLst>
          </p:cNvPr>
          <p:cNvCxnSpPr>
            <a:cxnSpLocks/>
          </p:cNvCxnSpPr>
          <p:nvPr/>
        </p:nvCxnSpPr>
        <p:spPr>
          <a:xfrm>
            <a:off x="6890659" y="3570133"/>
            <a:ext cx="0" cy="365763"/>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9" name="CasellaDiTesto 8">
            <a:extLst>
              <a:ext uri="{FF2B5EF4-FFF2-40B4-BE49-F238E27FC236}">
                <a16:creationId xmlns:a16="http://schemas.microsoft.com/office/drawing/2014/main" id="{55A41154-7728-45E9-59B6-5FC546BCFD34}"/>
              </a:ext>
            </a:extLst>
          </p:cNvPr>
          <p:cNvSpPr txBox="1"/>
          <p:nvPr/>
        </p:nvSpPr>
        <p:spPr>
          <a:xfrm>
            <a:off x="6334257" y="3297448"/>
            <a:ext cx="1112805" cy="338554"/>
          </a:xfrm>
          <a:prstGeom prst="rect">
            <a:avLst/>
          </a:prstGeom>
          <a:noFill/>
          <a:ln w="28575">
            <a:noFill/>
          </a:ln>
        </p:spPr>
        <p:txBody>
          <a:bodyPr wrap="none" rtlCol="0">
            <a:spAutoFit/>
          </a:bodyPr>
          <a:lstStyle/>
          <a:p>
            <a:pPr algn="ctr"/>
            <a:r>
              <a:rPr lang="it-IT" sz="1600" dirty="0">
                <a:solidFill>
                  <a:srgbClr val="FF0000"/>
                </a:solidFill>
              </a:rPr>
              <a:t>XNOR (EQ)</a:t>
            </a:r>
          </a:p>
        </p:txBody>
      </p:sp>
    </p:spTree>
    <p:extLst>
      <p:ext uri="{BB962C8B-B14F-4D97-AF65-F5344CB8AC3E}">
        <p14:creationId xmlns:p14="http://schemas.microsoft.com/office/powerpoint/2010/main" val="2921810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ENUMERAZIONE DI FUNZIONI (5)</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it-IT" dirty="0"/>
                  <a:t>Esistono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r>
                          <a:rPr lang="it-IT" b="0" i="1" smtClean="0">
                            <a:latin typeface="Cambria Math" panose="02040503050406030204" pitchFamily="18" charset="0"/>
                          </a:rPr>
                          <m:t>)</m:t>
                        </m:r>
                      </m:sup>
                    </m:sSup>
                  </m:oMath>
                </a14:m>
                <a:r>
                  <a:rPr lang="it-IT" dirty="0"/>
                  <a:t>funzioni possibili che si possono ottenere dalla combinazione </a:t>
                </a:r>
                <a:br>
                  <a:rPr lang="it-IT" dirty="0"/>
                </a:br>
                <a:r>
                  <a:rPr lang="it-IT" dirty="0"/>
                  <a:t>di </a:t>
                </a:r>
                <a:r>
                  <a:rPr lang="it-IT" i="1" dirty="0"/>
                  <a:t>n</a:t>
                </a:r>
                <a:r>
                  <a:rPr lang="it-IT" dirty="0"/>
                  <a:t> variabili binarie. Per </a:t>
                </a:r>
                <a:r>
                  <a:rPr lang="it-IT" i="1" dirty="0"/>
                  <a:t>n</a:t>
                </a:r>
                <a:r>
                  <a:rPr lang="it-IT" dirty="0"/>
                  <a:t>=2 sono le seguenti:</a:t>
                </a:r>
              </a:p>
              <a:p>
                <a:pPr marL="0" indent="0">
                  <a:buNone/>
                </a:pPr>
                <a:endParaRPr lang="it-IT"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5426" y="3346385"/>
            <a:ext cx="6297970" cy="2893097"/>
          </a:xfrm>
          <a:prstGeom prst="rect">
            <a:avLst/>
          </a:prstGeom>
        </p:spPr>
      </p:pic>
      <p:sp>
        <p:nvSpPr>
          <p:cNvPr id="9" name="CasellaDiTesto 8">
            <a:extLst>
              <a:ext uri="{FF2B5EF4-FFF2-40B4-BE49-F238E27FC236}">
                <a16:creationId xmlns:a16="http://schemas.microsoft.com/office/drawing/2014/main" id="{55A41154-7728-45E9-59B6-5FC546BCFD34}"/>
              </a:ext>
            </a:extLst>
          </p:cNvPr>
          <p:cNvSpPr txBox="1"/>
          <p:nvPr/>
        </p:nvSpPr>
        <p:spPr>
          <a:xfrm>
            <a:off x="6170140" y="3297448"/>
            <a:ext cx="1393331" cy="338554"/>
          </a:xfrm>
          <a:prstGeom prst="rect">
            <a:avLst/>
          </a:prstGeom>
          <a:noFill/>
          <a:ln w="28575">
            <a:noFill/>
          </a:ln>
        </p:spPr>
        <p:txBody>
          <a:bodyPr wrap="none" rtlCol="0">
            <a:spAutoFit/>
          </a:bodyPr>
          <a:lstStyle/>
          <a:p>
            <a:pPr algn="r"/>
            <a:r>
              <a:rPr lang="it-IT" sz="1600" dirty="0">
                <a:solidFill>
                  <a:srgbClr val="FF0000"/>
                </a:solidFill>
              </a:rPr>
              <a:t>IMPLICAZIONE</a:t>
            </a:r>
          </a:p>
        </p:txBody>
      </p:sp>
      <p:sp>
        <p:nvSpPr>
          <p:cNvPr id="23" name="Arco 22">
            <a:extLst>
              <a:ext uri="{FF2B5EF4-FFF2-40B4-BE49-F238E27FC236}">
                <a16:creationId xmlns:a16="http://schemas.microsoft.com/office/drawing/2014/main" id="{4CA135B0-F485-0D98-ACB4-A861A25E3A0D}"/>
              </a:ext>
            </a:extLst>
          </p:cNvPr>
          <p:cNvSpPr/>
          <p:nvPr/>
        </p:nvSpPr>
        <p:spPr>
          <a:xfrm>
            <a:off x="6941491" y="3472379"/>
            <a:ext cx="1192694" cy="654347"/>
          </a:xfrm>
          <a:prstGeom prst="arc">
            <a:avLst>
              <a:gd name="adj1" fmla="val 16200000"/>
              <a:gd name="adj2" fmla="val 157297"/>
            </a:avLst>
          </a:prstGeom>
          <a:ln w="28575">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2213990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it-IT" dirty="0"/>
              <a:t>ENUMERAZIONE DI FUNZIONI (6)</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it-IT" dirty="0"/>
                  <a:t>Esistono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r>
                          <a:rPr lang="it-IT" b="0" i="1" smtClean="0">
                            <a:latin typeface="Cambria Math" panose="02040503050406030204" pitchFamily="18" charset="0"/>
                          </a:rPr>
                          <m:t>)</m:t>
                        </m:r>
                      </m:sup>
                    </m:sSup>
                  </m:oMath>
                </a14:m>
                <a:r>
                  <a:rPr lang="it-IT" dirty="0"/>
                  <a:t>funzioni possibili che si possono ottenere dalla combinazione </a:t>
                </a:r>
                <a:br>
                  <a:rPr lang="it-IT" dirty="0"/>
                </a:br>
                <a:r>
                  <a:rPr lang="it-IT" dirty="0"/>
                  <a:t>di </a:t>
                </a:r>
                <a:r>
                  <a:rPr lang="it-IT" i="1" dirty="0"/>
                  <a:t>n</a:t>
                </a:r>
                <a:r>
                  <a:rPr lang="it-IT" dirty="0"/>
                  <a:t> variabili binarie. Per </a:t>
                </a:r>
                <a:r>
                  <a:rPr lang="it-IT" i="1" dirty="0"/>
                  <a:t>n</a:t>
                </a:r>
                <a:r>
                  <a:rPr lang="it-IT" dirty="0"/>
                  <a:t>=2 sono le seguenti:</a:t>
                </a:r>
              </a:p>
              <a:p>
                <a:pPr marL="0" indent="0">
                  <a:buNone/>
                </a:pPr>
                <a:endParaRPr lang="it-IT"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5426" y="3346385"/>
            <a:ext cx="6297970" cy="2893097"/>
          </a:xfrm>
          <a:prstGeom prst="rect">
            <a:avLst/>
          </a:prstGeom>
        </p:spPr>
      </p:pic>
      <p:cxnSp>
        <p:nvCxnSpPr>
          <p:cNvPr id="12" name="Connettore 2 11">
            <a:extLst>
              <a:ext uri="{FF2B5EF4-FFF2-40B4-BE49-F238E27FC236}">
                <a16:creationId xmlns:a16="http://schemas.microsoft.com/office/drawing/2014/main" id="{755450DA-8843-D65E-348A-A43CC4F3839D}"/>
              </a:ext>
            </a:extLst>
          </p:cNvPr>
          <p:cNvCxnSpPr>
            <a:cxnSpLocks/>
          </p:cNvCxnSpPr>
          <p:nvPr/>
        </p:nvCxnSpPr>
        <p:spPr>
          <a:xfrm>
            <a:off x="4113140" y="3567792"/>
            <a:ext cx="0" cy="65869"/>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13" name="CasellaDiTesto 12">
            <a:extLst>
              <a:ext uri="{FF2B5EF4-FFF2-40B4-BE49-F238E27FC236}">
                <a16:creationId xmlns:a16="http://schemas.microsoft.com/office/drawing/2014/main" id="{681C0C95-1B03-098C-CBE0-37B2BC439FD2}"/>
              </a:ext>
            </a:extLst>
          </p:cNvPr>
          <p:cNvSpPr txBox="1"/>
          <p:nvPr/>
        </p:nvSpPr>
        <p:spPr>
          <a:xfrm>
            <a:off x="3241749" y="3295107"/>
            <a:ext cx="1742786" cy="338554"/>
          </a:xfrm>
          <a:prstGeom prst="rect">
            <a:avLst/>
          </a:prstGeom>
          <a:noFill/>
          <a:ln w="28575">
            <a:noFill/>
          </a:ln>
        </p:spPr>
        <p:txBody>
          <a:bodyPr wrap="none" rtlCol="0">
            <a:spAutoFit/>
          </a:bodyPr>
          <a:lstStyle/>
          <a:p>
            <a:pPr algn="ctr"/>
            <a:r>
              <a:rPr lang="it-IT" sz="1600" dirty="0">
                <a:solidFill>
                  <a:srgbClr val="FF0000"/>
                </a:solidFill>
              </a:rPr>
              <a:t>CONTRADDIZIONE</a:t>
            </a:r>
          </a:p>
        </p:txBody>
      </p:sp>
      <p:cxnSp>
        <p:nvCxnSpPr>
          <p:cNvPr id="4" name="Connettore 2 3">
            <a:extLst>
              <a:ext uri="{FF2B5EF4-FFF2-40B4-BE49-F238E27FC236}">
                <a16:creationId xmlns:a16="http://schemas.microsoft.com/office/drawing/2014/main" id="{703A4FCA-2EF2-4972-A6DA-B320F3A2065B}"/>
              </a:ext>
            </a:extLst>
          </p:cNvPr>
          <p:cNvCxnSpPr>
            <a:cxnSpLocks/>
          </p:cNvCxnSpPr>
          <p:nvPr/>
        </p:nvCxnSpPr>
        <p:spPr>
          <a:xfrm>
            <a:off x="8760430" y="3567792"/>
            <a:ext cx="0" cy="65869"/>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5" name="CasellaDiTesto 4">
            <a:extLst>
              <a:ext uri="{FF2B5EF4-FFF2-40B4-BE49-F238E27FC236}">
                <a16:creationId xmlns:a16="http://schemas.microsoft.com/office/drawing/2014/main" id="{32692E44-29A0-B87F-E134-1C117D24869A}"/>
              </a:ext>
            </a:extLst>
          </p:cNvPr>
          <p:cNvSpPr txBox="1"/>
          <p:nvPr/>
        </p:nvSpPr>
        <p:spPr>
          <a:xfrm>
            <a:off x="7966386" y="3295107"/>
            <a:ext cx="1317733" cy="338554"/>
          </a:xfrm>
          <a:prstGeom prst="rect">
            <a:avLst/>
          </a:prstGeom>
          <a:noFill/>
          <a:ln w="28575">
            <a:noFill/>
          </a:ln>
        </p:spPr>
        <p:txBody>
          <a:bodyPr wrap="none" rtlCol="0">
            <a:spAutoFit/>
          </a:bodyPr>
          <a:lstStyle/>
          <a:p>
            <a:pPr algn="ctr"/>
            <a:r>
              <a:rPr lang="it-IT" sz="1600" dirty="0">
                <a:solidFill>
                  <a:srgbClr val="FF0000"/>
                </a:solidFill>
              </a:rPr>
              <a:t>TAUTOLOGIA</a:t>
            </a:r>
          </a:p>
        </p:txBody>
      </p:sp>
    </p:spTree>
    <p:extLst>
      <p:ext uri="{BB962C8B-B14F-4D97-AF65-F5344CB8AC3E}">
        <p14:creationId xmlns:p14="http://schemas.microsoft.com/office/powerpoint/2010/main" val="661838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CF4F405-C8EB-7932-E16E-4882C7B5CEFD}"/>
              </a:ext>
            </a:extLst>
          </p:cNvPr>
          <p:cNvSpPr>
            <a:spLocks noGrp="1"/>
          </p:cNvSpPr>
          <p:nvPr>
            <p:ph type="title"/>
          </p:nvPr>
        </p:nvSpPr>
        <p:spPr/>
        <p:txBody>
          <a:bodyPr/>
          <a:lstStyle/>
          <a:p>
            <a:r>
              <a:rPr lang="it-IT" dirty="0"/>
              <a:t>STRUTTURA DELLE RETI LOGICHE</a:t>
            </a:r>
          </a:p>
        </p:txBody>
      </p:sp>
      <p:sp>
        <p:nvSpPr>
          <p:cNvPr id="3" name="Segnaposto contenuto 2">
            <a:extLst>
              <a:ext uri="{FF2B5EF4-FFF2-40B4-BE49-F238E27FC236}">
                <a16:creationId xmlns:a16="http://schemas.microsoft.com/office/drawing/2014/main" id="{0AEA8FA0-C640-7301-F847-0A23AD277512}"/>
              </a:ext>
            </a:extLst>
          </p:cNvPr>
          <p:cNvSpPr>
            <a:spLocks noGrp="1"/>
          </p:cNvSpPr>
          <p:nvPr>
            <p:ph idx="1"/>
          </p:nvPr>
        </p:nvSpPr>
        <p:spPr/>
        <p:txBody>
          <a:bodyPr/>
          <a:lstStyle/>
          <a:p>
            <a:r>
              <a:rPr lang="it-IT" b="1" dirty="0"/>
              <a:t>Reti Combinatorie</a:t>
            </a:r>
            <a:br>
              <a:rPr lang="it-IT" dirty="0"/>
            </a:br>
            <a:r>
              <a:rPr lang="it-IT" dirty="0"/>
              <a:t>Assimilabili a funzioni «pure», lo stato di uscita dipende unicamente dai valori dello stato d'ingresso (funzione biunivoca o suriettiva).</a:t>
            </a:r>
          </a:p>
          <a:p>
            <a:r>
              <a:rPr lang="it-IT" b="1" dirty="0"/>
              <a:t>Reti Sequenziali</a:t>
            </a:r>
            <a:br>
              <a:rPr lang="it-IT" dirty="0"/>
            </a:br>
            <a:r>
              <a:rPr lang="it-IT" dirty="0"/>
              <a:t>Le uscite dipendono dalla «storia» degli stati d'ingresso fino all'istante di osservazione considerato. Sono definite in termini di reti combinatorie provviste di feedback su se stesse o con l’aggiunta di elementi di memoria.</a:t>
            </a:r>
          </a:p>
        </p:txBody>
      </p:sp>
      <p:sp>
        <p:nvSpPr>
          <p:cNvPr id="4" name="Ovale 3">
            <a:extLst>
              <a:ext uri="{FF2B5EF4-FFF2-40B4-BE49-F238E27FC236}">
                <a16:creationId xmlns:a16="http://schemas.microsoft.com/office/drawing/2014/main" id="{7926033D-59C5-06A2-BA2E-02AA01428FBA}"/>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853410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9882F-3970-C83D-B539-38B4AC5A925B}"/>
              </a:ext>
            </a:extLst>
          </p:cNvPr>
          <p:cNvSpPr>
            <a:spLocks noGrp="1"/>
          </p:cNvSpPr>
          <p:nvPr>
            <p:ph type="title"/>
          </p:nvPr>
        </p:nvSpPr>
        <p:spPr/>
        <p:txBody>
          <a:bodyPr/>
          <a:lstStyle/>
          <a:p>
            <a:r>
              <a:rPr lang="it-IT" dirty="0"/>
              <a:t>METODI MANUALI PER LA SINTESI DI RETI COMBINATORIE (1)</a:t>
            </a:r>
          </a:p>
        </p:txBody>
      </p:sp>
      <p:sp>
        <p:nvSpPr>
          <p:cNvPr id="3" name="Segnaposto contenuto 2">
            <a:extLst>
              <a:ext uri="{FF2B5EF4-FFF2-40B4-BE49-F238E27FC236}">
                <a16:creationId xmlns:a16="http://schemas.microsoft.com/office/drawing/2014/main" id="{E23D7325-9749-5D1A-DDAC-FC4AA0418BF2}"/>
              </a:ext>
            </a:extLst>
          </p:cNvPr>
          <p:cNvSpPr>
            <a:spLocks noGrp="1"/>
          </p:cNvSpPr>
          <p:nvPr>
            <p:ph idx="1"/>
          </p:nvPr>
        </p:nvSpPr>
        <p:spPr/>
        <p:txBody>
          <a:bodyPr>
            <a:normAutofit fontScale="92500"/>
          </a:bodyPr>
          <a:lstStyle/>
          <a:p>
            <a:r>
              <a:rPr lang="it-IT" dirty="0"/>
              <a:t>Con le definizioni formali sul funzionamento della rete specificate nelle tabelle di verità o con espressioni, si possono operare </a:t>
            </a:r>
            <a:r>
              <a:rPr lang="it-IT" u="sng" dirty="0"/>
              <a:t>trasformazioni</a:t>
            </a:r>
            <a:r>
              <a:rPr lang="it-IT" dirty="0"/>
              <a:t> atte a produrre strutture idonee alla realizzazione pratica: vale a dire che questo processo prevede il loro </a:t>
            </a:r>
            <a:r>
              <a:rPr lang="it-IT" u="sng" dirty="0"/>
              <a:t>riarrangiamento</a:t>
            </a:r>
            <a:r>
              <a:rPr lang="it-IT" dirty="0"/>
              <a:t>, ad esempio per adattarle alla tecnologia da utilizzare.</a:t>
            </a:r>
          </a:p>
          <a:p>
            <a:r>
              <a:rPr lang="it-IT" dirty="0"/>
              <a:t>La riorganizzazione delle specifiche implica anche la ricerca del minor costo in termini di dimensione della rete, compatibilmente con le prestazioni richieste. </a:t>
            </a:r>
            <a:br>
              <a:rPr lang="it-IT" dirty="0"/>
            </a:br>
            <a:r>
              <a:rPr lang="it-IT" dirty="0"/>
              <a:t>Qui si tenta la minimizzazione della rete tenendo però sempre conto delle prestazioni desiderate.</a:t>
            </a:r>
          </a:p>
          <a:p>
            <a:endParaRPr lang="it-IT" dirty="0"/>
          </a:p>
        </p:txBody>
      </p:sp>
    </p:spTree>
    <p:extLst>
      <p:ext uri="{BB962C8B-B14F-4D97-AF65-F5344CB8AC3E}">
        <p14:creationId xmlns:p14="http://schemas.microsoft.com/office/powerpoint/2010/main" val="2108118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9882F-3970-C83D-B539-38B4AC5A925B}"/>
              </a:ext>
            </a:extLst>
          </p:cNvPr>
          <p:cNvSpPr>
            <a:spLocks noGrp="1"/>
          </p:cNvSpPr>
          <p:nvPr>
            <p:ph type="title"/>
          </p:nvPr>
        </p:nvSpPr>
        <p:spPr/>
        <p:txBody>
          <a:bodyPr/>
          <a:lstStyle/>
          <a:p>
            <a:r>
              <a:rPr lang="it-IT" dirty="0"/>
              <a:t>METODI MANUALI PER LA SINTESI DI RETI COMBINATORIE (2)</a:t>
            </a:r>
          </a:p>
        </p:txBody>
      </p:sp>
      <p:sp>
        <p:nvSpPr>
          <p:cNvPr id="3" name="Segnaposto contenuto 2">
            <a:extLst>
              <a:ext uri="{FF2B5EF4-FFF2-40B4-BE49-F238E27FC236}">
                <a16:creationId xmlns:a16="http://schemas.microsoft.com/office/drawing/2014/main" id="{E23D7325-9749-5D1A-DDAC-FC4AA0418BF2}"/>
              </a:ext>
            </a:extLst>
          </p:cNvPr>
          <p:cNvSpPr>
            <a:spLocks noGrp="1"/>
          </p:cNvSpPr>
          <p:nvPr>
            <p:ph idx="1"/>
          </p:nvPr>
        </p:nvSpPr>
        <p:spPr/>
        <p:txBody>
          <a:bodyPr>
            <a:normAutofit fontScale="92500" lnSpcReduction="10000"/>
          </a:bodyPr>
          <a:lstStyle/>
          <a:p>
            <a:r>
              <a:rPr lang="it-IT" dirty="0"/>
              <a:t>La progettazione manuale di una rete logica implica l’uso di manipolazione algebrica diretta delle equazioni, l’utilizzo di tecniche «grafiche» su tabelle di verità opportunamente riarrangiate, quali le mappe di </a:t>
            </a:r>
            <a:r>
              <a:rPr lang="it-IT" dirty="0" err="1"/>
              <a:t>Veitch-Karnaugh</a:t>
            </a:r>
            <a:r>
              <a:rPr lang="it-IT" dirty="0"/>
              <a:t> o un mix di queste ed altre tecniche.</a:t>
            </a:r>
          </a:p>
          <a:p>
            <a:r>
              <a:rPr lang="it-IT" dirty="0"/>
              <a:t>Una rete logica relativamente complessa può essere costituita da diverse sottoreti che possono essere trattate separatamente.</a:t>
            </a:r>
          </a:p>
          <a:p>
            <a:r>
              <a:rPr lang="it-IT" dirty="0"/>
              <a:t>È possibile considerare l’utilizzo del «minimizzatore logico» </a:t>
            </a:r>
            <a:r>
              <a:rPr lang="it-IT" i="1" dirty="0"/>
              <a:t>Espresso</a:t>
            </a:r>
            <a:r>
              <a:rPr lang="it-IT" dirty="0"/>
              <a:t> (o di altri strumenti simili) come un ausilio alla progettazione manuale. </a:t>
            </a:r>
          </a:p>
          <a:p>
            <a:endParaRPr lang="it-IT" dirty="0"/>
          </a:p>
        </p:txBody>
      </p:sp>
    </p:spTree>
    <p:extLst>
      <p:ext uri="{BB962C8B-B14F-4D97-AF65-F5344CB8AC3E}">
        <p14:creationId xmlns:p14="http://schemas.microsoft.com/office/powerpoint/2010/main" val="3226529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886AB51-6EBA-34E7-5838-6DBCEE9F1BDD}"/>
              </a:ext>
            </a:extLst>
          </p:cNvPr>
          <p:cNvSpPr>
            <a:spLocks noGrp="1"/>
          </p:cNvSpPr>
          <p:nvPr>
            <p:ph type="title"/>
          </p:nvPr>
        </p:nvSpPr>
        <p:spPr/>
        <p:txBody>
          <a:bodyPr/>
          <a:lstStyle/>
          <a:p>
            <a:r>
              <a:rPr lang="it-IT" dirty="0"/>
              <a:t>SINTESI E MINIMIZZAZIONE Di RETI COMBINATORIE</a:t>
            </a:r>
          </a:p>
        </p:txBody>
      </p:sp>
      <p:sp>
        <p:nvSpPr>
          <p:cNvPr id="3" name="Segnaposto contenuto 2">
            <a:extLst>
              <a:ext uri="{FF2B5EF4-FFF2-40B4-BE49-F238E27FC236}">
                <a16:creationId xmlns:a16="http://schemas.microsoft.com/office/drawing/2014/main" id="{DE897A40-DC37-08BC-8E2E-852437177BD0}"/>
              </a:ext>
            </a:extLst>
          </p:cNvPr>
          <p:cNvSpPr>
            <a:spLocks noGrp="1"/>
          </p:cNvSpPr>
          <p:nvPr>
            <p:ph idx="1"/>
          </p:nvPr>
        </p:nvSpPr>
        <p:spPr>
          <a:xfrm>
            <a:off x="1141411" y="2249486"/>
            <a:ext cx="10265021" cy="4057045"/>
          </a:xfrm>
        </p:spPr>
        <p:txBody>
          <a:bodyPr>
            <a:normAutofit/>
          </a:bodyPr>
          <a:lstStyle/>
          <a:p>
            <a:r>
              <a:rPr lang="it-IT" dirty="0"/>
              <a:t>Definizione della rete con tabelle di verità o equazioni booleane (o equivalente)</a:t>
            </a:r>
          </a:p>
          <a:p>
            <a:r>
              <a:rPr lang="it-IT" dirty="0"/>
              <a:t>Eventuale minimizzazione:</a:t>
            </a:r>
          </a:p>
          <a:p>
            <a:pPr lvl="1">
              <a:buFont typeface="Tw Cen MT" panose="020B0602020104020603" pitchFamily="34" charset="0"/>
              <a:buChar char="–"/>
            </a:pPr>
            <a:r>
              <a:rPr lang="it-IT" dirty="0"/>
              <a:t>Minimizzazione manuale di reti combinatorie</a:t>
            </a:r>
          </a:p>
          <a:p>
            <a:pPr marL="914400" lvl="2" indent="0">
              <a:buNone/>
            </a:pPr>
            <a:r>
              <a:rPr lang="it-IT" dirty="0"/>
              <a:t>Con algebra di Boole (manipolazione algebrica, tediosa ed incline ad errori).</a:t>
            </a:r>
          </a:p>
          <a:p>
            <a:pPr marL="914400" lvl="2" indent="0">
              <a:buNone/>
            </a:pPr>
            <a:r>
              <a:rPr lang="it-IT" dirty="0"/>
              <a:t>Con Mappe di </a:t>
            </a:r>
            <a:r>
              <a:rPr lang="it-IT" dirty="0" err="1"/>
              <a:t>Veitch-Karnaugh</a:t>
            </a:r>
            <a:r>
              <a:rPr lang="it-IT" dirty="0"/>
              <a:t> (limitate a sei variabili).</a:t>
            </a:r>
          </a:p>
          <a:p>
            <a:pPr marL="914400" lvl="2" indent="0">
              <a:buNone/>
            </a:pPr>
            <a:r>
              <a:rPr lang="it-IT" dirty="0"/>
              <a:t>Con Mappe di Reed-Müller (con utilizzo dell’operatore XOR).</a:t>
            </a:r>
          </a:p>
          <a:p>
            <a:pPr lvl="1">
              <a:buFont typeface="Tw Cen MT" panose="020B0602020104020603" pitchFamily="34" charset="0"/>
              <a:buChar char="–"/>
            </a:pPr>
            <a:r>
              <a:rPr lang="it-IT" dirty="0"/>
              <a:t>Minimizzazione automatica (con computer)</a:t>
            </a:r>
          </a:p>
          <a:p>
            <a:pPr marL="914400" lvl="2" indent="0">
              <a:buNone/>
            </a:pPr>
            <a:r>
              <a:rPr lang="it-IT" dirty="0"/>
              <a:t>Con il metodo tabellare Quine-</a:t>
            </a:r>
            <a:r>
              <a:rPr lang="it-IT" dirty="0" err="1"/>
              <a:t>McCluskey</a:t>
            </a:r>
            <a:r>
              <a:rPr lang="it-IT" dirty="0"/>
              <a:t> (proibitivo con alto numero di variabili).</a:t>
            </a:r>
          </a:p>
          <a:p>
            <a:pPr marL="914400" lvl="2" indent="0">
              <a:buNone/>
            </a:pPr>
            <a:r>
              <a:rPr lang="it-IT" dirty="0"/>
              <a:t>Con il minimizzatore euristico </a:t>
            </a:r>
            <a:r>
              <a:rPr lang="it-IT" i="1" dirty="0"/>
              <a:t>Espresso</a:t>
            </a:r>
            <a:r>
              <a:rPr lang="it-IT" dirty="0"/>
              <a:t> o strumenti simili.</a:t>
            </a:r>
          </a:p>
          <a:p>
            <a:endParaRPr lang="it-IT" dirty="0"/>
          </a:p>
        </p:txBody>
      </p:sp>
    </p:spTree>
    <p:extLst>
      <p:ext uri="{BB962C8B-B14F-4D97-AF65-F5344CB8AC3E}">
        <p14:creationId xmlns:p14="http://schemas.microsoft.com/office/powerpoint/2010/main" val="3787382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6A9AF0-DBC5-C9EC-E4A1-9C6E95EA80CD}"/>
              </a:ext>
            </a:extLst>
          </p:cNvPr>
          <p:cNvSpPr>
            <a:spLocks noGrp="1"/>
          </p:cNvSpPr>
          <p:nvPr>
            <p:ph type="title"/>
          </p:nvPr>
        </p:nvSpPr>
        <p:spPr/>
        <p:txBody>
          <a:bodyPr/>
          <a:lstStyle/>
          <a:p>
            <a:r>
              <a:rPr lang="it-IT" dirty="0"/>
              <a:t>Dalle equazioni ai circuiti</a:t>
            </a:r>
            <a:br>
              <a:rPr lang="it-IT" dirty="0"/>
            </a:br>
            <a:endParaRPr lang="it-IT" dirty="0"/>
          </a:p>
        </p:txBody>
      </p:sp>
      <p:sp>
        <p:nvSpPr>
          <p:cNvPr id="3" name="Segnaposto contenuto 2">
            <a:extLst>
              <a:ext uri="{FF2B5EF4-FFF2-40B4-BE49-F238E27FC236}">
                <a16:creationId xmlns:a16="http://schemas.microsoft.com/office/drawing/2014/main" id="{1194126D-CFBB-5879-F508-1B0748C9F82C}"/>
              </a:ext>
            </a:extLst>
          </p:cNvPr>
          <p:cNvSpPr>
            <a:spLocks noGrp="1"/>
          </p:cNvSpPr>
          <p:nvPr>
            <p:ph idx="1"/>
          </p:nvPr>
        </p:nvSpPr>
        <p:spPr>
          <a:xfrm>
            <a:off x="1141413" y="2249487"/>
            <a:ext cx="5959102" cy="3541714"/>
          </a:xfrm>
        </p:spPr>
        <p:txBody>
          <a:bodyPr>
            <a:normAutofit fontScale="92500"/>
          </a:bodyPr>
          <a:lstStyle/>
          <a:p>
            <a:pPr marL="0" indent="0">
              <a:buNone/>
            </a:pPr>
            <a:r>
              <a:rPr lang="it-IT" dirty="0"/>
              <a:t>Le espressioni sono manipolate al fine di sfruttare blocchi logici predefiniti, quali porte AND, OR, NOT, le porte dotate di intrinseca completezza funzionale qual NAND, NOR, XOR o funzioni più complesse come DECODER, MUX, DEMUX, HALF-ADDER, FULL-ADDER, e altre ancora. Suddette funzioni sono incorporate in chip a bassa densità (SSI) e conosciute come «logica discreta». </a:t>
            </a:r>
          </a:p>
        </p:txBody>
      </p:sp>
      <p:pic>
        <p:nvPicPr>
          <p:cNvPr id="9" name="Elemento grafico 8">
            <a:extLst>
              <a:ext uri="{FF2B5EF4-FFF2-40B4-BE49-F238E27FC236}">
                <a16:creationId xmlns:a16="http://schemas.microsoft.com/office/drawing/2014/main" id="{99CACFFF-2988-9C97-8885-D8D1B088C0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48149" y="2011913"/>
            <a:ext cx="3979091" cy="3455888"/>
          </a:xfrm>
          <a:prstGeom prst="rect">
            <a:avLst/>
          </a:prstGeom>
        </p:spPr>
      </p:pic>
    </p:spTree>
    <p:extLst>
      <p:ext uri="{BB962C8B-B14F-4D97-AF65-F5344CB8AC3E}">
        <p14:creationId xmlns:p14="http://schemas.microsoft.com/office/powerpoint/2010/main" val="1470728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A17D36-8643-62CC-38E7-5A94F636C206}"/>
              </a:ext>
            </a:extLst>
          </p:cNvPr>
          <p:cNvSpPr>
            <a:spLocks noGrp="1"/>
          </p:cNvSpPr>
          <p:nvPr>
            <p:ph type="title"/>
          </p:nvPr>
        </p:nvSpPr>
        <p:spPr>
          <a:xfrm>
            <a:off x="1141413" y="618518"/>
            <a:ext cx="9905998" cy="1031173"/>
          </a:xfrm>
        </p:spPr>
        <p:txBody>
          <a:bodyPr/>
          <a:lstStyle/>
          <a:p>
            <a:r>
              <a:rPr lang="it-IT" dirty="0"/>
              <a:t>CATEGORIE DI LOGICHE COMBINATORIE</a:t>
            </a:r>
          </a:p>
        </p:txBody>
      </p:sp>
      <p:sp>
        <p:nvSpPr>
          <p:cNvPr id="3" name="Segnaposto contenuto 2">
            <a:extLst>
              <a:ext uri="{FF2B5EF4-FFF2-40B4-BE49-F238E27FC236}">
                <a16:creationId xmlns:a16="http://schemas.microsoft.com/office/drawing/2014/main" id="{74CE0C05-CEDB-6415-6B3D-87BB455881BD}"/>
              </a:ext>
            </a:extLst>
          </p:cNvPr>
          <p:cNvSpPr>
            <a:spLocks noGrp="1"/>
          </p:cNvSpPr>
          <p:nvPr>
            <p:ph idx="1"/>
          </p:nvPr>
        </p:nvSpPr>
        <p:spPr>
          <a:xfrm>
            <a:off x="1141412" y="1616226"/>
            <a:ext cx="10001070" cy="5095470"/>
          </a:xfrm>
        </p:spPr>
        <p:txBody>
          <a:bodyPr>
            <a:normAutofit fontScale="85000" lnSpcReduction="20000"/>
          </a:bodyPr>
          <a:lstStyle/>
          <a:p>
            <a:r>
              <a:rPr lang="it-IT" b="1" dirty="0"/>
              <a:t>Rete logica combinatoria in forma canonica (o normale) </a:t>
            </a:r>
            <a:br>
              <a:rPr lang="it-IT" dirty="0"/>
            </a:br>
            <a:r>
              <a:rPr lang="it-IT" dirty="0"/>
              <a:t>Prevede due forme:</a:t>
            </a:r>
          </a:p>
          <a:p>
            <a:pPr marL="457200" lvl="1" indent="0">
              <a:buNone/>
            </a:pPr>
            <a:r>
              <a:rPr lang="it-IT" dirty="0"/>
              <a:t>- Forma normale disgiuntiva (somma di prodotti, o SP)</a:t>
            </a:r>
          </a:p>
          <a:p>
            <a:pPr marL="457200" lvl="1" indent="0">
              <a:buNone/>
            </a:pPr>
            <a:r>
              <a:rPr lang="it-IT" dirty="0"/>
              <a:t>- Forma normale congiuntiva (prodotti di somme, o PS)</a:t>
            </a:r>
            <a:br>
              <a:rPr lang="it-IT" dirty="0"/>
            </a:br>
            <a:br>
              <a:rPr lang="it-IT" sz="1800" dirty="0"/>
            </a:br>
            <a:r>
              <a:rPr lang="it-IT" sz="1800" dirty="0"/>
              <a:t>NB: per «prodotto» si intende la congiunzione (AND) e per «somma» la disgiunzione (OR)</a:t>
            </a:r>
          </a:p>
          <a:p>
            <a:pPr>
              <a:buFont typeface="Tw Cen MT" panose="020B0602020104020603" pitchFamily="34" charset="0"/>
              <a:buChar char=" "/>
            </a:pPr>
            <a:r>
              <a:rPr lang="it-IT" dirty="0"/>
              <a:t>Una rete in forma canonica è caratterizzata da due livelli di logica (i NOT non si contano): si intende dire che un segnale in ingresso attraversa due operatori prima di raggiungere l’uscita. </a:t>
            </a:r>
          </a:p>
          <a:p>
            <a:r>
              <a:rPr lang="it-IT" b="1" dirty="0"/>
              <a:t>Rete logica combinatoria multilivello</a:t>
            </a:r>
            <a:br>
              <a:rPr lang="it-IT" dirty="0"/>
            </a:br>
            <a:r>
              <a:rPr lang="it-IT" dirty="0"/>
              <a:t>Si tratta di una rete che vede almeno un segnale di ingresso attraversare più di due operatori prima di raggiungere l’uscita. È una forma generalmente più compatta della precedente, ma solitamente esibisce tempi di propagazione maggiori. Con questa categoria di reti è anche possibile realizzare circuiti basati su un solo tipo di operatore, purché questi sia dotato di completezza funzionale (vale a dire che l’operatore prevede la negazione di almeno una variabile); esempi di tali operatori sono: NAND, NOR e XOR.</a:t>
            </a:r>
          </a:p>
        </p:txBody>
      </p:sp>
      <p:sp>
        <p:nvSpPr>
          <p:cNvPr id="4" name="Ovale 3">
            <a:extLst>
              <a:ext uri="{FF2B5EF4-FFF2-40B4-BE49-F238E27FC236}">
                <a16:creationId xmlns:a16="http://schemas.microsoft.com/office/drawing/2014/main" id="{FC789516-4FF5-20CA-84EE-583C98FEFC56}"/>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2724306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CF58CA-1342-2C55-F125-847E3FE83C40}"/>
              </a:ext>
            </a:extLst>
          </p:cNvPr>
          <p:cNvSpPr>
            <a:spLocks noGrp="1"/>
          </p:cNvSpPr>
          <p:nvPr>
            <p:ph type="title"/>
          </p:nvPr>
        </p:nvSpPr>
        <p:spPr>
          <a:xfrm>
            <a:off x="1141412" y="618518"/>
            <a:ext cx="10221001" cy="1478570"/>
          </a:xfrm>
        </p:spPr>
        <p:txBody>
          <a:bodyPr/>
          <a:lstStyle/>
          <a:p>
            <a:r>
              <a:rPr lang="it-IT" dirty="0"/>
              <a:t>RETI LOGICHE COMBINATORIE (FORME canoniche)</a:t>
            </a:r>
          </a:p>
        </p:txBody>
      </p:sp>
      <p:sp>
        <p:nvSpPr>
          <p:cNvPr id="3" name="Segnaposto contenuto 2">
            <a:extLst>
              <a:ext uri="{FF2B5EF4-FFF2-40B4-BE49-F238E27FC236}">
                <a16:creationId xmlns:a16="http://schemas.microsoft.com/office/drawing/2014/main" id="{3E6B0A45-4DDC-18C7-8A30-181D572B645F}"/>
              </a:ext>
            </a:extLst>
          </p:cNvPr>
          <p:cNvSpPr>
            <a:spLocks noGrp="1"/>
          </p:cNvSpPr>
          <p:nvPr>
            <p:ph idx="1"/>
          </p:nvPr>
        </p:nvSpPr>
        <p:spPr>
          <a:xfrm>
            <a:off x="1141412" y="2249486"/>
            <a:ext cx="9433823" cy="3989995"/>
          </a:xfrm>
        </p:spPr>
        <p:txBody>
          <a:bodyPr>
            <a:normAutofit lnSpcReduction="10000"/>
          </a:bodyPr>
          <a:lstStyle/>
          <a:p>
            <a:r>
              <a:rPr lang="it-IT" dirty="0"/>
              <a:t>Sono reti costituite da due livelli di logica. </a:t>
            </a:r>
          </a:p>
          <a:p>
            <a:r>
              <a:rPr lang="it-IT" dirty="0"/>
              <a:t>Definiscono la funzione unendo le intersezioni </a:t>
            </a:r>
            <a:br>
              <a:rPr lang="it-IT" dirty="0"/>
            </a:br>
            <a:r>
              <a:rPr lang="it-IT" dirty="0"/>
              <a:t>di più segnali o negazione di essi (somme </a:t>
            </a:r>
            <a:br>
              <a:rPr lang="it-IT" dirty="0"/>
            </a:br>
            <a:r>
              <a:rPr lang="it-IT" dirty="0"/>
              <a:t>di prodotti o somme di </a:t>
            </a:r>
            <a:r>
              <a:rPr lang="it-IT" dirty="0" err="1"/>
              <a:t>minterm</a:t>
            </a:r>
            <a:r>
              <a:rPr lang="it-IT" dirty="0"/>
              <a:t>) o intersecando </a:t>
            </a:r>
            <a:br>
              <a:rPr lang="it-IT" dirty="0"/>
            </a:br>
            <a:r>
              <a:rPr lang="it-IT" dirty="0"/>
              <a:t>le unioni di più segnali o negazione di essi </a:t>
            </a:r>
            <a:br>
              <a:rPr lang="it-IT" dirty="0"/>
            </a:br>
            <a:r>
              <a:rPr lang="it-IT" dirty="0"/>
              <a:t>(prodotti di somme o prodotti di </a:t>
            </a:r>
            <a:r>
              <a:rPr lang="it-IT" dirty="0" err="1"/>
              <a:t>maxterm</a:t>
            </a:r>
            <a:r>
              <a:rPr lang="it-IT" dirty="0"/>
              <a:t>). </a:t>
            </a:r>
          </a:p>
          <a:p>
            <a:r>
              <a:rPr lang="it-IT" dirty="0"/>
              <a:t>I Prodotti </a:t>
            </a:r>
            <a:r>
              <a:rPr lang="it-IT" dirty="0" err="1"/>
              <a:t>P</a:t>
            </a:r>
            <a:r>
              <a:rPr lang="it-IT" baseline="-25000" dirty="0" err="1"/>
              <a:t>n</a:t>
            </a:r>
            <a:r>
              <a:rPr lang="it-IT" dirty="0"/>
              <a:t> (</a:t>
            </a:r>
            <a:r>
              <a:rPr lang="it-IT" dirty="0" err="1"/>
              <a:t>minterm</a:t>
            </a:r>
            <a:r>
              <a:rPr lang="it-IT" dirty="0"/>
              <a:t>) identificano le combinazioni di ingresso (i termini T</a:t>
            </a:r>
            <a:r>
              <a:rPr lang="it-IT" baseline="-25000" dirty="0"/>
              <a:t>n</a:t>
            </a:r>
            <a:r>
              <a:rPr lang="it-IT" dirty="0"/>
              <a:t>) quando la funzione vale 1. Le Somme S</a:t>
            </a:r>
            <a:r>
              <a:rPr lang="it-IT" baseline="-25000" dirty="0"/>
              <a:t>n</a:t>
            </a:r>
            <a:r>
              <a:rPr lang="it-IT" dirty="0"/>
              <a:t> (</a:t>
            </a:r>
            <a:r>
              <a:rPr lang="it-IT" dirty="0" err="1"/>
              <a:t>maxterm</a:t>
            </a:r>
            <a:r>
              <a:rPr lang="it-IT" dirty="0"/>
              <a:t>) identificano i termini per i quali la funzione vale 0.</a:t>
            </a:r>
          </a:p>
          <a:p>
            <a:pPr marL="0" indent="0">
              <a:buNone/>
            </a:pPr>
            <a:endParaRPr lang="it-IT" dirty="0"/>
          </a:p>
        </p:txBody>
      </p:sp>
      <p:pic>
        <p:nvPicPr>
          <p:cNvPr id="8" name="Elemento grafico 7">
            <a:extLst>
              <a:ext uri="{FF2B5EF4-FFF2-40B4-BE49-F238E27FC236}">
                <a16:creationId xmlns:a16="http://schemas.microsoft.com/office/drawing/2014/main" id="{815CD84F-CC34-10CB-7DB9-0DFC82CBF8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02664" y="2448411"/>
            <a:ext cx="4150580" cy="2019201"/>
          </a:xfrm>
          <a:prstGeom prst="rect">
            <a:avLst/>
          </a:prstGeom>
        </p:spPr>
      </p:pic>
      <p:sp>
        <p:nvSpPr>
          <p:cNvPr id="4" name="Rettangolo 3">
            <a:extLst>
              <a:ext uri="{FF2B5EF4-FFF2-40B4-BE49-F238E27FC236}">
                <a16:creationId xmlns:a16="http://schemas.microsoft.com/office/drawing/2014/main" id="{308D94B5-70DD-5336-8930-6D28140CE40E}"/>
              </a:ext>
            </a:extLst>
          </p:cNvPr>
          <p:cNvSpPr/>
          <p:nvPr/>
        </p:nvSpPr>
        <p:spPr>
          <a:xfrm>
            <a:off x="7720717" y="2424560"/>
            <a:ext cx="1311965" cy="204305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2FBA3958-C45D-1FE4-4F86-489D8E9F8845}"/>
                  </a:ext>
                </a:extLst>
              </p:cNvPr>
              <p:cNvSpPr txBox="1"/>
              <p:nvPr/>
            </p:nvSpPr>
            <p:spPr>
              <a:xfrm>
                <a:off x="8142135" y="1676735"/>
                <a:ext cx="11400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it-IT" b="1" i="1" smtClean="0">
                          <a:solidFill>
                            <a:srgbClr val="FF0000"/>
                          </a:solidFill>
                          <a:latin typeface="Cambria Math" panose="02040503050406030204" pitchFamily="18" charset="0"/>
                        </a:rPr>
                        <m:t>𝒇</m:t>
                      </m:r>
                      <m:r>
                        <a:rPr lang="it-IT" b="1" i="1" smtClean="0">
                          <a:solidFill>
                            <a:srgbClr val="FF0000"/>
                          </a:solidFill>
                          <a:latin typeface="Cambria Math" panose="02040503050406030204" pitchFamily="18" charset="0"/>
                        </a:rPr>
                        <m:t>(</m:t>
                      </m:r>
                      <m:r>
                        <a:rPr lang="it-IT" b="1" i="1" smtClean="0">
                          <a:solidFill>
                            <a:srgbClr val="FF0000"/>
                          </a:solidFill>
                          <a:latin typeface="Cambria Math" panose="02040503050406030204" pitchFamily="18" charset="0"/>
                        </a:rPr>
                        <m:t>𝒂</m:t>
                      </m:r>
                      <m:r>
                        <a:rPr lang="it-IT" b="1" i="1" smtClean="0">
                          <a:solidFill>
                            <a:srgbClr val="FF0000"/>
                          </a:solidFill>
                          <a:latin typeface="Cambria Math" panose="02040503050406030204" pitchFamily="18" charset="0"/>
                        </a:rPr>
                        <m:t>,</m:t>
                      </m:r>
                      <m:r>
                        <a:rPr lang="it-IT" b="1" i="1" smtClean="0">
                          <a:solidFill>
                            <a:srgbClr val="FF0000"/>
                          </a:solidFill>
                          <a:latin typeface="Cambria Math" panose="02040503050406030204" pitchFamily="18" charset="0"/>
                        </a:rPr>
                        <m:t>𝒃</m:t>
                      </m:r>
                      <m:r>
                        <a:rPr lang="it-IT" b="1" i="1" smtClean="0">
                          <a:solidFill>
                            <a:srgbClr val="FF0000"/>
                          </a:solidFill>
                          <a:latin typeface="Cambria Math" panose="02040503050406030204" pitchFamily="18" charset="0"/>
                        </a:rPr>
                        <m:t>,</m:t>
                      </m:r>
                      <m:r>
                        <a:rPr lang="it-IT" b="1" i="1" smtClean="0">
                          <a:solidFill>
                            <a:srgbClr val="FF0000"/>
                          </a:solidFill>
                          <a:latin typeface="Cambria Math" panose="02040503050406030204" pitchFamily="18" charset="0"/>
                        </a:rPr>
                        <m:t>𝒄</m:t>
                      </m:r>
                      <m:r>
                        <a:rPr lang="it-IT" b="1" i="1" smtClean="0">
                          <a:solidFill>
                            <a:srgbClr val="FF0000"/>
                          </a:solidFill>
                          <a:latin typeface="Cambria Math" panose="02040503050406030204" pitchFamily="18" charset="0"/>
                        </a:rPr>
                        <m:t>)</m:t>
                      </m:r>
                    </m:oMath>
                  </m:oMathPara>
                </a14:m>
                <a:endParaRPr lang="it-IT" b="1" dirty="0">
                  <a:solidFill>
                    <a:srgbClr val="FF0000"/>
                  </a:solidFill>
                </a:endParaRPr>
              </a:p>
            </p:txBody>
          </p:sp>
        </mc:Choice>
        <mc:Fallback xmlns="">
          <p:sp>
            <p:nvSpPr>
              <p:cNvPr id="9" name="CasellaDiTesto 8">
                <a:extLst>
                  <a:ext uri="{FF2B5EF4-FFF2-40B4-BE49-F238E27FC236}">
                    <a16:creationId xmlns:a16="http://schemas.microsoft.com/office/drawing/2014/main" id="{2FBA3958-C45D-1FE4-4F86-489D8E9F8845}"/>
                  </a:ext>
                </a:extLst>
              </p:cNvPr>
              <p:cNvSpPr txBox="1">
                <a:spLocks noRot="1" noChangeAspect="1" noMove="1" noResize="1" noEditPoints="1" noAdjustHandles="1" noChangeArrowheads="1" noChangeShapeType="1" noTextEdit="1"/>
              </p:cNvSpPr>
              <p:nvPr/>
            </p:nvSpPr>
            <p:spPr>
              <a:xfrm>
                <a:off x="8142135" y="1676735"/>
                <a:ext cx="1140056" cy="369332"/>
              </a:xfrm>
              <a:prstGeom prst="rect">
                <a:avLst/>
              </a:prstGeom>
              <a:blipFill>
                <a:blip r:embed="rId4"/>
                <a:stretch>
                  <a:fillRect b="-13115"/>
                </a:stretch>
              </a:blipFill>
            </p:spPr>
            <p:txBody>
              <a:bodyPr/>
              <a:lstStyle/>
              <a:p>
                <a:r>
                  <a:rPr lang="it-IT">
                    <a:noFill/>
                  </a:rPr>
                  <a:t> </a:t>
                </a:r>
              </a:p>
            </p:txBody>
          </p:sp>
        </mc:Fallback>
      </mc:AlternateContent>
      <p:cxnSp>
        <p:nvCxnSpPr>
          <p:cNvPr id="11" name="Connettore 2 10">
            <a:extLst>
              <a:ext uri="{FF2B5EF4-FFF2-40B4-BE49-F238E27FC236}">
                <a16:creationId xmlns:a16="http://schemas.microsoft.com/office/drawing/2014/main" id="{37FB5029-B26E-9455-ECF0-9D0724259BDC}"/>
              </a:ext>
            </a:extLst>
          </p:cNvPr>
          <p:cNvCxnSpPr>
            <a:cxnSpLocks/>
          </p:cNvCxnSpPr>
          <p:nvPr/>
        </p:nvCxnSpPr>
        <p:spPr>
          <a:xfrm>
            <a:off x="8712163" y="1990412"/>
            <a:ext cx="0" cy="4102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Ovale 4">
            <a:extLst>
              <a:ext uri="{FF2B5EF4-FFF2-40B4-BE49-F238E27FC236}">
                <a16:creationId xmlns:a16="http://schemas.microsoft.com/office/drawing/2014/main" id="{34F0E616-56AB-50C8-8FBB-4842351224D4}"/>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2300868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E36ED7-57A1-6CE0-32E4-D18349A653BD}"/>
              </a:ext>
            </a:extLst>
          </p:cNvPr>
          <p:cNvSpPr>
            <a:spLocks noGrp="1"/>
          </p:cNvSpPr>
          <p:nvPr>
            <p:ph type="title"/>
          </p:nvPr>
        </p:nvSpPr>
        <p:spPr/>
        <p:txBody>
          <a:bodyPr/>
          <a:lstStyle/>
          <a:p>
            <a:r>
              <a:rPr lang="it-IT" dirty="0"/>
              <a:t>ESEMPIO DI PROGETTO </a:t>
            </a:r>
          </a:p>
        </p:txBody>
      </p:sp>
      <p:sp>
        <p:nvSpPr>
          <p:cNvPr id="3" name="Segnaposto contenuto 2">
            <a:extLst>
              <a:ext uri="{FF2B5EF4-FFF2-40B4-BE49-F238E27FC236}">
                <a16:creationId xmlns:a16="http://schemas.microsoft.com/office/drawing/2014/main" id="{12B6C4FD-7E03-C879-B6F6-16E937EB9AC4}"/>
              </a:ext>
            </a:extLst>
          </p:cNvPr>
          <p:cNvSpPr>
            <a:spLocks noGrp="1"/>
          </p:cNvSpPr>
          <p:nvPr>
            <p:ph idx="1"/>
          </p:nvPr>
        </p:nvSpPr>
        <p:spPr>
          <a:xfrm>
            <a:off x="1141413" y="2011680"/>
            <a:ext cx="6642914" cy="4484544"/>
          </a:xfrm>
        </p:spPr>
        <p:txBody>
          <a:bodyPr>
            <a:normAutofit fontScale="77500" lnSpcReduction="20000"/>
          </a:bodyPr>
          <a:lstStyle/>
          <a:p>
            <a:r>
              <a:rPr lang="it-IT" dirty="0"/>
              <a:t>La funzione z descritta dalla tabella a lato, può essere scritta sotto forma di espressione booleana usando una delle due forme canoniche. In questo esempio è stata usata la forma SP (Somma di Prodotti). </a:t>
            </a:r>
          </a:p>
          <a:p>
            <a:r>
              <a:rPr lang="it-IT" dirty="0"/>
              <a:t>Dalla descrizione tabellare di ‘z’ si selezionano i termini dove la funzione vale 1 (i soli </a:t>
            </a:r>
            <a:r>
              <a:rPr lang="it-IT" dirty="0" err="1"/>
              <a:t>minterm</a:t>
            </a:r>
            <a:r>
              <a:rPr lang="it-IT" dirty="0"/>
              <a:t>); nel predicato z = f( a, b, c ) si riportano i termini relativi ai prodotti P</a:t>
            </a:r>
            <a:r>
              <a:rPr lang="it-IT" baseline="-25000" dirty="0"/>
              <a:t>0</a:t>
            </a:r>
            <a:r>
              <a:rPr lang="it-IT" dirty="0"/>
              <a:t>, P</a:t>
            </a:r>
            <a:r>
              <a:rPr lang="it-IT" baseline="-25000" dirty="0"/>
              <a:t>3</a:t>
            </a:r>
            <a:r>
              <a:rPr lang="it-IT" dirty="0"/>
              <a:t>, P</a:t>
            </a:r>
            <a:r>
              <a:rPr lang="it-IT" baseline="-25000" dirty="0"/>
              <a:t>6</a:t>
            </a:r>
            <a:r>
              <a:rPr lang="it-IT" dirty="0"/>
              <a:t> e P</a:t>
            </a:r>
            <a:r>
              <a:rPr lang="it-IT" baseline="-25000" dirty="0"/>
              <a:t>7</a:t>
            </a:r>
            <a:r>
              <a:rPr lang="it-IT" dirty="0"/>
              <a:t> avendo cura di negare gli argomenti (a, b oppure c) che per un dato prodotto </a:t>
            </a:r>
            <a:r>
              <a:rPr lang="it-IT" dirty="0" err="1"/>
              <a:t>P</a:t>
            </a:r>
            <a:r>
              <a:rPr lang="it-IT" baseline="-25000" dirty="0" err="1"/>
              <a:t>n</a:t>
            </a:r>
            <a:r>
              <a:rPr lang="it-IT" dirty="0"/>
              <a:t> riportano zero.</a:t>
            </a:r>
          </a:p>
          <a:p>
            <a:r>
              <a:rPr lang="it-IT" dirty="0"/>
              <a:t>Applicando le proprietà dell’algebra viste prima, è possibile ottenere una forma ridotta oppure alternativa dell’espressione originale (si noti che l’ultima versione della funzione z nel riquadro in basso a destra non è in forma canonica, cioè  vedremo poi che rappresenta una logica con più di due livelli).</a:t>
            </a:r>
          </a:p>
        </p:txBody>
      </p:sp>
      <p:pic>
        <p:nvPicPr>
          <p:cNvPr id="8" name="Elemento grafico 7">
            <a:extLst>
              <a:ext uri="{FF2B5EF4-FFF2-40B4-BE49-F238E27FC236}">
                <a16:creationId xmlns:a16="http://schemas.microsoft.com/office/drawing/2014/main" id="{F5A33B99-3F3A-0FC5-41B1-1B35C1418B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47935" y="3051385"/>
            <a:ext cx="3554237" cy="3188097"/>
          </a:xfrm>
          <a:prstGeom prst="rect">
            <a:avLst/>
          </a:prstGeom>
        </p:spPr>
      </p:pic>
      <p:pic>
        <p:nvPicPr>
          <p:cNvPr id="9" name="Elemento grafico 8">
            <a:extLst>
              <a:ext uri="{FF2B5EF4-FFF2-40B4-BE49-F238E27FC236}">
                <a16:creationId xmlns:a16="http://schemas.microsoft.com/office/drawing/2014/main" id="{5CC0866D-1817-8DF8-215D-4E25B83813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47935" y="1147136"/>
            <a:ext cx="3554236" cy="1729088"/>
          </a:xfrm>
          <a:prstGeom prst="rect">
            <a:avLst/>
          </a:prstGeom>
        </p:spPr>
      </p:pic>
    </p:spTree>
    <p:extLst>
      <p:ext uri="{BB962C8B-B14F-4D97-AF65-F5344CB8AC3E}">
        <p14:creationId xmlns:p14="http://schemas.microsoft.com/office/powerpoint/2010/main" val="3271856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5E3003-1AE5-EF35-80F9-3A09838B0BA3}"/>
              </a:ext>
            </a:extLst>
          </p:cNvPr>
          <p:cNvSpPr>
            <a:spLocks noGrp="1"/>
          </p:cNvSpPr>
          <p:nvPr>
            <p:ph type="title"/>
          </p:nvPr>
        </p:nvSpPr>
        <p:spPr/>
        <p:txBody>
          <a:bodyPr/>
          <a:lstStyle/>
          <a:p>
            <a:r>
              <a:rPr lang="it-IT" dirty="0"/>
              <a:t>Implementazione con porte logiche</a:t>
            </a:r>
          </a:p>
        </p:txBody>
      </p:sp>
      <p:sp>
        <p:nvSpPr>
          <p:cNvPr id="12" name="Segnaposto contenuto 2">
            <a:extLst>
              <a:ext uri="{FF2B5EF4-FFF2-40B4-BE49-F238E27FC236}">
                <a16:creationId xmlns:a16="http://schemas.microsoft.com/office/drawing/2014/main" id="{FBE80DC5-BD07-77B1-1901-934FF841C5FC}"/>
              </a:ext>
            </a:extLst>
          </p:cNvPr>
          <p:cNvSpPr txBox="1">
            <a:spLocks/>
          </p:cNvSpPr>
          <p:nvPr/>
        </p:nvSpPr>
        <p:spPr>
          <a:xfrm>
            <a:off x="1141413" y="2249486"/>
            <a:ext cx="5744418" cy="4127459"/>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it-IT" dirty="0"/>
              <a:t>È possibile realizzare una versione </a:t>
            </a:r>
            <a:r>
              <a:rPr lang="it-IT" u="sng" dirty="0"/>
              <a:t>non minimizzata</a:t>
            </a:r>
            <a:r>
              <a:rPr lang="it-IT" dirty="0"/>
              <a:t> e in forma canonica SP della funzione </a:t>
            </a:r>
            <a:r>
              <a:rPr lang="it-IT" i="1" dirty="0"/>
              <a:t>z</a:t>
            </a:r>
            <a:r>
              <a:rPr lang="it-IT" dirty="0"/>
              <a:t> usando soltanto porte logiche corrispondenti agli operatori di negazione, intersezione ed unione.</a:t>
            </a:r>
          </a:p>
          <a:p>
            <a:r>
              <a:rPr lang="it-IT" dirty="0"/>
              <a:t>Si noti che alcuni termini che vanno alle porte AND tutte a tre ingressi, attraversano un operatore di negazione (costituito da un cerchietto vuoto).</a:t>
            </a:r>
          </a:p>
          <a:p>
            <a:r>
              <a:rPr lang="it-IT" dirty="0"/>
              <a:t>Le forme canoniche sono ideali per realizzare circuiti logici affidabili e si adattano naturalmente alle strutture dei dispositivi logici programmabili più semplici, ammettendo una mappatura tecnologica diretta.</a:t>
            </a:r>
          </a:p>
        </p:txBody>
      </p:sp>
      <p:pic>
        <p:nvPicPr>
          <p:cNvPr id="4" name="Elemento grafico 3">
            <a:extLst>
              <a:ext uri="{FF2B5EF4-FFF2-40B4-BE49-F238E27FC236}">
                <a16:creationId xmlns:a16="http://schemas.microsoft.com/office/drawing/2014/main" id="{12E588D7-75EE-5459-7228-4EF2459DDE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50710" y="2385388"/>
            <a:ext cx="4248271" cy="3379307"/>
          </a:xfrm>
          <a:prstGeom prst="rect">
            <a:avLst/>
          </a:prstGeom>
        </p:spPr>
      </p:pic>
    </p:spTree>
    <p:extLst>
      <p:ext uri="{BB962C8B-B14F-4D97-AF65-F5344CB8AC3E}">
        <p14:creationId xmlns:p14="http://schemas.microsoft.com/office/powerpoint/2010/main" val="2938528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E36ED7-57A1-6CE0-32E4-D18349A653BD}"/>
              </a:ext>
            </a:extLst>
          </p:cNvPr>
          <p:cNvSpPr>
            <a:spLocks noGrp="1"/>
          </p:cNvSpPr>
          <p:nvPr>
            <p:ph type="title"/>
          </p:nvPr>
        </p:nvSpPr>
        <p:spPr/>
        <p:txBody>
          <a:bodyPr/>
          <a:lstStyle/>
          <a:p>
            <a:r>
              <a:rPr lang="it-IT" dirty="0"/>
              <a:t>MINIMIZZAZIONE CON metodo GRAFICO (1)</a:t>
            </a:r>
          </a:p>
        </p:txBody>
      </p:sp>
      <p:sp>
        <p:nvSpPr>
          <p:cNvPr id="3" name="Segnaposto contenuto 2">
            <a:extLst>
              <a:ext uri="{FF2B5EF4-FFF2-40B4-BE49-F238E27FC236}">
                <a16:creationId xmlns:a16="http://schemas.microsoft.com/office/drawing/2014/main" id="{12B6C4FD-7E03-C879-B6F6-16E937EB9AC4}"/>
              </a:ext>
            </a:extLst>
          </p:cNvPr>
          <p:cNvSpPr>
            <a:spLocks noGrp="1"/>
          </p:cNvSpPr>
          <p:nvPr>
            <p:ph idx="1"/>
          </p:nvPr>
        </p:nvSpPr>
        <p:spPr>
          <a:xfrm>
            <a:off x="1141413" y="1691640"/>
            <a:ext cx="6960171" cy="4809744"/>
          </a:xfrm>
        </p:spPr>
        <p:txBody>
          <a:bodyPr>
            <a:normAutofit fontScale="77500" lnSpcReduction="20000"/>
          </a:bodyPr>
          <a:lstStyle/>
          <a:p>
            <a:r>
              <a:rPr lang="it-IT" dirty="0"/>
              <a:t>Oltre alla manipolazione algebrica vista prima, un sistema alternativo per minimizzare una funzione prevede l’uso delle Mappe di </a:t>
            </a:r>
            <a:r>
              <a:rPr lang="it-IT" dirty="0" err="1"/>
              <a:t>Veitch-Karnaugh</a:t>
            </a:r>
            <a:r>
              <a:rPr lang="it-IT" dirty="0"/>
              <a:t>, conosciute principalmente come Mappe di </a:t>
            </a:r>
            <a:r>
              <a:rPr lang="it-IT" dirty="0" err="1"/>
              <a:t>Karnaugh</a:t>
            </a:r>
            <a:r>
              <a:rPr lang="it-IT" dirty="0"/>
              <a:t> o K-</a:t>
            </a:r>
            <a:r>
              <a:rPr lang="it-IT" dirty="0" err="1"/>
              <a:t>Map</a:t>
            </a:r>
            <a:r>
              <a:rPr lang="it-IT" dirty="0"/>
              <a:t>. Sfruttano le proprietà P</a:t>
            </a:r>
            <a:r>
              <a:rPr lang="it-IT" baseline="-25000" dirty="0"/>
              <a:t>9</a:t>
            </a:r>
            <a:r>
              <a:rPr lang="it-IT" dirty="0"/>
              <a:t> o P’</a:t>
            </a:r>
            <a:r>
              <a:rPr lang="it-IT" baseline="-25000" dirty="0"/>
              <a:t>9</a:t>
            </a:r>
            <a:r>
              <a:rPr lang="it-IT" dirty="0"/>
              <a:t> viste in precedenza, mettendo in evidenza la cosiddetta adiacenza logica di due o più </a:t>
            </a:r>
            <a:r>
              <a:rPr lang="it-IT" i="1" dirty="0" err="1"/>
              <a:t>minterm</a:t>
            </a:r>
            <a:r>
              <a:rPr lang="it-IT" dirty="0"/>
              <a:t> (SP) o di due o più </a:t>
            </a:r>
            <a:r>
              <a:rPr lang="it-IT" i="1" dirty="0" err="1"/>
              <a:t>maxterm</a:t>
            </a:r>
            <a:r>
              <a:rPr lang="it-IT" dirty="0"/>
              <a:t> (PS).</a:t>
            </a:r>
          </a:p>
          <a:p>
            <a:r>
              <a:rPr lang="it-IT" dirty="0"/>
              <a:t>Nel caso delle forme SP, nelle K-</a:t>
            </a:r>
            <a:r>
              <a:rPr lang="it-IT" dirty="0" err="1"/>
              <a:t>Map</a:t>
            </a:r>
            <a:r>
              <a:rPr lang="it-IT" dirty="0"/>
              <a:t> si cerca di raggruppare tutti i </a:t>
            </a:r>
            <a:r>
              <a:rPr lang="it-IT" i="1" dirty="0" err="1"/>
              <a:t>minterm</a:t>
            </a:r>
            <a:r>
              <a:rPr lang="it-IT" dirty="0"/>
              <a:t> che geometricamente possono rappresentare dei quadrati o dei rettangoli i cui lati hanno come altezza o larghezza un numero di caselle equivalente ad una potenza di due. Nel caso delle forme PS si raggruppano i </a:t>
            </a:r>
            <a:r>
              <a:rPr lang="it-IT" dirty="0" err="1"/>
              <a:t>maxterm</a:t>
            </a:r>
            <a:r>
              <a:rPr lang="it-IT" dirty="0"/>
              <a:t> allo stesso modo. Il raggruppamento di termini in aree regolari con le caratteristiche sopra citate prende il nome di «copertura». Più ampia è una copertura e minore sarà il numero di variabili coinvolte e quindi richiederà un operatore più «piccolo».</a:t>
            </a:r>
          </a:p>
        </p:txBody>
      </p:sp>
      <p:pic>
        <p:nvPicPr>
          <p:cNvPr id="7" name="Elemento grafico 6">
            <a:extLst>
              <a:ext uri="{FF2B5EF4-FFF2-40B4-BE49-F238E27FC236}">
                <a16:creationId xmlns:a16="http://schemas.microsoft.com/office/drawing/2014/main" id="{886C74CC-0DEE-C543-0DAC-0BFD6235CD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2481" y="1835762"/>
            <a:ext cx="3314680" cy="4662234"/>
          </a:xfrm>
          <a:prstGeom prst="rect">
            <a:avLst/>
          </a:prstGeom>
        </p:spPr>
      </p:pic>
    </p:spTree>
    <p:extLst>
      <p:ext uri="{BB962C8B-B14F-4D97-AF65-F5344CB8AC3E}">
        <p14:creationId xmlns:p14="http://schemas.microsoft.com/office/powerpoint/2010/main" val="4237257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E36ED7-57A1-6CE0-32E4-D18349A653BD}"/>
              </a:ext>
            </a:extLst>
          </p:cNvPr>
          <p:cNvSpPr>
            <a:spLocks noGrp="1"/>
          </p:cNvSpPr>
          <p:nvPr>
            <p:ph type="title"/>
          </p:nvPr>
        </p:nvSpPr>
        <p:spPr/>
        <p:txBody>
          <a:bodyPr/>
          <a:lstStyle/>
          <a:p>
            <a:r>
              <a:rPr lang="it-IT" dirty="0"/>
              <a:t>MINIMIZZAZIONE CON </a:t>
            </a:r>
            <a:r>
              <a:rPr lang="it-IT" dirty="0" err="1"/>
              <a:t>METODo</a:t>
            </a:r>
            <a:r>
              <a:rPr lang="it-IT" dirty="0"/>
              <a:t> GRAFICO (2)</a:t>
            </a:r>
          </a:p>
        </p:txBody>
      </p:sp>
      <p:sp>
        <p:nvSpPr>
          <p:cNvPr id="3" name="Segnaposto contenuto 2">
            <a:extLst>
              <a:ext uri="{FF2B5EF4-FFF2-40B4-BE49-F238E27FC236}">
                <a16:creationId xmlns:a16="http://schemas.microsoft.com/office/drawing/2014/main" id="{12B6C4FD-7E03-C879-B6F6-16E937EB9AC4}"/>
              </a:ext>
            </a:extLst>
          </p:cNvPr>
          <p:cNvSpPr>
            <a:spLocks noGrp="1"/>
          </p:cNvSpPr>
          <p:nvPr>
            <p:ph idx="1"/>
          </p:nvPr>
        </p:nvSpPr>
        <p:spPr>
          <a:xfrm>
            <a:off x="1141413" y="2249486"/>
            <a:ext cx="7088187" cy="3989995"/>
          </a:xfrm>
        </p:spPr>
        <p:txBody>
          <a:bodyPr>
            <a:normAutofit fontScale="85000" lnSpcReduction="20000"/>
          </a:bodyPr>
          <a:lstStyle/>
          <a:p>
            <a:r>
              <a:rPr lang="it-IT" dirty="0"/>
              <a:t>In alcuni casi le tabelle che rappresentano le funzioni possono essere </a:t>
            </a:r>
            <a:r>
              <a:rPr lang="it-IT" u="sng" dirty="0"/>
              <a:t>non completamente specificate</a:t>
            </a:r>
            <a:r>
              <a:rPr lang="it-IT" dirty="0"/>
              <a:t>. Vale a dire che per alcuni termini il risultato è ininfluente e può essere considerato sia zero che uno a seconda della convenienza. Nell’esempio a lato il termine T</a:t>
            </a:r>
            <a:r>
              <a:rPr lang="it-IT" baseline="-25000" dirty="0"/>
              <a:t>7</a:t>
            </a:r>
            <a:r>
              <a:rPr lang="it-IT" dirty="0"/>
              <a:t> è considerato come </a:t>
            </a:r>
            <a:r>
              <a:rPr lang="it-IT" i="1" dirty="0" err="1"/>
              <a:t>minterm</a:t>
            </a:r>
            <a:r>
              <a:rPr lang="it-IT" dirty="0"/>
              <a:t> (uno) in quanto permette di avere due coperture sovrapposte più ampie della singola casella. Vale a dire che per quelle coperture sono coinvolte solo due variabili invece di tre, permettendo di avere una funzione più «piccola» e quindi un circuito più semplice.</a:t>
            </a:r>
          </a:p>
          <a:p>
            <a:r>
              <a:rPr lang="it-IT" dirty="0"/>
              <a:t>Le K-</a:t>
            </a:r>
            <a:r>
              <a:rPr lang="it-IT" dirty="0" err="1"/>
              <a:t>Map</a:t>
            </a:r>
            <a:r>
              <a:rPr lang="it-IT" dirty="0"/>
              <a:t> sono utili per minimizzare funzioni </a:t>
            </a:r>
            <a:r>
              <a:rPr lang="it-IT" u="sng" dirty="0"/>
              <a:t>fino a sei variabili</a:t>
            </a:r>
            <a:r>
              <a:rPr lang="it-IT" dirty="0"/>
              <a:t>. Oltre le sei variabili l’adiacenza logica è difficilmente percepibile, per cui non è più conveniente usarle.</a:t>
            </a:r>
          </a:p>
          <a:p>
            <a:endParaRPr lang="it-IT" dirty="0"/>
          </a:p>
        </p:txBody>
      </p:sp>
      <p:pic>
        <p:nvPicPr>
          <p:cNvPr id="6" name="Elemento grafico 5">
            <a:extLst>
              <a:ext uri="{FF2B5EF4-FFF2-40B4-BE49-F238E27FC236}">
                <a16:creationId xmlns:a16="http://schemas.microsoft.com/office/drawing/2014/main" id="{7AD69267-EA58-429E-9384-0B5A90D0C5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2481" y="1835762"/>
            <a:ext cx="3314679" cy="4662235"/>
          </a:xfrm>
          <a:prstGeom prst="rect">
            <a:avLst/>
          </a:prstGeom>
        </p:spPr>
      </p:pic>
    </p:spTree>
    <p:extLst>
      <p:ext uri="{BB962C8B-B14F-4D97-AF65-F5344CB8AC3E}">
        <p14:creationId xmlns:p14="http://schemas.microsoft.com/office/powerpoint/2010/main" val="2215340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FEF903-721F-F32E-437D-8187C0A05CA1}"/>
              </a:ext>
            </a:extLst>
          </p:cNvPr>
          <p:cNvSpPr>
            <a:spLocks noGrp="1"/>
          </p:cNvSpPr>
          <p:nvPr>
            <p:ph type="title"/>
          </p:nvPr>
        </p:nvSpPr>
        <p:spPr/>
        <p:txBody>
          <a:bodyPr/>
          <a:lstStyle/>
          <a:p>
            <a:r>
              <a:rPr lang="it-IT" dirty="0"/>
              <a:t>Minimizzazione con il software ESPRESSO (1)</a:t>
            </a:r>
          </a:p>
        </p:txBody>
      </p:sp>
      <p:sp>
        <p:nvSpPr>
          <p:cNvPr id="3" name="Segnaposto contenuto 2">
            <a:extLst>
              <a:ext uri="{FF2B5EF4-FFF2-40B4-BE49-F238E27FC236}">
                <a16:creationId xmlns:a16="http://schemas.microsoft.com/office/drawing/2014/main" id="{79BF8866-5359-313B-C3D1-41F1B1F6AFE1}"/>
              </a:ext>
            </a:extLst>
          </p:cNvPr>
          <p:cNvSpPr>
            <a:spLocks noGrp="1"/>
          </p:cNvSpPr>
          <p:nvPr>
            <p:ph idx="1"/>
          </p:nvPr>
        </p:nvSpPr>
        <p:spPr>
          <a:xfrm>
            <a:off x="1141412" y="2249486"/>
            <a:ext cx="9905999" cy="3989995"/>
          </a:xfrm>
        </p:spPr>
        <p:txBody>
          <a:bodyPr>
            <a:normAutofit fontScale="85000" lnSpcReduction="10000"/>
          </a:bodyPr>
          <a:lstStyle/>
          <a:p>
            <a:r>
              <a:rPr lang="it-IT" dirty="0"/>
              <a:t>Il minimizzatore logico Espresso può essere considerato un ausilio alla sintesi manuale. </a:t>
            </a:r>
            <a:br>
              <a:rPr lang="it-IT" dirty="0"/>
            </a:br>
            <a:r>
              <a:rPr lang="it-IT" dirty="0"/>
              <a:t>È anche stato usato come minimizzatore all’interno di software CAE. È nato all’</a:t>
            </a:r>
            <a:r>
              <a:rPr lang="it-IT" b="0" i="0" dirty="0">
                <a:solidFill>
                  <a:srgbClr val="E6EDF3"/>
                </a:solidFill>
                <a:effectLst/>
                <a:latin typeface="-apple-system"/>
              </a:rPr>
              <a:t>Università di Berkeley in California </a:t>
            </a:r>
            <a:r>
              <a:rPr lang="it-IT" dirty="0"/>
              <a:t>come ausilio alla minimizzazioni di reti combinatorie con molte variabili d’ingresso.</a:t>
            </a:r>
          </a:p>
          <a:p>
            <a:r>
              <a:rPr lang="it-IT" dirty="0"/>
              <a:t>Espresso è un minimizzatore euristico che basa il processo di minimizzazione su alcune regole empiriche oltre a proprietà dell’algebra di Boole. Il risultato potrebbe essere sub-ottimale, comunque in grado di produrre in breve tempo risultati di eccellente qualità anche in caso di reti con un importante numero di variabili in ingresso.</a:t>
            </a:r>
          </a:p>
          <a:p>
            <a:r>
              <a:rPr lang="it-IT" dirty="0"/>
              <a:t>Il minimizzatore logico Espresso è largamente diffuso in rete e può essere trovato sia in codice sorgente che come </a:t>
            </a:r>
            <a:r>
              <a:rPr lang="it-IT" i="1" dirty="0"/>
              <a:t>build</a:t>
            </a:r>
            <a:r>
              <a:rPr lang="it-IT" dirty="0"/>
              <a:t> per diverse piattaforme (</a:t>
            </a:r>
            <a:r>
              <a:rPr lang="it-IT" dirty="0">
                <a:hlinkClick r:id="rId2"/>
              </a:rPr>
              <a:t>https://github.com/</a:t>
            </a:r>
            <a:r>
              <a:rPr lang="it-IT" dirty="0" err="1">
                <a:hlinkClick r:id="rId2"/>
              </a:rPr>
              <a:t>Gigantua</a:t>
            </a:r>
            <a:r>
              <a:rPr lang="it-IT" dirty="0">
                <a:hlinkClick r:id="rId2"/>
              </a:rPr>
              <a:t>/Espresso</a:t>
            </a:r>
            <a:r>
              <a:rPr lang="it-IT" dirty="0"/>
              <a:t>).</a:t>
            </a:r>
          </a:p>
        </p:txBody>
      </p:sp>
    </p:spTree>
    <p:extLst>
      <p:ext uri="{BB962C8B-B14F-4D97-AF65-F5344CB8AC3E}">
        <p14:creationId xmlns:p14="http://schemas.microsoft.com/office/powerpoint/2010/main" val="1263084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A41D0-5D26-FE86-85C2-C2665475AFF1}"/>
              </a:ext>
            </a:extLst>
          </p:cNvPr>
          <p:cNvSpPr>
            <a:spLocks noGrp="1"/>
          </p:cNvSpPr>
          <p:nvPr>
            <p:ph type="title"/>
          </p:nvPr>
        </p:nvSpPr>
        <p:spPr/>
        <p:txBody>
          <a:bodyPr/>
          <a:lstStyle/>
          <a:p>
            <a:r>
              <a:rPr lang="it-IT" dirty="0"/>
              <a:t>Minimizzazione con il software ESPRESSO (2)</a:t>
            </a:r>
          </a:p>
        </p:txBody>
      </p:sp>
      <p:sp>
        <p:nvSpPr>
          <p:cNvPr id="3" name="Segnaposto contenuto 2">
            <a:extLst>
              <a:ext uri="{FF2B5EF4-FFF2-40B4-BE49-F238E27FC236}">
                <a16:creationId xmlns:a16="http://schemas.microsoft.com/office/drawing/2014/main" id="{2D52FB5A-8075-2F87-0726-6027249E2D44}"/>
              </a:ext>
            </a:extLst>
          </p:cNvPr>
          <p:cNvSpPr>
            <a:spLocks noGrp="1"/>
          </p:cNvSpPr>
          <p:nvPr>
            <p:ph idx="1"/>
          </p:nvPr>
        </p:nvSpPr>
        <p:spPr>
          <a:xfrm>
            <a:off x="1141413" y="2249487"/>
            <a:ext cx="4352938" cy="4139580"/>
          </a:xfrm>
        </p:spPr>
        <p:txBody>
          <a:bodyPr/>
          <a:lstStyle/>
          <a:p>
            <a:r>
              <a:rPr lang="it-IT" dirty="0"/>
              <a:t>Minimizzazione della funzione z.</a:t>
            </a:r>
            <a:br>
              <a:rPr lang="it-IT" dirty="0"/>
            </a:br>
            <a:r>
              <a:rPr lang="it-IT" dirty="0"/>
              <a:t>File </a:t>
            </a:r>
            <a:r>
              <a:rPr lang="it-IT" dirty="0" err="1"/>
              <a:t>z_sp.pla</a:t>
            </a:r>
            <a:r>
              <a:rPr lang="it-IT" dirty="0"/>
              <a:t>	    File </a:t>
            </a:r>
            <a:r>
              <a:rPr lang="it-IT" dirty="0" err="1"/>
              <a:t>z_ps.pla</a:t>
            </a:r>
            <a:br>
              <a:rPr lang="it-IT" dirty="0"/>
            </a:br>
            <a:endParaRPr lang="it-IT" dirty="0"/>
          </a:p>
        </p:txBody>
      </p:sp>
      <p:sp>
        <p:nvSpPr>
          <p:cNvPr id="7" name="CasellaDiTesto 6">
            <a:extLst>
              <a:ext uri="{FF2B5EF4-FFF2-40B4-BE49-F238E27FC236}">
                <a16:creationId xmlns:a16="http://schemas.microsoft.com/office/drawing/2014/main" id="{BD1AEC5B-A7B4-D69F-9D15-52AEBBB06D7C}"/>
              </a:ext>
            </a:extLst>
          </p:cNvPr>
          <p:cNvSpPr txBox="1"/>
          <p:nvPr/>
        </p:nvSpPr>
        <p:spPr>
          <a:xfrm>
            <a:off x="1463039" y="3249475"/>
            <a:ext cx="1526651" cy="2677656"/>
          </a:xfrm>
          <a:prstGeom prst="rect">
            <a:avLst/>
          </a:prstGeom>
          <a:solidFill>
            <a:schemeClr val="bg1"/>
          </a:solidFill>
          <a:ln w="38100">
            <a:solidFill>
              <a:schemeClr val="accent5">
                <a:lumMod val="75000"/>
              </a:schemeClr>
            </a:solidFill>
          </a:ln>
        </p:spPr>
        <p:txBody>
          <a:bodyPr wrap="square" rtlCol="0">
            <a:spAutoFit/>
          </a:bodyPr>
          <a:lstStyle/>
          <a:p>
            <a:r>
              <a:rPr lang="it-IT" sz="1400" noProof="1">
                <a:solidFill>
                  <a:schemeClr val="accent1">
                    <a:lumMod val="60000"/>
                    <a:lumOff val="40000"/>
                  </a:schemeClr>
                </a:solidFill>
                <a:latin typeface="Consolas" panose="020B0609020204030204" pitchFamily="49" charset="0"/>
              </a:rPr>
              <a:t>.i 3</a:t>
            </a:r>
          </a:p>
          <a:p>
            <a:r>
              <a:rPr lang="it-IT" sz="1400" noProof="1">
                <a:solidFill>
                  <a:schemeClr val="accent1">
                    <a:lumMod val="60000"/>
                    <a:lumOff val="40000"/>
                  </a:schemeClr>
                </a:solidFill>
                <a:latin typeface="Consolas" panose="020B0609020204030204" pitchFamily="49" charset="0"/>
              </a:rPr>
              <a:t>.o 1</a:t>
            </a:r>
          </a:p>
          <a:p>
            <a:r>
              <a:rPr lang="it-IT" sz="1400" noProof="1">
                <a:solidFill>
                  <a:schemeClr val="accent1">
                    <a:lumMod val="60000"/>
                    <a:lumOff val="40000"/>
                  </a:schemeClr>
                </a:solidFill>
                <a:latin typeface="Consolas" panose="020B0609020204030204" pitchFamily="49" charset="0"/>
              </a:rPr>
              <a:t>.p 4</a:t>
            </a:r>
            <a:br>
              <a:rPr lang="it-IT" sz="1400" noProof="1">
                <a:solidFill>
                  <a:schemeClr val="accent1">
                    <a:lumMod val="60000"/>
                    <a:lumOff val="40000"/>
                  </a:schemeClr>
                </a:solidFill>
                <a:latin typeface="Consolas" panose="020B0609020204030204" pitchFamily="49" charset="0"/>
              </a:rPr>
            </a:br>
            <a:endParaRPr lang="it-IT" sz="1400" noProof="1">
              <a:solidFill>
                <a:schemeClr val="accent1">
                  <a:lumMod val="60000"/>
                  <a:lumOff val="40000"/>
                </a:schemeClr>
              </a:solidFill>
              <a:latin typeface="Consolas" panose="020B0609020204030204" pitchFamily="49" charset="0"/>
            </a:endParaRPr>
          </a:p>
          <a:p>
            <a:r>
              <a:rPr lang="it-IT" sz="1400" noProof="1">
                <a:solidFill>
                  <a:schemeClr val="accent1">
                    <a:lumMod val="60000"/>
                    <a:lumOff val="40000"/>
                  </a:schemeClr>
                </a:solidFill>
                <a:latin typeface="Consolas" panose="020B0609020204030204" pitchFamily="49" charset="0"/>
              </a:rPr>
              <a:t>.ilb a b c </a:t>
            </a:r>
          </a:p>
          <a:p>
            <a:r>
              <a:rPr lang="it-IT" sz="1400" noProof="1">
                <a:solidFill>
                  <a:schemeClr val="accent1">
                    <a:lumMod val="60000"/>
                    <a:lumOff val="40000"/>
                  </a:schemeClr>
                </a:solidFill>
                <a:latin typeface="Consolas" panose="020B0609020204030204" pitchFamily="49" charset="0"/>
              </a:rPr>
              <a:t>.ob z</a:t>
            </a:r>
            <a:br>
              <a:rPr lang="it-IT" sz="1400" noProof="1">
                <a:solidFill>
                  <a:schemeClr val="accent1">
                    <a:lumMod val="60000"/>
                    <a:lumOff val="40000"/>
                  </a:schemeClr>
                </a:solidFill>
                <a:latin typeface="Consolas" panose="020B0609020204030204" pitchFamily="49" charset="0"/>
              </a:rPr>
            </a:br>
            <a:endParaRPr lang="it-IT" sz="1400" noProof="1">
              <a:solidFill>
                <a:schemeClr val="accent1">
                  <a:lumMod val="60000"/>
                  <a:lumOff val="40000"/>
                </a:schemeClr>
              </a:solidFill>
              <a:latin typeface="Consolas" panose="020B0609020204030204" pitchFamily="49" charset="0"/>
            </a:endParaRPr>
          </a:p>
          <a:p>
            <a:r>
              <a:rPr lang="it-IT" sz="1400" noProof="1">
                <a:solidFill>
                  <a:schemeClr val="accent4">
                    <a:lumMod val="60000"/>
                    <a:lumOff val="40000"/>
                  </a:schemeClr>
                </a:solidFill>
                <a:latin typeface="Consolas" panose="020B0609020204030204" pitchFamily="49" charset="0"/>
              </a:rPr>
              <a:t>000 1</a:t>
            </a:r>
          </a:p>
          <a:p>
            <a:r>
              <a:rPr lang="it-IT" sz="1400" noProof="1">
                <a:solidFill>
                  <a:schemeClr val="accent4">
                    <a:lumMod val="60000"/>
                    <a:lumOff val="40000"/>
                  </a:schemeClr>
                </a:solidFill>
                <a:latin typeface="Consolas" panose="020B0609020204030204" pitchFamily="49" charset="0"/>
              </a:rPr>
              <a:t>011 1</a:t>
            </a:r>
          </a:p>
          <a:p>
            <a:r>
              <a:rPr lang="it-IT" sz="1400" noProof="1">
                <a:solidFill>
                  <a:schemeClr val="accent4">
                    <a:lumMod val="60000"/>
                    <a:lumOff val="40000"/>
                  </a:schemeClr>
                </a:solidFill>
                <a:latin typeface="Consolas" panose="020B0609020204030204" pitchFamily="49" charset="0"/>
              </a:rPr>
              <a:t>110 1</a:t>
            </a:r>
          </a:p>
          <a:p>
            <a:r>
              <a:rPr lang="it-IT" sz="1400" noProof="1">
                <a:solidFill>
                  <a:schemeClr val="accent4">
                    <a:lumMod val="60000"/>
                    <a:lumOff val="40000"/>
                  </a:schemeClr>
                </a:solidFill>
                <a:latin typeface="Consolas" panose="020B0609020204030204" pitchFamily="49" charset="0"/>
              </a:rPr>
              <a:t>111 -</a:t>
            </a:r>
          </a:p>
          <a:p>
            <a:r>
              <a:rPr lang="it-IT" sz="1400" noProof="1">
                <a:solidFill>
                  <a:schemeClr val="accent1">
                    <a:lumMod val="60000"/>
                    <a:lumOff val="40000"/>
                  </a:schemeClr>
                </a:solidFill>
                <a:latin typeface="Consolas" panose="020B0609020204030204" pitchFamily="49" charset="0"/>
              </a:rPr>
              <a:t>.e</a:t>
            </a:r>
          </a:p>
        </p:txBody>
      </p:sp>
      <p:sp>
        <p:nvSpPr>
          <p:cNvPr id="10" name="CasellaDiTesto 9">
            <a:extLst>
              <a:ext uri="{FF2B5EF4-FFF2-40B4-BE49-F238E27FC236}">
                <a16:creationId xmlns:a16="http://schemas.microsoft.com/office/drawing/2014/main" id="{1CB7632B-2AFE-A6B2-7664-D4314521708E}"/>
              </a:ext>
            </a:extLst>
          </p:cNvPr>
          <p:cNvSpPr txBox="1"/>
          <p:nvPr/>
        </p:nvSpPr>
        <p:spPr>
          <a:xfrm>
            <a:off x="3424004" y="3267365"/>
            <a:ext cx="1526651" cy="3108543"/>
          </a:xfrm>
          <a:prstGeom prst="rect">
            <a:avLst/>
          </a:prstGeom>
          <a:solidFill>
            <a:schemeClr val="bg1"/>
          </a:solidFill>
          <a:ln w="38100">
            <a:solidFill>
              <a:schemeClr val="accent5">
                <a:lumMod val="75000"/>
              </a:schemeClr>
            </a:solidFill>
          </a:ln>
        </p:spPr>
        <p:txBody>
          <a:bodyPr wrap="square" rtlCol="0">
            <a:spAutoFit/>
          </a:bodyPr>
          <a:lstStyle/>
          <a:p>
            <a:r>
              <a:rPr lang="pt-BR" sz="1400" dirty="0">
                <a:solidFill>
                  <a:schemeClr val="accent1">
                    <a:lumMod val="60000"/>
                    <a:lumOff val="40000"/>
                  </a:schemeClr>
                </a:solidFill>
                <a:latin typeface="Consolas" panose="020B0609020204030204" pitchFamily="49" charset="0"/>
              </a:rPr>
              <a:t>.i 3</a:t>
            </a:r>
          </a:p>
          <a:p>
            <a:r>
              <a:rPr lang="pt-BR" sz="1400" dirty="0">
                <a:solidFill>
                  <a:schemeClr val="accent1">
                    <a:lumMod val="60000"/>
                    <a:lumOff val="40000"/>
                  </a:schemeClr>
                </a:solidFill>
                <a:latin typeface="Consolas" panose="020B0609020204030204" pitchFamily="49" charset="0"/>
              </a:rPr>
              <a:t>.o 1</a:t>
            </a:r>
          </a:p>
          <a:p>
            <a:r>
              <a:rPr lang="pt-BR" sz="1400" dirty="0">
                <a:solidFill>
                  <a:schemeClr val="accent1">
                    <a:lumMod val="60000"/>
                    <a:lumOff val="40000"/>
                  </a:schemeClr>
                </a:solidFill>
                <a:latin typeface="Consolas" panose="020B0609020204030204" pitchFamily="49" charset="0"/>
              </a:rPr>
              <a:t>.p 5</a:t>
            </a:r>
          </a:p>
          <a:p>
            <a:r>
              <a:rPr lang="pt-BR" sz="1400" dirty="0">
                <a:solidFill>
                  <a:schemeClr val="accent1">
                    <a:lumMod val="60000"/>
                    <a:lumOff val="40000"/>
                  </a:schemeClr>
                </a:solidFill>
                <a:latin typeface="Consolas" panose="020B0609020204030204" pitchFamily="49" charset="0"/>
              </a:rPr>
              <a:t>.type r</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1">
                    <a:lumMod val="60000"/>
                    <a:lumOff val="40000"/>
                  </a:schemeClr>
                </a:solidFill>
                <a:latin typeface="Consolas" panose="020B0609020204030204" pitchFamily="49" charset="0"/>
              </a:rPr>
              <a:t>.ilb a b c </a:t>
            </a:r>
          </a:p>
          <a:p>
            <a:r>
              <a:rPr lang="pt-BR" sz="1400" dirty="0">
                <a:solidFill>
                  <a:schemeClr val="accent1">
                    <a:lumMod val="60000"/>
                    <a:lumOff val="40000"/>
                  </a:schemeClr>
                </a:solidFill>
                <a:latin typeface="Consolas" panose="020B0609020204030204" pitchFamily="49" charset="0"/>
              </a:rPr>
              <a:t>.ob z</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2">
                    <a:lumMod val="75000"/>
                  </a:schemeClr>
                </a:solidFill>
                <a:latin typeface="Consolas" panose="020B0609020204030204" pitchFamily="49" charset="0"/>
              </a:rPr>
              <a:t>001 0</a:t>
            </a:r>
          </a:p>
          <a:p>
            <a:r>
              <a:rPr lang="pt-BR" sz="1400" dirty="0">
                <a:solidFill>
                  <a:schemeClr val="accent2">
                    <a:lumMod val="75000"/>
                  </a:schemeClr>
                </a:solidFill>
                <a:latin typeface="Consolas" panose="020B0609020204030204" pitchFamily="49" charset="0"/>
              </a:rPr>
              <a:t>010 0</a:t>
            </a:r>
          </a:p>
          <a:p>
            <a:r>
              <a:rPr lang="pt-BR" sz="1400" dirty="0">
                <a:solidFill>
                  <a:schemeClr val="accent2">
                    <a:lumMod val="75000"/>
                  </a:schemeClr>
                </a:solidFill>
                <a:latin typeface="Consolas" panose="020B0609020204030204" pitchFamily="49" charset="0"/>
              </a:rPr>
              <a:t>100 0</a:t>
            </a:r>
          </a:p>
          <a:p>
            <a:r>
              <a:rPr lang="pt-BR" sz="1400" dirty="0">
                <a:solidFill>
                  <a:schemeClr val="accent2">
                    <a:lumMod val="75000"/>
                  </a:schemeClr>
                </a:solidFill>
                <a:latin typeface="Consolas" panose="020B0609020204030204" pitchFamily="49" charset="0"/>
              </a:rPr>
              <a:t>101 0</a:t>
            </a:r>
          </a:p>
          <a:p>
            <a:r>
              <a:rPr lang="pt-BR" sz="1400" dirty="0">
                <a:solidFill>
                  <a:schemeClr val="accent2">
                    <a:lumMod val="75000"/>
                  </a:schemeClr>
                </a:solidFill>
                <a:latin typeface="Consolas" panose="020B0609020204030204" pitchFamily="49" charset="0"/>
              </a:rPr>
              <a:t>111 -</a:t>
            </a:r>
          </a:p>
          <a:p>
            <a:r>
              <a:rPr lang="pt-BR" sz="1400" dirty="0">
                <a:solidFill>
                  <a:schemeClr val="accent1">
                    <a:lumMod val="60000"/>
                    <a:lumOff val="40000"/>
                  </a:schemeClr>
                </a:solidFill>
                <a:latin typeface="Consolas" panose="020B0609020204030204" pitchFamily="49" charset="0"/>
              </a:rPr>
              <a:t>.e</a:t>
            </a:r>
          </a:p>
        </p:txBody>
      </p:sp>
      <p:sp>
        <p:nvSpPr>
          <p:cNvPr id="4" name="Ovale 3">
            <a:extLst>
              <a:ext uri="{FF2B5EF4-FFF2-40B4-BE49-F238E27FC236}">
                <a16:creationId xmlns:a16="http://schemas.microsoft.com/office/drawing/2014/main" id="{EAA26F49-DBE7-69C5-4CDF-007DB74F7322}"/>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it-IT" dirty="0"/>
              <a:t> </a:t>
            </a:r>
          </a:p>
        </p:txBody>
      </p:sp>
      <p:pic>
        <p:nvPicPr>
          <p:cNvPr id="6" name="Elemento grafico 5">
            <a:extLst>
              <a:ext uri="{FF2B5EF4-FFF2-40B4-BE49-F238E27FC236}">
                <a16:creationId xmlns:a16="http://schemas.microsoft.com/office/drawing/2014/main" id="{DDEB9ECD-3604-6237-13FB-4B710E1D35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90611" y="2399072"/>
            <a:ext cx="2836740" cy="3989994"/>
          </a:xfrm>
          <a:prstGeom prst="rect">
            <a:avLst/>
          </a:prstGeom>
        </p:spPr>
      </p:pic>
      <p:pic>
        <p:nvPicPr>
          <p:cNvPr id="11" name="Elemento grafico 10">
            <a:extLst>
              <a:ext uri="{FF2B5EF4-FFF2-40B4-BE49-F238E27FC236}">
                <a16:creationId xmlns:a16="http://schemas.microsoft.com/office/drawing/2014/main" id="{330FC890-11EC-3948-503E-BBAFFCB6EF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72851" y="2399072"/>
            <a:ext cx="2836741" cy="3989996"/>
          </a:xfrm>
          <a:prstGeom prst="rect">
            <a:avLst/>
          </a:prstGeom>
        </p:spPr>
      </p:pic>
    </p:spTree>
    <p:extLst>
      <p:ext uri="{BB962C8B-B14F-4D97-AF65-F5344CB8AC3E}">
        <p14:creationId xmlns:p14="http://schemas.microsoft.com/office/powerpoint/2010/main" val="3267097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A41D0-5D26-FE86-85C2-C2665475AFF1}"/>
              </a:ext>
            </a:extLst>
          </p:cNvPr>
          <p:cNvSpPr>
            <a:spLocks noGrp="1"/>
          </p:cNvSpPr>
          <p:nvPr>
            <p:ph type="title"/>
          </p:nvPr>
        </p:nvSpPr>
        <p:spPr/>
        <p:txBody>
          <a:bodyPr/>
          <a:lstStyle/>
          <a:p>
            <a:r>
              <a:rPr lang="it-IT" dirty="0"/>
              <a:t>Minimizzazione con il software ESPRESSO (3)</a:t>
            </a:r>
          </a:p>
        </p:txBody>
      </p:sp>
      <p:sp>
        <p:nvSpPr>
          <p:cNvPr id="3" name="Segnaposto contenuto 2">
            <a:extLst>
              <a:ext uri="{FF2B5EF4-FFF2-40B4-BE49-F238E27FC236}">
                <a16:creationId xmlns:a16="http://schemas.microsoft.com/office/drawing/2014/main" id="{2D52FB5A-8075-2F87-0726-6027249E2D44}"/>
              </a:ext>
            </a:extLst>
          </p:cNvPr>
          <p:cNvSpPr>
            <a:spLocks noGrp="1"/>
          </p:cNvSpPr>
          <p:nvPr>
            <p:ph idx="1"/>
          </p:nvPr>
        </p:nvSpPr>
        <p:spPr>
          <a:xfrm>
            <a:off x="1141413" y="1804801"/>
            <a:ext cx="9905998" cy="3541714"/>
          </a:xfrm>
        </p:spPr>
        <p:txBody>
          <a:bodyPr/>
          <a:lstStyle/>
          <a:p>
            <a:r>
              <a:rPr lang="it-IT" dirty="0"/>
              <a:t>Minimizzazione della funzione z definita sui </a:t>
            </a:r>
            <a:r>
              <a:rPr lang="it-IT" dirty="0" err="1"/>
              <a:t>minterm</a:t>
            </a:r>
            <a:r>
              <a:rPr lang="it-IT" dirty="0"/>
              <a:t>.</a:t>
            </a:r>
            <a:br>
              <a:rPr lang="it-IT" dirty="0"/>
            </a:br>
            <a:r>
              <a:rPr lang="it-IT" dirty="0"/>
              <a:t>Output del minimizzatore per </a:t>
            </a:r>
            <a:r>
              <a:rPr lang="it-IT" dirty="0" err="1"/>
              <a:t>z_sp.pla</a:t>
            </a:r>
            <a:endParaRPr lang="it-IT" dirty="0"/>
          </a:p>
        </p:txBody>
      </p:sp>
      <p:sp>
        <p:nvSpPr>
          <p:cNvPr id="6" name="CasellaDiTesto 5">
            <a:extLst>
              <a:ext uri="{FF2B5EF4-FFF2-40B4-BE49-F238E27FC236}">
                <a16:creationId xmlns:a16="http://schemas.microsoft.com/office/drawing/2014/main" id="{266F72EC-CEC0-C617-2650-B7610AA9B527}"/>
              </a:ext>
            </a:extLst>
          </p:cNvPr>
          <p:cNvSpPr txBox="1"/>
          <p:nvPr/>
        </p:nvSpPr>
        <p:spPr>
          <a:xfrm>
            <a:off x="3753729" y="2828050"/>
            <a:ext cx="4301657" cy="3323987"/>
          </a:xfrm>
          <a:prstGeom prst="rect">
            <a:avLst/>
          </a:prstGeom>
          <a:solidFill>
            <a:schemeClr val="bg1"/>
          </a:solidFill>
          <a:ln w="38100">
            <a:solidFill>
              <a:schemeClr val="accent5">
                <a:lumMod val="75000"/>
              </a:schemeClr>
            </a:solidFill>
          </a:ln>
        </p:spPr>
        <p:txBody>
          <a:bodyPr wrap="square" rtlCol="0">
            <a:spAutoFit/>
          </a:bodyPr>
          <a:lstStyle/>
          <a:p>
            <a:r>
              <a:rPr lang="it-IT" sz="1400" noProof="1">
                <a:solidFill>
                  <a:schemeClr val="tx1">
                    <a:lumMod val="50000"/>
                  </a:schemeClr>
                </a:solidFill>
                <a:latin typeface="Consolas" panose="020B0609020204030204" pitchFamily="49" charset="0"/>
              </a:rPr>
              <a:t>C:\Espresso&gt;</a:t>
            </a:r>
            <a:r>
              <a:rPr lang="it-IT" sz="1400" noProof="1">
                <a:solidFill>
                  <a:schemeClr val="accent4">
                    <a:lumMod val="60000"/>
                    <a:lumOff val="40000"/>
                  </a:schemeClr>
                </a:solidFill>
                <a:latin typeface="Consolas" panose="020B0609020204030204" pitchFamily="49" charset="0"/>
              </a:rPr>
              <a:t>espresso </a:t>
            </a:r>
            <a:r>
              <a:rPr lang="it-IT" sz="1400" noProof="1">
                <a:solidFill>
                  <a:srgbClr val="FFC000"/>
                </a:solidFill>
                <a:latin typeface="Consolas" panose="020B0609020204030204" pitchFamily="49" charset="0"/>
              </a:rPr>
              <a:t>z_sp.pla</a:t>
            </a:r>
          </a:p>
          <a:p>
            <a:r>
              <a:rPr lang="it-IT" sz="1400" noProof="1">
                <a:solidFill>
                  <a:schemeClr val="accent1">
                    <a:lumMod val="60000"/>
                    <a:lumOff val="40000"/>
                  </a:schemeClr>
                </a:solidFill>
                <a:latin typeface="Consolas" panose="020B0609020204030204" pitchFamily="49" charset="0"/>
              </a:rPr>
              <a:t>.i 3</a:t>
            </a:r>
          </a:p>
          <a:p>
            <a:r>
              <a:rPr lang="it-IT" sz="1400" noProof="1">
                <a:solidFill>
                  <a:schemeClr val="accent1">
                    <a:lumMod val="60000"/>
                    <a:lumOff val="40000"/>
                  </a:schemeClr>
                </a:solidFill>
                <a:latin typeface="Consolas" panose="020B0609020204030204" pitchFamily="49" charset="0"/>
              </a:rPr>
              <a:t>.o 1</a:t>
            </a:r>
          </a:p>
          <a:p>
            <a:r>
              <a:rPr lang="it-IT" sz="1400" noProof="1">
                <a:solidFill>
                  <a:schemeClr val="accent1">
                    <a:lumMod val="60000"/>
                    <a:lumOff val="40000"/>
                  </a:schemeClr>
                </a:solidFill>
                <a:latin typeface="Consolas" panose="020B0609020204030204" pitchFamily="49" charset="0"/>
              </a:rPr>
              <a:t>.ilb a b c</a:t>
            </a:r>
          </a:p>
          <a:p>
            <a:r>
              <a:rPr lang="it-IT" sz="1400" noProof="1">
                <a:solidFill>
                  <a:schemeClr val="accent1">
                    <a:lumMod val="60000"/>
                    <a:lumOff val="40000"/>
                  </a:schemeClr>
                </a:solidFill>
                <a:latin typeface="Consolas" panose="020B0609020204030204" pitchFamily="49" charset="0"/>
              </a:rPr>
              <a:t>.ob z</a:t>
            </a:r>
          </a:p>
          <a:p>
            <a:r>
              <a:rPr lang="it-IT" sz="1400" noProof="1">
                <a:solidFill>
                  <a:schemeClr val="accent1">
                    <a:lumMod val="60000"/>
                    <a:lumOff val="40000"/>
                  </a:schemeClr>
                </a:solidFill>
                <a:latin typeface="Consolas" panose="020B0609020204030204" pitchFamily="49" charset="0"/>
              </a:rPr>
              <a:t>.p 3</a:t>
            </a:r>
          </a:p>
          <a:p>
            <a:r>
              <a:rPr lang="it-IT" sz="1400" noProof="1">
                <a:solidFill>
                  <a:schemeClr val="accent1">
                    <a:lumMod val="60000"/>
                    <a:lumOff val="40000"/>
                  </a:schemeClr>
                </a:solidFill>
                <a:latin typeface="Consolas" panose="020B0609020204030204" pitchFamily="49" charset="0"/>
              </a:rPr>
              <a:t>000 1</a:t>
            </a:r>
          </a:p>
          <a:p>
            <a:r>
              <a:rPr lang="it-IT" sz="1400" noProof="1">
                <a:solidFill>
                  <a:schemeClr val="accent1">
                    <a:lumMod val="60000"/>
                    <a:lumOff val="40000"/>
                  </a:schemeClr>
                </a:solidFill>
                <a:latin typeface="Consolas" panose="020B0609020204030204" pitchFamily="49" charset="0"/>
              </a:rPr>
              <a:t>11- 1</a:t>
            </a:r>
          </a:p>
          <a:p>
            <a:r>
              <a:rPr lang="it-IT" sz="1400" noProof="1">
                <a:solidFill>
                  <a:schemeClr val="accent1">
                    <a:lumMod val="60000"/>
                    <a:lumOff val="40000"/>
                  </a:schemeClr>
                </a:solidFill>
                <a:latin typeface="Consolas" panose="020B0609020204030204" pitchFamily="49" charset="0"/>
              </a:rPr>
              <a:t>-11 1</a:t>
            </a:r>
          </a:p>
          <a:p>
            <a:r>
              <a:rPr lang="it-IT" sz="1400" noProof="1">
                <a:solidFill>
                  <a:schemeClr val="accent1">
                    <a:lumMod val="60000"/>
                    <a:lumOff val="40000"/>
                  </a:schemeClr>
                </a:solidFill>
                <a:latin typeface="Consolas" panose="020B0609020204030204" pitchFamily="49" charset="0"/>
              </a:rPr>
              <a:t>.e</a:t>
            </a:r>
          </a:p>
          <a:p>
            <a:endParaRPr lang="it-IT" sz="1400" noProof="1">
              <a:solidFill>
                <a:schemeClr val="accent1">
                  <a:lumMod val="60000"/>
                  <a:lumOff val="40000"/>
                </a:schemeClr>
              </a:solidFill>
              <a:latin typeface="Consolas" panose="020B0609020204030204" pitchFamily="49" charset="0"/>
            </a:endParaRPr>
          </a:p>
          <a:p>
            <a:r>
              <a:rPr lang="it-IT" sz="1400" noProof="1">
                <a:solidFill>
                  <a:schemeClr val="tx1">
                    <a:lumMod val="50000"/>
                  </a:schemeClr>
                </a:solidFill>
                <a:latin typeface="Consolas" panose="020B0609020204030204" pitchFamily="49" charset="0"/>
              </a:rPr>
              <a:t>C:\Espresso&gt;</a:t>
            </a:r>
            <a:r>
              <a:rPr lang="it-IT" sz="1400" noProof="1">
                <a:solidFill>
                  <a:schemeClr val="accent4">
                    <a:lumMod val="60000"/>
                    <a:lumOff val="40000"/>
                  </a:schemeClr>
                </a:solidFill>
                <a:latin typeface="Consolas" panose="020B0609020204030204" pitchFamily="49" charset="0"/>
              </a:rPr>
              <a:t>espresso –o eqntott </a:t>
            </a:r>
            <a:r>
              <a:rPr lang="it-IT" sz="1400" noProof="1">
                <a:solidFill>
                  <a:srgbClr val="FFC000"/>
                </a:solidFill>
                <a:latin typeface="Consolas" panose="020B0609020204030204" pitchFamily="49" charset="0"/>
              </a:rPr>
              <a:t>z_sp.pla</a:t>
            </a:r>
          </a:p>
          <a:p>
            <a:r>
              <a:rPr lang="it-IT" sz="1400" noProof="1">
                <a:solidFill>
                  <a:schemeClr val="accent1">
                    <a:lumMod val="60000"/>
                    <a:lumOff val="40000"/>
                  </a:schemeClr>
                </a:solidFill>
                <a:latin typeface="Consolas" panose="020B0609020204030204" pitchFamily="49" charset="0"/>
              </a:rPr>
              <a:t>z = (!a &amp; !b &amp; !c) | (a &amp; b) | (b &amp; c);</a:t>
            </a:r>
          </a:p>
          <a:p>
            <a:endParaRPr lang="it-IT" sz="1400" noProof="1">
              <a:solidFill>
                <a:schemeClr val="accent4">
                  <a:lumMod val="60000"/>
                  <a:lumOff val="40000"/>
                </a:schemeClr>
              </a:solidFill>
              <a:latin typeface="Consolas" panose="020B0609020204030204" pitchFamily="49" charset="0"/>
            </a:endParaRPr>
          </a:p>
          <a:p>
            <a:r>
              <a:rPr lang="it-IT" sz="1400" noProof="1">
                <a:solidFill>
                  <a:schemeClr val="tx1">
                    <a:lumMod val="50000"/>
                  </a:schemeClr>
                </a:solidFill>
                <a:latin typeface="Consolas" panose="020B0609020204030204" pitchFamily="49" charset="0"/>
              </a:rPr>
              <a:t>C:\Espresso&gt;</a:t>
            </a:r>
          </a:p>
        </p:txBody>
      </p:sp>
      <p:sp>
        <p:nvSpPr>
          <p:cNvPr id="4" name="CasellaDiTesto 3">
            <a:extLst>
              <a:ext uri="{FF2B5EF4-FFF2-40B4-BE49-F238E27FC236}">
                <a16:creationId xmlns:a16="http://schemas.microsoft.com/office/drawing/2014/main" id="{2FB02C9C-5D4F-F302-F31F-CC7A3556C091}"/>
              </a:ext>
            </a:extLst>
          </p:cNvPr>
          <p:cNvSpPr txBox="1"/>
          <p:nvPr/>
        </p:nvSpPr>
        <p:spPr>
          <a:xfrm>
            <a:off x="1479736" y="2828050"/>
            <a:ext cx="1526651" cy="2677656"/>
          </a:xfrm>
          <a:prstGeom prst="rect">
            <a:avLst/>
          </a:prstGeom>
          <a:solidFill>
            <a:schemeClr val="bg1"/>
          </a:solidFill>
          <a:ln w="38100">
            <a:solidFill>
              <a:schemeClr val="accent5">
                <a:lumMod val="75000"/>
              </a:schemeClr>
            </a:solidFill>
          </a:ln>
        </p:spPr>
        <p:txBody>
          <a:bodyPr wrap="square" rtlCol="0">
            <a:spAutoFit/>
          </a:bodyPr>
          <a:lstStyle/>
          <a:p>
            <a:r>
              <a:rPr lang="it-IT" sz="1400" dirty="0">
                <a:solidFill>
                  <a:schemeClr val="accent1">
                    <a:lumMod val="60000"/>
                    <a:lumOff val="40000"/>
                  </a:schemeClr>
                </a:solidFill>
                <a:latin typeface="Consolas" panose="020B0609020204030204" pitchFamily="49" charset="0"/>
              </a:rPr>
              <a:t>.i 3</a:t>
            </a:r>
          </a:p>
          <a:p>
            <a:r>
              <a:rPr lang="it-IT" sz="1400" dirty="0">
                <a:solidFill>
                  <a:schemeClr val="accent1">
                    <a:lumMod val="60000"/>
                    <a:lumOff val="40000"/>
                  </a:schemeClr>
                </a:solidFill>
                <a:latin typeface="Consolas" panose="020B0609020204030204" pitchFamily="49" charset="0"/>
              </a:rPr>
              <a:t>.o 1</a:t>
            </a:r>
          </a:p>
          <a:p>
            <a:r>
              <a:rPr lang="it-IT" sz="1400" dirty="0">
                <a:solidFill>
                  <a:schemeClr val="accent1">
                    <a:lumMod val="60000"/>
                    <a:lumOff val="40000"/>
                  </a:schemeClr>
                </a:solidFill>
                <a:latin typeface="Consolas" panose="020B0609020204030204" pitchFamily="49" charset="0"/>
              </a:rPr>
              <a:t>.p 4</a:t>
            </a:r>
            <a:br>
              <a:rPr lang="it-IT" sz="1400" dirty="0">
                <a:solidFill>
                  <a:schemeClr val="accent1">
                    <a:lumMod val="60000"/>
                    <a:lumOff val="40000"/>
                  </a:schemeClr>
                </a:solidFill>
                <a:latin typeface="Consolas" panose="020B0609020204030204" pitchFamily="49" charset="0"/>
              </a:rPr>
            </a:br>
            <a:endParaRPr lang="it-IT" sz="1400" dirty="0">
              <a:solidFill>
                <a:schemeClr val="accent1">
                  <a:lumMod val="60000"/>
                  <a:lumOff val="40000"/>
                </a:schemeClr>
              </a:solidFill>
              <a:latin typeface="Consolas" panose="020B0609020204030204" pitchFamily="49" charset="0"/>
            </a:endParaRPr>
          </a:p>
          <a:p>
            <a:r>
              <a:rPr lang="it-IT" sz="1400" dirty="0">
                <a:solidFill>
                  <a:schemeClr val="accent1">
                    <a:lumMod val="60000"/>
                    <a:lumOff val="40000"/>
                  </a:schemeClr>
                </a:solidFill>
                <a:latin typeface="Consolas" panose="020B0609020204030204" pitchFamily="49" charset="0"/>
              </a:rPr>
              <a:t>.</a:t>
            </a:r>
            <a:r>
              <a:rPr lang="it-IT" sz="1400" dirty="0" err="1">
                <a:solidFill>
                  <a:schemeClr val="accent1">
                    <a:lumMod val="60000"/>
                    <a:lumOff val="40000"/>
                  </a:schemeClr>
                </a:solidFill>
                <a:latin typeface="Consolas" panose="020B0609020204030204" pitchFamily="49" charset="0"/>
              </a:rPr>
              <a:t>ilb</a:t>
            </a:r>
            <a:r>
              <a:rPr lang="it-IT" sz="1400" dirty="0">
                <a:solidFill>
                  <a:schemeClr val="accent1">
                    <a:lumMod val="60000"/>
                    <a:lumOff val="40000"/>
                  </a:schemeClr>
                </a:solidFill>
                <a:latin typeface="Consolas" panose="020B0609020204030204" pitchFamily="49" charset="0"/>
              </a:rPr>
              <a:t> a b c </a:t>
            </a:r>
          </a:p>
          <a:p>
            <a:r>
              <a:rPr lang="it-IT" sz="1400" dirty="0">
                <a:solidFill>
                  <a:schemeClr val="accent1">
                    <a:lumMod val="60000"/>
                    <a:lumOff val="40000"/>
                  </a:schemeClr>
                </a:solidFill>
                <a:latin typeface="Consolas" panose="020B0609020204030204" pitchFamily="49" charset="0"/>
              </a:rPr>
              <a:t>.</a:t>
            </a:r>
            <a:r>
              <a:rPr lang="it-IT" sz="1400" dirty="0" err="1">
                <a:solidFill>
                  <a:schemeClr val="accent1">
                    <a:lumMod val="60000"/>
                    <a:lumOff val="40000"/>
                  </a:schemeClr>
                </a:solidFill>
                <a:latin typeface="Consolas" panose="020B0609020204030204" pitchFamily="49" charset="0"/>
              </a:rPr>
              <a:t>ob</a:t>
            </a:r>
            <a:r>
              <a:rPr lang="it-IT" sz="1400" dirty="0">
                <a:solidFill>
                  <a:schemeClr val="accent1">
                    <a:lumMod val="60000"/>
                    <a:lumOff val="40000"/>
                  </a:schemeClr>
                </a:solidFill>
                <a:latin typeface="Consolas" panose="020B0609020204030204" pitchFamily="49" charset="0"/>
              </a:rPr>
              <a:t> z</a:t>
            </a:r>
            <a:br>
              <a:rPr lang="it-IT" sz="1400" dirty="0">
                <a:solidFill>
                  <a:schemeClr val="accent1">
                    <a:lumMod val="60000"/>
                    <a:lumOff val="40000"/>
                  </a:schemeClr>
                </a:solidFill>
                <a:latin typeface="Consolas" panose="020B0609020204030204" pitchFamily="49" charset="0"/>
              </a:rPr>
            </a:br>
            <a:endParaRPr lang="it-IT" sz="1400" dirty="0">
              <a:solidFill>
                <a:schemeClr val="accent1">
                  <a:lumMod val="60000"/>
                  <a:lumOff val="40000"/>
                </a:schemeClr>
              </a:solidFill>
              <a:latin typeface="Consolas" panose="020B0609020204030204" pitchFamily="49" charset="0"/>
            </a:endParaRPr>
          </a:p>
          <a:p>
            <a:r>
              <a:rPr lang="it-IT" sz="1400" dirty="0">
                <a:solidFill>
                  <a:schemeClr val="accent4">
                    <a:lumMod val="60000"/>
                    <a:lumOff val="40000"/>
                  </a:schemeClr>
                </a:solidFill>
                <a:latin typeface="Consolas" panose="020B0609020204030204" pitchFamily="49" charset="0"/>
              </a:rPr>
              <a:t>000 1</a:t>
            </a:r>
          </a:p>
          <a:p>
            <a:r>
              <a:rPr lang="it-IT" sz="1400" dirty="0">
                <a:solidFill>
                  <a:schemeClr val="accent4">
                    <a:lumMod val="60000"/>
                    <a:lumOff val="40000"/>
                  </a:schemeClr>
                </a:solidFill>
                <a:latin typeface="Consolas" panose="020B0609020204030204" pitchFamily="49" charset="0"/>
              </a:rPr>
              <a:t>011 1</a:t>
            </a:r>
          </a:p>
          <a:p>
            <a:r>
              <a:rPr lang="it-IT" sz="1400" dirty="0">
                <a:solidFill>
                  <a:schemeClr val="accent4">
                    <a:lumMod val="60000"/>
                    <a:lumOff val="40000"/>
                  </a:schemeClr>
                </a:solidFill>
                <a:latin typeface="Consolas" panose="020B0609020204030204" pitchFamily="49" charset="0"/>
              </a:rPr>
              <a:t>110 1</a:t>
            </a:r>
          </a:p>
          <a:p>
            <a:r>
              <a:rPr lang="it-IT" sz="1400" dirty="0">
                <a:solidFill>
                  <a:schemeClr val="accent4">
                    <a:lumMod val="60000"/>
                    <a:lumOff val="40000"/>
                  </a:schemeClr>
                </a:solidFill>
                <a:latin typeface="Consolas" panose="020B0609020204030204" pitchFamily="49" charset="0"/>
              </a:rPr>
              <a:t>111 -</a:t>
            </a:r>
          </a:p>
          <a:p>
            <a:r>
              <a:rPr lang="it-IT" sz="1400" dirty="0">
                <a:solidFill>
                  <a:schemeClr val="accent1">
                    <a:lumMod val="60000"/>
                    <a:lumOff val="40000"/>
                  </a:schemeClr>
                </a:solidFill>
                <a:latin typeface="Consolas" panose="020B0609020204030204" pitchFamily="49" charset="0"/>
              </a:rPr>
              <a:t>.e</a:t>
            </a:r>
          </a:p>
        </p:txBody>
      </p:sp>
      <p:sp>
        <p:nvSpPr>
          <p:cNvPr id="7" name="Freccia a destra 6">
            <a:extLst>
              <a:ext uri="{FF2B5EF4-FFF2-40B4-BE49-F238E27FC236}">
                <a16:creationId xmlns:a16="http://schemas.microsoft.com/office/drawing/2014/main" id="{813B4FD7-C8BA-10D1-9214-67DF3F46000C}"/>
              </a:ext>
            </a:extLst>
          </p:cNvPr>
          <p:cNvSpPr/>
          <p:nvPr/>
        </p:nvSpPr>
        <p:spPr>
          <a:xfrm>
            <a:off x="3182112" y="4041648"/>
            <a:ext cx="420624" cy="4297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vale 7">
            <a:extLst>
              <a:ext uri="{FF2B5EF4-FFF2-40B4-BE49-F238E27FC236}">
                <a16:creationId xmlns:a16="http://schemas.microsoft.com/office/drawing/2014/main" id="{80DEEF3C-E773-BFAC-9459-38CA62AD6F21}"/>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pic>
        <p:nvPicPr>
          <p:cNvPr id="13" name="Elemento grafico 12">
            <a:extLst>
              <a:ext uri="{FF2B5EF4-FFF2-40B4-BE49-F238E27FC236}">
                <a16:creationId xmlns:a16="http://schemas.microsoft.com/office/drawing/2014/main" id="{57F97A98-8A9A-A27A-37DD-813DDE5BE1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38272" y="2097097"/>
            <a:ext cx="2943090" cy="4139580"/>
          </a:xfrm>
          <a:prstGeom prst="rect">
            <a:avLst/>
          </a:prstGeom>
        </p:spPr>
      </p:pic>
    </p:spTree>
    <p:extLst>
      <p:ext uri="{BB962C8B-B14F-4D97-AF65-F5344CB8AC3E}">
        <p14:creationId xmlns:p14="http://schemas.microsoft.com/office/powerpoint/2010/main" val="1563575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A41D0-5D26-FE86-85C2-C2665475AFF1}"/>
              </a:ext>
            </a:extLst>
          </p:cNvPr>
          <p:cNvSpPr>
            <a:spLocks noGrp="1"/>
          </p:cNvSpPr>
          <p:nvPr>
            <p:ph type="title"/>
          </p:nvPr>
        </p:nvSpPr>
        <p:spPr/>
        <p:txBody>
          <a:bodyPr/>
          <a:lstStyle/>
          <a:p>
            <a:r>
              <a:rPr lang="it-IT" dirty="0"/>
              <a:t>Minimizzazione con il software ESPRESSO (4)</a:t>
            </a:r>
          </a:p>
        </p:txBody>
      </p:sp>
      <p:sp>
        <p:nvSpPr>
          <p:cNvPr id="3" name="Segnaposto contenuto 2">
            <a:extLst>
              <a:ext uri="{FF2B5EF4-FFF2-40B4-BE49-F238E27FC236}">
                <a16:creationId xmlns:a16="http://schemas.microsoft.com/office/drawing/2014/main" id="{2D52FB5A-8075-2F87-0726-6027249E2D44}"/>
              </a:ext>
            </a:extLst>
          </p:cNvPr>
          <p:cNvSpPr>
            <a:spLocks noGrp="1"/>
          </p:cNvSpPr>
          <p:nvPr>
            <p:ph idx="1"/>
          </p:nvPr>
        </p:nvSpPr>
        <p:spPr>
          <a:xfrm>
            <a:off x="1141413" y="1804801"/>
            <a:ext cx="9905998" cy="3541714"/>
          </a:xfrm>
        </p:spPr>
        <p:txBody>
          <a:bodyPr/>
          <a:lstStyle/>
          <a:p>
            <a:r>
              <a:rPr lang="it-IT" dirty="0"/>
              <a:t>Minimizzazione della funzione z definita sui </a:t>
            </a:r>
            <a:r>
              <a:rPr lang="it-IT" dirty="0" err="1"/>
              <a:t>maxterm</a:t>
            </a:r>
            <a:r>
              <a:rPr lang="it-IT" dirty="0"/>
              <a:t>.</a:t>
            </a:r>
            <a:br>
              <a:rPr lang="it-IT" dirty="0"/>
            </a:br>
            <a:r>
              <a:rPr lang="it-IT" dirty="0"/>
              <a:t>Output del minimizzatore per </a:t>
            </a:r>
            <a:r>
              <a:rPr lang="it-IT" dirty="0" err="1"/>
              <a:t>z_ps.pla</a:t>
            </a:r>
            <a:endParaRPr lang="it-IT" dirty="0"/>
          </a:p>
        </p:txBody>
      </p:sp>
      <p:cxnSp>
        <p:nvCxnSpPr>
          <p:cNvPr id="12" name="Connettore 2 11">
            <a:extLst>
              <a:ext uri="{FF2B5EF4-FFF2-40B4-BE49-F238E27FC236}">
                <a16:creationId xmlns:a16="http://schemas.microsoft.com/office/drawing/2014/main" id="{6252A177-80C4-A77E-1726-CFFE5679C191}"/>
              </a:ext>
            </a:extLst>
          </p:cNvPr>
          <p:cNvCxnSpPr>
            <a:cxnSpLocks/>
          </p:cNvCxnSpPr>
          <p:nvPr/>
        </p:nvCxnSpPr>
        <p:spPr>
          <a:xfrm flipH="1" flipV="1">
            <a:off x="4823659" y="4071068"/>
            <a:ext cx="434141" cy="126028"/>
          </a:xfrm>
          <a:prstGeom prst="straightConnector1">
            <a:avLst/>
          </a:prstGeom>
          <a:ln w="57150">
            <a:solidFill>
              <a:schemeClr val="accent1">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267AEECF-FDC4-F29F-44FE-9E85E595E3DD}"/>
              </a:ext>
            </a:extLst>
          </p:cNvPr>
          <p:cNvSpPr txBox="1"/>
          <p:nvPr/>
        </p:nvSpPr>
        <p:spPr>
          <a:xfrm>
            <a:off x="5303281" y="3429000"/>
            <a:ext cx="2706624" cy="1569660"/>
          </a:xfrm>
          <a:prstGeom prst="rect">
            <a:avLst/>
          </a:prstGeom>
          <a:noFill/>
        </p:spPr>
        <p:txBody>
          <a:bodyPr wrap="square" rtlCol="0">
            <a:spAutoFit/>
          </a:bodyPr>
          <a:lstStyle/>
          <a:p>
            <a:r>
              <a:rPr lang="it-IT" sz="1600" dirty="0"/>
              <a:t>Questo commento ci ricorda che si devono complementare ingressi e funzioni </a:t>
            </a:r>
            <a:br>
              <a:rPr lang="it-IT" sz="1600" dirty="0"/>
            </a:br>
            <a:r>
              <a:rPr lang="it-IT" sz="1600" dirty="0"/>
              <a:t>per determinare manualmente</a:t>
            </a:r>
            <a:br>
              <a:rPr lang="it-IT" sz="1600" dirty="0"/>
            </a:br>
            <a:r>
              <a:rPr lang="it-IT" sz="1600" dirty="0"/>
              <a:t>i </a:t>
            </a:r>
            <a:r>
              <a:rPr lang="it-IT" sz="1600" dirty="0" err="1"/>
              <a:t>maxterm</a:t>
            </a:r>
            <a:r>
              <a:rPr lang="it-IT" sz="1600" dirty="0"/>
              <a:t> risultanti </a:t>
            </a:r>
            <a:br>
              <a:rPr lang="it-IT" sz="1600" dirty="0"/>
            </a:br>
            <a:r>
              <a:rPr lang="it-IT" sz="1600" dirty="0"/>
              <a:t> </a:t>
            </a:r>
          </a:p>
        </p:txBody>
      </p:sp>
      <p:sp>
        <p:nvSpPr>
          <p:cNvPr id="8" name="Freccia a destra 7">
            <a:extLst>
              <a:ext uri="{FF2B5EF4-FFF2-40B4-BE49-F238E27FC236}">
                <a16:creationId xmlns:a16="http://schemas.microsoft.com/office/drawing/2014/main" id="{23733393-CEDE-7C63-F0FF-F5F954D238DC}"/>
              </a:ext>
            </a:extLst>
          </p:cNvPr>
          <p:cNvSpPr/>
          <p:nvPr/>
        </p:nvSpPr>
        <p:spPr>
          <a:xfrm>
            <a:off x="3182112" y="4041648"/>
            <a:ext cx="420624" cy="4297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6F667FAF-2506-ACFF-A846-F8773CCC5109}"/>
              </a:ext>
            </a:extLst>
          </p:cNvPr>
          <p:cNvSpPr txBox="1"/>
          <p:nvPr/>
        </p:nvSpPr>
        <p:spPr>
          <a:xfrm>
            <a:off x="3753729" y="2828050"/>
            <a:ext cx="4301657" cy="3539430"/>
          </a:xfrm>
          <a:prstGeom prst="rect">
            <a:avLst/>
          </a:prstGeom>
          <a:solidFill>
            <a:schemeClr val="bg1"/>
          </a:solidFill>
          <a:ln w="38100">
            <a:solidFill>
              <a:schemeClr val="accent5">
                <a:lumMod val="75000"/>
              </a:schemeClr>
            </a:solidFill>
          </a:ln>
        </p:spPr>
        <p:txBody>
          <a:bodyPr wrap="square" rtlCol="0">
            <a:spAutoFit/>
          </a:bodyPr>
          <a:lstStyle/>
          <a:p>
            <a:r>
              <a:rPr lang="it-IT" sz="1400" dirty="0">
                <a:solidFill>
                  <a:schemeClr val="tx1">
                    <a:lumMod val="50000"/>
                  </a:schemeClr>
                </a:solidFill>
                <a:latin typeface="Consolas" panose="020B0609020204030204" pitchFamily="49" charset="0"/>
              </a:rPr>
              <a:t>C:\Espresso&gt;</a:t>
            </a:r>
            <a:r>
              <a:rPr lang="it-IT" sz="1400" dirty="0">
                <a:solidFill>
                  <a:schemeClr val="accent4">
                    <a:lumMod val="60000"/>
                    <a:lumOff val="40000"/>
                  </a:schemeClr>
                </a:solidFill>
                <a:latin typeface="Consolas" panose="020B0609020204030204" pitchFamily="49" charset="0"/>
              </a:rPr>
              <a:t>espresso </a:t>
            </a:r>
            <a:r>
              <a:rPr lang="it-IT" sz="1400" noProof="1">
                <a:solidFill>
                  <a:srgbClr val="FFC000"/>
                </a:solidFill>
                <a:latin typeface="Consolas" panose="020B0609020204030204" pitchFamily="49" charset="0"/>
              </a:rPr>
              <a:t>z_ps.pla</a:t>
            </a:r>
          </a:p>
          <a:p>
            <a:r>
              <a:rPr lang="it-IT" sz="1400" dirty="0">
                <a:solidFill>
                  <a:schemeClr val="accent1">
                    <a:lumMod val="60000"/>
                    <a:lumOff val="40000"/>
                  </a:schemeClr>
                </a:solidFill>
                <a:latin typeface="Consolas" panose="020B0609020204030204" pitchFamily="49" charset="0"/>
              </a:rPr>
              <a:t>.i 3</a:t>
            </a:r>
          </a:p>
          <a:p>
            <a:r>
              <a:rPr lang="pt-BR" sz="1400" dirty="0">
                <a:solidFill>
                  <a:schemeClr val="accent1">
                    <a:lumMod val="60000"/>
                    <a:lumOff val="40000"/>
                  </a:schemeClr>
                </a:solidFill>
                <a:latin typeface="Consolas" panose="020B0609020204030204" pitchFamily="49" charset="0"/>
              </a:rPr>
              <a:t>.o 1</a:t>
            </a:r>
          </a:p>
          <a:p>
            <a:r>
              <a:rPr lang="pt-BR" sz="1400" dirty="0">
                <a:solidFill>
                  <a:schemeClr val="accent1">
                    <a:lumMod val="60000"/>
                    <a:lumOff val="40000"/>
                  </a:schemeClr>
                </a:solidFill>
                <a:latin typeface="Consolas" panose="020B0609020204030204" pitchFamily="49" charset="0"/>
              </a:rPr>
              <a:t>.ilb a b c</a:t>
            </a:r>
          </a:p>
          <a:p>
            <a:r>
              <a:rPr lang="pt-BR" sz="1400" dirty="0">
                <a:solidFill>
                  <a:schemeClr val="accent1">
                    <a:lumMod val="60000"/>
                    <a:lumOff val="40000"/>
                  </a:schemeClr>
                </a:solidFill>
                <a:latin typeface="Consolas" panose="020B0609020204030204" pitchFamily="49" charset="0"/>
              </a:rPr>
              <a:t>.ob z</a:t>
            </a:r>
          </a:p>
          <a:p>
            <a:r>
              <a:rPr lang="pt-BR" sz="1400" dirty="0">
                <a:solidFill>
                  <a:srgbClr val="FFFF00"/>
                </a:solidFill>
                <a:latin typeface="Consolas" panose="020B0609020204030204" pitchFamily="49" charset="0"/>
              </a:rPr>
              <a:t>#.phase 0</a:t>
            </a:r>
          </a:p>
          <a:p>
            <a:r>
              <a:rPr lang="pt-BR" sz="1400" dirty="0">
                <a:solidFill>
                  <a:schemeClr val="accent1">
                    <a:lumMod val="60000"/>
                    <a:lumOff val="40000"/>
                  </a:schemeClr>
                </a:solidFill>
                <a:latin typeface="Consolas" panose="020B0609020204030204" pitchFamily="49" charset="0"/>
              </a:rPr>
              <a:t>.p 3</a:t>
            </a:r>
          </a:p>
          <a:p>
            <a:r>
              <a:rPr lang="pt-BR" sz="1400" dirty="0">
                <a:solidFill>
                  <a:schemeClr val="accent1">
                    <a:lumMod val="60000"/>
                    <a:lumOff val="40000"/>
                  </a:schemeClr>
                </a:solidFill>
                <a:latin typeface="Consolas" panose="020B0609020204030204" pitchFamily="49" charset="0"/>
              </a:rPr>
              <a:t>010 1</a:t>
            </a:r>
          </a:p>
          <a:p>
            <a:r>
              <a:rPr lang="pt-BR" sz="1400" dirty="0">
                <a:solidFill>
                  <a:schemeClr val="accent1">
                    <a:lumMod val="60000"/>
                    <a:lumOff val="40000"/>
                  </a:schemeClr>
                </a:solidFill>
                <a:latin typeface="Consolas" panose="020B0609020204030204" pitchFamily="49" charset="0"/>
              </a:rPr>
              <a:t>10- 1</a:t>
            </a:r>
          </a:p>
          <a:p>
            <a:r>
              <a:rPr lang="pt-BR" sz="1400" dirty="0">
                <a:solidFill>
                  <a:schemeClr val="accent1">
                    <a:lumMod val="60000"/>
                    <a:lumOff val="40000"/>
                  </a:schemeClr>
                </a:solidFill>
                <a:latin typeface="Consolas" panose="020B0609020204030204" pitchFamily="49" charset="0"/>
              </a:rPr>
              <a:t>-01 1</a:t>
            </a:r>
          </a:p>
          <a:p>
            <a:r>
              <a:rPr lang="pt-BR" sz="1400" dirty="0">
                <a:solidFill>
                  <a:schemeClr val="accent1">
                    <a:lumMod val="60000"/>
                    <a:lumOff val="40000"/>
                  </a:schemeClr>
                </a:solidFill>
                <a:latin typeface="Consolas" panose="020B0609020204030204" pitchFamily="49" charset="0"/>
              </a:rPr>
              <a:t>.e</a:t>
            </a:r>
            <a:endParaRPr lang="it-IT" sz="1400" dirty="0">
              <a:solidFill>
                <a:schemeClr val="accent1">
                  <a:lumMod val="60000"/>
                  <a:lumOff val="40000"/>
                </a:schemeClr>
              </a:solidFill>
              <a:latin typeface="Consolas" panose="020B0609020204030204" pitchFamily="49" charset="0"/>
            </a:endParaRPr>
          </a:p>
          <a:p>
            <a:endParaRPr lang="it-IT" sz="1400" dirty="0">
              <a:solidFill>
                <a:schemeClr val="accent4">
                  <a:lumMod val="60000"/>
                  <a:lumOff val="40000"/>
                </a:schemeClr>
              </a:solidFill>
              <a:latin typeface="Consolas" panose="020B0609020204030204" pitchFamily="49" charset="0"/>
            </a:endParaRPr>
          </a:p>
          <a:p>
            <a:r>
              <a:rPr lang="it-IT" sz="1400" dirty="0">
                <a:solidFill>
                  <a:schemeClr val="tx1">
                    <a:lumMod val="50000"/>
                  </a:schemeClr>
                </a:solidFill>
                <a:latin typeface="Consolas" panose="020B0609020204030204" pitchFamily="49" charset="0"/>
              </a:rPr>
              <a:t>C:\Espresso&gt;</a:t>
            </a:r>
            <a:r>
              <a:rPr lang="it-IT" sz="1400" dirty="0">
                <a:solidFill>
                  <a:schemeClr val="accent4">
                    <a:lumMod val="60000"/>
                    <a:lumOff val="40000"/>
                  </a:schemeClr>
                </a:solidFill>
                <a:latin typeface="Consolas" panose="020B0609020204030204" pitchFamily="49" charset="0"/>
              </a:rPr>
              <a:t>espresso –o </a:t>
            </a:r>
            <a:r>
              <a:rPr lang="it-IT" sz="1400" noProof="1">
                <a:solidFill>
                  <a:schemeClr val="accent4">
                    <a:lumMod val="60000"/>
                    <a:lumOff val="40000"/>
                  </a:schemeClr>
                </a:solidFill>
                <a:latin typeface="Consolas" panose="020B0609020204030204" pitchFamily="49" charset="0"/>
              </a:rPr>
              <a:t>eqntott</a:t>
            </a:r>
            <a:r>
              <a:rPr lang="it-IT" sz="1400" dirty="0">
                <a:solidFill>
                  <a:schemeClr val="accent4">
                    <a:lumMod val="60000"/>
                    <a:lumOff val="40000"/>
                  </a:schemeClr>
                </a:solidFill>
                <a:latin typeface="Consolas" panose="020B0609020204030204" pitchFamily="49" charset="0"/>
              </a:rPr>
              <a:t> </a:t>
            </a:r>
            <a:r>
              <a:rPr lang="it-IT" sz="1400" noProof="1">
                <a:solidFill>
                  <a:srgbClr val="FFC000"/>
                </a:solidFill>
                <a:latin typeface="Consolas" panose="020B0609020204030204" pitchFamily="49" charset="0"/>
              </a:rPr>
              <a:t>z_ps.pla</a:t>
            </a:r>
          </a:p>
          <a:p>
            <a:r>
              <a:rPr lang="it-IT" sz="1400" dirty="0">
                <a:solidFill>
                  <a:schemeClr val="accent1">
                    <a:lumMod val="60000"/>
                    <a:lumOff val="40000"/>
                  </a:schemeClr>
                </a:solidFill>
                <a:latin typeface="Consolas" panose="020B0609020204030204" pitchFamily="49" charset="0"/>
              </a:rPr>
              <a:t>z </a:t>
            </a:r>
            <a:r>
              <a:rPr lang="pl-PL" sz="1400" dirty="0">
                <a:solidFill>
                  <a:schemeClr val="accent1">
                    <a:lumMod val="60000"/>
                    <a:lumOff val="40000"/>
                  </a:schemeClr>
                </a:solidFill>
                <a:latin typeface="Consolas" panose="020B0609020204030204" pitchFamily="49" charset="0"/>
              </a:rPr>
              <a:t>= (!a</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&amp;</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b</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&amp;</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!c) | (a</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&amp;</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!b) | (!b</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&amp;</a:t>
            </a:r>
            <a:r>
              <a:rPr lang="it-IT" sz="1400" dirty="0">
                <a:solidFill>
                  <a:schemeClr val="accent1">
                    <a:lumMod val="60000"/>
                    <a:lumOff val="40000"/>
                  </a:schemeClr>
                </a:solidFill>
                <a:latin typeface="Consolas" panose="020B0609020204030204" pitchFamily="49" charset="0"/>
              </a:rPr>
              <a:t> </a:t>
            </a:r>
            <a:r>
              <a:rPr lang="pl-PL" sz="1400" dirty="0">
                <a:solidFill>
                  <a:schemeClr val="accent1">
                    <a:lumMod val="60000"/>
                    <a:lumOff val="40000"/>
                  </a:schemeClr>
                </a:solidFill>
                <a:latin typeface="Consolas" panose="020B0609020204030204" pitchFamily="49" charset="0"/>
              </a:rPr>
              <a:t>c);</a:t>
            </a:r>
            <a:endParaRPr lang="it-IT" sz="1400" dirty="0">
              <a:solidFill>
                <a:schemeClr val="accent1">
                  <a:lumMod val="60000"/>
                  <a:lumOff val="40000"/>
                </a:schemeClr>
              </a:solidFill>
              <a:latin typeface="Consolas" panose="020B0609020204030204" pitchFamily="49" charset="0"/>
            </a:endParaRPr>
          </a:p>
          <a:p>
            <a:endParaRPr lang="it-IT" sz="1400" dirty="0">
              <a:solidFill>
                <a:schemeClr val="accent4">
                  <a:lumMod val="60000"/>
                  <a:lumOff val="40000"/>
                </a:schemeClr>
              </a:solidFill>
              <a:latin typeface="Consolas" panose="020B0609020204030204" pitchFamily="49" charset="0"/>
            </a:endParaRPr>
          </a:p>
          <a:p>
            <a:r>
              <a:rPr lang="it-IT" sz="1400" dirty="0">
                <a:solidFill>
                  <a:schemeClr val="tx1">
                    <a:lumMod val="50000"/>
                  </a:schemeClr>
                </a:solidFill>
                <a:latin typeface="Consolas" panose="020B0609020204030204" pitchFamily="49" charset="0"/>
              </a:rPr>
              <a:t>C:\Espresso&gt;</a:t>
            </a:r>
          </a:p>
        </p:txBody>
      </p:sp>
      <p:sp>
        <p:nvSpPr>
          <p:cNvPr id="14" name="CasellaDiTesto 13">
            <a:extLst>
              <a:ext uri="{FF2B5EF4-FFF2-40B4-BE49-F238E27FC236}">
                <a16:creationId xmlns:a16="http://schemas.microsoft.com/office/drawing/2014/main" id="{A2A9F2E4-85D1-8F2D-9C87-FAE4A079BDBC}"/>
              </a:ext>
            </a:extLst>
          </p:cNvPr>
          <p:cNvSpPr txBox="1"/>
          <p:nvPr/>
        </p:nvSpPr>
        <p:spPr>
          <a:xfrm>
            <a:off x="1479736" y="2828050"/>
            <a:ext cx="1526651" cy="3323987"/>
          </a:xfrm>
          <a:prstGeom prst="rect">
            <a:avLst/>
          </a:prstGeom>
          <a:solidFill>
            <a:schemeClr val="bg1"/>
          </a:solidFill>
          <a:ln w="38100">
            <a:solidFill>
              <a:schemeClr val="accent5">
                <a:lumMod val="75000"/>
              </a:schemeClr>
            </a:solidFill>
          </a:ln>
        </p:spPr>
        <p:txBody>
          <a:bodyPr wrap="square" rtlCol="0">
            <a:spAutoFit/>
          </a:bodyPr>
          <a:lstStyle/>
          <a:p>
            <a:r>
              <a:rPr lang="pt-BR" sz="1400" dirty="0">
                <a:solidFill>
                  <a:schemeClr val="accent1">
                    <a:lumMod val="60000"/>
                    <a:lumOff val="40000"/>
                  </a:schemeClr>
                </a:solidFill>
                <a:latin typeface="Consolas" panose="020B0609020204030204" pitchFamily="49" charset="0"/>
              </a:rPr>
              <a:t>.i 3</a:t>
            </a:r>
          </a:p>
          <a:p>
            <a:r>
              <a:rPr lang="pt-BR" sz="1400" dirty="0">
                <a:solidFill>
                  <a:schemeClr val="accent1">
                    <a:lumMod val="60000"/>
                    <a:lumOff val="40000"/>
                  </a:schemeClr>
                </a:solidFill>
                <a:latin typeface="Consolas" panose="020B0609020204030204" pitchFamily="49" charset="0"/>
              </a:rPr>
              <a:t>.o 1</a:t>
            </a:r>
          </a:p>
          <a:p>
            <a:r>
              <a:rPr lang="pt-BR" sz="1400" dirty="0">
                <a:solidFill>
                  <a:schemeClr val="accent1">
                    <a:lumMod val="60000"/>
                    <a:lumOff val="40000"/>
                  </a:schemeClr>
                </a:solidFill>
                <a:latin typeface="Consolas" panose="020B0609020204030204" pitchFamily="49" charset="0"/>
              </a:rPr>
              <a:t>.p 5</a:t>
            </a:r>
          </a:p>
          <a:p>
            <a:r>
              <a:rPr lang="pt-BR" sz="1400" dirty="0">
                <a:solidFill>
                  <a:schemeClr val="accent1">
                    <a:lumMod val="60000"/>
                    <a:lumOff val="40000"/>
                  </a:schemeClr>
                </a:solidFill>
                <a:latin typeface="Consolas" panose="020B0609020204030204" pitchFamily="49" charset="0"/>
              </a:rPr>
              <a:t>.type r</a:t>
            </a:r>
          </a:p>
          <a:p>
            <a:r>
              <a:rPr lang="pt-BR" sz="1400" dirty="0">
                <a:solidFill>
                  <a:schemeClr val="accent1">
                    <a:lumMod val="60000"/>
                    <a:lumOff val="40000"/>
                  </a:schemeClr>
                </a:solidFill>
                <a:latin typeface="Consolas" panose="020B0609020204030204" pitchFamily="49" charset="0"/>
              </a:rPr>
              <a:t>.phase 0</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1">
                    <a:lumMod val="60000"/>
                    <a:lumOff val="40000"/>
                  </a:schemeClr>
                </a:solidFill>
                <a:latin typeface="Consolas" panose="020B0609020204030204" pitchFamily="49" charset="0"/>
              </a:rPr>
              <a:t>.ilb a b c </a:t>
            </a:r>
          </a:p>
          <a:p>
            <a:r>
              <a:rPr lang="pt-BR" sz="1400" dirty="0">
                <a:solidFill>
                  <a:schemeClr val="accent1">
                    <a:lumMod val="60000"/>
                    <a:lumOff val="40000"/>
                  </a:schemeClr>
                </a:solidFill>
                <a:latin typeface="Consolas" panose="020B0609020204030204" pitchFamily="49" charset="0"/>
              </a:rPr>
              <a:t>.ob z</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2">
                    <a:lumMod val="75000"/>
                  </a:schemeClr>
                </a:solidFill>
                <a:latin typeface="Consolas" panose="020B0609020204030204" pitchFamily="49" charset="0"/>
              </a:rPr>
              <a:t>001 0</a:t>
            </a:r>
          </a:p>
          <a:p>
            <a:r>
              <a:rPr lang="pt-BR" sz="1400" dirty="0">
                <a:solidFill>
                  <a:schemeClr val="accent2">
                    <a:lumMod val="75000"/>
                  </a:schemeClr>
                </a:solidFill>
                <a:latin typeface="Consolas" panose="020B0609020204030204" pitchFamily="49" charset="0"/>
              </a:rPr>
              <a:t>010 0</a:t>
            </a:r>
          </a:p>
          <a:p>
            <a:r>
              <a:rPr lang="pt-BR" sz="1400" dirty="0">
                <a:solidFill>
                  <a:schemeClr val="accent2">
                    <a:lumMod val="75000"/>
                  </a:schemeClr>
                </a:solidFill>
                <a:latin typeface="Consolas" panose="020B0609020204030204" pitchFamily="49" charset="0"/>
              </a:rPr>
              <a:t>100 0</a:t>
            </a:r>
          </a:p>
          <a:p>
            <a:r>
              <a:rPr lang="pt-BR" sz="1400" dirty="0">
                <a:solidFill>
                  <a:schemeClr val="accent2">
                    <a:lumMod val="75000"/>
                  </a:schemeClr>
                </a:solidFill>
                <a:latin typeface="Consolas" panose="020B0609020204030204" pitchFamily="49" charset="0"/>
              </a:rPr>
              <a:t>101 0</a:t>
            </a:r>
          </a:p>
          <a:p>
            <a:r>
              <a:rPr lang="pt-BR" sz="1400" dirty="0">
                <a:solidFill>
                  <a:schemeClr val="accent2">
                    <a:lumMod val="75000"/>
                  </a:schemeClr>
                </a:solidFill>
                <a:latin typeface="Consolas" panose="020B0609020204030204" pitchFamily="49" charset="0"/>
              </a:rPr>
              <a:t>111 -</a:t>
            </a:r>
          </a:p>
          <a:p>
            <a:r>
              <a:rPr lang="pt-BR" sz="1400" dirty="0">
                <a:solidFill>
                  <a:schemeClr val="accent1">
                    <a:lumMod val="60000"/>
                    <a:lumOff val="40000"/>
                  </a:schemeClr>
                </a:solidFill>
                <a:latin typeface="Consolas" panose="020B0609020204030204" pitchFamily="49" charset="0"/>
              </a:rPr>
              <a:t>.e</a:t>
            </a:r>
          </a:p>
        </p:txBody>
      </p:sp>
      <p:pic>
        <p:nvPicPr>
          <p:cNvPr id="5" name="Elemento grafico 4">
            <a:extLst>
              <a:ext uri="{FF2B5EF4-FFF2-40B4-BE49-F238E27FC236}">
                <a16:creationId xmlns:a16="http://schemas.microsoft.com/office/drawing/2014/main" id="{A5A6FC03-6C7B-6A21-AE41-1A81339569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38270" y="2097088"/>
            <a:ext cx="2943091" cy="4139581"/>
          </a:xfrm>
          <a:prstGeom prst="rect">
            <a:avLst/>
          </a:prstGeom>
        </p:spPr>
      </p:pic>
      <p:sp>
        <p:nvSpPr>
          <p:cNvPr id="6" name="Ovale 5">
            <a:extLst>
              <a:ext uri="{FF2B5EF4-FFF2-40B4-BE49-F238E27FC236}">
                <a16:creationId xmlns:a16="http://schemas.microsoft.com/office/drawing/2014/main" id="{CB96E6EC-A054-8A6B-5D23-8DA9270A866B}"/>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101393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a:extLst>
              <a:ext uri="{FF2B5EF4-FFF2-40B4-BE49-F238E27FC236}">
                <a16:creationId xmlns:a16="http://schemas.microsoft.com/office/drawing/2014/main" id="{5B58AF0F-461E-EFFB-3E66-11B441E68BB9}"/>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5752766" y="339936"/>
            <a:ext cx="5804454" cy="1541202"/>
          </a:xfrm>
        </p:spPr>
      </p:pic>
      <p:sp>
        <p:nvSpPr>
          <p:cNvPr id="7" name="CasellaDiTesto 6">
            <a:extLst>
              <a:ext uri="{FF2B5EF4-FFF2-40B4-BE49-F238E27FC236}">
                <a16:creationId xmlns:a16="http://schemas.microsoft.com/office/drawing/2014/main" id="{7A31A842-662F-EB03-96A7-AADFE20180B9}"/>
              </a:ext>
            </a:extLst>
          </p:cNvPr>
          <p:cNvSpPr txBox="1"/>
          <p:nvPr/>
        </p:nvSpPr>
        <p:spPr>
          <a:xfrm>
            <a:off x="788378" y="2158123"/>
            <a:ext cx="1895985" cy="4339650"/>
          </a:xfrm>
          <a:prstGeom prst="rect">
            <a:avLst/>
          </a:prstGeom>
          <a:solidFill>
            <a:schemeClr val="bg1"/>
          </a:solidFill>
          <a:ln w="38100">
            <a:solidFill>
              <a:schemeClr val="accent5">
                <a:lumMod val="75000"/>
              </a:schemeClr>
            </a:solidFill>
          </a:ln>
        </p:spPr>
        <p:txBody>
          <a:bodyPr wrap="square" rtlCol="0">
            <a:spAutoFit/>
          </a:bodyPr>
          <a:lstStyle/>
          <a:p>
            <a:r>
              <a:rPr lang="it-IT" sz="1200" dirty="0">
                <a:solidFill>
                  <a:schemeClr val="accent1">
                    <a:lumMod val="60000"/>
                    <a:lumOff val="40000"/>
                  </a:schemeClr>
                </a:solidFill>
                <a:latin typeface="Consolas" panose="020B0609020204030204" pitchFamily="49" charset="0"/>
              </a:rPr>
              <a:t># </a:t>
            </a:r>
            <a:r>
              <a:rPr lang="pt-BR" sz="1200" dirty="0">
                <a:solidFill>
                  <a:schemeClr val="accent1">
                    <a:lumMod val="60000"/>
                    <a:lumOff val="40000"/>
                  </a:schemeClr>
                </a:solidFill>
                <a:latin typeface="Consolas" panose="020B0609020204030204" pitchFamily="49" charset="0"/>
              </a:rPr>
              <a:t>7seg.pla</a:t>
            </a:r>
            <a:br>
              <a:rPr lang="it-IT" sz="1200" dirty="0">
                <a:solidFill>
                  <a:schemeClr val="accent1">
                    <a:lumMod val="60000"/>
                    <a:lumOff val="40000"/>
                  </a:schemeClr>
                </a:solidFill>
                <a:latin typeface="Consolas" panose="020B0609020204030204" pitchFamily="49" charset="0"/>
              </a:rPr>
            </a:br>
            <a:r>
              <a:rPr lang="it-IT" sz="1200" dirty="0">
                <a:solidFill>
                  <a:schemeClr val="accent1">
                    <a:lumMod val="60000"/>
                    <a:lumOff val="40000"/>
                  </a:schemeClr>
                </a:solidFill>
                <a:latin typeface="Consolas" panose="020B0609020204030204" pitchFamily="49" charset="0"/>
              </a:rPr>
              <a:t>.i 4</a:t>
            </a:r>
          </a:p>
          <a:p>
            <a:r>
              <a:rPr lang="it-IT" sz="1200" dirty="0">
                <a:solidFill>
                  <a:schemeClr val="accent1">
                    <a:lumMod val="60000"/>
                    <a:lumOff val="40000"/>
                  </a:schemeClr>
                </a:solidFill>
                <a:latin typeface="Consolas" panose="020B0609020204030204" pitchFamily="49" charset="0"/>
              </a:rPr>
              <a:t>.o 7</a:t>
            </a:r>
          </a:p>
          <a:p>
            <a:r>
              <a:rPr lang="it-IT" sz="1200" dirty="0">
                <a:solidFill>
                  <a:schemeClr val="accent1">
                    <a:lumMod val="60000"/>
                    <a:lumOff val="40000"/>
                  </a:schemeClr>
                </a:solidFill>
                <a:latin typeface="Consolas" panose="020B0609020204030204" pitchFamily="49" charset="0"/>
              </a:rPr>
              <a:t>.p 16</a:t>
            </a:r>
          </a:p>
          <a:p>
            <a:r>
              <a:rPr lang="it-IT" sz="1200" dirty="0">
                <a:solidFill>
                  <a:schemeClr val="accent1">
                    <a:lumMod val="60000"/>
                    <a:lumOff val="40000"/>
                  </a:schemeClr>
                </a:solidFill>
                <a:latin typeface="Consolas" panose="020B0609020204030204" pitchFamily="49" charset="0"/>
              </a:rPr>
              <a:t>.</a:t>
            </a:r>
            <a:r>
              <a:rPr lang="it-IT" sz="1200" noProof="1">
                <a:solidFill>
                  <a:schemeClr val="accent1">
                    <a:lumMod val="60000"/>
                    <a:lumOff val="40000"/>
                  </a:schemeClr>
                </a:solidFill>
                <a:latin typeface="Consolas" panose="020B0609020204030204" pitchFamily="49" charset="0"/>
              </a:rPr>
              <a:t>ilb</a:t>
            </a:r>
            <a:r>
              <a:rPr lang="it-IT" sz="1200" dirty="0">
                <a:solidFill>
                  <a:schemeClr val="accent1">
                    <a:lumMod val="60000"/>
                    <a:lumOff val="40000"/>
                  </a:schemeClr>
                </a:solidFill>
                <a:latin typeface="Consolas" panose="020B0609020204030204" pitchFamily="49" charset="0"/>
              </a:rPr>
              <a:t> i3 i2 i1 i0 </a:t>
            </a:r>
          </a:p>
          <a:p>
            <a:r>
              <a:rPr lang="it-IT" sz="1200" dirty="0">
                <a:solidFill>
                  <a:schemeClr val="accent1">
                    <a:lumMod val="60000"/>
                    <a:lumOff val="40000"/>
                  </a:schemeClr>
                </a:solidFill>
                <a:latin typeface="Consolas" panose="020B0609020204030204" pitchFamily="49" charset="0"/>
              </a:rPr>
              <a:t>.</a:t>
            </a:r>
            <a:r>
              <a:rPr lang="it-IT" sz="1200" noProof="1">
                <a:solidFill>
                  <a:schemeClr val="accent1">
                    <a:lumMod val="60000"/>
                    <a:lumOff val="40000"/>
                  </a:schemeClr>
                </a:solidFill>
                <a:latin typeface="Consolas" panose="020B0609020204030204" pitchFamily="49" charset="0"/>
              </a:rPr>
              <a:t>ob</a:t>
            </a:r>
            <a:r>
              <a:rPr lang="it-IT" sz="1200" dirty="0">
                <a:solidFill>
                  <a:schemeClr val="accent1">
                    <a:lumMod val="60000"/>
                    <a:lumOff val="40000"/>
                  </a:schemeClr>
                </a:solidFill>
                <a:latin typeface="Consolas" panose="020B0609020204030204" pitchFamily="49" charset="0"/>
              </a:rPr>
              <a:t> a b c d e f g </a:t>
            </a:r>
          </a:p>
          <a:p>
            <a:r>
              <a:rPr lang="it-IT" sz="1200" dirty="0">
                <a:solidFill>
                  <a:schemeClr val="accent1">
                    <a:lumMod val="60000"/>
                    <a:lumOff val="40000"/>
                  </a:schemeClr>
                </a:solidFill>
                <a:latin typeface="Consolas" panose="020B0609020204030204" pitchFamily="49" charset="0"/>
              </a:rPr>
              <a:t>0000 1111110</a:t>
            </a:r>
          </a:p>
          <a:p>
            <a:r>
              <a:rPr lang="it-IT" sz="1200" dirty="0">
                <a:solidFill>
                  <a:schemeClr val="accent1">
                    <a:lumMod val="60000"/>
                    <a:lumOff val="40000"/>
                  </a:schemeClr>
                </a:solidFill>
                <a:latin typeface="Consolas" panose="020B0609020204030204" pitchFamily="49" charset="0"/>
              </a:rPr>
              <a:t>0001 0110000</a:t>
            </a:r>
          </a:p>
          <a:p>
            <a:r>
              <a:rPr lang="it-IT" sz="1200" dirty="0">
                <a:solidFill>
                  <a:schemeClr val="accent1">
                    <a:lumMod val="60000"/>
                    <a:lumOff val="40000"/>
                  </a:schemeClr>
                </a:solidFill>
                <a:latin typeface="Consolas" panose="020B0609020204030204" pitchFamily="49" charset="0"/>
              </a:rPr>
              <a:t>0010 1101101</a:t>
            </a:r>
          </a:p>
          <a:p>
            <a:r>
              <a:rPr lang="it-IT" sz="1200" dirty="0">
                <a:solidFill>
                  <a:schemeClr val="accent1">
                    <a:lumMod val="60000"/>
                    <a:lumOff val="40000"/>
                  </a:schemeClr>
                </a:solidFill>
                <a:latin typeface="Consolas" panose="020B0609020204030204" pitchFamily="49" charset="0"/>
              </a:rPr>
              <a:t>0011 1111001</a:t>
            </a:r>
          </a:p>
          <a:p>
            <a:r>
              <a:rPr lang="it-IT" sz="1200" dirty="0">
                <a:solidFill>
                  <a:schemeClr val="accent1">
                    <a:lumMod val="60000"/>
                    <a:lumOff val="40000"/>
                  </a:schemeClr>
                </a:solidFill>
                <a:latin typeface="Consolas" panose="020B0609020204030204" pitchFamily="49" charset="0"/>
              </a:rPr>
              <a:t>0100 0110011</a:t>
            </a:r>
          </a:p>
          <a:p>
            <a:r>
              <a:rPr lang="it-IT" sz="1200" dirty="0">
                <a:solidFill>
                  <a:schemeClr val="accent1">
                    <a:lumMod val="60000"/>
                    <a:lumOff val="40000"/>
                  </a:schemeClr>
                </a:solidFill>
                <a:latin typeface="Consolas" panose="020B0609020204030204" pitchFamily="49" charset="0"/>
              </a:rPr>
              <a:t>0101 1011011</a:t>
            </a:r>
          </a:p>
          <a:p>
            <a:r>
              <a:rPr lang="it-IT" sz="1200" dirty="0">
                <a:solidFill>
                  <a:schemeClr val="accent1">
                    <a:lumMod val="60000"/>
                    <a:lumOff val="40000"/>
                  </a:schemeClr>
                </a:solidFill>
                <a:latin typeface="Consolas" panose="020B0609020204030204" pitchFamily="49" charset="0"/>
              </a:rPr>
              <a:t>0110 1011111</a:t>
            </a:r>
          </a:p>
          <a:p>
            <a:r>
              <a:rPr lang="it-IT" sz="1200" dirty="0">
                <a:solidFill>
                  <a:schemeClr val="accent1">
                    <a:lumMod val="60000"/>
                    <a:lumOff val="40000"/>
                  </a:schemeClr>
                </a:solidFill>
                <a:latin typeface="Consolas" panose="020B0609020204030204" pitchFamily="49" charset="0"/>
              </a:rPr>
              <a:t>0111 1110000</a:t>
            </a:r>
          </a:p>
          <a:p>
            <a:r>
              <a:rPr lang="it-IT" sz="1200" dirty="0">
                <a:solidFill>
                  <a:schemeClr val="accent1">
                    <a:lumMod val="60000"/>
                    <a:lumOff val="40000"/>
                  </a:schemeClr>
                </a:solidFill>
                <a:latin typeface="Consolas" panose="020B0609020204030204" pitchFamily="49" charset="0"/>
              </a:rPr>
              <a:t>1000 1111111</a:t>
            </a:r>
          </a:p>
          <a:p>
            <a:r>
              <a:rPr lang="it-IT" sz="1200" dirty="0">
                <a:solidFill>
                  <a:schemeClr val="accent1">
                    <a:lumMod val="60000"/>
                    <a:lumOff val="40000"/>
                  </a:schemeClr>
                </a:solidFill>
                <a:latin typeface="Consolas" panose="020B0609020204030204" pitchFamily="49" charset="0"/>
              </a:rPr>
              <a:t>1001 1110011</a:t>
            </a:r>
          </a:p>
          <a:p>
            <a:r>
              <a:rPr lang="it-IT" sz="1200" dirty="0">
                <a:solidFill>
                  <a:schemeClr val="accent1">
                    <a:lumMod val="60000"/>
                    <a:lumOff val="40000"/>
                  </a:schemeClr>
                </a:solidFill>
                <a:latin typeface="Consolas" panose="020B0609020204030204" pitchFamily="49" charset="0"/>
              </a:rPr>
              <a:t>1010 1110111</a:t>
            </a:r>
          </a:p>
          <a:p>
            <a:r>
              <a:rPr lang="it-IT" sz="1200" dirty="0">
                <a:solidFill>
                  <a:schemeClr val="accent1">
                    <a:lumMod val="60000"/>
                    <a:lumOff val="40000"/>
                  </a:schemeClr>
                </a:solidFill>
                <a:latin typeface="Consolas" panose="020B0609020204030204" pitchFamily="49" charset="0"/>
              </a:rPr>
              <a:t>1011 0011111</a:t>
            </a:r>
          </a:p>
          <a:p>
            <a:r>
              <a:rPr lang="it-IT" sz="1200" dirty="0">
                <a:solidFill>
                  <a:schemeClr val="accent1">
                    <a:lumMod val="60000"/>
                    <a:lumOff val="40000"/>
                  </a:schemeClr>
                </a:solidFill>
                <a:latin typeface="Consolas" panose="020B0609020204030204" pitchFamily="49" charset="0"/>
              </a:rPr>
              <a:t>1100 1001110</a:t>
            </a:r>
          </a:p>
          <a:p>
            <a:r>
              <a:rPr lang="it-IT" sz="1200" dirty="0">
                <a:solidFill>
                  <a:schemeClr val="accent1">
                    <a:lumMod val="60000"/>
                    <a:lumOff val="40000"/>
                  </a:schemeClr>
                </a:solidFill>
                <a:latin typeface="Consolas" panose="020B0609020204030204" pitchFamily="49" charset="0"/>
              </a:rPr>
              <a:t>1101 0111101</a:t>
            </a:r>
          </a:p>
          <a:p>
            <a:r>
              <a:rPr lang="it-IT" sz="1200" dirty="0">
                <a:solidFill>
                  <a:schemeClr val="accent1">
                    <a:lumMod val="60000"/>
                    <a:lumOff val="40000"/>
                  </a:schemeClr>
                </a:solidFill>
                <a:latin typeface="Consolas" panose="020B0609020204030204" pitchFamily="49" charset="0"/>
              </a:rPr>
              <a:t>1110 1001111</a:t>
            </a:r>
          </a:p>
          <a:p>
            <a:r>
              <a:rPr lang="it-IT" sz="1200" dirty="0">
                <a:solidFill>
                  <a:schemeClr val="accent1">
                    <a:lumMod val="60000"/>
                    <a:lumOff val="40000"/>
                  </a:schemeClr>
                </a:solidFill>
                <a:latin typeface="Consolas" panose="020B0609020204030204" pitchFamily="49" charset="0"/>
              </a:rPr>
              <a:t>1111 1000111</a:t>
            </a:r>
          </a:p>
          <a:p>
            <a:r>
              <a:rPr lang="it-IT" sz="1200" dirty="0">
                <a:solidFill>
                  <a:schemeClr val="accent1">
                    <a:lumMod val="60000"/>
                    <a:lumOff val="40000"/>
                  </a:schemeClr>
                </a:solidFill>
                <a:latin typeface="Consolas" panose="020B0609020204030204" pitchFamily="49" charset="0"/>
              </a:rPr>
              <a:t>.e</a:t>
            </a:r>
          </a:p>
        </p:txBody>
      </p:sp>
      <p:sp>
        <p:nvSpPr>
          <p:cNvPr id="8" name="CasellaDiTesto 7">
            <a:extLst>
              <a:ext uri="{FF2B5EF4-FFF2-40B4-BE49-F238E27FC236}">
                <a16:creationId xmlns:a16="http://schemas.microsoft.com/office/drawing/2014/main" id="{EAD35DF0-90EC-691F-B1EF-215EBF2A3433}"/>
              </a:ext>
            </a:extLst>
          </p:cNvPr>
          <p:cNvSpPr txBox="1"/>
          <p:nvPr/>
        </p:nvSpPr>
        <p:spPr>
          <a:xfrm>
            <a:off x="3192522" y="2179669"/>
            <a:ext cx="2085917" cy="4154984"/>
          </a:xfrm>
          <a:prstGeom prst="rect">
            <a:avLst/>
          </a:prstGeom>
          <a:solidFill>
            <a:schemeClr val="bg1"/>
          </a:solidFill>
          <a:ln w="38100">
            <a:solidFill>
              <a:schemeClr val="accent5">
                <a:lumMod val="75000"/>
              </a:schemeClr>
            </a:solidFill>
          </a:ln>
        </p:spPr>
        <p:txBody>
          <a:bodyPr wrap="square" rtlCol="0">
            <a:spAutoFit/>
          </a:bodyPr>
          <a:lstStyle/>
          <a:p>
            <a:r>
              <a:rPr lang="pt-BR" sz="1200" dirty="0">
                <a:solidFill>
                  <a:schemeClr val="tx1">
                    <a:lumMod val="65000"/>
                  </a:schemeClr>
                </a:solidFill>
                <a:latin typeface="Consolas" panose="020B0609020204030204" pitchFamily="49" charset="0"/>
              </a:rPr>
              <a:t>C:&gt;</a:t>
            </a:r>
            <a:r>
              <a:rPr lang="pt-BR" sz="1200" dirty="0">
                <a:solidFill>
                  <a:schemeClr val="accent4">
                    <a:lumMod val="60000"/>
                    <a:lumOff val="40000"/>
                  </a:schemeClr>
                </a:solidFill>
                <a:latin typeface="Consolas" panose="020B0609020204030204" pitchFamily="49" charset="0"/>
              </a:rPr>
              <a:t>espresso</a:t>
            </a:r>
            <a:r>
              <a:rPr lang="pt-BR" sz="1200" dirty="0">
                <a:solidFill>
                  <a:schemeClr val="accent1">
                    <a:lumMod val="60000"/>
                    <a:lumOff val="40000"/>
                  </a:schemeClr>
                </a:solidFill>
                <a:latin typeface="Consolas" panose="020B0609020204030204" pitchFamily="49" charset="0"/>
              </a:rPr>
              <a:t> </a:t>
            </a:r>
            <a:r>
              <a:rPr lang="pt-BR" sz="1200" dirty="0">
                <a:solidFill>
                  <a:srgbClr val="FFFF00"/>
                </a:solidFill>
                <a:latin typeface="Consolas" panose="020B0609020204030204" pitchFamily="49" charset="0"/>
              </a:rPr>
              <a:t>7seg.pla</a:t>
            </a:r>
          </a:p>
          <a:p>
            <a:endParaRPr lang="it-IT" sz="1200" noProof="1">
              <a:solidFill>
                <a:schemeClr val="accent1">
                  <a:lumMod val="60000"/>
                  <a:lumOff val="40000"/>
                </a:schemeClr>
              </a:solidFill>
              <a:latin typeface="Consolas" panose="020B0609020204030204" pitchFamily="49" charset="0"/>
            </a:endParaRPr>
          </a:p>
          <a:p>
            <a:r>
              <a:rPr lang="it-IT" sz="1200" dirty="0">
                <a:solidFill>
                  <a:schemeClr val="accent1">
                    <a:lumMod val="60000"/>
                    <a:lumOff val="40000"/>
                  </a:schemeClr>
                </a:solidFill>
                <a:latin typeface="Consolas" panose="020B0609020204030204" pitchFamily="49" charset="0"/>
              </a:rPr>
              <a:t>.i 4</a:t>
            </a:r>
          </a:p>
          <a:p>
            <a:r>
              <a:rPr lang="it-IT" sz="1200" dirty="0">
                <a:solidFill>
                  <a:schemeClr val="accent1">
                    <a:lumMod val="60000"/>
                    <a:lumOff val="40000"/>
                  </a:schemeClr>
                </a:solidFill>
                <a:latin typeface="Consolas" panose="020B0609020204030204" pitchFamily="49" charset="0"/>
              </a:rPr>
              <a:t>.o 7</a:t>
            </a:r>
          </a:p>
          <a:p>
            <a:r>
              <a:rPr lang="it-IT" sz="1200" dirty="0">
                <a:solidFill>
                  <a:schemeClr val="accent1">
                    <a:lumMod val="60000"/>
                    <a:lumOff val="40000"/>
                  </a:schemeClr>
                </a:solidFill>
                <a:latin typeface="Consolas" panose="020B0609020204030204" pitchFamily="49" charset="0"/>
              </a:rPr>
              <a:t>.</a:t>
            </a:r>
            <a:r>
              <a:rPr lang="it-IT" sz="1200" dirty="0" err="1">
                <a:solidFill>
                  <a:schemeClr val="accent1">
                    <a:lumMod val="60000"/>
                    <a:lumOff val="40000"/>
                  </a:schemeClr>
                </a:solidFill>
                <a:latin typeface="Consolas" panose="020B0609020204030204" pitchFamily="49" charset="0"/>
              </a:rPr>
              <a:t>ilb</a:t>
            </a:r>
            <a:r>
              <a:rPr lang="it-IT" sz="1200" dirty="0">
                <a:solidFill>
                  <a:schemeClr val="accent1">
                    <a:lumMod val="60000"/>
                    <a:lumOff val="40000"/>
                  </a:schemeClr>
                </a:solidFill>
                <a:latin typeface="Consolas" panose="020B0609020204030204" pitchFamily="49" charset="0"/>
              </a:rPr>
              <a:t> i3 i2 i1 i0</a:t>
            </a:r>
          </a:p>
          <a:p>
            <a:r>
              <a:rPr lang="it-IT" sz="1200" dirty="0">
                <a:solidFill>
                  <a:schemeClr val="accent1">
                    <a:lumMod val="60000"/>
                    <a:lumOff val="40000"/>
                  </a:schemeClr>
                </a:solidFill>
                <a:latin typeface="Consolas" panose="020B0609020204030204" pitchFamily="49" charset="0"/>
              </a:rPr>
              <a:t>.</a:t>
            </a:r>
            <a:r>
              <a:rPr lang="it-IT" sz="1200" dirty="0" err="1">
                <a:solidFill>
                  <a:schemeClr val="accent1">
                    <a:lumMod val="60000"/>
                    <a:lumOff val="40000"/>
                  </a:schemeClr>
                </a:solidFill>
                <a:latin typeface="Consolas" panose="020B0609020204030204" pitchFamily="49" charset="0"/>
              </a:rPr>
              <a:t>ob</a:t>
            </a:r>
            <a:r>
              <a:rPr lang="it-IT" sz="1200" dirty="0">
                <a:solidFill>
                  <a:schemeClr val="accent1">
                    <a:lumMod val="60000"/>
                    <a:lumOff val="40000"/>
                  </a:schemeClr>
                </a:solidFill>
                <a:latin typeface="Consolas" panose="020B0609020204030204" pitchFamily="49" charset="0"/>
              </a:rPr>
              <a:t> a b c d e f g</a:t>
            </a:r>
          </a:p>
          <a:p>
            <a:r>
              <a:rPr lang="it-IT" sz="1200" dirty="0">
                <a:solidFill>
                  <a:schemeClr val="accent1">
                    <a:lumMod val="60000"/>
                    <a:lumOff val="40000"/>
                  </a:schemeClr>
                </a:solidFill>
                <a:latin typeface="Consolas" panose="020B0609020204030204" pitchFamily="49" charset="0"/>
              </a:rPr>
              <a:t>.p 14</a:t>
            </a:r>
          </a:p>
          <a:p>
            <a:r>
              <a:rPr lang="it-IT" sz="1200" dirty="0">
                <a:solidFill>
                  <a:schemeClr val="accent1">
                    <a:lumMod val="60000"/>
                    <a:lumOff val="40000"/>
                  </a:schemeClr>
                </a:solidFill>
                <a:latin typeface="Consolas" panose="020B0609020204030204" pitchFamily="49" charset="0"/>
              </a:rPr>
              <a:t>1011 0001100</a:t>
            </a:r>
          </a:p>
          <a:p>
            <a:r>
              <a:rPr lang="it-IT" sz="1200" dirty="0">
                <a:solidFill>
                  <a:schemeClr val="accent1">
                    <a:lumMod val="60000"/>
                    <a:lumOff val="40000"/>
                  </a:schemeClr>
                </a:solidFill>
                <a:latin typeface="Consolas" panose="020B0609020204030204" pitchFamily="49" charset="0"/>
              </a:rPr>
              <a:t>100- 1000000</a:t>
            </a:r>
          </a:p>
          <a:p>
            <a:r>
              <a:rPr lang="it-IT" sz="1200" dirty="0">
                <a:solidFill>
                  <a:schemeClr val="accent1">
                    <a:lumMod val="60000"/>
                    <a:lumOff val="40000"/>
                  </a:schemeClr>
                </a:solidFill>
                <a:latin typeface="Consolas" panose="020B0609020204030204" pitchFamily="49" charset="0"/>
              </a:rPr>
              <a:t>001- 0001001</a:t>
            </a:r>
          </a:p>
          <a:p>
            <a:r>
              <a:rPr lang="it-IT" sz="1200" dirty="0">
                <a:solidFill>
                  <a:schemeClr val="accent1">
                    <a:lumMod val="60000"/>
                    <a:lumOff val="40000"/>
                  </a:schemeClr>
                </a:solidFill>
                <a:latin typeface="Consolas" panose="020B0609020204030204" pitchFamily="49" charset="0"/>
              </a:rPr>
              <a:t>-000 0001010</a:t>
            </a:r>
          </a:p>
          <a:p>
            <a:r>
              <a:rPr lang="it-IT" sz="1200" dirty="0">
                <a:solidFill>
                  <a:schemeClr val="accent1">
                    <a:lumMod val="60000"/>
                    <a:lumOff val="40000"/>
                  </a:schemeClr>
                </a:solidFill>
                <a:latin typeface="Consolas" panose="020B0609020204030204" pitchFamily="49" charset="0"/>
              </a:rPr>
              <a:t>0-11 1110000</a:t>
            </a:r>
          </a:p>
          <a:p>
            <a:r>
              <a:rPr lang="it-IT" sz="1200" dirty="0">
                <a:solidFill>
                  <a:schemeClr val="accent1">
                    <a:lumMod val="60000"/>
                    <a:lumOff val="40000"/>
                  </a:schemeClr>
                </a:solidFill>
                <a:latin typeface="Consolas" panose="020B0609020204030204" pitchFamily="49" charset="0"/>
              </a:rPr>
              <a:t>0100 0110011</a:t>
            </a:r>
          </a:p>
          <a:p>
            <a:r>
              <a:rPr lang="it-IT" sz="1200" dirty="0">
                <a:solidFill>
                  <a:schemeClr val="accent1">
                    <a:lumMod val="60000"/>
                    <a:lumOff val="40000"/>
                  </a:schemeClr>
                </a:solidFill>
                <a:latin typeface="Consolas" panose="020B0609020204030204" pitchFamily="49" charset="0"/>
              </a:rPr>
              <a:t>-00- 0110000</a:t>
            </a:r>
          </a:p>
          <a:p>
            <a:r>
              <a:rPr lang="it-IT" sz="1200" dirty="0">
                <a:solidFill>
                  <a:schemeClr val="accent1">
                    <a:lumMod val="60000"/>
                    <a:lumOff val="40000"/>
                  </a:schemeClr>
                </a:solidFill>
                <a:latin typeface="Consolas" panose="020B0609020204030204" pitchFamily="49" charset="0"/>
              </a:rPr>
              <a:t>1101 0111101</a:t>
            </a:r>
          </a:p>
          <a:p>
            <a:r>
              <a:rPr lang="it-IT" sz="1200" dirty="0">
                <a:solidFill>
                  <a:schemeClr val="accent1">
                    <a:lumMod val="60000"/>
                    <a:lumOff val="40000"/>
                  </a:schemeClr>
                </a:solidFill>
                <a:latin typeface="Consolas" panose="020B0609020204030204" pitchFamily="49" charset="0"/>
              </a:rPr>
              <a:t>0101 1011011</a:t>
            </a:r>
          </a:p>
          <a:p>
            <a:r>
              <a:rPr lang="it-IT" sz="1200" dirty="0">
                <a:solidFill>
                  <a:schemeClr val="accent1">
                    <a:lumMod val="60000"/>
                    <a:lumOff val="40000"/>
                  </a:schemeClr>
                </a:solidFill>
                <a:latin typeface="Consolas" panose="020B0609020204030204" pitchFamily="49" charset="0"/>
              </a:rPr>
              <a:t>-0-0 1100100</a:t>
            </a:r>
          </a:p>
          <a:p>
            <a:r>
              <a:rPr lang="it-IT" sz="1200" dirty="0">
                <a:solidFill>
                  <a:schemeClr val="accent1">
                    <a:lumMod val="60000"/>
                    <a:lumOff val="40000"/>
                  </a:schemeClr>
                </a:solidFill>
                <a:latin typeface="Consolas" panose="020B0609020204030204" pitchFamily="49" charset="0"/>
              </a:rPr>
              <a:t>11-0 1001110</a:t>
            </a:r>
          </a:p>
          <a:p>
            <a:r>
              <a:rPr lang="it-IT" sz="1200" dirty="0">
                <a:solidFill>
                  <a:schemeClr val="accent1">
                    <a:lumMod val="60000"/>
                    <a:lumOff val="40000"/>
                  </a:schemeClr>
                </a:solidFill>
                <a:latin typeface="Consolas" panose="020B0609020204030204" pitchFamily="49" charset="0"/>
              </a:rPr>
              <a:t>111- 1000111</a:t>
            </a:r>
          </a:p>
          <a:p>
            <a:r>
              <a:rPr lang="it-IT" sz="1200" dirty="0">
                <a:solidFill>
                  <a:schemeClr val="accent1">
                    <a:lumMod val="60000"/>
                    <a:lumOff val="40000"/>
                  </a:schemeClr>
                </a:solidFill>
                <a:latin typeface="Consolas" panose="020B0609020204030204" pitchFamily="49" charset="0"/>
              </a:rPr>
              <a:t>10-- 0010011</a:t>
            </a:r>
          </a:p>
          <a:p>
            <a:r>
              <a:rPr lang="it-IT" sz="1200" dirty="0">
                <a:solidFill>
                  <a:schemeClr val="accent1">
                    <a:lumMod val="60000"/>
                    <a:lumOff val="40000"/>
                  </a:schemeClr>
                </a:solidFill>
                <a:latin typeface="Consolas" panose="020B0609020204030204" pitchFamily="49" charset="0"/>
              </a:rPr>
              <a:t>0110 1011111</a:t>
            </a:r>
          </a:p>
          <a:p>
            <a:r>
              <a:rPr lang="it-IT" sz="1200" dirty="0">
                <a:solidFill>
                  <a:schemeClr val="accent1">
                    <a:lumMod val="60000"/>
                    <a:lumOff val="40000"/>
                  </a:schemeClr>
                </a:solidFill>
                <a:latin typeface="Consolas" panose="020B0609020204030204" pitchFamily="49" charset="0"/>
              </a:rPr>
              <a:t>.e</a:t>
            </a:r>
          </a:p>
        </p:txBody>
      </p:sp>
      <p:sp>
        <p:nvSpPr>
          <p:cNvPr id="9" name="Freccia a destra 8">
            <a:extLst>
              <a:ext uri="{FF2B5EF4-FFF2-40B4-BE49-F238E27FC236}">
                <a16:creationId xmlns:a16="http://schemas.microsoft.com/office/drawing/2014/main" id="{DC9DA353-E547-E341-23F9-A985C5815C17}"/>
              </a:ext>
            </a:extLst>
          </p:cNvPr>
          <p:cNvSpPr/>
          <p:nvPr/>
        </p:nvSpPr>
        <p:spPr>
          <a:xfrm>
            <a:off x="2785778" y="4008455"/>
            <a:ext cx="321230" cy="3127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3A9F1E8B-40D2-AC6E-E004-8E30E58A9621}"/>
              </a:ext>
            </a:extLst>
          </p:cNvPr>
          <p:cNvSpPr txBox="1"/>
          <p:nvPr/>
        </p:nvSpPr>
        <p:spPr>
          <a:xfrm>
            <a:off x="5701084" y="2168390"/>
            <a:ext cx="5907819" cy="4131900"/>
          </a:xfrm>
          <a:prstGeom prst="rect">
            <a:avLst/>
          </a:prstGeom>
          <a:solidFill>
            <a:schemeClr val="bg1"/>
          </a:solidFill>
          <a:ln w="38100">
            <a:solidFill>
              <a:schemeClr val="accent5">
                <a:lumMod val="75000"/>
              </a:schemeClr>
            </a:solidFill>
          </a:ln>
        </p:spPr>
        <p:txBody>
          <a:bodyPr wrap="square" rtlCol="0">
            <a:spAutoFit/>
          </a:bodyPr>
          <a:lstStyle/>
          <a:p>
            <a:r>
              <a:rPr lang="pt-BR" sz="1050" dirty="0">
                <a:solidFill>
                  <a:schemeClr val="tx1">
                    <a:lumMod val="65000"/>
                  </a:schemeClr>
                </a:solidFill>
                <a:latin typeface="Consolas" panose="020B0609020204030204" pitchFamily="49" charset="0"/>
              </a:rPr>
              <a:t>C:&gt;</a:t>
            </a:r>
            <a:r>
              <a:rPr lang="pt-BR" sz="1050" dirty="0">
                <a:solidFill>
                  <a:schemeClr val="accent4">
                    <a:lumMod val="60000"/>
                    <a:lumOff val="40000"/>
                  </a:schemeClr>
                </a:solidFill>
                <a:latin typeface="Consolas" panose="020B0609020204030204" pitchFamily="49" charset="0"/>
              </a:rPr>
              <a:t>espresso</a:t>
            </a:r>
            <a:r>
              <a:rPr lang="pt-BR" sz="1050" dirty="0">
                <a:solidFill>
                  <a:schemeClr val="accent1">
                    <a:lumMod val="60000"/>
                    <a:lumOff val="40000"/>
                  </a:schemeClr>
                </a:solidFill>
                <a:latin typeface="Consolas" panose="020B0609020204030204" pitchFamily="49" charset="0"/>
              </a:rPr>
              <a:t> </a:t>
            </a:r>
            <a:r>
              <a:rPr lang="pt-BR" sz="1050" dirty="0">
                <a:solidFill>
                  <a:schemeClr val="accent4">
                    <a:lumMod val="60000"/>
                    <a:lumOff val="40000"/>
                  </a:schemeClr>
                </a:solidFill>
                <a:latin typeface="Consolas" panose="020B0609020204030204" pitchFamily="49" charset="0"/>
              </a:rPr>
              <a:t>-o eqntott</a:t>
            </a:r>
            <a:r>
              <a:rPr lang="pt-BR" sz="1050" dirty="0">
                <a:solidFill>
                  <a:schemeClr val="accent1">
                    <a:lumMod val="60000"/>
                    <a:lumOff val="40000"/>
                  </a:schemeClr>
                </a:solidFill>
                <a:latin typeface="Consolas" panose="020B0609020204030204" pitchFamily="49" charset="0"/>
              </a:rPr>
              <a:t> </a:t>
            </a:r>
            <a:r>
              <a:rPr lang="pt-BR" sz="1050" dirty="0">
                <a:solidFill>
                  <a:srgbClr val="FFFF00"/>
                </a:solidFill>
                <a:latin typeface="Consolas" panose="020B0609020204030204" pitchFamily="49" charset="0"/>
              </a:rPr>
              <a:t>7seg.pla</a:t>
            </a:r>
          </a:p>
          <a:p>
            <a:endParaRPr lang="pt-BR"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a = (i3 &amp; !i2 &amp; !i1) | (!i3 &amp; i1 &amp; i0) | (!i3 &amp; i2 &amp;! i1 &amp; i0) | (!i2 &amp; !i0) </a:t>
            </a:r>
          </a:p>
          <a:p>
            <a:r>
              <a:rPr lang="nn-NO" sz="1050" dirty="0">
                <a:solidFill>
                  <a:schemeClr val="accent1">
                    <a:lumMod val="60000"/>
                    <a:lumOff val="40000"/>
                  </a:schemeClr>
                </a:solidFill>
                <a:latin typeface="Consolas" panose="020B0609020204030204" pitchFamily="49" charset="0"/>
              </a:rPr>
              <a:t>  | (i3 &amp; i2 &amp; !i0 ) | (i3 &amp; i2 &amp; i1)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b = (!i3 &amp; i1 &amp; i0) | (!i3 &amp; i2 &amp; !i1 &amp; !i0) | (!i2 &amp; !i1)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(!i2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c = (!i3 &amp; i1 &amp; i0) | (!i3 &amp; i2 &amp; !i1 &amp; !i0) | (!i2 &amp; !i1)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(!i3 &amp; i2 &amp; !i1 &amp; i0) | (i3 &amp;! i2)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d = (i3 &amp; !i2 &amp;i1 &amp; i0) | (!i3 &amp; !i2 &amp; i1) | (!i2 &amp; !i1 &amp; !i0)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(!i3 &amp; i2 &amp; !i1 &amp; i0 ) | (i3&amp;i2&amp;!i0)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e = (i3 &amp; !i2 &amp; i1 &amp; i0) | (i3 &amp; i2 &amp; !i1 &amp; i0) | (!i2 &amp; !i0)</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!i0) | (i3 &amp; i2 &amp; i1)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f = (!i2 &amp; !i1 &amp; !i0) | (!i3 &amp; i2 &amp; !i1 &amp; !i0) | (!i3 &amp; i2 &amp; !i1 &amp; i0) </a:t>
            </a:r>
          </a:p>
          <a:p>
            <a:r>
              <a:rPr lang="nn-NO" sz="1050" dirty="0">
                <a:solidFill>
                  <a:schemeClr val="accent1">
                    <a:lumMod val="60000"/>
                    <a:lumOff val="40000"/>
                  </a:schemeClr>
                </a:solidFill>
                <a:latin typeface="Consolas" panose="020B0609020204030204" pitchFamily="49" charset="0"/>
              </a:rPr>
              <a:t>  | (i3 &amp; i2 &amp; !i0) | (i3 &amp; i2 &amp; i1) | (i3 &amp; !i2)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g = (!i3 &amp; !i2 &amp; i1) | (!i3 &amp; i2 &amp; !i1 &amp; !i0) | (i3 &amp; i2 &amp; !i1 &amp; i0)</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(i3 &amp; i2 &amp; i1) | (i3 &amp; !i2)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a:t>
            </a:r>
            <a:endParaRPr lang="it-IT" sz="1050" dirty="0">
              <a:solidFill>
                <a:schemeClr val="accent1">
                  <a:lumMod val="60000"/>
                  <a:lumOff val="40000"/>
                </a:schemeClr>
              </a:solidFill>
              <a:latin typeface="Consolas" panose="020B0609020204030204" pitchFamily="49" charset="0"/>
            </a:endParaRPr>
          </a:p>
        </p:txBody>
      </p:sp>
      <p:sp>
        <p:nvSpPr>
          <p:cNvPr id="2" name="Titolo 1">
            <a:extLst>
              <a:ext uri="{FF2B5EF4-FFF2-40B4-BE49-F238E27FC236}">
                <a16:creationId xmlns:a16="http://schemas.microsoft.com/office/drawing/2014/main" id="{4026AD8F-2C59-4479-6585-6EC313AC721C}"/>
              </a:ext>
            </a:extLst>
          </p:cNvPr>
          <p:cNvSpPr>
            <a:spLocks noGrp="1"/>
          </p:cNvSpPr>
          <p:nvPr>
            <p:ph type="title"/>
          </p:nvPr>
        </p:nvSpPr>
        <p:spPr>
          <a:xfrm>
            <a:off x="1141413" y="618518"/>
            <a:ext cx="9905998" cy="984039"/>
          </a:xfrm>
        </p:spPr>
        <p:txBody>
          <a:bodyPr/>
          <a:lstStyle/>
          <a:p>
            <a:r>
              <a:rPr lang="it-IT" dirty="0"/>
              <a:t>perché ESPRESSO?</a:t>
            </a:r>
          </a:p>
        </p:txBody>
      </p:sp>
    </p:spTree>
    <p:extLst>
      <p:ext uri="{BB962C8B-B14F-4D97-AF65-F5344CB8AC3E}">
        <p14:creationId xmlns:p14="http://schemas.microsoft.com/office/powerpoint/2010/main" val="1297711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2FC9D1-DF6C-C25D-83FF-3223339411FB}"/>
              </a:ext>
            </a:extLst>
          </p:cNvPr>
          <p:cNvSpPr>
            <a:spLocks noGrp="1"/>
          </p:cNvSpPr>
          <p:nvPr>
            <p:ph type="title"/>
          </p:nvPr>
        </p:nvSpPr>
        <p:spPr>
          <a:xfrm>
            <a:off x="1141413" y="618518"/>
            <a:ext cx="9905998" cy="1226185"/>
          </a:xfrm>
        </p:spPr>
        <p:txBody>
          <a:bodyPr/>
          <a:lstStyle/>
          <a:p>
            <a:r>
              <a:rPr lang="it-IT" dirty="0"/>
              <a:t>GLI ASIC (1)</a:t>
            </a:r>
          </a:p>
        </p:txBody>
      </p:sp>
      <p:sp>
        <p:nvSpPr>
          <p:cNvPr id="3" name="Segnaposto contenuto 2">
            <a:extLst>
              <a:ext uri="{FF2B5EF4-FFF2-40B4-BE49-F238E27FC236}">
                <a16:creationId xmlns:a16="http://schemas.microsoft.com/office/drawing/2014/main" id="{7312F6ED-A11A-AA04-4950-E2A7F928D849}"/>
              </a:ext>
            </a:extLst>
          </p:cNvPr>
          <p:cNvSpPr>
            <a:spLocks noGrp="1"/>
          </p:cNvSpPr>
          <p:nvPr>
            <p:ph idx="1"/>
          </p:nvPr>
        </p:nvSpPr>
        <p:spPr>
          <a:xfrm>
            <a:off x="1141412" y="1924216"/>
            <a:ext cx="9905999" cy="3760148"/>
          </a:xfrm>
        </p:spPr>
        <p:txBody>
          <a:bodyPr>
            <a:normAutofit lnSpcReduction="10000"/>
          </a:bodyPr>
          <a:lstStyle/>
          <a:p>
            <a:r>
              <a:rPr lang="it-IT" dirty="0"/>
              <a:t>ASIC è l’acronimo di Application </a:t>
            </a:r>
            <a:r>
              <a:rPr lang="it-IT" dirty="0" err="1"/>
              <a:t>Specific</a:t>
            </a:r>
            <a:r>
              <a:rPr lang="it-IT" dirty="0"/>
              <a:t> </a:t>
            </a:r>
            <a:r>
              <a:rPr lang="it-IT" dirty="0" err="1"/>
              <a:t>Integrated</a:t>
            </a:r>
            <a:r>
              <a:rPr lang="it-IT" dirty="0"/>
              <a:t> Circuit. </a:t>
            </a:r>
          </a:p>
          <a:p>
            <a:r>
              <a:rPr lang="it-IT" dirty="0"/>
              <a:t>Nell’ambito delle logiche digitali, si tratta di dispositivi progettati appositamente per ottimizzare, in termini di velocità ed efficienza, uno specifico compito di calcolo o elaborazione. </a:t>
            </a:r>
          </a:p>
          <a:p>
            <a:r>
              <a:rPr lang="it-IT" dirty="0"/>
              <a:t>Questi dispositivi sono storicamente sviluppati dalle aziende di semiconduttori su commessa del cliente o dal cliente stesso con un supporto molto importante da parte del produttore. </a:t>
            </a:r>
          </a:p>
          <a:p>
            <a:r>
              <a:rPr lang="it-IT" dirty="0"/>
              <a:t>La progettazione di un ASIC solitamente è un processo lungo e costoso.</a:t>
            </a:r>
          </a:p>
          <a:p>
            <a:pPr marL="0" indent="0">
              <a:buNone/>
            </a:pPr>
            <a:endParaRPr lang="it-IT" dirty="0"/>
          </a:p>
          <a:p>
            <a:pPr marL="0" indent="0">
              <a:buNone/>
            </a:pPr>
            <a:endParaRPr lang="it-IT" dirty="0"/>
          </a:p>
        </p:txBody>
      </p:sp>
    </p:spTree>
    <p:extLst>
      <p:ext uri="{BB962C8B-B14F-4D97-AF65-F5344CB8AC3E}">
        <p14:creationId xmlns:p14="http://schemas.microsoft.com/office/powerpoint/2010/main" val="3215612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2FC9D1-DF6C-C25D-83FF-3223339411FB}"/>
              </a:ext>
            </a:extLst>
          </p:cNvPr>
          <p:cNvSpPr>
            <a:spLocks noGrp="1"/>
          </p:cNvSpPr>
          <p:nvPr>
            <p:ph type="title"/>
          </p:nvPr>
        </p:nvSpPr>
        <p:spPr>
          <a:xfrm>
            <a:off x="1141413" y="618518"/>
            <a:ext cx="9905998" cy="1226185"/>
          </a:xfrm>
        </p:spPr>
        <p:txBody>
          <a:bodyPr/>
          <a:lstStyle/>
          <a:p>
            <a:r>
              <a:rPr lang="it-IT" dirty="0"/>
              <a:t>GLI ASIC (2)</a:t>
            </a:r>
          </a:p>
        </p:txBody>
      </p:sp>
      <p:sp>
        <p:nvSpPr>
          <p:cNvPr id="3" name="Segnaposto contenuto 2">
            <a:extLst>
              <a:ext uri="{FF2B5EF4-FFF2-40B4-BE49-F238E27FC236}">
                <a16:creationId xmlns:a16="http://schemas.microsoft.com/office/drawing/2014/main" id="{7312F6ED-A11A-AA04-4950-E2A7F928D849}"/>
              </a:ext>
            </a:extLst>
          </p:cNvPr>
          <p:cNvSpPr>
            <a:spLocks noGrp="1"/>
          </p:cNvSpPr>
          <p:nvPr>
            <p:ph idx="1"/>
          </p:nvPr>
        </p:nvSpPr>
        <p:spPr>
          <a:xfrm>
            <a:off x="1141412" y="1924215"/>
            <a:ext cx="9905999" cy="4240915"/>
          </a:xfrm>
        </p:spPr>
        <p:txBody>
          <a:bodyPr>
            <a:normAutofit fontScale="92500"/>
          </a:bodyPr>
          <a:lstStyle/>
          <a:p>
            <a:r>
              <a:rPr lang="it-IT" dirty="0"/>
              <a:t>Gli ASIC riducono al minimo il costo del prodotto finale e sono quindi giustificati solo da volumi di produzione molto importanti.</a:t>
            </a:r>
          </a:p>
          <a:p>
            <a:r>
              <a:rPr lang="it-IT" dirty="0"/>
              <a:t>Quando l'ASIC implementa funzioni abbastanza generiche da poter essere utilizzato su più prodotti o da più clienti, si parla di ASSP (Application </a:t>
            </a:r>
            <a:r>
              <a:rPr lang="it-IT" dirty="0" err="1"/>
              <a:t>Specific</a:t>
            </a:r>
            <a:r>
              <a:rPr lang="it-IT" dirty="0"/>
              <a:t> Standard Product/Part). Essendo utilizzati su più progetti, gli ASSP contribuiscono a diminuire i "costi ingegneristici non ricorrenti" (NRE cost) nel ciclo di sviluppo.</a:t>
            </a:r>
          </a:p>
          <a:p>
            <a:r>
              <a:rPr lang="it-IT" dirty="0"/>
              <a:t>L’impossibilità di ricorrere ogni volta alla progettazione di soluzioni completamente personalizzate (ASIC) o di funzioni standard specifiche (ASSP), ha portato le aziende di semiconduttori a sviluppare le cosiddette </a:t>
            </a:r>
            <a:r>
              <a:rPr lang="it-IT" u="sng" dirty="0"/>
              <a:t>Logiche Programmabili</a:t>
            </a:r>
            <a:r>
              <a:rPr lang="it-IT" dirty="0"/>
              <a:t>.</a:t>
            </a:r>
          </a:p>
          <a:p>
            <a:pPr marL="0" indent="0">
              <a:buNone/>
            </a:pPr>
            <a:endParaRPr lang="it-IT" dirty="0"/>
          </a:p>
          <a:p>
            <a:pPr marL="0" indent="0">
              <a:buNone/>
            </a:pPr>
            <a:endParaRPr lang="it-IT" dirty="0"/>
          </a:p>
        </p:txBody>
      </p:sp>
    </p:spTree>
    <p:extLst>
      <p:ext uri="{BB962C8B-B14F-4D97-AF65-F5344CB8AC3E}">
        <p14:creationId xmlns:p14="http://schemas.microsoft.com/office/powerpoint/2010/main" val="1419433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2FC9D1-DF6C-C25D-83FF-3223339411FB}"/>
              </a:ext>
            </a:extLst>
          </p:cNvPr>
          <p:cNvSpPr>
            <a:spLocks noGrp="1"/>
          </p:cNvSpPr>
          <p:nvPr>
            <p:ph type="title"/>
          </p:nvPr>
        </p:nvSpPr>
        <p:spPr>
          <a:xfrm>
            <a:off x="1143001" y="481359"/>
            <a:ext cx="9905998" cy="926818"/>
          </a:xfrm>
        </p:spPr>
        <p:txBody>
          <a:bodyPr/>
          <a:lstStyle/>
          <a:p>
            <a:r>
              <a:rPr lang="it-IT" dirty="0"/>
              <a:t>LE LOGICHE PROGRAMMABILI (PLD)</a:t>
            </a:r>
          </a:p>
        </p:txBody>
      </p:sp>
      <p:sp>
        <p:nvSpPr>
          <p:cNvPr id="3" name="Segnaposto contenuto 2">
            <a:extLst>
              <a:ext uri="{FF2B5EF4-FFF2-40B4-BE49-F238E27FC236}">
                <a16:creationId xmlns:a16="http://schemas.microsoft.com/office/drawing/2014/main" id="{7312F6ED-A11A-AA04-4950-E2A7F928D849}"/>
              </a:ext>
            </a:extLst>
          </p:cNvPr>
          <p:cNvSpPr>
            <a:spLocks noGrp="1"/>
          </p:cNvSpPr>
          <p:nvPr>
            <p:ph idx="1"/>
          </p:nvPr>
        </p:nvSpPr>
        <p:spPr>
          <a:xfrm>
            <a:off x="1141412" y="1673353"/>
            <a:ext cx="9905999" cy="5102351"/>
          </a:xfrm>
        </p:spPr>
        <p:txBody>
          <a:bodyPr>
            <a:normAutofit fontScale="85000" lnSpcReduction="20000"/>
          </a:bodyPr>
          <a:lstStyle/>
          <a:p>
            <a:r>
              <a:rPr lang="it-IT" dirty="0"/>
              <a:t>Le Logiche Programmabili (PLD, </a:t>
            </a:r>
            <a:r>
              <a:rPr lang="it-IT" dirty="0" err="1"/>
              <a:t>Programmable</a:t>
            </a:r>
            <a:r>
              <a:rPr lang="it-IT" dirty="0"/>
              <a:t> </a:t>
            </a:r>
            <a:r>
              <a:rPr lang="it-IT" dirty="0" err="1"/>
              <a:t>Logic</a:t>
            </a:r>
            <a:r>
              <a:rPr lang="it-IT" dirty="0"/>
              <a:t> Device) sono dispositivi la cui architettura interna è predefinita dal costruttore.</a:t>
            </a:r>
          </a:p>
          <a:p>
            <a:r>
              <a:rPr lang="it-IT" dirty="0"/>
              <a:t>Le PLD offrono il vantaggio, rispetto agli ASIC, di vedere enormemente ridotti i costi e i tempi necessari per lo sviluppo e di non richiedere quantitativi minimi importanti in termine di parti da ordinare al produttore.</a:t>
            </a:r>
          </a:p>
          <a:p>
            <a:r>
              <a:rPr lang="it-IT" dirty="0"/>
              <a:t>Le tecnologia delle PLD sono cambiate di pari passo con quelle della produzione di altre tipologie di chip, seguendone anche l'evoluzione in termini di densità di integrazione.</a:t>
            </a:r>
          </a:p>
          <a:p>
            <a:r>
              <a:rPr lang="it-IT" dirty="0"/>
              <a:t>Agli albori della tecnologia, esistevano PLD con scala d’integrazione SSI (Small scale Integration) che implementavano funzionalità abbastanza ridotte. Poi sono state adottate densità sempre maggiori, come la MSI (Medium Scale Integration), la LSI (Large Scale Integration) e poi VLSI (</a:t>
            </a:r>
            <a:r>
              <a:rPr lang="it-IT" dirty="0" err="1"/>
              <a:t>Very</a:t>
            </a:r>
            <a:r>
              <a:rPr lang="it-IT" dirty="0"/>
              <a:t> Large Scale Integration). Quest’ultima è usata nelle Logiche Programmabili moderne. Le PLD moderne più grandi programmabili dall’utente, possono facilmente ospitare al loro interno oltre 100 milioni di funzioni logiche semplici (dette porte o gates).</a:t>
            </a:r>
          </a:p>
          <a:p>
            <a:pPr marL="0" indent="0">
              <a:buNone/>
            </a:pPr>
            <a:endParaRPr lang="it-IT" dirty="0"/>
          </a:p>
        </p:txBody>
      </p:sp>
    </p:spTree>
    <p:extLst>
      <p:ext uri="{BB962C8B-B14F-4D97-AF65-F5344CB8AC3E}">
        <p14:creationId xmlns:p14="http://schemas.microsoft.com/office/powerpoint/2010/main" val="2721721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E7CB66-2E56-121C-EC40-E49C8684B6CE}"/>
              </a:ext>
            </a:extLst>
          </p:cNvPr>
          <p:cNvSpPr>
            <a:spLocks noGrp="1"/>
          </p:cNvSpPr>
          <p:nvPr>
            <p:ph type="title"/>
          </p:nvPr>
        </p:nvSpPr>
        <p:spPr>
          <a:xfrm>
            <a:off x="1029444" y="618518"/>
            <a:ext cx="9905998" cy="771370"/>
          </a:xfrm>
        </p:spPr>
        <p:txBody>
          <a:bodyPr/>
          <a:lstStyle/>
          <a:p>
            <a:r>
              <a:rPr lang="it-IT" dirty="0"/>
              <a:t>TASSONOMIA DELLE </a:t>
            </a:r>
            <a:r>
              <a:rPr lang="it-IT" dirty="0" err="1"/>
              <a:t>LOGICHe</a:t>
            </a:r>
            <a:r>
              <a:rPr lang="it-IT" dirty="0"/>
              <a:t> PROGRAMMABILI (1)</a:t>
            </a:r>
          </a:p>
        </p:txBody>
      </p:sp>
      <p:sp>
        <p:nvSpPr>
          <p:cNvPr id="6" name="Segnaposto contenuto 5">
            <a:extLst>
              <a:ext uri="{FF2B5EF4-FFF2-40B4-BE49-F238E27FC236}">
                <a16:creationId xmlns:a16="http://schemas.microsoft.com/office/drawing/2014/main" id="{58A696AF-EBE5-E98C-B715-B806F235398B}"/>
              </a:ext>
            </a:extLst>
          </p:cNvPr>
          <p:cNvSpPr>
            <a:spLocks noGrp="1"/>
          </p:cNvSpPr>
          <p:nvPr>
            <p:ph idx="1"/>
          </p:nvPr>
        </p:nvSpPr>
        <p:spPr>
          <a:xfrm>
            <a:off x="947148" y="1691640"/>
            <a:ext cx="4237500" cy="4910327"/>
          </a:xfrm>
        </p:spPr>
        <p:txBody>
          <a:bodyPr>
            <a:normAutofit fontScale="62500" lnSpcReduction="20000"/>
          </a:bodyPr>
          <a:lstStyle/>
          <a:p>
            <a:pPr marL="0" indent="0">
              <a:buNone/>
            </a:pPr>
            <a:r>
              <a:rPr lang="it-IT" dirty="0"/>
              <a:t>Le logiche programmabili si possono suddividere in:</a:t>
            </a:r>
          </a:p>
          <a:p>
            <a:r>
              <a:rPr lang="it-IT" dirty="0"/>
              <a:t>Le logiche programmabili «sul campo» (gli FPD, Field </a:t>
            </a:r>
            <a:r>
              <a:rPr lang="it-IT" dirty="0" err="1"/>
              <a:t>Programmable</a:t>
            </a:r>
            <a:r>
              <a:rPr lang="it-IT" dirty="0"/>
              <a:t> Device), cioè programmabili in linea di produzione solo la prima volta o programmabili/aggiornabili quando sono già montati sul circuito stampato (PCB).</a:t>
            </a:r>
          </a:p>
          <a:p>
            <a:r>
              <a:rPr lang="it-IT" dirty="0"/>
              <a:t>Le logiche </a:t>
            </a:r>
            <a:r>
              <a:rPr lang="it-IT" dirty="0" err="1"/>
              <a:t>pre</a:t>
            </a:r>
            <a:r>
              <a:rPr lang="it-IT" dirty="0"/>
              <a:t>-programmate dal costruttore (i </a:t>
            </a:r>
            <a:r>
              <a:rPr lang="it-IT" dirty="0" err="1"/>
              <a:t>Factory</a:t>
            </a:r>
            <a:r>
              <a:rPr lang="it-IT" dirty="0"/>
              <a:t> </a:t>
            </a:r>
            <a:r>
              <a:rPr lang="it-IT" dirty="0" err="1"/>
              <a:t>Programmable</a:t>
            </a:r>
            <a:r>
              <a:rPr lang="it-IT" dirty="0"/>
              <a:t> Device). </a:t>
            </a:r>
            <a:br>
              <a:rPr lang="it-IT" dirty="0"/>
            </a:br>
            <a:r>
              <a:rPr lang="it-IT" dirty="0"/>
              <a:t>In generale si tratta di «Gate Array», cioè dispositivi con molte funzioni logiche alle quali mancano solo i collegamenti (le metallizzazioni). Sono logiche da considerare quando i volumi di produzione richiesti sono abbastanza importanti ma non tali da giustificare il costo dello sviluppo di un vero e proprio ASIC. </a:t>
            </a:r>
            <a:br>
              <a:rPr lang="it-IT" dirty="0"/>
            </a:br>
            <a:r>
              <a:rPr lang="it-IT" dirty="0"/>
              <a:t>In fase di prototipazione il cliente utilizza un FPD, poi richiede al costruttore dispositivi equivalenti </a:t>
            </a:r>
            <a:r>
              <a:rPr lang="it-IT" dirty="0" err="1"/>
              <a:t>pre</a:t>
            </a:r>
            <a:r>
              <a:rPr lang="it-IT" dirty="0"/>
              <a:t>-programmati su loro specifica.</a:t>
            </a:r>
          </a:p>
        </p:txBody>
      </p:sp>
      <p:pic>
        <p:nvPicPr>
          <p:cNvPr id="7" name="Segnaposto contenuto 4">
            <a:extLst>
              <a:ext uri="{FF2B5EF4-FFF2-40B4-BE49-F238E27FC236}">
                <a16:creationId xmlns:a16="http://schemas.microsoft.com/office/drawing/2014/main" id="{368776CC-D9ED-F634-8329-3287016437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6088" y="1773330"/>
            <a:ext cx="6616518" cy="3694781"/>
          </a:xfrm>
          <a:prstGeom prst="rect">
            <a:avLst/>
          </a:prstGeom>
        </p:spPr>
      </p:pic>
    </p:spTree>
    <p:extLst>
      <p:ext uri="{BB962C8B-B14F-4D97-AF65-F5344CB8AC3E}">
        <p14:creationId xmlns:p14="http://schemas.microsoft.com/office/powerpoint/2010/main" val="2059684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120D7C-8CFD-9222-C1E0-FDB5DB1EEFB6}"/>
              </a:ext>
            </a:extLst>
          </p:cNvPr>
          <p:cNvSpPr>
            <a:spLocks noGrp="1"/>
          </p:cNvSpPr>
          <p:nvPr>
            <p:ph type="title"/>
          </p:nvPr>
        </p:nvSpPr>
        <p:spPr>
          <a:xfrm>
            <a:off x="1141413" y="289334"/>
            <a:ext cx="9905998" cy="1478570"/>
          </a:xfrm>
        </p:spPr>
        <p:txBody>
          <a:bodyPr/>
          <a:lstStyle/>
          <a:p>
            <a:r>
              <a:rPr lang="it-IT" dirty="0"/>
              <a:t>FIELD PROGRAMMABLE LOGIC (1)</a:t>
            </a:r>
          </a:p>
        </p:txBody>
      </p:sp>
      <p:pic>
        <p:nvPicPr>
          <p:cNvPr id="5" name="Segnaposto contenuto 4">
            <a:extLst>
              <a:ext uri="{FF2B5EF4-FFF2-40B4-BE49-F238E27FC236}">
                <a16:creationId xmlns:a16="http://schemas.microsoft.com/office/drawing/2014/main" id="{950FB3E0-1228-68A5-10FD-5B889BFDD195}"/>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497926" y="1924215"/>
            <a:ext cx="3141547" cy="4231711"/>
          </a:xfrm>
        </p:spPr>
      </p:pic>
      <p:sp>
        <p:nvSpPr>
          <p:cNvPr id="3" name="Segnaposto contenuto 2">
            <a:extLst>
              <a:ext uri="{FF2B5EF4-FFF2-40B4-BE49-F238E27FC236}">
                <a16:creationId xmlns:a16="http://schemas.microsoft.com/office/drawing/2014/main" id="{3558966A-8608-5F7B-63B5-79A7F6E337BD}"/>
              </a:ext>
            </a:extLst>
          </p:cNvPr>
          <p:cNvSpPr txBox="1">
            <a:spLocks/>
          </p:cNvSpPr>
          <p:nvPr/>
        </p:nvSpPr>
        <p:spPr>
          <a:xfrm>
            <a:off x="1141413" y="1595031"/>
            <a:ext cx="7280212" cy="493378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it-IT" dirty="0"/>
              <a:t>SPLD: Simple </a:t>
            </a:r>
            <a:r>
              <a:rPr lang="it-IT" dirty="0" err="1"/>
              <a:t>Programmable</a:t>
            </a:r>
            <a:r>
              <a:rPr lang="it-IT" dirty="0"/>
              <a:t> </a:t>
            </a:r>
            <a:r>
              <a:rPr lang="it-IT" dirty="0" err="1"/>
              <a:t>Logic</a:t>
            </a:r>
            <a:r>
              <a:rPr lang="it-IT" dirty="0"/>
              <a:t> Devices</a:t>
            </a:r>
          </a:p>
          <a:p>
            <a:pPr marL="457200" lvl="1" indent="0">
              <a:buNone/>
            </a:pPr>
            <a:r>
              <a:rPr lang="it-IT" dirty="0"/>
              <a:t>A questo gruppo i dispositivi programmabili un’unica volta (OTP, One Time </a:t>
            </a:r>
            <a:r>
              <a:rPr lang="it-IT" dirty="0" err="1"/>
              <a:t>Programmable</a:t>
            </a:r>
            <a:r>
              <a:rPr lang="it-IT" dirty="0"/>
              <a:t>) e sono le PROM (</a:t>
            </a:r>
            <a:r>
              <a:rPr lang="it-IT" dirty="0" err="1"/>
              <a:t>Programmable</a:t>
            </a:r>
            <a:r>
              <a:rPr lang="it-IT" dirty="0"/>
              <a:t> Read </a:t>
            </a:r>
            <a:r>
              <a:rPr lang="it-IT" dirty="0" err="1"/>
              <a:t>Only</a:t>
            </a:r>
            <a:r>
              <a:rPr lang="it-IT" dirty="0"/>
              <a:t> </a:t>
            </a:r>
            <a:r>
              <a:rPr lang="it-IT" dirty="0" err="1"/>
              <a:t>memory</a:t>
            </a:r>
            <a:r>
              <a:rPr lang="it-IT" dirty="0"/>
              <a:t>), le PLA (</a:t>
            </a:r>
            <a:r>
              <a:rPr lang="it-IT" dirty="0" err="1"/>
              <a:t>Programmable</a:t>
            </a:r>
            <a:r>
              <a:rPr lang="it-IT" dirty="0"/>
              <a:t> Logica Array) e le PAL (</a:t>
            </a:r>
            <a:r>
              <a:rPr lang="it-IT" dirty="0" err="1"/>
              <a:t>Programmable</a:t>
            </a:r>
            <a:r>
              <a:rPr lang="it-IT" dirty="0"/>
              <a:t> Array </a:t>
            </a:r>
            <a:r>
              <a:rPr lang="it-IT" dirty="0" err="1"/>
              <a:t>Logic</a:t>
            </a:r>
            <a:r>
              <a:rPr lang="it-IT" dirty="0"/>
              <a:t>). Inoltre esistono versioni più moderne delle PAL che sono riprogrammabili: le più note sono GAL e PALCE.</a:t>
            </a:r>
          </a:p>
          <a:p>
            <a:pPr marL="0" indent="0">
              <a:buNone/>
            </a:pPr>
            <a:r>
              <a:rPr lang="it-IT" dirty="0"/>
              <a:t>CPLD</a:t>
            </a:r>
          </a:p>
          <a:p>
            <a:pPr marL="457200" lvl="1" indent="0">
              <a:buNone/>
            </a:pPr>
            <a:r>
              <a:rPr lang="it-IT" dirty="0"/>
              <a:t>Cioè </a:t>
            </a:r>
            <a:r>
              <a:rPr lang="it-IT" dirty="0" err="1"/>
              <a:t>Complex</a:t>
            </a:r>
            <a:r>
              <a:rPr lang="it-IT" dirty="0"/>
              <a:t> </a:t>
            </a:r>
            <a:r>
              <a:rPr lang="it-IT" dirty="0" err="1"/>
              <a:t>Programmable</a:t>
            </a:r>
            <a:r>
              <a:rPr lang="it-IT" dirty="0"/>
              <a:t> </a:t>
            </a:r>
            <a:r>
              <a:rPr lang="it-IT" dirty="0" err="1"/>
              <a:t>Logic</a:t>
            </a:r>
            <a:r>
              <a:rPr lang="it-IT" dirty="0"/>
              <a:t> Devices. Sono dispositivi che ospitano diversi macro-blocchi interconnessi che implementano la forma normale disgiuntiva (forma canonica SP) simili a PAL cancellabili.</a:t>
            </a:r>
          </a:p>
        </p:txBody>
      </p:sp>
    </p:spTree>
    <p:extLst>
      <p:ext uri="{BB962C8B-B14F-4D97-AF65-F5344CB8AC3E}">
        <p14:creationId xmlns:p14="http://schemas.microsoft.com/office/powerpoint/2010/main" val="447707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120D7C-8CFD-9222-C1E0-FDB5DB1EEFB6}"/>
              </a:ext>
            </a:extLst>
          </p:cNvPr>
          <p:cNvSpPr>
            <a:spLocks noGrp="1"/>
          </p:cNvSpPr>
          <p:nvPr>
            <p:ph type="title"/>
          </p:nvPr>
        </p:nvSpPr>
        <p:spPr>
          <a:xfrm>
            <a:off x="1141413" y="289334"/>
            <a:ext cx="9905998" cy="1478570"/>
          </a:xfrm>
        </p:spPr>
        <p:txBody>
          <a:bodyPr/>
          <a:lstStyle/>
          <a:p>
            <a:r>
              <a:rPr lang="it-IT" dirty="0"/>
              <a:t>FIELD PROGRAMMABLE LOGIC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558966A-8608-5F7B-63B5-79A7F6E337BD}"/>
                  </a:ext>
                </a:extLst>
              </p:cNvPr>
              <p:cNvSpPr txBox="1">
                <a:spLocks/>
              </p:cNvSpPr>
              <p:nvPr/>
            </p:nvSpPr>
            <p:spPr>
              <a:xfrm>
                <a:off x="1141413" y="1595031"/>
                <a:ext cx="7280212" cy="493378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it-IT" dirty="0"/>
                  <a:t>FPGA: Field </a:t>
                </a:r>
                <a:r>
                  <a:rPr lang="it-IT" dirty="0" err="1"/>
                  <a:t>Programmable</a:t>
                </a:r>
                <a:r>
                  <a:rPr lang="it-IT" dirty="0"/>
                  <a:t> Gate Array</a:t>
                </a:r>
              </a:p>
              <a:p>
                <a:pPr marL="457200" lvl="1" indent="0">
                  <a:buNone/>
                </a:pPr>
                <a:r>
                  <a:rPr lang="it-IT" dirty="0"/>
                  <a:t>Come il nome stesso suggerisce, si tratta di Gate Array programmabili. Ne esistono di tre tipi: </a:t>
                </a:r>
              </a:p>
              <a:p>
                <a:pPr lvl="1">
                  <a:buFont typeface="Tw Cen MT" panose="020B0602020104020603" pitchFamily="34" charset="0"/>
                  <a:buChar char="–"/>
                </a:pPr>
                <a:r>
                  <a:rPr lang="it-IT" dirty="0"/>
                  <a:t>A</a:t>
                </a:r>
                <a:r>
                  <a:rPr lang="pt-BR" dirty="0"/>
                  <a:t>ntifuse: le connessioni fra metalizzazioni sono effettuate usando un minuscolo segmento di silicio amorfo (non cristallino) che normalmente esibisce una resistenza altissima (</a:t>
                </a:r>
                <a14:m>
                  <m:oMath xmlns:m="http://schemas.openxmlformats.org/officeDocument/2006/math">
                    <m:r>
                      <a:rPr lang="pt-BR" i="1" smtClean="0">
                        <a:latin typeface="Cambria Math" panose="02040503050406030204" pitchFamily="18" charset="0"/>
                        <a:ea typeface="Cambria Math" panose="02040503050406030204" pitchFamily="18" charset="0"/>
                      </a:rPr>
                      <m:t>&gt;</m:t>
                    </m:r>
                    <m:sSup>
                      <m:sSupPr>
                        <m:ctrlPr>
                          <a:rPr lang="pt-BR" i="1" smtClean="0">
                            <a:latin typeface="Cambria Math" panose="02040503050406030204" pitchFamily="18" charset="0"/>
                            <a:ea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10</m:t>
                        </m:r>
                      </m:e>
                      <m:sup>
                        <m:r>
                          <a:rPr lang="it-IT" b="0" i="1" smtClean="0">
                            <a:latin typeface="Cambria Math" panose="02040503050406030204" pitchFamily="18" charset="0"/>
                            <a:ea typeface="Cambria Math" panose="02040503050406030204" pitchFamily="18" charset="0"/>
                          </a:rPr>
                          <m:t>6</m:t>
                        </m:r>
                      </m:sup>
                    </m:sSup>
                    <m:r>
                      <m:rPr>
                        <m:nor/>
                      </m:rPr>
                      <a:rPr lang="it-IT" b="0" i="0" smtClean="0">
                        <a:latin typeface="Cambria Math" panose="02040503050406030204" pitchFamily="18" charset="0"/>
                        <a:ea typeface="Cambria Math" panose="02040503050406030204" pitchFamily="18" charset="0"/>
                      </a:rPr>
                      <m:t> </m:t>
                    </m:r>
                    <m:r>
                      <m:rPr>
                        <m:nor/>
                      </m:rPr>
                      <a:rPr lang="el-GR" dirty="0"/>
                      <m:t>Ω</m:t>
                    </m:r>
                  </m:oMath>
                </a14:m>
                <a:r>
                  <a:rPr lang="it-IT" dirty="0"/>
                  <a:t>). Appena si applicano tensioni e correnti appropriate, il silicio amorfo si converte il silicio policristallino conduttivo.</a:t>
                </a:r>
                <a:endParaRPr lang="pt-BR" dirty="0"/>
              </a:p>
              <a:p>
                <a:pPr lvl="1">
                  <a:buFont typeface="Tw Cen MT" panose="020B0602020104020603" pitchFamily="34" charset="0"/>
                  <a:buChar char="–"/>
                </a:pPr>
                <a:r>
                  <a:rPr lang="pt-BR" dirty="0"/>
                  <a:t>RAM statica: una volta caricata un configurazione, i bit della RAM pilotano alcuni transistor che fungono da interrutori che collegano le metalizzazioni e per configurare le LUT (LookUp Tables).</a:t>
                </a:r>
              </a:p>
              <a:p>
                <a:pPr lvl="1">
                  <a:buFont typeface="Tw Cen MT" panose="020B0602020104020603" pitchFamily="34" charset="0"/>
                  <a:buChar char="–"/>
                </a:pPr>
                <a:r>
                  <a:rPr lang="pt-BR" dirty="0"/>
                  <a:t>FLASH/EPROM: alla stregua delle versioni con RAM statica, i bit della memoria non volatile si usano per attivare le connessioni fra le metalizzazioni e per configurare le LUT.</a:t>
                </a:r>
                <a:endParaRPr lang="it-IT" dirty="0"/>
              </a:p>
            </p:txBody>
          </p:sp>
        </mc:Choice>
        <mc:Fallback xmlns="">
          <p:sp>
            <p:nvSpPr>
              <p:cNvPr id="3" name="Segnaposto contenuto 2">
                <a:extLst>
                  <a:ext uri="{FF2B5EF4-FFF2-40B4-BE49-F238E27FC236}">
                    <a16:creationId xmlns:a16="http://schemas.microsoft.com/office/drawing/2014/main" id="{3558966A-8608-5F7B-63B5-79A7F6E337BD}"/>
                  </a:ext>
                </a:extLst>
              </p:cNvPr>
              <p:cNvSpPr txBox="1">
                <a:spLocks noRot="1" noChangeAspect="1" noMove="1" noResize="1" noEditPoints="1" noAdjustHandles="1" noChangeArrowheads="1" noChangeShapeType="1" noTextEdit="1"/>
              </p:cNvSpPr>
              <p:nvPr/>
            </p:nvSpPr>
            <p:spPr>
              <a:xfrm>
                <a:off x="1141413" y="1595031"/>
                <a:ext cx="7280212" cy="4933785"/>
              </a:xfrm>
              <a:prstGeom prst="rect">
                <a:avLst/>
              </a:prstGeom>
              <a:blipFill>
                <a:blip r:embed="rId2"/>
                <a:stretch>
                  <a:fillRect l="-1088" t="-618" r="-335" b="-124"/>
                </a:stretch>
              </a:blipFill>
            </p:spPr>
            <p:txBody>
              <a:bodyPr/>
              <a:lstStyle/>
              <a:p>
                <a:r>
                  <a:rPr lang="it-IT">
                    <a:noFill/>
                  </a:rPr>
                  <a:t> </a:t>
                </a:r>
              </a:p>
            </p:txBody>
          </p:sp>
        </mc:Fallback>
      </mc:AlternateContent>
      <p:pic>
        <p:nvPicPr>
          <p:cNvPr id="7" name="Segnaposto contenuto 4">
            <a:extLst>
              <a:ext uri="{FF2B5EF4-FFF2-40B4-BE49-F238E27FC236}">
                <a16:creationId xmlns:a16="http://schemas.microsoft.com/office/drawing/2014/main" id="{B78676E9-0B60-3114-6E6B-9526B1A050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7926" y="1924215"/>
            <a:ext cx="3141547" cy="4231711"/>
          </a:xfrm>
          <a:prstGeom prst="rect">
            <a:avLst/>
          </a:prstGeom>
        </p:spPr>
      </p:pic>
    </p:spTree>
    <p:extLst>
      <p:ext uri="{BB962C8B-B14F-4D97-AF65-F5344CB8AC3E}">
        <p14:creationId xmlns:p14="http://schemas.microsoft.com/office/powerpoint/2010/main" val="2387324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4F0F-650B-D1F2-637A-7397B4906A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EA815FE-528B-4B7C-F44B-DCFBBF113A61}"/>
              </a:ext>
            </a:extLst>
          </p:cNvPr>
          <p:cNvSpPr>
            <a:spLocks noGrp="1"/>
          </p:cNvSpPr>
          <p:nvPr>
            <p:ph type="title"/>
          </p:nvPr>
        </p:nvSpPr>
        <p:spPr>
          <a:xfrm>
            <a:off x="1141412" y="618518"/>
            <a:ext cx="10221001" cy="1478570"/>
          </a:xfrm>
        </p:spPr>
        <p:txBody>
          <a:bodyPr/>
          <a:lstStyle/>
          <a:p>
            <a:r>
              <a:rPr lang="it-IT" dirty="0"/>
              <a:t>DISPOSITIVI CLASSICI CHE IMPLAMENTANO</a:t>
            </a:r>
            <a:br>
              <a:rPr lang="it-IT" dirty="0"/>
            </a:br>
            <a:r>
              <a:rPr lang="it-IT" dirty="0"/>
              <a:t>LE FORME CANONICHE SP (SSI)</a:t>
            </a:r>
          </a:p>
        </p:txBody>
      </p:sp>
      <p:sp>
        <p:nvSpPr>
          <p:cNvPr id="3" name="Segnaposto contenuto 2">
            <a:extLst>
              <a:ext uri="{FF2B5EF4-FFF2-40B4-BE49-F238E27FC236}">
                <a16:creationId xmlns:a16="http://schemas.microsoft.com/office/drawing/2014/main" id="{F7E9B900-4638-6ECB-9016-F005C3D02FE8}"/>
              </a:ext>
            </a:extLst>
          </p:cNvPr>
          <p:cNvSpPr>
            <a:spLocks noGrp="1"/>
          </p:cNvSpPr>
          <p:nvPr>
            <p:ph idx="1"/>
          </p:nvPr>
        </p:nvSpPr>
        <p:spPr>
          <a:xfrm>
            <a:off x="1141412" y="2249486"/>
            <a:ext cx="6102226" cy="3989995"/>
          </a:xfrm>
        </p:spPr>
        <p:txBody>
          <a:bodyPr>
            <a:normAutofit fontScale="92500" lnSpcReduction="20000"/>
          </a:bodyPr>
          <a:lstStyle/>
          <a:p>
            <a:r>
              <a:rPr lang="it-IT" dirty="0"/>
              <a:t>ROM: Read </a:t>
            </a:r>
            <a:r>
              <a:rPr lang="it-IT" dirty="0" err="1"/>
              <a:t>Only</a:t>
            </a:r>
            <a:r>
              <a:rPr lang="it-IT" dirty="0"/>
              <a:t> Memory</a:t>
            </a:r>
          </a:p>
          <a:p>
            <a:pPr marL="457200" lvl="1" indent="0">
              <a:buNone/>
            </a:pPr>
            <a:r>
              <a:rPr lang="it-IT" dirty="0"/>
              <a:t>Hanno un pattern di output prestabilito dal costruttore.</a:t>
            </a:r>
          </a:p>
          <a:p>
            <a:r>
              <a:rPr lang="it-IT" dirty="0"/>
              <a:t>PROM: </a:t>
            </a:r>
            <a:r>
              <a:rPr lang="it-IT" dirty="0" err="1"/>
              <a:t>Programmable</a:t>
            </a:r>
            <a:r>
              <a:rPr lang="it-IT" dirty="0"/>
              <a:t> Read </a:t>
            </a:r>
            <a:r>
              <a:rPr lang="it-IT" dirty="0" err="1"/>
              <a:t>Only</a:t>
            </a:r>
            <a:r>
              <a:rPr lang="it-IT" dirty="0"/>
              <a:t> Memory</a:t>
            </a:r>
          </a:p>
          <a:p>
            <a:pPr marL="457200" lvl="1" indent="0">
              <a:buNone/>
            </a:pPr>
            <a:r>
              <a:rPr lang="it-IT" dirty="0"/>
              <a:t>Solo il piano di OR è programmabile. </a:t>
            </a:r>
          </a:p>
          <a:p>
            <a:r>
              <a:rPr lang="it-IT" dirty="0"/>
              <a:t>PAL: </a:t>
            </a:r>
            <a:r>
              <a:rPr lang="it-IT" dirty="0" err="1"/>
              <a:t>Programmable</a:t>
            </a:r>
            <a:r>
              <a:rPr lang="it-IT" dirty="0"/>
              <a:t> Array </a:t>
            </a:r>
            <a:r>
              <a:rPr lang="it-IT" dirty="0" err="1"/>
              <a:t>Logic</a:t>
            </a:r>
            <a:endParaRPr lang="it-IT" dirty="0"/>
          </a:p>
          <a:p>
            <a:pPr marL="457200" lvl="1" indent="0">
              <a:buNone/>
            </a:pPr>
            <a:r>
              <a:rPr lang="it-IT" dirty="0"/>
              <a:t>Il piano di AND è programmabile e il piano di OR è prestabilito dal costruttore. Implementano solo le forme SP (somme di prodotti o somme di </a:t>
            </a:r>
            <a:r>
              <a:rPr lang="it-IT" dirty="0" err="1"/>
              <a:t>minterm</a:t>
            </a:r>
            <a:r>
              <a:rPr lang="it-IT" dirty="0"/>
              <a:t>).</a:t>
            </a:r>
          </a:p>
          <a:p>
            <a:r>
              <a:rPr lang="it-IT" dirty="0"/>
              <a:t>PLA: </a:t>
            </a:r>
            <a:r>
              <a:rPr lang="it-IT" dirty="0" err="1"/>
              <a:t>Programmable</a:t>
            </a:r>
            <a:r>
              <a:rPr lang="it-IT" dirty="0"/>
              <a:t> </a:t>
            </a:r>
            <a:r>
              <a:rPr lang="it-IT" dirty="0" err="1"/>
              <a:t>Logic</a:t>
            </a:r>
            <a:r>
              <a:rPr lang="it-IT" dirty="0"/>
              <a:t> Array</a:t>
            </a:r>
          </a:p>
          <a:p>
            <a:pPr marL="457200" lvl="1" indent="0">
              <a:buNone/>
            </a:pPr>
            <a:r>
              <a:rPr lang="it-IT" dirty="0"/>
              <a:t>Entrambi i piani (AND e OR) sono programmabili.</a:t>
            </a:r>
          </a:p>
        </p:txBody>
      </p:sp>
      <p:pic>
        <p:nvPicPr>
          <p:cNvPr id="5" name="Elemento grafico 4">
            <a:extLst>
              <a:ext uri="{FF2B5EF4-FFF2-40B4-BE49-F238E27FC236}">
                <a16:creationId xmlns:a16="http://schemas.microsoft.com/office/drawing/2014/main" id="{F502DD9B-68EC-B8ED-A761-9EB4A8F789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81317" y="1669774"/>
            <a:ext cx="3669271" cy="4422494"/>
          </a:xfrm>
          <a:prstGeom prst="rect">
            <a:avLst/>
          </a:prstGeom>
        </p:spPr>
      </p:pic>
    </p:spTree>
    <p:extLst>
      <p:ext uri="{BB962C8B-B14F-4D97-AF65-F5344CB8AC3E}">
        <p14:creationId xmlns:p14="http://schemas.microsoft.com/office/powerpoint/2010/main" val="2340605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85C3CB-3A22-EA05-0DEB-3418D3B795C2}"/>
              </a:ext>
            </a:extLst>
          </p:cNvPr>
          <p:cNvSpPr>
            <a:spLocks noGrp="1"/>
          </p:cNvSpPr>
          <p:nvPr>
            <p:ph type="title"/>
          </p:nvPr>
        </p:nvSpPr>
        <p:spPr>
          <a:xfrm>
            <a:off x="1141412" y="435638"/>
            <a:ext cx="3797000" cy="1478570"/>
          </a:xfrm>
        </p:spPr>
        <p:txBody>
          <a:bodyPr/>
          <a:lstStyle/>
          <a:p>
            <a:r>
              <a:rPr lang="it-IT" dirty="0"/>
              <a:t>ESEMPIO CON PAL16L8 (SSI)</a:t>
            </a:r>
          </a:p>
        </p:txBody>
      </p:sp>
      <p:pic>
        <p:nvPicPr>
          <p:cNvPr id="5" name="Segnaposto contenuto 4">
            <a:extLst>
              <a:ext uri="{FF2B5EF4-FFF2-40B4-BE49-F238E27FC236}">
                <a16:creationId xmlns:a16="http://schemas.microsoft.com/office/drawing/2014/main" id="{AB960B90-7A77-201B-A610-9808D032BD98}"/>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4938412" y="618518"/>
            <a:ext cx="6954360" cy="5965162"/>
          </a:xfrm>
        </p:spPr>
      </p:pic>
      <p:sp>
        <p:nvSpPr>
          <p:cNvPr id="3" name="Segnaposto contenuto 2">
            <a:extLst>
              <a:ext uri="{FF2B5EF4-FFF2-40B4-BE49-F238E27FC236}">
                <a16:creationId xmlns:a16="http://schemas.microsoft.com/office/drawing/2014/main" id="{96BD875E-113C-E734-0DD8-22532A6CB544}"/>
              </a:ext>
            </a:extLst>
          </p:cNvPr>
          <p:cNvSpPr txBox="1">
            <a:spLocks/>
          </p:cNvSpPr>
          <p:nvPr/>
        </p:nvSpPr>
        <p:spPr>
          <a:xfrm>
            <a:off x="1141412" y="1862456"/>
            <a:ext cx="3732340" cy="395020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it-IT" dirty="0"/>
              <a:t>Le PAL (</a:t>
            </a:r>
            <a:r>
              <a:rPr lang="it-IT" dirty="0" err="1"/>
              <a:t>Programmable</a:t>
            </a:r>
            <a:r>
              <a:rPr lang="it-IT" dirty="0"/>
              <a:t> Array </a:t>
            </a:r>
            <a:r>
              <a:rPr lang="it-IT" dirty="0" err="1"/>
              <a:t>Logic</a:t>
            </a:r>
            <a:r>
              <a:rPr lang="it-IT" dirty="0"/>
              <a:t>) sono dispositivi logici programmabili ormai obsoleti che furono inventati da John </a:t>
            </a:r>
            <a:r>
              <a:rPr lang="it-IT" dirty="0" err="1"/>
              <a:t>Birkner</a:t>
            </a:r>
            <a:r>
              <a:rPr lang="it-IT" dirty="0"/>
              <a:t> e introdotti da MMI nel lontano 1978.</a:t>
            </a:r>
          </a:p>
          <a:p>
            <a:pPr marL="0" indent="0">
              <a:buNone/>
            </a:pPr>
            <a:r>
              <a:rPr lang="it-IT" dirty="0"/>
              <a:t>Il dispositivo PAL16L8 è un dispositivo per logica combinatoria (o sequenziale asincrona). Storicamente realizzato in tecnologia bipolare (con transistor BJT), fu un dispositivo di enorme successo, utilizzato dai primi costruttori di mini-computer (DEC, Data General, etc.) per ottimizzare i loro sistemi. </a:t>
            </a:r>
          </a:p>
        </p:txBody>
      </p:sp>
      <p:pic>
        <p:nvPicPr>
          <p:cNvPr id="6" name="Immagine 5">
            <a:extLst>
              <a:ext uri="{FF2B5EF4-FFF2-40B4-BE49-F238E27FC236}">
                <a16:creationId xmlns:a16="http://schemas.microsoft.com/office/drawing/2014/main" id="{A1590DDC-796A-6101-CAC9-B3949822DF9C}"/>
              </a:ext>
            </a:extLst>
          </p:cNvPr>
          <p:cNvPicPr>
            <a:picLocks noChangeAspect="1"/>
          </p:cNvPicPr>
          <p:nvPr/>
        </p:nvPicPr>
        <p:blipFill>
          <a:blip r:embed="rId4"/>
          <a:stretch>
            <a:fillRect/>
          </a:stretch>
        </p:blipFill>
        <p:spPr>
          <a:xfrm>
            <a:off x="2070962" y="5479150"/>
            <a:ext cx="1513486" cy="1040522"/>
          </a:xfrm>
          <a:prstGeom prst="rect">
            <a:avLst/>
          </a:prstGeom>
        </p:spPr>
      </p:pic>
    </p:spTree>
    <p:extLst>
      <p:ext uri="{BB962C8B-B14F-4D97-AF65-F5344CB8AC3E}">
        <p14:creationId xmlns:p14="http://schemas.microsoft.com/office/powerpoint/2010/main" val="19338169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0C24-E93D-C4CB-D3C9-FA8E2DD3C2ED}"/>
            </a:ext>
          </a:extLst>
        </p:cNvPr>
        <p:cNvGrpSpPr/>
        <p:nvPr/>
      </p:nvGrpSpPr>
      <p:grpSpPr>
        <a:xfrm>
          <a:off x="0" y="0"/>
          <a:ext cx="0" cy="0"/>
          <a:chOff x="0" y="0"/>
          <a:chExt cx="0" cy="0"/>
        </a:xfrm>
      </p:grpSpPr>
      <p:pic>
        <p:nvPicPr>
          <p:cNvPr id="6" name="Segnaposto contenuto 5">
            <a:extLst>
              <a:ext uri="{FF2B5EF4-FFF2-40B4-BE49-F238E27FC236}">
                <a16:creationId xmlns:a16="http://schemas.microsoft.com/office/drawing/2014/main" id="{7A502A33-69E8-477F-BA8F-A01042FF1B8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643980" y="468000"/>
            <a:ext cx="6904040" cy="5922000"/>
          </a:xfrm>
        </p:spPr>
      </p:pic>
    </p:spTree>
    <p:extLst>
      <p:ext uri="{BB962C8B-B14F-4D97-AF65-F5344CB8AC3E}">
        <p14:creationId xmlns:p14="http://schemas.microsoft.com/office/powerpoint/2010/main" val="3418662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7ED16A-E9D5-576A-B4A2-B89802E0AE2E}"/>
              </a:ext>
            </a:extLst>
          </p:cNvPr>
          <p:cNvSpPr>
            <a:spLocks noGrp="1"/>
          </p:cNvSpPr>
          <p:nvPr>
            <p:ph type="title"/>
          </p:nvPr>
        </p:nvSpPr>
        <p:spPr/>
        <p:txBody>
          <a:bodyPr/>
          <a:lstStyle/>
          <a:p>
            <a:r>
              <a:rPr lang="it-IT" dirty="0"/>
              <a:t>Programmazione delle SPLD OTP</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149E0A3-A513-3FC5-CFF3-0FFFE9284DCE}"/>
                  </a:ext>
                </a:extLst>
              </p:cNvPr>
              <p:cNvSpPr>
                <a:spLocks noGrp="1"/>
              </p:cNvSpPr>
              <p:nvPr>
                <p:ph idx="1"/>
              </p:nvPr>
            </p:nvSpPr>
            <p:spPr>
              <a:xfrm>
                <a:off x="1141412" y="1993454"/>
                <a:ext cx="9905999" cy="4069017"/>
              </a:xfrm>
            </p:spPr>
            <p:txBody>
              <a:bodyPr>
                <a:normAutofit fontScale="85000" lnSpcReduction="20000"/>
              </a:bodyPr>
              <a:lstStyle/>
              <a:p>
                <a:r>
                  <a:rPr lang="it-IT" dirty="0"/>
                  <a:t>Nei dispositivi quali PAL, PLA e PROM la programmazione è effettuata interrompendo dei minuscoli fusibili.</a:t>
                </a:r>
                <a:br>
                  <a:rPr lang="it-IT" dirty="0"/>
                </a:br>
                <a:r>
                  <a:rPr lang="it-IT" dirty="0"/>
                  <a:t>Nello specifico dei dispositivi PAL, in serie ad </a:t>
                </a:r>
                <a:br>
                  <a:rPr lang="it-IT" dirty="0"/>
                </a:br>
                <a:r>
                  <a:rPr lang="it-IT" dirty="0"/>
                  <a:t>ogni segnale ed al suo negato sul percorso </a:t>
                </a:r>
                <a:br>
                  <a:rPr lang="it-IT" dirty="0"/>
                </a:br>
                <a:r>
                  <a:rPr lang="it-IT" dirty="0"/>
                  <a:t>che raggiunge la porta AND, ci sono dei fusibili. </a:t>
                </a:r>
                <a:br>
                  <a:rPr lang="it-IT" dirty="0"/>
                </a:br>
                <a:r>
                  <a:rPr lang="it-IT" dirty="0"/>
                  <a:t>Inizialmente i fusibili sono tutti integri. </a:t>
                </a:r>
                <a:br>
                  <a:rPr lang="it-IT" dirty="0"/>
                </a:br>
                <a:r>
                  <a:rPr lang="it-IT" dirty="0"/>
                  <a:t>Quando un fusibile, a seguito della programma-</a:t>
                </a:r>
                <a:br>
                  <a:rPr lang="it-IT" dirty="0"/>
                </a:br>
                <a:r>
                  <a:rPr lang="it-IT" dirty="0"/>
                  <a:t>zione viene interrotto, il segnale non può più rag-</a:t>
                </a:r>
                <a:br>
                  <a:rPr lang="it-IT" dirty="0"/>
                </a:br>
                <a:r>
                  <a:rPr lang="it-IT" dirty="0"/>
                  <a:t>giungere la porta AND. Perciò, l’ingresso è colle-</a:t>
                </a:r>
                <a:br>
                  <a:rPr lang="it-IT" dirty="0"/>
                </a:br>
                <a:r>
                  <a:rPr lang="it-IT" dirty="0"/>
                  <a:t>gato ad 1 tramite una resistenza detta di pull-up. </a:t>
                </a:r>
                <a:br>
                  <a:rPr lang="it-IT" dirty="0"/>
                </a:br>
                <a:r>
                  <a:rPr lang="it-IT" dirty="0"/>
                  <a:t>Di fatto, ciò vuole dire che l’uscita dell’AND dipenderà esclusivamente dagli ingressi in cui fusibili sono rimasti integri. Nell’esempio, si può notare che solo </a:t>
                </a:r>
                <a14:m>
                  <m:oMath xmlns:m="http://schemas.openxmlformats.org/officeDocument/2006/math">
                    <m:r>
                      <a:rPr lang="it-IT" b="0" i="1" smtClean="0">
                        <a:latin typeface="Cambria Math" panose="02040503050406030204" pitchFamily="18" charset="0"/>
                      </a:rPr>
                      <m:t>𝑎</m:t>
                    </m:r>
                  </m:oMath>
                </a14:m>
                <a:r>
                  <a:rPr lang="it-IT" dirty="0"/>
                  <a:t> e </a:t>
                </a:r>
                <a14:m>
                  <m:oMath xmlns:m="http://schemas.openxmlformats.org/officeDocument/2006/math">
                    <m:acc>
                      <m:accPr>
                        <m:chr m:val="̅"/>
                        <m:ctrlPr>
                          <a:rPr lang="it-IT" i="1" smtClean="0">
                            <a:latin typeface="Cambria Math" panose="02040503050406030204" pitchFamily="18" charset="0"/>
                          </a:rPr>
                        </m:ctrlPr>
                      </m:accPr>
                      <m:e>
                        <m:r>
                          <a:rPr lang="it-IT" b="0" i="1" smtClean="0">
                            <a:latin typeface="Cambria Math" panose="02040503050406030204" pitchFamily="18" charset="0"/>
                          </a:rPr>
                          <m:t>𝑏</m:t>
                        </m:r>
                      </m:e>
                    </m:acc>
                  </m:oMath>
                </a14:m>
                <a:r>
                  <a:rPr lang="it-IT" dirty="0"/>
                  <a:t> possono costituire </a:t>
                </a:r>
                <a:br>
                  <a:rPr lang="it-IT" dirty="0"/>
                </a:br>
                <a:r>
                  <a:rPr lang="it-IT" dirty="0"/>
                  <a:t>il termine </a:t>
                </a:r>
                <a14:m>
                  <m:oMath xmlns:m="http://schemas.openxmlformats.org/officeDocument/2006/math">
                    <m:r>
                      <a:rPr lang="it-IT" b="0" i="1" smtClean="0">
                        <a:latin typeface="Cambria Math" panose="02040503050406030204" pitchFamily="18" charset="0"/>
                      </a:rPr>
                      <m:t>𝑦</m:t>
                    </m:r>
                  </m:oMath>
                </a14:m>
                <a:r>
                  <a:rPr lang="it-IT" dirty="0"/>
                  <a:t>.</a:t>
                </a:r>
              </a:p>
            </p:txBody>
          </p:sp>
        </mc:Choice>
        <mc:Fallback xmlns="">
          <p:sp>
            <p:nvSpPr>
              <p:cNvPr id="3" name="Segnaposto contenuto 2">
                <a:extLst>
                  <a:ext uri="{FF2B5EF4-FFF2-40B4-BE49-F238E27FC236}">
                    <a16:creationId xmlns:a16="http://schemas.microsoft.com/office/drawing/2014/main" id="{E149E0A3-A513-3FC5-CFF3-0FFFE9284DCE}"/>
                  </a:ext>
                </a:extLst>
              </p:cNvPr>
              <p:cNvSpPr>
                <a:spLocks noGrp="1" noRot="1" noChangeAspect="1" noMove="1" noResize="1" noEditPoints="1" noAdjustHandles="1" noChangeArrowheads="1" noChangeShapeType="1" noTextEdit="1"/>
              </p:cNvSpPr>
              <p:nvPr>
                <p:ph idx="1"/>
              </p:nvPr>
            </p:nvSpPr>
            <p:spPr>
              <a:xfrm>
                <a:off x="1141412" y="1993454"/>
                <a:ext cx="9905999" cy="4069017"/>
              </a:xfrm>
              <a:blipFill>
                <a:blip r:embed="rId2"/>
                <a:stretch>
                  <a:fillRect l="-862" t="-2249" b="-2549"/>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18BC5498-9576-38EE-A571-75DE964318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03931" y="2530709"/>
            <a:ext cx="5248088" cy="2266780"/>
          </a:xfrm>
          <a:prstGeom prst="rect">
            <a:avLst/>
          </a:prstGeom>
        </p:spPr>
      </p:pic>
    </p:spTree>
    <p:extLst>
      <p:ext uri="{BB962C8B-B14F-4D97-AF65-F5344CB8AC3E}">
        <p14:creationId xmlns:p14="http://schemas.microsoft.com/office/powerpoint/2010/main" val="32852220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002-8FE9-FF31-D110-31CC74EF2196}"/>
            </a:ext>
          </a:extLst>
        </p:cNvPr>
        <p:cNvGrpSpPr/>
        <p:nvPr/>
      </p:nvGrpSpPr>
      <p:grpSpPr>
        <a:xfrm>
          <a:off x="0" y="0"/>
          <a:ext cx="0" cy="0"/>
          <a:chOff x="0" y="0"/>
          <a:chExt cx="0" cy="0"/>
        </a:xfrm>
      </p:grpSpPr>
      <p:pic>
        <p:nvPicPr>
          <p:cNvPr id="5" name="Segnaposto contenuto 4">
            <a:extLst>
              <a:ext uri="{FF2B5EF4-FFF2-40B4-BE49-F238E27FC236}">
                <a16:creationId xmlns:a16="http://schemas.microsoft.com/office/drawing/2014/main" id="{77437CB9-F750-DAF0-9AB4-F6F7DA1C394E}"/>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643980" y="468000"/>
            <a:ext cx="6904040" cy="5922000"/>
          </a:xfrm>
        </p:spPr>
      </p:pic>
    </p:spTree>
    <p:extLst>
      <p:ext uri="{BB962C8B-B14F-4D97-AF65-F5344CB8AC3E}">
        <p14:creationId xmlns:p14="http://schemas.microsoft.com/office/powerpoint/2010/main" val="239615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027BD5-01D9-AC71-5503-646A5A4E32E8}"/>
              </a:ext>
            </a:extLst>
          </p:cNvPr>
          <p:cNvSpPr>
            <a:spLocks noGrp="1"/>
          </p:cNvSpPr>
          <p:nvPr>
            <p:ph type="title"/>
          </p:nvPr>
        </p:nvSpPr>
        <p:spPr/>
        <p:txBody>
          <a:bodyPr/>
          <a:lstStyle/>
          <a:p>
            <a:endParaRPr lang="it-IT"/>
          </a:p>
        </p:txBody>
      </p:sp>
      <p:pic>
        <p:nvPicPr>
          <p:cNvPr id="5" name="Segnaposto contenuto 4">
            <a:extLst>
              <a:ext uri="{FF2B5EF4-FFF2-40B4-BE49-F238E27FC236}">
                <a16:creationId xmlns:a16="http://schemas.microsoft.com/office/drawing/2014/main" id="{B377F89F-1213-CCB2-BD08-5AD29EBC423C}"/>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642392" y="468000"/>
            <a:ext cx="6904040" cy="5922000"/>
          </a:xfrm>
        </p:spPr>
      </p:pic>
    </p:spTree>
    <p:extLst>
      <p:ext uri="{BB962C8B-B14F-4D97-AF65-F5344CB8AC3E}">
        <p14:creationId xmlns:p14="http://schemas.microsoft.com/office/powerpoint/2010/main" val="35708015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lemento grafico 6">
            <a:extLst>
              <a:ext uri="{FF2B5EF4-FFF2-40B4-BE49-F238E27FC236}">
                <a16:creationId xmlns:a16="http://schemas.microsoft.com/office/drawing/2014/main" id="{4CADC17C-A41E-A1A6-1EEC-EC94E012FF9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3393" y="273758"/>
            <a:ext cx="8202038" cy="6310482"/>
          </a:xfrm>
          <a:prstGeom prst="rect">
            <a:avLst/>
          </a:prstGeom>
        </p:spPr>
      </p:pic>
      <p:sp>
        <p:nvSpPr>
          <p:cNvPr id="3" name="Ovale 2">
            <a:extLst>
              <a:ext uri="{FF2B5EF4-FFF2-40B4-BE49-F238E27FC236}">
                <a16:creationId xmlns:a16="http://schemas.microsoft.com/office/drawing/2014/main" id="{D49C279A-6391-42FD-F64F-B970A7A2CCF6}"/>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560774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B8A1F5-0731-53D5-D5A9-CDDE39330EDF}"/>
              </a:ext>
            </a:extLst>
          </p:cNvPr>
          <p:cNvSpPr>
            <a:spLocks noGrp="1"/>
          </p:cNvSpPr>
          <p:nvPr>
            <p:ph type="title"/>
          </p:nvPr>
        </p:nvSpPr>
        <p:spPr/>
        <p:txBody>
          <a:bodyPr/>
          <a:lstStyle/>
          <a:p>
            <a:endParaRPr lang="it-IT"/>
          </a:p>
        </p:txBody>
      </p:sp>
      <p:sp>
        <p:nvSpPr>
          <p:cNvPr id="10" name="Segnaposto contenuto 9">
            <a:extLst>
              <a:ext uri="{FF2B5EF4-FFF2-40B4-BE49-F238E27FC236}">
                <a16:creationId xmlns:a16="http://schemas.microsoft.com/office/drawing/2014/main" id="{0931A69D-44F9-7622-B1A9-059C04419801}"/>
              </a:ext>
            </a:extLst>
          </p:cNvPr>
          <p:cNvSpPr>
            <a:spLocks noGrp="1"/>
          </p:cNvSpPr>
          <p:nvPr>
            <p:ph idx="1"/>
          </p:nvPr>
        </p:nvSpPr>
        <p:spPr/>
        <p:txBody>
          <a:bodyPr/>
          <a:lstStyle/>
          <a:p>
            <a:endParaRPr lang="it-IT"/>
          </a:p>
        </p:txBody>
      </p:sp>
      <p:pic>
        <p:nvPicPr>
          <p:cNvPr id="11" name="Elemento grafico 10">
            <a:extLst>
              <a:ext uri="{FF2B5EF4-FFF2-40B4-BE49-F238E27FC236}">
                <a16:creationId xmlns:a16="http://schemas.microsoft.com/office/drawing/2014/main" id="{CDE5365B-9BC5-2587-8A29-8B7255B156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3393" y="273758"/>
            <a:ext cx="8202040" cy="6310484"/>
          </a:xfrm>
          <a:prstGeom prst="rect">
            <a:avLst/>
          </a:prstGeom>
        </p:spPr>
      </p:pic>
    </p:spTree>
    <p:extLst>
      <p:ext uri="{BB962C8B-B14F-4D97-AF65-F5344CB8AC3E}">
        <p14:creationId xmlns:p14="http://schemas.microsoft.com/office/powerpoint/2010/main" val="8424838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B8A1F5-0731-53D5-D5A9-CDDE39330EDF}"/>
              </a:ext>
            </a:extLst>
          </p:cNvPr>
          <p:cNvSpPr>
            <a:spLocks noGrp="1"/>
          </p:cNvSpPr>
          <p:nvPr>
            <p:ph type="title"/>
          </p:nvPr>
        </p:nvSpPr>
        <p:spPr/>
        <p:txBody>
          <a:bodyPr/>
          <a:lstStyle/>
          <a:p>
            <a:endParaRPr lang="it-IT"/>
          </a:p>
        </p:txBody>
      </p:sp>
      <p:sp>
        <p:nvSpPr>
          <p:cNvPr id="8" name="Segnaposto contenuto 7">
            <a:extLst>
              <a:ext uri="{FF2B5EF4-FFF2-40B4-BE49-F238E27FC236}">
                <a16:creationId xmlns:a16="http://schemas.microsoft.com/office/drawing/2014/main" id="{70CD6C8C-DF0C-1247-145D-499C36400758}"/>
              </a:ext>
            </a:extLst>
          </p:cNvPr>
          <p:cNvSpPr>
            <a:spLocks noGrp="1"/>
          </p:cNvSpPr>
          <p:nvPr>
            <p:ph idx="1"/>
          </p:nvPr>
        </p:nvSpPr>
        <p:spPr/>
        <p:txBody>
          <a:bodyPr/>
          <a:lstStyle/>
          <a:p>
            <a:endParaRPr lang="it-IT"/>
          </a:p>
        </p:txBody>
      </p:sp>
      <p:pic>
        <p:nvPicPr>
          <p:cNvPr id="3" name="Immagine 2">
            <a:extLst>
              <a:ext uri="{FF2B5EF4-FFF2-40B4-BE49-F238E27FC236}">
                <a16:creationId xmlns:a16="http://schemas.microsoft.com/office/drawing/2014/main" id="{51FD175E-4EBE-3346-7958-BC393BB43687}"/>
              </a:ext>
            </a:extLst>
          </p:cNvPr>
          <p:cNvPicPr>
            <a:picLocks noChangeAspect="1"/>
          </p:cNvPicPr>
          <p:nvPr/>
        </p:nvPicPr>
        <p:blipFill>
          <a:blip r:embed="rId2"/>
          <a:stretch>
            <a:fillRect/>
          </a:stretch>
        </p:blipFill>
        <p:spPr>
          <a:xfrm>
            <a:off x="1993393" y="273758"/>
            <a:ext cx="8213645" cy="6310484"/>
          </a:xfrm>
          <a:prstGeom prst="rect">
            <a:avLst/>
          </a:prstGeom>
        </p:spPr>
      </p:pic>
    </p:spTree>
    <p:extLst>
      <p:ext uri="{BB962C8B-B14F-4D97-AF65-F5344CB8AC3E}">
        <p14:creationId xmlns:p14="http://schemas.microsoft.com/office/powerpoint/2010/main" val="2493960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CF58CA-1342-2C55-F125-847E3FE83C40}"/>
              </a:ext>
            </a:extLst>
          </p:cNvPr>
          <p:cNvSpPr>
            <a:spLocks noGrp="1"/>
          </p:cNvSpPr>
          <p:nvPr>
            <p:ph type="title"/>
          </p:nvPr>
        </p:nvSpPr>
        <p:spPr/>
        <p:txBody>
          <a:bodyPr/>
          <a:lstStyle/>
          <a:p>
            <a:r>
              <a:rPr lang="it-IT" dirty="0"/>
              <a:t>RETI LOGICHE COMBINATORIE MULTILIVELLO</a:t>
            </a:r>
          </a:p>
        </p:txBody>
      </p:sp>
      <p:sp>
        <p:nvSpPr>
          <p:cNvPr id="3" name="Segnaposto contenuto 2">
            <a:extLst>
              <a:ext uri="{FF2B5EF4-FFF2-40B4-BE49-F238E27FC236}">
                <a16:creationId xmlns:a16="http://schemas.microsoft.com/office/drawing/2014/main" id="{3E6B0A45-4DDC-18C7-8A30-181D572B645F}"/>
              </a:ext>
            </a:extLst>
          </p:cNvPr>
          <p:cNvSpPr>
            <a:spLocks noGrp="1"/>
          </p:cNvSpPr>
          <p:nvPr>
            <p:ph idx="1"/>
          </p:nvPr>
        </p:nvSpPr>
        <p:spPr>
          <a:xfrm>
            <a:off x="1141413" y="2249487"/>
            <a:ext cx="6674720" cy="3515209"/>
          </a:xfrm>
        </p:spPr>
        <p:txBody>
          <a:bodyPr>
            <a:normAutofit fontScale="92500" lnSpcReduction="20000"/>
          </a:bodyPr>
          <a:lstStyle/>
          <a:p>
            <a:r>
              <a:rPr lang="it-IT" dirty="0"/>
              <a:t>Possono sfruttare semplici porte logiche o forme</a:t>
            </a:r>
            <a:br>
              <a:rPr lang="it-IT" dirty="0"/>
            </a:br>
            <a:r>
              <a:rPr lang="it-IT" dirty="0"/>
              <a:t>canoniche collegate in cascata. Il tempo di stabilizzazione delle uscite al variare degli ingressi</a:t>
            </a:r>
            <a:br>
              <a:rPr lang="it-IT" dirty="0"/>
            </a:br>
            <a:r>
              <a:rPr lang="it-IT" dirty="0"/>
              <a:t>può essere maggiore ed esibire meno coerenza. </a:t>
            </a:r>
          </a:p>
          <a:p>
            <a:r>
              <a:rPr lang="it-IT" dirty="0"/>
              <a:t>Le reti multilivello sono tipiche dei dispositivi programmabili moderni (CPLD e FPGA); collegano</a:t>
            </a:r>
            <a:br>
              <a:rPr lang="it-IT" dirty="0"/>
            </a:br>
            <a:r>
              <a:rPr lang="it-IT" dirty="0"/>
              <a:t>macro-celle/LUT (Look Up </a:t>
            </a:r>
            <a:r>
              <a:rPr lang="it-IT" dirty="0" err="1"/>
              <a:t>Table</a:t>
            </a:r>
            <a:r>
              <a:rPr lang="it-IT" dirty="0"/>
              <a:t>, blocchi logici predefiniti) fra loro per realizzare strutture logiche anche molto complesse.</a:t>
            </a:r>
          </a:p>
        </p:txBody>
      </p:sp>
      <p:pic>
        <p:nvPicPr>
          <p:cNvPr id="8" name="Elemento grafico 7">
            <a:extLst>
              <a:ext uri="{FF2B5EF4-FFF2-40B4-BE49-F238E27FC236}">
                <a16:creationId xmlns:a16="http://schemas.microsoft.com/office/drawing/2014/main" id="{B43DE71E-407B-ECD3-326A-5D81A2A5460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94953" y="1893888"/>
            <a:ext cx="3052457" cy="4293409"/>
          </a:xfrm>
          <a:prstGeom prst="rect">
            <a:avLst/>
          </a:prstGeom>
        </p:spPr>
      </p:pic>
      <p:sp>
        <p:nvSpPr>
          <p:cNvPr id="4" name="Ovale 3">
            <a:extLst>
              <a:ext uri="{FF2B5EF4-FFF2-40B4-BE49-F238E27FC236}">
                <a16:creationId xmlns:a16="http://schemas.microsoft.com/office/drawing/2014/main" id="{5AC66B92-F75C-2D5F-15BE-CEF87006A663}"/>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22356548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F8C7AC-3B38-2A04-221F-A5B8F132A748}"/>
              </a:ext>
            </a:extLst>
          </p:cNvPr>
          <p:cNvSpPr>
            <a:spLocks noGrp="1"/>
          </p:cNvSpPr>
          <p:nvPr>
            <p:ph type="title"/>
          </p:nvPr>
        </p:nvSpPr>
        <p:spPr/>
        <p:txBody>
          <a:bodyPr/>
          <a:lstStyle/>
          <a:p>
            <a:r>
              <a:rPr lang="it-IT" dirty="0"/>
              <a:t>Alee (HAZARDS)</a:t>
            </a:r>
          </a:p>
        </p:txBody>
      </p:sp>
      <p:sp>
        <p:nvSpPr>
          <p:cNvPr id="3" name="Segnaposto contenuto 2">
            <a:extLst>
              <a:ext uri="{FF2B5EF4-FFF2-40B4-BE49-F238E27FC236}">
                <a16:creationId xmlns:a16="http://schemas.microsoft.com/office/drawing/2014/main" id="{755886B6-19A5-3867-3989-BF40816E67CB}"/>
              </a:ext>
            </a:extLst>
          </p:cNvPr>
          <p:cNvSpPr>
            <a:spLocks noGrp="1"/>
          </p:cNvSpPr>
          <p:nvPr>
            <p:ph idx="1"/>
          </p:nvPr>
        </p:nvSpPr>
        <p:spPr>
          <a:xfrm>
            <a:off x="1141412" y="2249487"/>
            <a:ext cx="6682671" cy="3541714"/>
          </a:xfrm>
        </p:spPr>
        <p:txBody>
          <a:bodyPr>
            <a:normAutofit fontScale="92500" lnSpcReduction="20000"/>
          </a:bodyPr>
          <a:lstStyle/>
          <a:p>
            <a:pPr marL="0" indent="0">
              <a:buNone/>
            </a:pPr>
            <a:r>
              <a:rPr lang="it-IT" dirty="0"/>
              <a:t>A lato si può vedere una rete multilivello che produce l’uscita </a:t>
            </a:r>
            <a:r>
              <a:rPr lang="it-IT" i="1" dirty="0"/>
              <a:t>out</a:t>
            </a:r>
            <a:r>
              <a:rPr lang="it-IT" dirty="0"/>
              <a:t> per gli ingressi </a:t>
            </a:r>
            <a:r>
              <a:rPr lang="it-IT" i="1" dirty="0"/>
              <a:t>a</a:t>
            </a:r>
            <a:r>
              <a:rPr lang="it-IT" dirty="0"/>
              <a:t>, </a:t>
            </a:r>
            <a:r>
              <a:rPr lang="it-IT" i="1" dirty="0"/>
              <a:t>b</a:t>
            </a:r>
            <a:r>
              <a:rPr lang="it-IT" dirty="0"/>
              <a:t> e </a:t>
            </a:r>
            <a:r>
              <a:rPr lang="it-IT" i="1" dirty="0"/>
              <a:t>c</a:t>
            </a:r>
            <a:r>
              <a:rPr lang="it-IT" dirty="0"/>
              <a:t>. Siccome la rete è realizzata con un solo tipo di componente, per ottenere la funzione out è necessario mettere in cascata più porte rispetto ad una rete in forma canonica, ottenendo di fatto una rete multilivello.</a:t>
            </a:r>
            <a:br>
              <a:rPr lang="it-IT" dirty="0"/>
            </a:br>
            <a:r>
              <a:rPr lang="it-IT" dirty="0"/>
              <a:t>Dal momento che i componenti non esibiscono ritardi di propagazione, il comportamenti di questa rete è ideale. Vale a dire che non ci sono «incertezze» nella evoluzione dei segnali nel tempo.</a:t>
            </a:r>
          </a:p>
        </p:txBody>
      </p:sp>
      <p:pic>
        <p:nvPicPr>
          <p:cNvPr id="5" name="Elemento grafico 4">
            <a:extLst>
              <a:ext uri="{FF2B5EF4-FFF2-40B4-BE49-F238E27FC236}">
                <a16:creationId xmlns:a16="http://schemas.microsoft.com/office/drawing/2014/main" id="{2C68FEBD-024A-7443-48AB-5F691AFBC1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79742" y="926367"/>
            <a:ext cx="3895725" cy="5084782"/>
          </a:xfrm>
          <a:prstGeom prst="rect">
            <a:avLst/>
          </a:prstGeom>
        </p:spPr>
      </p:pic>
    </p:spTree>
    <p:extLst>
      <p:ext uri="{BB962C8B-B14F-4D97-AF65-F5344CB8AC3E}">
        <p14:creationId xmlns:p14="http://schemas.microsoft.com/office/powerpoint/2010/main" val="3681734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F8C7AC-3B38-2A04-221F-A5B8F132A748}"/>
              </a:ext>
            </a:extLst>
          </p:cNvPr>
          <p:cNvSpPr>
            <a:spLocks noGrp="1"/>
          </p:cNvSpPr>
          <p:nvPr>
            <p:ph type="title"/>
          </p:nvPr>
        </p:nvSpPr>
        <p:spPr/>
        <p:txBody>
          <a:bodyPr/>
          <a:lstStyle/>
          <a:p>
            <a:r>
              <a:rPr lang="it-IT" dirty="0"/>
              <a:t>Alee Statiche (STATIC HAZARDS)</a:t>
            </a:r>
          </a:p>
        </p:txBody>
      </p:sp>
      <p:sp>
        <p:nvSpPr>
          <p:cNvPr id="3" name="Segnaposto contenuto 2">
            <a:extLst>
              <a:ext uri="{FF2B5EF4-FFF2-40B4-BE49-F238E27FC236}">
                <a16:creationId xmlns:a16="http://schemas.microsoft.com/office/drawing/2014/main" id="{755886B6-19A5-3867-3989-BF40816E67CB}"/>
              </a:ext>
            </a:extLst>
          </p:cNvPr>
          <p:cNvSpPr>
            <a:spLocks noGrp="1"/>
          </p:cNvSpPr>
          <p:nvPr>
            <p:ph idx="1"/>
          </p:nvPr>
        </p:nvSpPr>
        <p:spPr>
          <a:xfrm>
            <a:off x="1141413" y="1757238"/>
            <a:ext cx="6642915" cy="4659464"/>
          </a:xfrm>
        </p:spPr>
        <p:txBody>
          <a:bodyPr>
            <a:normAutofit fontScale="77500" lnSpcReduction="20000"/>
          </a:bodyPr>
          <a:lstStyle/>
          <a:p>
            <a:pPr marL="0" indent="0">
              <a:buNone/>
            </a:pPr>
            <a:r>
              <a:rPr lang="it-IT" dirty="0"/>
              <a:t>Quando i tempi di propagazione delle porte o dei percorsi fisici (collegamenti elettrici) non è trascurabile, il circuito che produce </a:t>
            </a:r>
            <a:r>
              <a:rPr lang="it-IT" i="1" dirty="0"/>
              <a:t>out</a:t>
            </a:r>
            <a:r>
              <a:rPr lang="it-IT" dirty="0"/>
              <a:t> può esibire incertezze prima di assestarsi su un valore nominale. Nella figura a lato si possono notare degli impulsi molto brevi che prendono il nome di alee. Si tratta di transitori che perturbano il segnale per un brevissimo periodo. Bisogna tenerne conto in fase di progettazione, in quanto possono causare malfunzionamenti nelle reti logiche. Le alee statiche non sono appannaggio delle sole reti multilivello. Anche le forme canoniche con componenti non ideali o percorsi «lenti» possono esibire incertezze.</a:t>
            </a:r>
          </a:p>
          <a:p>
            <a:pPr marL="0" indent="0">
              <a:buNone/>
            </a:pPr>
            <a:r>
              <a:rPr lang="it-IT" dirty="0"/>
              <a:t>Nell’esempio pratico a lato, sono state usate (anche per gli inverter) le porte NOR di due SN74LS02, che esibiscono un ritardo tipico di 10 ns: si noti che i ritardi di propagazione non sono proprio trascurabili rispetto alla velocità dei segnali applicati (fronti ogni 100 ns).</a:t>
            </a:r>
          </a:p>
          <a:p>
            <a:pPr marL="0" indent="0">
              <a:buNone/>
            </a:pPr>
            <a:endParaRPr lang="it-IT" dirty="0"/>
          </a:p>
        </p:txBody>
      </p:sp>
      <p:pic>
        <p:nvPicPr>
          <p:cNvPr id="13" name="Elemento grafico 12">
            <a:extLst>
              <a:ext uri="{FF2B5EF4-FFF2-40B4-BE49-F238E27FC236}">
                <a16:creationId xmlns:a16="http://schemas.microsoft.com/office/drawing/2014/main" id="{1914E8C6-4EAA-636B-B8AB-A8277977F3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79742" y="932064"/>
            <a:ext cx="3895726" cy="5527403"/>
          </a:xfrm>
          <a:prstGeom prst="rect">
            <a:avLst/>
          </a:prstGeom>
        </p:spPr>
      </p:pic>
      <p:sp>
        <p:nvSpPr>
          <p:cNvPr id="14" name="Rettangolo 13">
            <a:extLst>
              <a:ext uri="{FF2B5EF4-FFF2-40B4-BE49-F238E27FC236}">
                <a16:creationId xmlns:a16="http://schemas.microsoft.com/office/drawing/2014/main" id="{30307A86-50B2-3B93-453E-3F706CB38F68}"/>
              </a:ext>
            </a:extLst>
          </p:cNvPr>
          <p:cNvSpPr/>
          <p:nvPr/>
        </p:nvSpPr>
        <p:spPr>
          <a:xfrm>
            <a:off x="10312842" y="1677726"/>
            <a:ext cx="1168841" cy="2067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529481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F8C7AC-3B38-2A04-221F-A5B8F132A748}"/>
              </a:ext>
            </a:extLst>
          </p:cNvPr>
          <p:cNvSpPr>
            <a:spLocks noGrp="1"/>
          </p:cNvSpPr>
          <p:nvPr>
            <p:ph type="title"/>
          </p:nvPr>
        </p:nvSpPr>
        <p:spPr>
          <a:xfrm>
            <a:off x="1141413" y="284558"/>
            <a:ext cx="9905998" cy="1478570"/>
          </a:xfrm>
        </p:spPr>
        <p:txBody>
          <a:bodyPr/>
          <a:lstStyle/>
          <a:p>
            <a:r>
              <a:rPr lang="it-IT" dirty="0"/>
              <a:t>Alee </a:t>
            </a:r>
            <a:r>
              <a:rPr lang="it-IT" dirty="0" err="1"/>
              <a:t>DINAMiche</a:t>
            </a:r>
            <a:r>
              <a:rPr lang="it-IT" dirty="0"/>
              <a:t> (DYNAMIC HAZARDS)</a:t>
            </a:r>
          </a:p>
        </p:txBody>
      </p:sp>
      <p:sp>
        <p:nvSpPr>
          <p:cNvPr id="3" name="Segnaposto contenuto 2">
            <a:extLst>
              <a:ext uri="{FF2B5EF4-FFF2-40B4-BE49-F238E27FC236}">
                <a16:creationId xmlns:a16="http://schemas.microsoft.com/office/drawing/2014/main" id="{755886B6-19A5-3867-3989-BF40816E67CB}"/>
              </a:ext>
            </a:extLst>
          </p:cNvPr>
          <p:cNvSpPr>
            <a:spLocks noGrp="1"/>
          </p:cNvSpPr>
          <p:nvPr>
            <p:ph idx="1"/>
          </p:nvPr>
        </p:nvSpPr>
        <p:spPr>
          <a:xfrm>
            <a:off x="1141412" y="1763128"/>
            <a:ext cx="6809892" cy="4717185"/>
          </a:xfrm>
        </p:spPr>
        <p:txBody>
          <a:bodyPr>
            <a:normAutofit fontScale="77500" lnSpcReduction="20000"/>
          </a:bodyPr>
          <a:lstStyle/>
          <a:p>
            <a:pPr marL="0" indent="0">
              <a:buNone/>
            </a:pPr>
            <a:r>
              <a:rPr lang="it-IT" dirty="0"/>
              <a:t>Il circuito a lato esibisce un secondo tipo di alea che produce un’uscita che si porta inizialmente sul valore previsto (da 0 a 1), ma non rimane stabile: infatti segue immediatamente un impulso col valore opposto (zero), per poi assestarsi finalmente sul valore desiderato (uno).</a:t>
            </a:r>
          </a:p>
          <a:p>
            <a:pPr marL="0" indent="0">
              <a:buNone/>
            </a:pPr>
            <a:r>
              <a:rPr lang="it-IT" dirty="0"/>
              <a:t>Questo comportamento circuitale è definito come «alea dinamica». Le alee dinamiche compaiono quando, a seguito della variazione di uno o più segnali di ingresso, il segnale in uscita ha una transizione al valore opposto, solo che questa non si stabilizza repentinamente ma può oscillare una o più volte.</a:t>
            </a:r>
          </a:p>
          <a:p>
            <a:pPr marL="0" indent="0">
              <a:buNone/>
            </a:pPr>
            <a:r>
              <a:rPr lang="it-IT" dirty="0"/>
              <a:t>La presenza di alee dinamiche comporta notevoli problemi nella progettazione e realizzazione delle cosiddette «reti sequenziali asincrone» con più di due stati. Questo genere di reti non saranno trattate in questa presentazione, anche se vedremo un esempio di una semplicissima rete sequenziale asincrona a due stati più avanti.</a:t>
            </a:r>
          </a:p>
          <a:p>
            <a:pPr marL="0" indent="0">
              <a:buNone/>
            </a:pPr>
            <a:endParaRPr lang="it-IT" dirty="0"/>
          </a:p>
        </p:txBody>
      </p:sp>
      <p:pic>
        <p:nvPicPr>
          <p:cNvPr id="7" name="Elemento grafico 6">
            <a:extLst>
              <a:ext uri="{FF2B5EF4-FFF2-40B4-BE49-F238E27FC236}">
                <a16:creationId xmlns:a16="http://schemas.microsoft.com/office/drawing/2014/main" id="{FDB822A7-72E4-1A7B-EA56-ADE8B432C4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1304" y="1659945"/>
            <a:ext cx="3895726" cy="4806704"/>
          </a:xfrm>
          <a:prstGeom prst="rect">
            <a:avLst/>
          </a:prstGeom>
        </p:spPr>
      </p:pic>
      <p:sp>
        <p:nvSpPr>
          <p:cNvPr id="8" name="Rettangolo 7">
            <a:extLst>
              <a:ext uri="{FF2B5EF4-FFF2-40B4-BE49-F238E27FC236}">
                <a16:creationId xmlns:a16="http://schemas.microsoft.com/office/drawing/2014/main" id="{30307A86-50B2-3B93-453E-3F706CB38F68}"/>
              </a:ext>
            </a:extLst>
          </p:cNvPr>
          <p:cNvSpPr/>
          <p:nvPr/>
        </p:nvSpPr>
        <p:spPr>
          <a:xfrm>
            <a:off x="10487770" y="2647786"/>
            <a:ext cx="1041622" cy="20673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121036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6A9AF0-DBC5-C9EC-E4A1-9C6E95EA80CD}"/>
              </a:ext>
            </a:extLst>
          </p:cNvPr>
          <p:cNvSpPr>
            <a:spLocks noGrp="1"/>
          </p:cNvSpPr>
          <p:nvPr>
            <p:ph type="title"/>
          </p:nvPr>
        </p:nvSpPr>
        <p:spPr/>
        <p:txBody>
          <a:bodyPr/>
          <a:lstStyle/>
          <a:p>
            <a:r>
              <a:rPr lang="it-IT" dirty="0"/>
              <a:t>GLI ELEMENTI DI MEMORIA</a:t>
            </a:r>
            <a:br>
              <a:rPr lang="it-IT" dirty="0"/>
            </a:br>
            <a:endParaRPr lang="it-IT" dirty="0"/>
          </a:p>
        </p:txBody>
      </p:sp>
      <p:sp>
        <p:nvSpPr>
          <p:cNvPr id="3" name="Segnaposto contenuto 2">
            <a:extLst>
              <a:ext uri="{FF2B5EF4-FFF2-40B4-BE49-F238E27FC236}">
                <a16:creationId xmlns:a16="http://schemas.microsoft.com/office/drawing/2014/main" id="{1194126D-CFBB-5879-F508-1B0748C9F82C}"/>
              </a:ext>
            </a:extLst>
          </p:cNvPr>
          <p:cNvSpPr>
            <a:spLocks noGrp="1"/>
          </p:cNvSpPr>
          <p:nvPr>
            <p:ph idx="1"/>
          </p:nvPr>
        </p:nvSpPr>
        <p:spPr>
          <a:xfrm>
            <a:off x="1141413" y="1892808"/>
            <a:ext cx="6548691" cy="4526279"/>
          </a:xfrm>
        </p:spPr>
        <p:txBody>
          <a:bodyPr>
            <a:normAutofit fontScale="70000" lnSpcReduction="20000"/>
          </a:bodyPr>
          <a:lstStyle/>
          <a:p>
            <a:r>
              <a:rPr lang="it-IT" dirty="0"/>
              <a:t>Alcune configurazioni circuitali costituiscono gli elementi di memoria. Tali elementi sono il cuore delle reti sequenziali. </a:t>
            </a:r>
          </a:p>
          <a:p>
            <a:r>
              <a:rPr lang="it-IT" dirty="0"/>
              <a:t>Gli elementi di memoria comunemente usati possono essere sensibili ai «livelli» (riquadro in alto) o ai «fronti» (riquadro in basso).</a:t>
            </a:r>
          </a:p>
          <a:p>
            <a:r>
              <a:rPr lang="it-IT" dirty="0"/>
              <a:t>Gli elementi di memoria sensibili ai «fronti» sono spesso usati con un segnale con cadenza specifica che determina il ritmo di elaborazione (clock). Sono principalmente di tre tipi, D, T e JK e il loro funzionamento è descritto dalle cosiddette «tabelle di eccitazione».</a:t>
            </a:r>
          </a:p>
          <a:p>
            <a:r>
              <a:rPr lang="it-IT" dirty="0"/>
              <a:t>Sono sempre dotati di un feedback interno a uno o più livelli. </a:t>
            </a:r>
            <a:br>
              <a:rPr lang="it-IT" dirty="0"/>
            </a:br>
            <a:r>
              <a:rPr lang="it-IT" dirty="0"/>
              <a:t>Si possono studiare come reti combinatorie una volta interrotti i feedback e considerati come normali ingressi.</a:t>
            </a:r>
          </a:p>
          <a:p>
            <a:r>
              <a:rPr lang="it-IT" dirty="0"/>
              <a:t>Le reti combinatorie viste in precedenza, «alimentano» le variabili di ingresso di questi elementi di memoria per costruire sistemi di reti sequenziali più grandi e più complessi.</a:t>
            </a:r>
          </a:p>
        </p:txBody>
      </p:sp>
      <p:pic>
        <p:nvPicPr>
          <p:cNvPr id="10" name="Elemento grafico 9">
            <a:extLst>
              <a:ext uri="{FF2B5EF4-FFF2-40B4-BE49-F238E27FC236}">
                <a16:creationId xmlns:a16="http://schemas.microsoft.com/office/drawing/2014/main" id="{150A1814-FE16-F604-995F-752F50F639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75159" y="1590827"/>
            <a:ext cx="2934362" cy="4653060"/>
          </a:xfrm>
          <a:prstGeom prst="rect">
            <a:avLst/>
          </a:prstGeom>
        </p:spPr>
      </p:pic>
      <p:sp>
        <p:nvSpPr>
          <p:cNvPr id="5" name="Ovale 4">
            <a:extLst>
              <a:ext uri="{FF2B5EF4-FFF2-40B4-BE49-F238E27FC236}">
                <a16:creationId xmlns:a16="http://schemas.microsoft.com/office/drawing/2014/main" id="{19898A38-DC62-BC6C-15C3-192829D4E55D}"/>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15097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116FB3-83EE-C3B8-67AA-68431154F99D}"/>
              </a:ext>
            </a:extLst>
          </p:cNvPr>
          <p:cNvSpPr>
            <a:spLocks noGrp="1"/>
          </p:cNvSpPr>
          <p:nvPr>
            <p:ph type="title"/>
          </p:nvPr>
        </p:nvSpPr>
        <p:spPr/>
        <p:txBody>
          <a:bodyPr/>
          <a:lstStyle/>
          <a:p>
            <a:r>
              <a:rPr lang="it-IT" dirty="0"/>
              <a:t>LOGICA TERNARIA o trivalente (3VL)</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5E62DB6-DB2E-2A02-AFD2-D89C68ABA7DB}"/>
                  </a:ext>
                </a:extLst>
              </p:cNvPr>
              <p:cNvSpPr>
                <a:spLocks noGrp="1"/>
              </p:cNvSpPr>
              <p:nvPr>
                <p:ph idx="1"/>
              </p:nvPr>
            </p:nvSpPr>
            <p:spPr>
              <a:xfrm>
                <a:off x="1295535" y="2249487"/>
                <a:ext cx="9597752" cy="3593530"/>
              </a:xfrm>
            </p:spPr>
            <p:txBody>
              <a:bodyPr>
                <a:normAutofit fontScale="92500" lnSpcReduction="10000"/>
              </a:bodyPr>
              <a:lstStyle/>
              <a:p>
                <a:r>
                  <a:rPr lang="it-IT" dirty="0"/>
                  <a:t>La logica trivalente è una estensione della logica sentenziale binaria che </a:t>
                </a:r>
                <a:br>
                  <a:rPr lang="it-IT" dirty="0"/>
                </a:br>
                <a:r>
                  <a:rPr lang="it-IT" dirty="0"/>
                  <a:t>abbiamo visto finora.</a:t>
                </a:r>
              </a:p>
              <a:p>
                <a:r>
                  <a:rPr lang="it-IT" dirty="0"/>
                  <a:t>È utile nell’analisi e nella simulazione di circuiti digitali binari con </a:t>
                </a:r>
                <a:r>
                  <a:rPr lang="it-IT" i="1" dirty="0"/>
                  <a:t>feedback</a:t>
                </a:r>
                <a:r>
                  <a:rPr lang="it-IT" dirty="0"/>
                  <a:t>, </a:t>
                </a:r>
                <a:br>
                  <a:rPr lang="it-IT" dirty="0"/>
                </a:br>
                <a:r>
                  <a:rPr lang="it-IT" dirty="0"/>
                  <a:t>cioè con le uscite della rete che tornano in ingresso. </a:t>
                </a:r>
              </a:p>
              <a:p>
                <a:r>
                  <a:rPr lang="it-IT" dirty="0"/>
                  <a:t>I valori rappresentati sono tre: 0, 1 e X.</a:t>
                </a:r>
              </a:p>
              <a:p>
                <a:r>
                  <a:rPr lang="it-IT" dirty="0"/>
                  <a:t>Una funzione in logica trivalente </a:t>
                </a:r>
                <a14:m>
                  <m:oMath xmlns:m="http://schemas.openxmlformats.org/officeDocument/2006/math">
                    <m:r>
                      <a:rPr lang="it-IT" b="0" i="1" smtClean="0">
                        <a:latin typeface="Cambria Math" panose="02040503050406030204" pitchFamily="18" charset="0"/>
                      </a:rPr>
                      <m:t>𝑧</m:t>
                    </m:r>
                    <m:r>
                      <a:rPr lang="it-IT" b="0" i="1" smtClean="0">
                        <a:latin typeface="Cambria Math" panose="02040503050406030204" pitchFamily="18" charset="0"/>
                      </a:rPr>
                      <m:t>=</m:t>
                    </m:r>
                    <m:r>
                      <a:rPr lang="it-IT" b="0" i="1" smtClean="0">
                        <a:latin typeface="Cambria Math" panose="02040503050406030204" pitchFamily="18" charset="0"/>
                      </a:rPr>
                      <m:t>𝑓</m:t>
                    </m:r>
                    <m:d>
                      <m:dPr>
                        <m:ctrlPr>
                          <a:rPr lang="it-IT" b="0" i="1" smtClean="0">
                            <a:latin typeface="Cambria Math" panose="02040503050406030204" pitchFamily="18" charset="0"/>
                          </a:rPr>
                        </m:ctrlPr>
                      </m:dPr>
                      <m:e>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1</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𝑥</m:t>
                            </m:r>
                          </m:e>
                          <m:sub>
                            <m:r>
                              <a:rPr lang="it-IT" b="0" i="1" smtClean="0">
                                <a:latin typeface="Cambria Math" panose="02040503050406030204" pitchFamily="18" charset="0"/>
                              </a:rPr>
                              <m:t>𝑛</m:t>
                            </m:r>
                          </m:sub>
                        </m:sSub>
                      </m:e>
                    </m:d>
                  </m:oMath>
                </a14:m>
                <a:r>
                  <a:rPr lang="it-IT" dirty="0"/>
                  <a:t> è una legge</a:t>
                </a:r>
                <a:br>
                  <a:rPr lang="it-IT" dirty="0"/>
                </a:br>
                <a14:m>
                  <m:oMath xmlns:m="http://schemas.openxmlformats.org/officeDocument/2006/math">
                    <m:sSup>
                      <m:sSupPr>
                        <m:ctrlPr>
                          <a:rPr lang="it-IT" i="1" smtClean="0">
                            <a:latin typeface="Cambria Math" panose="02040503050406030204" pitchFamily="18" charset="0"/>
                          </a:rPr>
                        </m:ctrlPr>
                      </m:sSupPr>
                      <m:e>
                        <m:d>
                          <m:dPr>
                            <m:begChr m:val="{"/>
                            <m:endChr m:val="}"/>
                            <m:ctrlPr>
                              <a:rPr lang="it-IT" i="1" smtClean="0">
                                <a:latin typeface="Cambria Math" panose="02040503050406030204" pitchFamily="18" charset="0"/>
                              </a:rPr>
                            </m:ctrlPr>
                          </m:dPr>
                          <m:e>
                            <m:r>
                              <a:rPr lang="it-IT" b="0" i="1" smtClean="0">
                                <a:latin typeface="Cambria Math" panose="02040503050406030204" pitchFamily="18" charset="0"/>
                              </a:rPr>
                              <m:t>0,1,</m:t>
                            </m:r>
                            <m:r>
                              <a:rPr lang="it-IT" b="0" i="1" smtClean="0">
                                <a:latin typeface="Cambria Math" panose="02040503050406030204" pitchFamily="18" charset="0"/>
                              </a:rPr>
                              <m:t>𝑋</m:t>
                            </m:r>
                          </m:e>
                        </m:d>
                      </m:e>
                      <m:sup>
                        <m:r>
                          <a:rPr lang="it-IT" b="0" i="1" smtClean="0">
                            <a:latin typeface="Cambria Math" panose="02040503050406030204" pitchFamily="18" charset="0"/>
                          </a:rPr>
                          <m:t>𝑛</m:t>
                        </m:r>
                      </m:sup>
                    </m:sSup>
                    <m:r>
                      <a:rPr lang="it-IT" i="1" smtClean="0">
                        <a:latin typeface="Cambria Math" panose="02040503050406030204" pitchFamily="18" charset="0"/>
                        <a:ea typeface="Cambria Math" panose="02040503050406030204" pitchFamily="18" charset="0"/>
                      </a:rPr>
                      <m:t>→</m:t>
                    </m:r>
                    <m:d>
                      <m:dPr>
                        <m:begChr m:val="{"/>
                        <m:endChr m:val="}"/>
                        <m:ctrlPr>
                          <a:rPr lang="it-IT" i="1" smtClean="0">
                            <a:latin typeface="Cambria Math" panose="02040503050406030204" pitchFamily="18" charset="0"/>
                            <a:ea typeface="Cambria Math" panose="02040503050406030204" pitchFamily="18" charset="0"/>
                          </a:rPr>
                        </m:ctrlPr>
                      </m:dPr>
                      <m:e>
                        <m:r>
                          <a:rPr lang="it-IT" b="0" i="1" smtClean="0">
                            <a:latin typeface="Cambria Math" panose="02040503050406030204" pitchFamily="18" charset="0"/>
                            <a:ea typeface="Cambria Math" panose="02040503050406030204" pitchFamily="18" charset="0"/>
                          </a:rPr>
                          <m:t>0,1,</m:t>
                        </m:r>
                        <m:r>
                          <a:rPr lang="it-IT" b="0" i="1" smtClean="0">
                            <a:latin typeface="Cambria Math" panose="02040503050406030204" pitchFamily="18" charset="0"/>
                            <a:ea typeface="Cambria Math" panose="02040503050406030204" pitchFamily="18" charset="0"/>
                          </a:rPr>
                          <m:t>𝑋</m:t>
                        </m:r>
                      </m:e>
                    </m:d>
                  </m:oMath>
                </a14:m>
                <a:r>
                  <a:rPr lang="it-IT" dirty="0">
                    <a:ea typeface="Cambria Math" panose="02040503050406030204" pitchFamily="18" charset="0"/>
                  </a:rPr>
                  <a:t> che mappa </a:t>
                </a:r>
                <a14:m>
                  <m:oMath xmlns:m="http://schemas.openxmlformats.org/officeDocument/2006/math">
                    <m:r>
                      <a:rPr lang="it-IT" b="0" i="1" smtClean="0">
                        <a:latin typeface="Cambria Math" panose="02040503050406030204" pitchFamily="18" charset="0"/>
                        <a:ea typeface="Cambria Math" panose="02040503050406030204" pitchFamily="18" charset="0"/>
                      </a:rPr>
                      <m:t>𝑧</m:t>
                    </m:r>
                  </m:oMath>
                </a14:m>
                <a:r>
                  <a:rPr lang="it-IT" dirty="0">
                    <a:ea typeface="Cambria Math" panose="02040503050406030204" pitchFamily="18" charset="0"/>
                  </a:rPr>
                  <a:t> per ogni combinazione di </a:t>
                </a:r>
                <a14:m>
                  <m:oMath xmlns:m="http://schemas.openxmlformats.org/officeDocument/2006/math">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𝑥</m:t>
                        </m:r>
                      </m:e>
                      <m:sub>
                        <m:r>
                          <a:rPr lang="it-IT" b="0" i="1" smtClean="0">
                            <a:latin typeface="Cambria Math" panose="02040503050406030204" pitchFamily="18" charset="0"/>
                            <a:ea typeface="Cambria Math" panose="02040503050406030204" pitchFamily="18" charset="0"/>
                          </a:rPr>
                          <m:t>1</m:t>
                        </m:r>
                      </m:sub>
                    </m:sSub>
                    <m:r>
                      <a:rPr lang="it-IT" b="0"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𝑥</m:t>
                        </m:r>
                      </m:e>
                      <m:sub>
                        <m:r>
                          <a:rPr lang="it-IT" b="0" i="1" smtClean="0">
                            <a:latin typeface="Cambria Math" panose="02040503050406030204" pitchFamily="18" charset="0"/>
                            <a:ea typeface="Cambria Math" panose="02040503050406030204" pitchFamily="18" charset="0"/>
                          </a:rPr>
                          <m:t>𝑛</m:t>
                        </m:r>
                      </m:sub>
                    </m:sSub>
                  </m:oMath>
                </a14:m>
                <a:r>
                  <a:rPr lang="it-IT" dirty="0">
                    <a:ea typeface="Cambria Math" panose="02040503050406030204" pitchFamily="18" charset="0"/>
                  </a:rPr>
                  <a:t>.</a:t>
                </a:r>
              </a:p>
              <a:p>
                <a:r>
                  <a:rPr lang="it-IT" dirty="0">
                    <a:ea typeface="Cambria Math" panose="02040503050406030204" pitchFamily="18" charset="0"/>
                  </a:rPr>
                  <a:t>Compare come rappresentazione di «indefinito» nei simulatori.</a:t>
                </a:r>
              </a:p>
              <a:p>
                <a:endParaRPr lang="it-IT" dirty="0">
                  <a:ea typeface="Cambria Math" panose="02040503050406030204" pitchFamily="18" charset="0"/>
                </a:endParaRPr>
              </a:p>
              <a:p>
                <a:endParaRPr lang="it-IT" dirty="0"/>
              </a:p>
            </p:txBody>
          </p:sp>
        </mc:Choice>
        <mc:Fallback xmlns="">
          <p:sp>
            <p:nvSpPr>
              <p:cNvPr id="3" name="Segnaposto contenuto 2">
                <a:extLst>
                  <a:ext uri="{FF2B5EF4-FFF2-40B4-BE49-F238E27FC236}">
                    <a16:creationId xmlns:a16="http://schemas.microsoft.com/office/drawing/2014/main" id="{25E62DB6-DB2E-2A02-AFD2-D89C68ABA7DB}"/>
                  </a:ext>
                </a:extLst>
              </p:cNvPr>
              <p:cNvSpPr>
                <a:spLocks noGrp="1" noRot="1" noChangeAspect="1" noMove="1" noResize="1" noEditPoints="1" noAdjustHandles="1" noChangeArrowheads="1" noChangeShapeType="1" noTextEdit="1"/>
              </p:cNvSpPr>
              <p:nvPr>
                <p:ph idx="1"/>
              </p:nvPr>
            </p:nvSpPr>
            <p:spPr>
              <a:xfrm>
                <a:off x="1295535" y="2249487"/>
                <a:ext cx="9597752" cy="3593530"/>
              </a:xfrm>
              <a:blipFill>
                <a:blip r:embed="rId2"/>
                <a:stretch>
                  <a:fillRect l="-1144" t="-2712" b="-2373"/>
                </a:stretch>
              </a:blipFill>
            </p:spPr>
            <p:txBody>
              <a:bodyPr/>
              <a:lstStyle/>
              <a:p>
                <a:r>
                  <a:rPr lang="it-IT">
                    <a:noFill/>
                  </a:rPr>
                  <a:t> </a:t>
                </a:r>
              </a:p>
            </p:txBody>
          </p:sp>
        </mc:Fallback>
      </mc:AlternateContent>
    </p:spTree>
    <p:extLst>
      <p:ext uri="{BB962C8B-B14F-4D97-AF65-F5344CB8AC3E}">
        <p14:creationId xmlns:p14="http://schemas.microsoft.com/office/powerpoint/2010/main" val="19293655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D49EC7-F54D-A68A-0408-A204580B6F2D}"/>
              </a:ext>
            </a:extLst>
          </p:cNvPr>
          <p:cNvSpPr>
            <a:spLocks noGrp="1"/>
          </p:cNvSpPr>
          <p:nvPr>
            <p:ph type="title"/>
          </p:nvPr>
        </p:nvSpPr>
        <p:spPr/>
        <p:txBody>
          <a:bodyPr/>
          <a:lstStyle/>
          <a:p>
            <a:r>
              <a:rPr lang="it-IT" dirty="0"/>
              <a:t>OPERATORI NOT, OR E AND In LOGICA TRIVALENTE</a:t>
            </a:r>
          </a:p>
        </p:txBody>
      </p:sp>
      <p:pic>
        <p:nvPicPr>
          <p:cNvPr id="6" name="Segnaposto contenuto 5">
            <a:extLst>
              <a:ext uri="{FF2B5EF4-FFF2-40B4-BE49-F238E27FC236}">
                <a16:creationId xmlns:a16="http://schemas.microsoft.com/office/drawing/2014/main" id="{B901C210-83A8-7A0C-B3FD-F5AE6A3BF8FB}"/>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3021078" y="1948070"/>
            <a:ext cx="6167410" cy="4158532"/>
          </a:xfrm>
        </p:spPr>
      </p:pic>
      <p:sp>
        <p:nvSpPr>
          <p:cNvPr id="4" name="Rettangolo 3">
            <a:extLst>
              <a:ext uri="{FF2B5EF4-FFF2-40B4-BE49-F238E27FC236}">
                <a16:creationId xmlns:a16="http://schemas.microsoft.com/office/drawing/2014/main" id="{16C6A607-1235-2B22-EC80-374ABE1B692C}"/>
              </a:ext>
            </a:extLst>
          </p:cNvPr>
          <p:cNvSpPr/>
          <p:nvPr/>
        </p:nvSpPr>
        <p:spPr>
          <a:xfrm>
            <a:off x="3021078" y="1948070"/>
            <a:ext cx="6167410" cy="4158532"/>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2712914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92500"/>
          </a:bodyPr>
          <a:lstStyle/>
          <a:p>
            <a:pPr marL="0" indent="0">
              <a:buNone/>
            </a:pPr>
            <a:r>
              <a:rPr lang="it-IT" dirty="0"/>
              <a:t>La logica trivalente è utile per studiare il comportamento di reti logiche asincrone. Come esempio vediamo lo studio di un </a:t>
            </a:r>
            <a:r>
              <a:rPr lang="it-IT" i="1" dirty="0" err="1"/>
              <a:t>hinge</a:t>
            </a:r>
            <a:r>
              <a:rPr lang="it-IT" i="1" dirty="0"/>
              <a:t> latch Set-Reset </a:t>
            </a:r>
            <a:r>
              <a:rPr lang="it-IT" dirty="0"/>
              <a:t>fatto con porte NOR.</a:t>
            </a:r>
          </a:p>
        </p:txBody>
      </p:sp>
      <p:pic>
        <p:nvPicPr>
          <p:cNvPr id="9" name="Elemento grafico 8">
            <a:extLst>
              <a:ext uri="{FF2B5EF4-FFF2-40B4-BE49-F238E27FC236}">
                <a16:creationId xmlns:a16="http://schemas.microsoft.com/office/drawing/2014/main" id="{053E01B6-118D-8221-2D43-B3D7B471E8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3286" y="2528515"/>
            <a:ext cx="10382250" cy="3886200"/>
          </a:xfrm>
          <a:prstGeom prst="rect">
            <a:avLst/>
          </a:prstGeom>
        </p:spPr>
      </p:pic>
    </p:spTree>
    <p:extLst>
      <p:ext uri="{BB962C8B-B14F-4D97-AF65-F5344CB8AC3E}">
        <p14:creationId xmlns:p14="http://schemas.microsoft.com/office/powerpoint/2010/main" val="36843929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70000" lnSpcReduction="20000"/>
              </a:bodyPr>
              <a:lstStyle/>
              <a:p>
                <a:pPr marL="0" indent="0">
                  <a:buNone/>
                </a:pPr>
                <a:r>
                  <a:rPr lang="it-IT" dirty="0"/>
                  <a:t>Inizialmente (istante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0</m:t>
                        </m:r>
                      </m:sub>
                    </m:sSub>
                  </m:oMath>
                </a14:m>
                <a:r>
                  <a:rPr lang="it-IT" dirty="0"/>
                  <a:t>) lo stato d’uscita delle porte NOR è sconosciuto in quanto gli </a:t>
                </a:r>
                <a:r>
                  <a:rPr lang="it-IT" dirty="0" err="1"/>
                  <a:t>ingresi</a:t>
                </a:r>
                <a:r>
                  <a:rPr lang="it-IT" dirty="0"/>
                  <a:t> a 0 (zero) ammettono valori X (indefiniti) come uscite. In pratica, non è possibile determinare con certezza lo stato del Latch S-R. Si può affermare però che l’uscita </a:t>
                </a:r>
                <a14:m>
                  <m:oMath xmlns:m="http://schemas.openxmlformats.org/officeDocument/2006/math">
                    <m:r>
                      <a:rPr lang="it-IT" b="0" i="1" smtClean="0">
                        <a:latin typeface="Cambria Math" panose="02040503050406030204" pitchFamily="18" charset="0"/>
                      </a:rPr>
                      <m:t>𝑄</m:t>
                    </m:r>
                  </m:oMath>
                </a14:m>
                <a:r>
                  <a:rPr lang="it-IT" dirty="0"/>
                  <a:t> e </a:t>
                </a:r>
                <a14:m>
                  <m:oMath xmlns:m="http://schemas.openxmlformats.org/officeDocument/2006/math">
                    <m:acc>
                      <m:accPr>
                        <m:chr m:val="̅"/>
                        <m:ctrlPr>
                          <a:rPr lang="it-IT" i="1" smtClean="0">
                            <a:latin typeface="Cambria Math" panose="02040503050406030204" pitchFamily="18" charset="0"/>
                          </a:rPr>
                        </m:ctrlPr>
                      </m:accPr>
                      <m:e>
                        <m:r>
                          <a:rPr lang="it-IT" b="0" i="1" smtClean="0">
                            <a:latin typeface="Cambria Math" panose="02040503050406030204" pitchFamily="18" charset="0"/>
                          </a:rPr>
                          <m:t>𝑄</m:t>
                        </m:r>
                      </m:e>
                    </m:acc>
                  </m:oMath>
                </a14:m>
                <a:r>
                  <a:rPr lang="it-IT" dirty="0"/>
                  <a:t> siano una la negazione dell’altra in condizione di stabilità.</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369" t="-2454" r="-985"/>
                </a:stretch>
              </a:blipFill>
            </p:spPr>
            <p:txBody>
              <a:bodyPr/>
              <a:lstStyle/>
              <a:p>
                <a:r>
                  <a:rPr lang="it-IT">
                    <a:noFill/>
                  </a:rPr>
                  <a:t> </a:t>
                </a:r>
              </a:p>
            </p:txBody>
          </p:sp>
        </mc:Fallback>
      </mc:AlternateContent>
      <p:pic>
        <p:nvPicPr>
          <p:cNvPr id="9" name="Elemento grafico 8">
            <a:extLst>
              <a:ext uri="{FF2B5EF4-FFF2-40B4-BE49-F238E27FC236}">
                <a16:creationId xmlns:a16="http://schemas.microsoft.com/office/drawing/2014/main" id="{DFAA33AA-06AA-7C73-9616-4A97FD4A30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3286" y="2528515"/>
            <a:ext cx="10382250" cy="3886200"/>
          </a:xfrm>
          <a:prstGeom prst="rect">
            <a:avLst/>
          </a:prstGeom>
        </p:spPr>
      </p:pic>
    </p:spTree>
    <p:extLst>
      <p:ext uri="{BB962C8B-B14F-4D97-AF65-F5344CB8AC3E}">
        <p14:creationId xmlns:p14="http://schemas.microsoft.com/office/powerpoint/2010/main" val="8895656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85000" lnSpcReduction="10000"/>
              </a:bodyPr>
              <a:lstStyle/>
              <a:p>
                <a:pPr marL="0" indent="0">
                  <a:buNone/>
                </a:pPr>
                <a:r>
                  <a:rPr lang="it-IT" dirty="0"/>
                  <a:t>Appena l’ingresso di Set è portato ad 1 (istante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1</m:t>
                        </m:r>
                      </m:sub>
                    </m:sSub>
                  </m:oMath>
                </a14:m>
                <a:r>
                  <a:rPr lang="it-IT" dirty="0"/>
                  <a:t>), la porta ad esso collegato «reagisce» preparandosi a produrre uno 0 indipendentemente dal fatto che il secondo ingresso veda X.</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615" t="-2454"/>
                </a:stretch>
              </a:blipFill>
            </p:spPr>
            <p:txBody>
              <a:bodyPr/>
              <a:lstStyle/>
              <a:p>
                <a:r>
                  <a:rPr lang="it-IT">
                    <a:noFill/>
                  </a:rPr>
                  <a:t> </a:t>
                </a:r>
              </a:p>
            </p:txBody>
          </p:sp>
        </mc:Fallback>
      </mc:AlternateContent>
      <p:pic>
        <p:nvPicPr>
          <p:cNvPr id="4" name="Elemento grafico 3">
            <a:extLst>
              <a:ext uri="{FF2B5EF4-FFF2-40B4-BE49-F238E27FC236}">
                <a16:creationId xmlns:a16="http://schemas.microsoft.com/office/drawing/2014/main" id="{23A512FA-2FFA-01E7-A23D-6F312E0098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4" y="2528515"/>
            <a:ext cx="10382250" cy="3886200"/>
          </a:xfrm>
          <a:prstGeom prst="rect">
            <a:avLst/>
          </a:prstGeom>
        </p:spPr>
      </p:pic>
    </p:spTree>
    <p:extLst>
      <p:ext uri="{BB962C8B-B14F-4D97-AF65-F5344CB8AC3E}">
        <p14:creationId xmlns:p14="http://schemas.microsoft.com/office/powerpoint/2010/main" val="25177212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77500" lnSpcReduction="20000"/>
              </a:bodyPr>
              <a:lstStyle/>
              <a:p>
                <a:pPr marL="0" indent="0">
                  <a:buNone/>
                </a:pPr>
                <a:r>
                  <a:rPr lang="it-IT" dirty="0"/>
                  <a:t>All’istante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2</m:t>
                        </m:r>
                      </m:sub>
                    </m:sSub>
                  </m:oMath>
                </a14:m>
                <a:r>
                  <a:rPr lang="it-IT" dirty="0"/>
                  <a:t>, la porta NOR collegata all’uscita </a:t>
                </a:r>
                <a14:m>
                  <m:oMath xmlns:m="http://schemas.openxmlformats.org/officeDocument/2006/math">
                    <m:acc>
                      <m:accPr>
                        <m:chr m:val="̅"/>
                        <m:ctrlPr>
                          <a:rPr lang="it-IT" i="1" smtClean="0">
                            <a:latin typeface="Cambria Math" panose="02040503050406030204" pitchFamily="18" charset="0"/>
                          </a:rPr>
                        </m:ctrlPr>
                      </m:accPr>
                      <m:e>
                        <m:r>
                          <a:rPr lang="it-IT" b="0" i="1" smtClean="0">
                            <a:latin typeface="Cambria Math" panose="02040503050406030204" pitchFamily="18" charset="0"/>
                          </a:rPr>
                          <m:t>𝑄</m:t>
                        </m:r>
                      </m:e>
                    </m:acc>
                  </m:oMath>
                </a14:m>
                <a:r>
                  <a:rPr lang="it-IT" dirty="0"/>
                  <a:t> genera stabilmente il valore zero. </a:t>
                </a:r>
                <a:r>
                  <a:rPr lang="it-IT" dirty="0" err="1"/>
                  <a:t>Comuque</a:t>
                </a:r>
                <a:r>
                  <a:rPr lang="it-IT" dirty="0"/>
                  <a:t>, la variazione dell’uscita innesca l’altra porta NOR che, vedendo al configurazione 00 al proprio ingresso si prepara a generare il valore 1 per l’uscita </a:t>
                </a:r>
                <a14:m>
                  <m:oMath xmlns:m="http://schemas.openxmlformats.org/officeDocument/2006/math">
                    <m:r>
                      <a:rPr lang="it-IT" b="0" i="1" smtClean="0">
                        <a:latin typeface="Cambria Math" panose="02040503050406030204" pitchFamily="18" charset="0"/>
                      </a:rPr>
                      <m:t>𝑄</m:t>
                    </m:r>
                  </m:oMath>
                </a14:m>
                <a:r>
                  <a:rPr lang="it-IT" dirty="0"/>
                  <a: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554" t="-3067" b="-7362"/>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B3002FF8-F83A-87AE-FEF9-ACD3DE44CE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17542949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27668"/>
              </a:xfrm>
            </p:spPr>
            <p:txBody>
              <a:bodyPr>
                <a:normAutofit fontScale="92500" lnSpcReduction="10000"/>
              </a:bodyPr>
              <a:lstStyle/>
              <a:p>
                <a:pPr marL="0" indent="0">
                  <a:buNone/>
                </a:pPr>
                <a:r>
                  <a:rPr lang="it-IT" dirty="0"/>
                  <a:t>L’uscita </a:t>
                </a:r>
                <a14:m>
                  <m:oMath xmlns:m="http://schemas.openxmlformats.org/officeDocument/2006/math">
                    <m:acc>
                      <m:accPr>
                        <m:chr m:val="̅"/>
                        <m:ctrlPr>
                          <a:rPr lang="it-IT" i="1" smtClean="0">
                            <a:latin typeface="Cambria Math" panose="02040503050406030204" pitchFamily="18" charset="0"/>
                          </a:rPr>
                        </m:ctrlPr>
                      </m:accPr>
                      <m:e>
                        <m:r>
                          <a:rPr lang="it-IT" b="0" i="1" smtClean="0">
                            <a:latin typeface="Cambria Math" panose="02040503050406030204" pitchFamily="18" charset="0"/>
                          </a:rPr>
                          <m:t>𝑄</m:t>
                        </m:r>
                      </m:e>
                    </m:acc>
                  </m:oMath>
                </a14:m>
                <a:r>
                  <a:rPr lang="it-IT" dirty="0"/>
                  <a:t> conferma il valore 0 (istante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3</m:t>
                        </m:r>
                      </m:sub>
                    </m:sSub>
                  </m:oMath>
                </a14:m>
                <a:r>
                  <a:rPr lang="it-IT" dirty="0"/>
                  <a:t>) rafforzato dalla configurazione 11 all’ingresso del NOR che la riguarda.</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27668"/>
              </a:xfrm>
              <a:blipFill>
                <a:blip r:embed="rId2"/>
                <a:stretch>
                  <a:fillRect l="-800" t="-3704" b="-13333"/>
                </a:stretch>
              </a:blipFill>
            </p:spPr>
            <p:txBody>
              <a:bodyPr/>
              <a:lstStyle/>
              <a:p>
                <a:r>
                  <a:rPr lang="it-IT">
                    <a:noFill/>
                  </a:rPr>
                  <a:t> </a:t>
                </a:r>
              </a:p>
            </p:txBody>
          </p:sp>
        </mc:Fallback>
      </mc:AlternateContent>
      <p:pic>
        <p:nvPicPr>
          <p:cNvPr id="4" name="Elemento grafico 3">
            <a:extLst>
              <a:ext uri="{FF2B5EF4-FFF2-40B4-BE49-F238E27FC236}">
                <a16:creationId xmlns:a16="http://schemas.microsoft.com/office/drawing/2014/main" id="{11D9DF8D-7D1D-B7C2-FB30-2D8E537843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24480645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51522"/>
              </a:xfrm>
            </p:spPr>
            <p:txBody>
              <a:bodyPr>
                <a:normAutofit fontScale="92500" lnSpcReduction="10000"/>
              </a:bodyPr>
              <a:lstStyle/>
              <a:p>
                <a:pPr marL="0" indent="0">
                  <a:buNone/>
                </a:pPr>
                <a:r>
                  <a:rPr lang="it-IT" dirty="0"/>
                  <a:t>De-asserendo il comando Set (ponendolo nuovamente a zero all’istante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4</m:t>
                        </m:r>
                      </m:sub>
                    </m:sSub>
                  </m:oMath>
                </a14:m>
                <a:r>
                  <a:rPr lang="it-IT" dirty="0"/>
                  <a:t>), si nota che il latch, come previsto, mantiene il valore precedentemente imposto.</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51522"/>
              </a:xfrm>
              <a:blipFill>
                <a:blip r:embed="rId2"/>
                <a:stretch>
                  <a:fillRect l="-800" t="-3597" r="-554" b="-10072"/>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F7340645-FC8A-BB72-14B4-CA6065D757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35419479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85000" lnSpcReduction="10000"/>
              </a:bodyPr>
              <a:lstStyle/>
              <a:p>
                <a:pPr marL="0" indent="0">
                  <a:buNone/>
                </a:pPr>
                <a:r>
                  <a:rPr lang="it-IT" dirty="0"/>
                  <a:t>All’istante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5</m:t>
                        </m:r>
                      </m:sub>
                    </m:sSub>
                  </m:oMath>
                </a14:m>
                <a:r>
                  <a:rPr lang="it-IT" dirty="0"/>
                  <a:t> si porta ad 1 l’ingresso Res (Reset) del latch. La porta collegata all’uscita </a:t>
                </a:r>
                <a14:m>
                  <m:oMath xmlns:m="http://schemas.openxmlformats.org/officeDocument/2006/math">
                    <m:r>
                      <a:rPr lang="it-IT" b="0" i="1" smtClean="0">
                        <a:latin typeface="Cambria Math" panose="02040503050406030204" pitchFamily="18" charset="0"/>
                      </a:rPr>
                      <m:t>𝑄</m:t>
                    </m:r>
                  </m:oMath>
                </a14:m>
                <a:r>
                  <a:rPr lang="it-IT" dirty="0"/>
                  <a:t>, subito innesca un cambiamento in uscita dato dalla configurazione 10 presente sugli ingressi.</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615" t="-2454" r="-492"/>
                </a:stretch>
              </a:blipFill>
            </p:spPr>
            <p:txBody>
              <a:bodyPr/>
              <a:lstStyle/>
              <a:p>
                <a:r>
                  <a:rPr lang="it-IT">
                    <a:noFill/>
                  </a:rPr>
                  <a:t> </a:t>
                </a:r>
              </a:p>
            </p:txBody>
          </p:sp>
        </mc:Fallback>
      </mc:AlternateContent>
      <p:pic>
        <p:nvPicPr>
          <p:cNvPr id="4" name="Elemento grafico 3">
            <a:extLst>
              <a:ext uri="{FF2B5EF4-FFF2-40B4-BE49-F238E27FC236}">
                <a16:creationId xmlns:a16="http://schemas.microsoft.com/office/drawing/2014/main" id="{BCE0CC80-C279-9432-DF29-81BA84E57F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3157059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35620"/>
              </a:xfrm>
            </p:spPr>
            <p:txBody>
              <a:bodyPr>
                <a:normAutofit fontScale="92500" lnSpcReduction="10000"/>
              </a:bodyPr>
              <a:lstStyle/>
              <a:p>
                <a:pPr marL="0" indent="0">
                  <a:buNone/>
                </a:pPr>
                <a:r>
                  <a:rPr lang="it-IT" dirty="0"/>
                  <a:t>All’istante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6</m:t>
                        </m:r>
                      </m:sub>
                    </m:sSub>
                  </m:oMath>
                </a14:m>
                <a:r>
                  <a:rPr lang="it-IT" dirty="0"/>
                  <a:t> l’uscita </a:t>
                </a:r>
                <a14:m>
                  <m:oMath xmlns:m="http://schemas.openxmlformats.org/officeDocument/2006/math">
                    <m:r>
                      <a:rPr lang="it-IT" b="0" i="1" smtClean="0">
                        <a:latin typeface="Cambria Math" panose="02040503050406030204" pitchFamily="18" charset="0"/>
                      </a:rPr>
                      <m:t>𝑄</m:t>
                    </m:r>
                  </m:oMath>
                </a14:m>
                <a:r>
                  <a:rPr lang="it-IT" dirty="0"/>
                  <a:t> del latch si porta immediatamente a zero. Questo evento comporta l’innesco del prossimo cambiamento ad 1 dell’uscita relativa a </a:t>
                </a:r>
                <a14:m>
                  <m:oMath xmlns:m="http://schemas.openxmlformats.org/officeDocument/2006/math">
                    <m:acc>
                      <m:accPr>
                        <m:chr m:val="̅"/>
                        <m:ctrlPr>
                          <a:rPr lang="it-IT" i="1" smtClean="0">
                            <a:latin typeface="Cambria Math" panose="02040503050406030204" pitchFamily="18" charset="0"/>
                          </a:rPr>
                        </m:ctrlPr>
                      </m:accPr>
                      <m:e>
                        <m:r>
                          <a:rPr lang="it-IT" b="0" i="1" smtClean="0">
                            <a:latin typeface="Cambria Math" panose="02040503050406030204" pitchFamily="18" charset="0"/>
                          </a:rPr>
                          <m:t>𝑄</m:t>
                        </m:r>
                      </m:e>
                    </m:acc>
                  </m:oMath>
                </a14:m>
                <a:r>
                  <a:rPr lang="it-IT" dirty="0"/>
                  <a: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35620"/>
              </a:xfrm>
              <a:blipFill>
                <a:blip r:embed="rId2"/>
                <a:stretch>
                  <a:fillRect l="-800" t="-3650" b="-11679"/>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65A5DB35-2672-DFD5-5A79-1A346EFFC3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2" y="2525533"/>
            <a:ext cx="10391775" cy="3886200"/>
          </a:xfrm>
          <a:prstGeom prst="rect">
            <a:avLst/>
          </a:prstGeom>
        </p:spPr>
      </p:pic>
    </p:spTree>
    <p:extLst>
      <p:ext uri="{BB962C8B-B14F-4D97-AF65-F5344CB8AC3E}">
        <p14:creationId xmlns:p14="http://schemas.microsoft.com/office/powerpoint/2010/main" val="12862757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525519"/>
              </a:xfrm>
            </p:spPr>
            <p:txBody>
              <a:bodyPr>
                <a:normAutofit/>
              </a:bodyPr>
              <a:lstStyle/>
              <a:p>
                <a:pPr marL="0" indent="0">
                  <a:buNone/>
                </a:pPr>
                <a:r>
                  <a:rPr lang="it-IT" dirty="0"/>
                  <a:t>Come previsto, poco dopo l’uscita </a:t>
                </a:r>
                <a14:m>
                  <m:oMath xmlns:m="http://schemas.openxmlformats.org/officeDocument/2006/math">
                    <m:acc>
                      <m:accPr>
                        <m:chr m:val="̅"/>
                        <m:ctrlPr>
                          <a:rPr lang="it-IT" i="1" smtClean="0">
                            <a:latin typeface="Cambria Math" panose="02040503050406030204" pitchFamily="18" charset="0"/>
                          </a:rPr>
                        </m:ctrlPr>
                      </m:accPr>
                      <m:e>
                        <m:r>
                          <a:rPr lang="it-IT" b="0" i="1" smtClean="0">
                            <a:latin typeface="Cambria Math" panose="02040503050406030204" pitchFamily="18" charset="0"/>
                          </a:rPr>
                          <m:t>𝑄</m:t>
                        </m:r>
                      </m:e>
                    </m:acc>
                  </m:oMath>
                </a14:m>
                <a:r>
                  <a:rPr lang="it-IT" dirty="0"/>
                  <a:t> si stabilizza ad 1all’istante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7</m:t>
                        </m:r>
                      </m:sub>
                    </m:sSub>
                  </m:oMath>
                </a14:m>
                <a:r>
                  <a:rPr lang="it-IT" dirty="0"/>
                  <a: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525519"/>
              </a:xfrm>
              <a:blipFill>
                <a:blip r:embed="rId2"/>
                <a:stretch>
                  <a:fillRect l="-923" t="-1163" b="-22093"/>
                </a:stretch>
              </a:blipFill>
            </p:spPr>
            <p:txBody>
              <a:bodyPr/>
              <a:lstStyle/>
              <a:p>
                <a:r>
                  <a:rPr lang="it-IT">
                    <a:noFill/>
                  </a:rPr>
                  <a:t> </a:t>
                </a:r>
              </a:p>
            </p:txBody>
          </p:sp>
        </mc:Fallback>
      </mc:AlternateContent>
      <p:pic>
        <p:nvPicPr>
          <p:cNvPr id="8" name="Elemento grafico 7">
            <a:extLst>
              <a:ext uri="{FF2B5EF4-FFF2-40B4-BE49-F238E27FC236}">
                <a16:creationId xmlns:a16="http://schemas.microsoft.com/office/drawing/2014/main" id="{1DF0ADB8-59B9-8884-2052-5A7875F17D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2" y="2525533"/>
            <a:ext cx="10382250" cy="3886200"/>
          </a:xfrm>
          <a:prstGeom prst="rect">
            <a:avLst/>
          </a:prstGeom>
        </p:spPr>
      </p:pic>
    </p:spTree>
    <p:extLst>
      <p:ext uri="{BB962C8B-B14F-4D97-AF65-F5344CB8AC3E}">
        <p14:creationId xmlns:p14="http://schemas.microsoft.com/office/powerpoint/2010/main" val="38638124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11766"/>
              </a:xfrm>
            </p:spPr>
            <p:txBody>
              <a:bodyPr>
                <a:normAutofit fontScale="92500" lnSpcReduction="10000"/>
              </a:bodyPr>
              <a:lstStyle/>
              <a:p>
                <a:pPr marL="0" indent="0">
                  <a:buNone/>
                </a:pPr>
                <a:r>
                  <a:rPr lang="it-IT" dirty="0"/>
                  <a:t>Togliendo il comando Res, la configurazione 01 all’ingresso del NOR dell’uscita </a:t>
                </a:r>
                <a14:m>
                  <m:oMath xmlns:m="http://schemas.openxmlformats.org/officeDocument/2006/math">
                    <m:r>
                      <a:rPr lang="it-IT" b="0" i="1" smtClean="0">
                        <a:latin typeface="Cambria Math" panose="02040503050406030204" pitchFamily="18" charset="0"/>
                      </a:rPr>
                      <m:t>𝑄</m:t>
                    </m:r>
                  </m:oMath>
                </a14:m>
                <a:r>
                  <a:rPr lang="it-IT" dirty="0"/>
                  <a:t> conferma il valore zero. Il latch ora ricorderà lo stato fino al prossimo Set.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11766"/>
              </a:xfrm>
              <a:blipFill>
                <a:blip r:embed="rId2"/>
                <a:stretch>
                  <a:fillRect l="-800" t="-3759" b="-15038"/>
                </a:stretch>
              </a:blipFill>
            </p:spPr>
            <p:txBody>
              <a:bodyPr/>
              <a:lstStyle/>
              <a:p>
                <a:r>
                  <a:rPr lang="it-IT">
                    <a:noFill/>
                  </a:rPr>
                  <a:t> </a:t>
                </a:r>
              </a:p>
            </p:txBody>
          </p:sp>
        </mc:Fallback>
      </mc:AlternateContent>
      <p:pic>
        <p:nvPicPr>
          <p:cNvPr id="10" name="Elemento grafico 9">
            <a:extLst>
              <a:ext uri="{FF2B5EF4-FFF2-40B4-BE49-F238E27FC236}">
                <a16:creationId xmlns:a16="http://schemas.microsoft.com/office/drawing/2014/main" id="{8DCDC66C-D8E5-AC9F-3F3A-29FD914E3A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462" y="2525533"/>
            <a:ext cx="10382250" cy="3886200"/>
          </a:xfrm>
          <a:prstGeom prst="rect">
            <a:avLst/>
          </a:prstGeom>
        </p:spPr>
      </p:pic>
    </p:spTree>
    <p:extLst>
      <p:ext uri="{BB962C8B-B14F-4D97-AF65-F5344CB8AC3E}">
        <p14:creationId xmlns:p14="http://schemas.microsoft.com/office/powerpoint/2010/main" val="38010728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it-IT" dirty="0"/>
              <a:t>SIMULAZIONE LATCH S-R CON LOGICA TRIVALENTE</a:t>
            </a:r>
          </a:p>
        </p:txBody>
      </p:sp>
      <p:pic>
        <p:nvPicPr>
          <p:cNvPr id="8" name="Elemento grafico 7">
            <a:extLst>
              <a:ext uri="{FF2B5EF4-FFF2-40B4-BE49-F238E27FC236}">
                <a16:creationId xmlns:a16="http://schemas.microsoft.com/office/drawing/2014/main" id="{0999769C-A9B2-46D9-7442-290D155396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25147" y="1485816"/>
            <a:ext cx="8941705" cy="5135328"/>
          </a:xfrm>
          <a:prstGeom prst="rect">
            <a:avLst/>
          </a:prstGeom>
        </p:spPr>
      </p:pic>
    </p:spTree>
    <p:extLst>
      <p:ext uri="{BB962C8B-B14F-4D97-AF65-F5344CB8AC3E}">
        <p14:creationId xmlns:p14="http://schemas.microsoft.com/office/powerpoint/2010/main" val="34318319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it-IT" dirty="0"/>
              <a:t>RETI LOGICHE SEQUENZIALI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E5AFD51-FE7D-5876-626E-7B76FCF4606B}"/>
                  </a:ext>
                </a:extLst>
              </p:cNvPr>
              <p:cNvSpPr>
                <a:spLocks noGrp="1"/>
              </p:cNvSpPr>
              <p:nvPr>
                <p:ph idx="1"/>
              </p:nvPr>
            </p:nvSpPr>
            <p:spPr>
              <a:xfrm>
                <a:off x="1141412" y="1836752"/>
                <a:ext cx="9664411" cy="3188472"/>
              </a:xfrm>
            </p:spPr>
            <p:txBody>
              <a:bodyPr>
                <a:normAutofit fontScale="70000" lnSpcReduction="20000"/>
              </a:bodyPr>
              <a:lstStyle/>
              <a:p>
                <a:pPr marL="0" indent="0">
                  <a:buNone/>
                </a:pPr>
                <a:r>
                  <a:rPr lang="it-IT" dirty="0"/>
                  <a:t>La simulazione del Latch S-R vista prima, suggerisce l’esistenza di reti logiche in grado di «ricordare» la </a:t>
                </a:r>
                <a:r>
                  <a:rPr lang="it-IT" u="sng" dirty="0"/>
                  <a:t>fase di elaborazione</a:t>
                </a:r>
                <a:r>
                  <a:rPr lang="it-IT" dirty="0"/>
                  <a:t>, normalmente conosciuta anche come </a:t>
                </a:r>
                <a:r>
                  <a:rPr lang="it-IT" u="sng" dirty="0"/>
                  <a:t>stato interno</a:t>
                </a:r>
                <a:r>
                  <a:rPr lang="it-IT" dirty="0"/>
                  <a:t>. </a:t>
                </a:r>
                <a:br>
                  <a:rPr lang="it-IT" dirty="0"/>
                </a:br>
                <a:r>
                  <a:rPr lang="it-IT" dirty="0"/>
                  <a:t>Sempre osservando l’esperimento precedente, si può dedurre il fatto che riportare i segnali d’uscita in ingresso possa essere la chiave per dare ad una rete logica la capacità di possedere memoria. </a:t>
                </a:r>
                <a:br>
                  <a:rPr lang="it-IT" dirty="0"/>
                </a:br>
                <a:r>
                  <a:rPr lang="it-IT" dirty="0"/>
                  <a:t>Con una semplice manipolazione possiamo vedere che il Latch S-R basato su NOR che abbiamo visto in precedenza può essere definito anche come una rete combinatoria in forma canonica SP che legge la propria uscita (consideriamo solo l’uscita </a:t>
                </a:r>
                <a14:m>
                  <m:oMath xmlns:m="http://schemas.openxmlformats.org/officeDocument/2006/math">
                    <m:r>
                      <a:rPr lang="it-IT" b="0" i="1" smtClean="0">
                        <a:latin typeface="Cambria Math" panose="02040503050406030204" pitchFamily="18" charset="0"/>
                      </a:rPr>
                      <m:t>𝑄</m:t>
                    </m:r>
                    <m:r>
                      <a:rPr lang="it-IT" b="0" i="1" smtClean="0">
                        <a:latin typeface="Cambria Math" panose="02040503050406030204" pitchFamily="18" charset="0"/>
                      </a:rPr>
                      <m:t>).</m:t>
                    </m:r>
                  </m:oMath>
                </a14:m>
                <a:r>
                  <a:rPr lang="it-IT" dirty="0"/>
                  <a:t> </a:t>
                </a:r>
                <a:br>
                  <a:rPr lang="it-IT" dirty="0"/>
                </a:br>
                <a:r>
                  <a:rPr lang="it-IT" dirty="0"/>
                  <a:t>Si noti che la forma al centro nel disegno sottostante suggerisce che, a seconda di quale delle due uscite  (</a:t>
                </a:r>
                <a14:m>
                  <m:oMath xmlns:m="http://schemas.openxmlformats.org/officeDocument/2006/math">
                    <m:r>
                      <a:rPr lang="it-IT" b="0" i="1" smtClean="0">
                        <a:latin typeface="Cambria Math" panose="02040503050406030204" pitchFamily="18" charset="0"/>
                      </a:rPr>
                      <m:t>𝑄</m:t>
                    </m:r>
                  </m:oMath>
                </a14:m>
                <a:r>
                  <a:rPr lang="it-IT" dirty="0"/>
                  <a:t>) si vuole usare come feedback, è possibile optare indifferentemente per una delle due forme canoniche (SP se si sceglie l’OR o PS se si sceglie l’AND).</a:t>
                </a:r>
              </a:p>
            </p:txBody>
          </p:sp>
        </mc:Choice>
        <mc:Fallback xmlns="">
          <p:sp>
            <p:nvSpPr>
              <p:cNvPr id="3" name="Segnaposto contenuto 2">
                <a:extLst>
                  <a:ext uri="{FF2B5EF4-FFF2-40B4-BE49-F238E27FC236}">
                    <a16:creationId xmlns:a16="http://schemas.microsoft.com/office/drawing/2014/main" id="{EE5AFD51-FE7D-5876-626E-7B76FCF4606B}"/>
                  </a:ext>
                </a:extLst>
              </p:cNvPr>
              <p:cNvSpPr>
                <a:spLocks noGrp="1" noRot="1" noChangeAspect="1" noMove="1" noResize="1" noEditPoints="1" noAdjustHandles="1" noChangeArrowheads="1" noChangeShapeType="1" noTextEdit="1"/>
              </p:cNvSpPr>
              <p:nvPr>
                <p:ph idx="1"/>
              </p:nvPr>
            </p:nvSpPr>
            <p:spPr>
              <a:xfrm>
                <a:off x="1141412" y="1836752"/>
                <a:ext cx="9664411" cy="3188472"/>
              </a:xfrm>
              <a:blipFill>
                <a:blip r:embed="rId2"/>
                <a:stretch>
                  <a:fillRect l="-378" t="-574" r="-883"/>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70465773-484D-624C-75EA-5C32B8BED7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9878" y="4714912"/>
            <a:ext cx="9709068" cy="1441760"/>
          </a:xfrm>
          <a:prstGeom prst="rect">
            <a:avLst/>
          </a:prstGeom>
        </p:spPr>
      </p:pic>
      <p:sp>
        <p:nvSpPr>
          <p:cNvPr id="4" name="Ovale 3">
            <a:extLst>
              <a:ext uri="{FF2B5EF4-FFF2-40B4-BE49-F238E27FC236}">
                <a16:creationId xmlns:a16="http://schemas.microsoft.com/office/drawing/2014/main" id="{A1A28AFA-6973-75E3-573A-76375711C210}"/>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235607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it-IT" dirty="0"/>
              <a:t>RETI LOGICHE SEQUENZIALI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E5AFD51-FE7D-5876-626E-7B76FCF4606B}"/>
                  </a:ext>
                </a:extLst>
              </p:cNvPr>
              <p:cNvSpPr>
                <a:spLocks noGrp="1"/>
              </p:cNvSpPr>
              <p:nvPr>
                <p:ph idx="1"/>
              </p:nvPr>
            </p:nvSpPr>
            <p:spPr>
              <a:xfrm>
                <a:off x="1141412" y="1836750"/>
                <a:ext cx="9664411" cy="3035399"/>
              </a:xfrm>
            </p:spPr>
            <p:txBody>
              <a:bodyPr>
                <a:normAutofit fontScale="92500"/>
              </a:bodyPr>
              <a:lstStyle/>
              <a:p>
                <a:pPr marL="0" indent="0">
                  <a:buNone/>
                </a:pPr>
                <a:r>
                  <a:rPr lang="it-IT" dirty="0"/>
                  <a:t>L’ultima forma a destra evidenzia il fatto che l’uscita </a:t>
                </a:r>
                <a14:m>
                  <m:oMath xmlns:m="http://schemas.openxmlformats.org/officeDocument/2006/math">
                    <m:r>
                      <a:rPr lang="it-IT" b="0" i="1" smtClean="0">
                        <a:latin typeface="Cambria Math" panose="02040503050406030204" pitchFamily="18" charset="0"/>
                      </a:rPr>
                      <m:t>𝑄</m:t>
                    </m:r>
                  </m:oMath>
                </a14:m>
                <a:r>
                  <a:rPr lang="it-IT" dirty="0"/>
                  <a:t> è riportata in ingresso. </a:t>
                </a:r>
              </a:p>
              <a:p>
                <a:pPr marL="0" indent="0">
                  <a:buNone/>
                </a:pPr>
                <a:endParaRPr lang="it-IT" dirty="0"/>
              </a:p>
              <a:p>
                <a:pPr marL="0" indent="0">
                  <a:buNone/>
                </a:pPr>
                <a:endParaRPr lang="it-IT" dirty="0"/>
              </a:p>
              <a:p>
                <a:pPr marL="0" indent="0">
                  <a:buNone/>
                </a:pPr>
                <a:endParaRPr lang="it-IT" dirty="0"/>
              </a:p>
              <a:p>
                <a:pPr marL="0" indent="0">
                  <a:buNone/>
                </a:pPr>
                <a:r>
                  <a:rPr lang="it-IT" dirty="0"/>
                  <a:t>Ponendo la relazione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𝑄</m:t>
                        </m:r>
                      </m:e>
                      <m:sup>
                        <m:r>
                          <a:rPr lang="it-IT" b="0" i="1" smtClean="0">
                            <a:latin typeface="Cambria Math" panose="02040503050406030204" pitchFamily="18" charset="0"/>
                          </a:rPr>
                          <m:t>′</m:t>
                        </m:r>
                      </m:sup>
                    </m:sSup>
                    <m:r>
                      <a:rPr lang="it-IT" b="0" i="1" smtClean="0">
                        <a:latin typeface="Cambria Math" panose="02040503050406030204" pitchFamily="18" charset="0"/>
                      </a:rPr>
                      <m:t>=</m:t>
                    </m:r>
                    <m:r>
                      <a:rPr lang="it-IT" b="0" i="1" smtClean="0">
                        <a:latin typeface="Cambria Math" panose="02040503050406030204" pitchFamily="18" charset="0"/>
                      </a:rPr>
                      <m:t>𝑄</m:t>
                    </m:r>
                  </m:oMath>
                </a14:m>
                <a:r>
                  <a:rPr lang="it-IT" dirty="0"/>
                  <a:t>, è possibile aprire l’anello ed ottenere una rete combinatoria pura dalla quale si ricava l’espressione booleana </a:t>
                </a:r>
                <a14:m>
                  <m:oMath xmlns:m="http://schemas.openxmlformats.org/officeDocument/2006/math">
                    <m:r>
                      <a:rPr lang="it-IT" b="0" i="1" smtClean="0">
                        <a:latin typeface="Cambria Math" panose="02040503050406030204" pitchFamily="18" charset="0"/>
                      </a:rPr>
                      <m:t>𝑄</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𝑄</m:t>
                        </m:r>
                      </m:e>
                      <m:sup>
                        <m:r>
                          <a:rPr lang="it-IT" b="0" i="1" smtClean="0">
                            <a:latin typeface="Cambria Math" panose="02040503050406030204" pitchFamily="18" charset="0"/>
                          </a:rPr>
                          <m:t>′</m:t>
                        </m:r>
                      </m:sup>
                    </m:sSup>
                    <m:r>
                      <a:rPr lang="it-IT" b="0" i="1" smtClean="0">
                        <a:latin typeface="Cambria Math" panose="02040503050406030204" pitchFamily="18" charset="0"/>
                        <a:ea typeface="Cambria Math" panose="02040503050406030204" pitchFamily="18" charset="0"/>
                      </a:rPr>
                      <m:t>∙</m:t>
                    </m:r>
                    <m:acc>
                      <m:accPr>
                        <m:chr m:val="̅"/>
                        <m:ctrlPr>
                          <a:rPr lang="it-IT" b="0" i="1" smtClean="0">
                            <a:latin typeface="Cambria Math" panose="02040503050406030204" pitchFamily="18" charset="0"/>
                            <a:ea typeface="Cambria Math" panose="02040503050406030204" pitchFamily="18" charset="0"/>
                          </a:rPr>
                        </m:ctrlPr>
                      </m:accPr>
                      <m:e>
                        <m:r>
                          <a:rPr lang="it-IT" b="0" i="1" smtClean="0">
                            <a:latin typeface="Cambria Math" panose="02040503050406030204" pitchFamily="18" charset="0"/>
                            <a:ea typeface="Cambria Math" panose="02040503050406030204" pitchFamily="18" charset="0"/>
                          </a:rPr>
                          <m:t>𝑅</m:t>
                        </m:r>
                      </m:e>
                    </m:acc>
                    <m:r>
                      <a:rPr lang="it-IT" b="0" i="1" smtClean="0">
                        <a:latin typeface="Cambria Math" panose="02040503050406030204" pitchFamily="18" charset="0"/>
                      </a:rPr>
                      <m:t>+</m:t>
                    </m:r>
                    <m:r>
                      <a:rPr lang="it-IT" b="0" i="1" smtClean="0">
                        <a:latin typeface="Cambria Math" panose="02040503050406030204" pitchFamily="18" charset="0"/>
                      </a:rPr>
                      <m:t>𝑆</m:t>
                    </m:r>
                  </m:oMath>
                </a14:m>
                <a:r>
                  <a:rPr lang="it-IT" dirty="0"/>
                  <a:t>.</a:t>
                </a:r>
              </a:p>
            </p:txBody>
          </p:sp>
        </mc:Choice>
        <mc:Fallback xmlns="">
          <p:sp>
            <p:nvSpPr>
              <p:cNvPr id="3" name="Segnaposto contenuto 2">
                <a:extLst>
                  <a:ext uri="{FF2B5EF4-FFF2-40B4-BE49-F238E27FC236}">
                    <a16:creationId xmlns:a16="http://schemas.microsoft.com/office/drawing/2014/main" id="{EE5AFD51-FE7D-5876-626E-7B76FCF4606B}"/>
                  </a:ext>
                </a:extLst>
              </p:cNvPr>
              <p:cNvSpPr>
                <a:spLocks noGrp="1" noRot="1" noChangeAspect="1" noMove="1" noResize="1" noEditPoints="1" noAdjustHandles="1" noChangeArrowheads="1" noChangeShapeType="1" noTextEdit="1"/>
              </p:cNvSpPr>
              <p:nvPr>
                <p:ph idx="1"/>
              </p:nvPr>
            </p:nvSpPr>
            <p:spPr>
              <a:xfrm>
                <a:off x="1141412" y="1836750"/>
                <a:ext cx="9664411" cy="3035399"/>
              </a:xfrm>
              <a:blipFill>
                <a:blip r:embed="rId2"/>
                <a:stretch>
                  <a:fillRect l="-820" b="-2610"/>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70465773-484D-624C-75EA-5C32B8BED7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9878" y="2409035"/>
            <a:ext cx="9709068" cy="1441760"/>
          </a:xfrm>
          <a:prstGeom prst="rect">
            <a:avLst/>
          </a:prstGeom>
        </p:spPr>
      </p:pic>
      <p:pic>
        <p:nvPicPr>
          <p:cNvPr id="6" name="Elemento grafico 5">
            <a:extLst>
              <a:ext uri="{FF2B5EF4-FFF2-40B4-BE49-F238E27FC236}">
                <a16:creationId xmlns:a16="http://schemas.microsoft.com/office/drawing/2014/main" id="{ED9B6749-13B8-5FF9-EE0A-AEDB35E6F2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9880" y="4872149"/>
            <a:ext cx="9709066" cy="1441760"/>
          </a:xfrm>
          <a:prstGeom prst="rect">
            <a:avLst/>
          </a:prstGeom>
        </p:spPr>
      </p:pic>
    </p:spTree>
    <p:extLst>
      <p:ext uri="{BB962C8B-B14F-4D97-AF65-F5344CB8AC3E}">
        <p14:creationId xmlns:p14="http://schemas.microsoft.com/office/powerpoint/2010/main" val="939281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it-IT" dirty="0"/>
              <a:t>MODELLO RETI LOGICHE SEQUENZIALI ASINCRONE</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E5AFD51-FE7D-5876-626E-7B76FCF4606B}"/>
                  </a:ext>
                </a:extLst>
              </p:cNvPr>
              <p:cNvSpPr>
                <a:spLocks noGrp="1"/>
              </p:cNvSpPr>
              <p:nvPr>
                <p:ph idx="1"/>
              </p:nvPr>
            </p:nvSpPr>
            <p:spPr>
              <a:xfrm>
                <a:off x="1141412" y="1812897"/>
                <a:ext cx="9990413" cy="4778733"/>
              </a:xfrm>
            </p:spPr>
            <p:txBody>
              <a:bodyPr>
                <a:normAutofit fontScale="85000" lnSpcReduction="10000"/>
              </a:bodyPr>
              <a:lstStyle/>
              <a:p>
                <a:pPr marL="0" indent="0">
                  <a:buNone/>
                </a:pPr>
                <a:r>
                  <a:rPr lang="it-IT" dirty="0"/>
                  <a:t>Nella forma canonica SP del Latch S-R, possiamo dire che </a:t>
                </a:r>
                <a:br>
                  <a:rPr lang="it-IT" dirty="0"/>
                </a:br>
                <a:r>
                  <a:rPr lang="it-IT" dirty="0"/>
                  <a:t>l’uscita </a:t>
                </a:r>
                <a14:m>
                  <m:oMath xmlns:m="http://schemas.openxmlformats.org/officeDocument/2006/math">
                    <m:r>
                      <a:rPr lang="it-IT" b="0" i="1" smtClean="0">
                        <a:latin typeface="Cambria Math" panose="02040503050406030204" pitchFamily="18" charset="0"/>
                      </a:rPr>
                      <m:t>𝑄</m:t>
                    </m:r>
                  </m:oMath>
                </a14:m>
                <a:r>
                  <a:rPr lang="it-IT" dirty="0"/>
                  <a:t> rappresenta anche lo stato (o meglio, è la variabile </a:t>
                </a:r>
                <a:br>
                  <a:rPr lang="it-IT" dirty="0"/>
                </a:br>
                <a:r>
                  <a:rPr lang="it-IT" dirty="0"/>
                  <a:t>di stato) della rete sequenziale. </a:t>
                </a:r>
              </a:p>
              <a:p>
                <a:pPr marL="0" indent="0">
                  <a:buNone/>
                </a:pPr>
                <a:r>
                  <a:rPr lang="it-IT" dirty="0"/>
                  <a:t>La categoria delle reti sequenziali che riportano direttamente </a:t>
                </a:r>
                <a:br>
                  <a:rPr lang="it-IT" dirty="0"/>
                </a:br>
                <a:r>
                  <a:rPr lang="it-IT" dirty="0"/>
                  <a:t>la variabile di stato in ingresso è detta «asincrona».</a:t>
                </a:r>
              </a:p>
              <a:p>
                <a:pPr marL="0" indent="0">
                  <a:buNone/>
                </a:pPr>
                <a:r>
                  <a:rPr lang="it-IT" dirty="0"/>
                  <a:t>La variazione delle uscite si ripercuote immediatamente </a:t>
                </a:r>
                <a:br>
                  <a:rPr lang="it-IT" dirty="0"/>
                </a:br>
                <a:r>
                  <a:rPr lang="it-IT" dirty="0"/>
                  <a:t>sugli ingressi; se la variabile di stato è costituita da più </a:t>
                </a:r>
                <a:br>
                  <a:rPr lang="it-IT" dirty="0"/>
                </a:br>
                <a:r>
                  <a:rPr lang="it-IT" dirty="0"/>
                  <a:t>espressioni (cioè è un vettore di più variabili binarie correlate), </a:t>
                </a:r>
                <a:br>
                  <a:rPr lang="it-IT" dirty="0"/>
                </a:br>
                <a:r>
                  <a:rPr lang="it-IT" dirty="0"/>
                  <a:t>questa categoria di reti logiche diventa complicata da gestire.</a:t>
                </a:r>
              </a:p>
              <a:p>
                <a:pPr marL="0" indent="0">
                  <a:buNone/>
                </a:pPr>
                <a:r>
                  <a:rPr lang="it-IT" dirty="0"/>
                  <a:t>A causa delle alee (soprattutto dinamiche) menzionate precedentemente, ci possono essere codifiche errate della variabile di stato, con conseguente errore o instabilità del sistema. </a:t>
                </a:r>
                <a:br>
                  <a:rPr lang="it-IT" dirty="0"/>
                </a:br>
                <a:r>
                  <a:rPr lang="it-IT" dirty="0"/>
                  <a:t>Le tecniche per la mitigazione di tali problemi sono ben oltre lo scopo di questa presentazione.</a:t>
                </a:r>
              </a:p>
            </p:txBody>
          </p:sp>
        </mc:Choice>
        <mc:Fallback xmlns="">
          <p:sp>
            <p:nvSpPr>
              <p:cNvPr id="3" name="Segnaposto contenuto 2">
                <a:extLst>
                  <a:ext uri="{FF2B5EF4-FFF2-40B4-BE49-F238E27FC236}">
                    <a16:creationId xmlns:a16="http://schemas.microsoft.com/office/drawing/2014/main" id="{EE5AFD51-FE7D-5876-626E-7B76FCF4606B}"/>
                  </a:ext>
                </a:extLst>
              </p:cNvPr>
              <p:cNvSpPr>
                <a:spLocks noGrp="1" noRot="1" noChangeAspect="1" noMove="1" noResize="1" noEditPoints="1" noAdjustHandles="1" noChangeArrowheads="1" noChangeShapeType="1" noTextEdit="1"/>
              </p:cNvSpPr>
              <p:nvPr>
                <p:ph idx="1"/>
              </p:nvPr>
            </p:nvSpPr>
            <p:spPr>
              <a:xfrm>
                <a:off x="1141412" y="1812897"/>
                <a:ext cx="9990413" cy="4778733"/>
              </a:xfrm>
              <a:blipFill>
                <a:blip r:embed="rId2"/>
                <a:stretch>
                  <a:fillRect l="-610" t="-383"/>
                </a:stretch>
              </a:blipFill>
            </p:spPr>
            <p:txBody>
              <a:bodyPr/>
              <a:lstStyle/>
              <a:p>
                <a:r>
                  <a:rPr lang="it-IT">
                    <a:noFill/>
                  </a:rPr>
                  <a:t> </a:t>
                </a:r>
              </a:p>
            </p:txBody>
          </p:sp>
        </mc:Fallback>
      </mc:AlternateContent>
      <p:pic>
        <p:nvPicPr>
          <p:cNvPr id="9" name="Elemento grafico 8">
            <a:extLst>
              <a:ext uri="{FF2B5EF4-FFF2-40B4-BE49-F238E27FC236}">
                <a16:creationId xmlns:a16="http://schemas.microsoft.com/office/drawing/2014/main" id="{99127A39-3BF6-41AA-46FD-D1737DCB4D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7985" y="1931101"/>
            <a:ext cx="3905440" cy="3181587"/>
          </a:xfrm>
          <a:prstGeom prst="rect">
            <a:avLst/>
          </a:prstGeom>
        </p:spPr>
      </p:pic>
    </p:spTree>
    <p:extLst>
      <p:ext uri="{BB962C8B-B14F-4D97-AF65-F5344CB8AC3E}">
        <p14:creationId xmlns:p14="http://schemas.microsoft.com/office/powerpoint/2010/main" val="14391545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17111B-BB4D-5DC6-8386-D26EB6C8477A}"/>
              </a:ext>
            </a:extLst>
          </p:cNvPr>
          <p:cNvSpPr>
            <a:spLocks noGrp="1"/>
          </p:cNvSpPr>
          <p:nvPr>
            <p:ph type="title"/>
          </p:nvPr>
        </p:nvSpPr>
        <p:spPr>
          <a:xfrm>
            <a:off x="1141413" y="618518"/>
            <a:ext cx="9905998" cy="780912"/>
          </a:xfrm>
        </p:spPr>
        <p:txBody>
          <a:bodyPr/>
          <a:lstStyle/>
          <a:p>
            <a:r>
              <a:rPr lang="it-IT" dirty="0"/>
              <a:t>LE </a:t>
            </a:r>
            <a:r>
              <a:rPr lang="it-IT" dirty="0" err="1"/>
              <a:t>RETi</a:t>
            </a:r>
            <a:r>
              <a:rPr lang="it-IT" dirty="0"/>
              <a:t> SEQUENZIALI SINCRONE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53597C79-55B7-A809-23CB-10ED8C901537}"/>
                  </a:ext>
                </a:extLst>
              </p:cNvPr>
              <p:cNvSpPr>
                <a:spLocks noGrp="1"/>
              </p:cNvSpPr>
              <p:nvPr>
                <p:ph idx="1"/>
              </p:nvPr>
            </p:nvSpPr>
            <p:spPr>
              <a:xfrm>
                <a:off x="1007849" y="1351718"/>
                <a:ext cx="6784429" cy="5196178"/>
              </a:xfrm>
            </p:spPr>
            <p:txBody>
              <a:bodyPr>
                <a:normAutofit fontScale="70000" lnSpcReduction="20000"/>
              </a:bodyPr>
              <a:lstStyle/>
              <a:p>
                <a:pPr marL="0" indent="0">
                  <a:buNone/>
                </a:pPr>
                <a:r>
                  <a:rPr lang="it-IT" dirty="0"/>
                  <a:t>Per cercare di risolvere il problema e le criticità tipiche delle reti sequenziali asincrone, si può provare a mettere un «registro a controllo impulsivo» sugli anelli. Un registro a controllo impulsivo può essere costituito da una schiera di Latch di tipo D (già visti in precedenza) con gli ingressi di abilitazione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𝑝</m:t>
                        </m:r>
                      </m:sub>
                    </m:sSub>
                  </m:oMath>
                </a14:m>
                <a:r>
                  <a:rPr lang="it-IT" dirty="0"/>
                  <a:t> collegati in comune. Applicando un impulso agli ingressi di abilitazione dei latch è possibile richiedere al registro di «tracciare», memorizzandolo continuamente, lo stato interno della rete sequenziale. Quando l’impulso non è presente il registro presenta l’ultima configurazione memorizzata. Così facendo si evita di riportare continuamente lo stato d’uscita sugli ingressi. Di fatto si ottiene una elaborazione «sincronizzata» con la cadenza degli impulsi.</a:t>
                </a:r>
              </a:p>
              <a:p>
                <a:pPr marL="0" indent="0">
                  <a:buNone/>
                </a:pPr>
                <a:r>
                  <a:rPr lang="it-IT" dirty="0"/>
                  <a:t>Questo modello sincrono comunque non è privo di problemi: ci si deve assicurare che il tempo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𝑒</m:t>
                        </m:r>
                      </m:sub>
                    </m:sSub>
                  </m:oMath>
                </a14:m>
                <a:r>
                  <a:rPr lang="it-IT" dirty="0"/>
                  <a:t> sia abbastanza lungo da garantire un assestamento della rete combinatoria; allo stesso tempo bisogna che l’impulso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𝑝</m:t>
                        </m:r>
                      </m:sub>
                    </m:sSub>
                  </m:oMath>
                </a14:m>
                <a:r>
                  <a:rPr lang="it-IT" dirty="0"/>
                  <a:t> sia lungo a sufficienza perché il registro possa memorizzare lo stato, ma nello stesso tempo deve essere sufficientemente breve tanto da non creare un anello asincrono (un collegamento continuo). </a:t>
                </a:r>
                <a:br>
                  <a:rPr lang="it-IT" dirty="0"/>
                </a:br>
                <a:r>
                  <a:rPr lang="it-IT" dirty="0"/>
                  <a:t>La configurazione qui descritta, che utilizza i cosiddetti «</a:t>
                </a:r>
                <a:r>
                  <a:rPr lang="it-IT" dirty="0" err="1"/>
                  <a:t>Transparent</a:t>
                </a:r>
                <a:r>
                  <a:rPr lang="it-IT" dirty="0"/>
                  <a:t> Latch», è difficile da gestire in termini di affidabilità della rete.</a:t>
                </a:r>
              </a:p>
            </p:txBody>
          </p:sp>
        </mc:Choice>
        <mc:Fallback xmlns="">
          <p:sp>
            <p:nvSpPr>
              <p:cNvPr id="3" name="Segnaposto contenuto 2">
                <a:extLst>
                  <a:ext uri="{FF2B5EF4-FFF2-40B4-BE49-F238E27FC236}">
                    <a16:creationId xmlns:a16="http://schemas.microsoft.com/office/drawing/2014/main" id="{53597C79-55B7-A809-23CB-10ED8C901537}"/>
                  </a:ext>
                </a:extLst>
              </p:cNvPr>
              <p:cNvSpPr>
                <a:spLocks noGrp="1" noRot="1" noChangeAspect="1" noMove="1" noResize="1" noEditPoints="1" noAdjustHandles="1" noChangeArrowheads="1" noChangeShapeType="1" noTextEdit="1"/>
              </p:cNvSpPr>
              <p:nvPr>
                <p:ph idx="1"/>
              </p:nvPr>
            </p:nvSpPr>
            <p:spPr>
              <a:xfrm>
                <a:off x="1007849" y="1351718"/>
                <a:ext cx="6784429" cy="5196178"/>
              </a:xfrm>
              <a:blipFill>
                <a:blip r:embed="rId2"/>
                <a:stretch>
                  <a:fillRect l="-539" t="-469" r="-1168" b="-1408"/>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6CA3C1F0-C565-AE8F-541B-B6243E3A08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6567" y="1746993"/>
            <a:ext cx="3710291" cy="4238048"/>
          </a:xfrm>
          <a:prstGeom prst="rect">
            <a:avLst/>
          </a:prstGeom>
        </p:spPr>
      </p:pic>
      <p:sp>
        <p:nvSpPr>
          <p:cNvPr id="4" name="Ovale 3">
            <a:extLst>
              <a:ext uri="{FF2B5EF4-FFF2-40B4-BE49-F238E27FC236}">
                <a16:creationId xmlns:a16="http://schemas.microsoft.com/office/drawing/2014/main" id="{0FD9B813-620E-83F3-84C6-86ED31875802}"/>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30195035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17111B-BB4D-5DC6-8386-D26EB6C8477A}"/>
              </a:ext>
            </a:extLst>
          </p:cNvPr>
          <p:cNvSpPr>
            <a:spLocks noGrp="1"/>
          </p:cNvSpPr>
          <p:nvPr>
            <p:ph type="title"/>
          </p:nvPr>
        </p:nvSpPr>
        <p:spPr>
          <a:xfrm>
            <a:off x="1141413" y="356127"/>
            <a:ext cx="9905998" cy="939938"/>
          </a:xfrm>
        </p:spPr>
        <p:txBody>
          <a:bodyPr/>
          <a:lstStyle/>
          <a:p>
            <a:r>
              <a:rPr lang="it-IT" dirty="0"/>
              <a:t>LE </a:t>
            </a:r>
            <a:r>
              <a:rPr lang="it-IT" dirty="0" err="1"/>
              <a:t>RETi</a:t>
            </a:r>
            <a:r>
              <a:rPr lang="it-IT" dirty="0"/>
              <a:t> SEQUENZIALI SINCRONE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53597C79-55B7-A809-23CB-10ED8C901537}"/>
                  </a:ext>
                </a:extLst>
              </p:cNvPr>
              <p:cNvSpPr>
                <a:spLocks noGrp="1"/>
              </p:cNvSpPr>
              <p:nvPr>
                <p:ph idx="1"/>
              </p:nvPr>
            </p:nvSpPr>
            <p:spPr>
              <a:xfrm>
                <a:off x="1141413" y="1264255"/>
                <a:ext cx="6420277" cy="5299545"/>
              </a:xfrm>
            </p:spPr>
            <p:txBody>
              <a:bodyPr>
                <a:normAutofit fontScale="70000" lnSpcReduction="20000"/>
              </a:bodyPr>
              <a:lstStyle/>
              <a:p>
                <a:pPr marL="0" indent="0">
                  <a:buNone/>
                </a:pPr>
                <a:r>
                  <a:rPr lang="it-IT" dirty="0"/>
                  <a:t>Per arrivare ad un modello di rete sincrona affidabile bisogna costruire i registri di stato facendo uso di Flip-Flop. Usando questo tipo di registri viene a meno il fabbisogno di controllare la larghezza dell’impulso di cadenza (detto anche «Clock»). Il registro fatto coi Flip-Flop memorizza le informazioni basandosi sui «cambiamenti» del segnale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𝑝</m:t>
                        </m:r>
                      </m:sub>
                    </m:sSub>
                  </m:oMath>
                </a14:m>
                <a:r>
                  <a:rPr lang="it-IT" dirty="0"/>
                  <a:t> e non in base al livello. In caso di fronte di salita, cioè da 0 ad 1 parliamo di «fronte positivo» (</a:t>
                </a:r>
                <a:r>
                  <a:rPr lang="it-IT" dirty="0" err="1"/>
                  <a:t>posedge</a:t>
                </a:r>
                <a:r>
                  <a:rPr lang="it-IT" dirty="0"/>
                  <a:t>). Se si considera il passaggio da 1 a 0 parliamo di «fronte negativo» (</a:t>
                </a:r>
                <a:r>
                  <a:rPr lang="it-IT" dirty="0" err="1"/>
                  <a:t>negedge</a:t>
                </a:r>
                <a:r>
                  <a:rPr lang="it-IT" dirty="0"/>
                  <a:t>). Un Flip-Flop reagisce a solo uno dei due fronti in base alla sua natura.</a:t>
                </a:r>
              </a:p>
              <a:p>
                <a:pPr marL="0" indent="0">
                  <a:buNone/>
                </a:pPr>
                <a:r>
                  <a:rPr lang="it-IT" dirty="0"/>
                  <a:t>I Flip-Flop per questo tipo di applicazioni detti sono detti Master-Slave, in quanto sono costituiti da due latch in cascata che lavorano su livelli opposti del valore di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𝑝</m:t>
                        </m:r>
                      </m:sub>
                    </m:sSub>
                  </m:oMath>
                </a14:m>
                <a:r>
                  <a:rPr lang="it-IT" dirty="0"/>
                  <a:t>. Se il primo latch memorizza col livello 0, «tracciando» continuamente l’ingresso, il secondo latch presenta il valore memorizzato in uscita. Appena il segnale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𝑝</m:t>
                        </m:r>
                      </m:sub>
                    </m:sSub>
                  </m:oMath>
                </a14:m>
                <a:r>
                  <a:rPr lang="it-IT" dirty="0"/>
                  <a:t> passa da 0 ad 1, il primo latch smette di tracciare mantenendo l’ultimo valore mentre il secondo latch «traccia» il valore stabile del primo. Un «triangolino» all’ingresso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𝐶</m:t>
                        </m:r>
                      </m:e>
                      <m:sub>
                        <m:r>
                          <a:rPr lang="it-IT" i="1">
                            <a:latin typeface="Cambria Math" panose="02040503050406030204" pitchFamily="18" charset="0"/>
                          </a:rPr>
                          <m:t>𝑝</m:t>
                        </m:r>
                      </m:sub>
                    </m:sSub>
                  </m:oMath>
                </a14:m>
                <a:r>
                  <a:rPr lang="it-IT" dirty="0"/>
                  <a:t> del registro denota la sensibilità al fronte positivo. Se è presente anche un cerchietto vuol dire che il registro è sensibile al fronte negativo.</a:t>
                </a:r>
              </a:p>
            </p:txBody>
          </p:sp>
        </mc:Choice>
        <mc:Fallback xmlns="">
          <p:sp>
            <p:nvSpPr>
              <p:cNvPr id="3" name="Segnaposto contenuto 2">
                <a:extLst>
                  <a:ext uri="{FF2B5EF4-FFF2-40B4-BE49-F238E27FC236}">
                    <a16:creationId xmlns:a16="http://schemas.microsoft.com/office/drawing/2014/main" id="{53597C79-55B7-A809-23CB-10ED8C901537}"/>
                  </a:ext>
                </a:extLst>
              </p:cNvPr>
              <p:cNvSpPr>
                <a:spLocks noGrp="1" noRot="1" noChangeAspect="1" noMove="1" noResize="1" noEditPoints="1" noAdjustHandles="1" noChangeArrowheads="1" noChangeShapeType="1" noTextEdit="1"/>
              </p:cNvSpPr>
              <p:nvPr>
                <p:ph idx="1"/>
              </p:nvPr>
            </p:nvSpPr>
            <p:spPr>
              <a:xfrm>
                <a:off x="1141413" y="1264255"/>
                <a:ext cx="6420277" cy="5299545"/>
              </a:xfrm>
              <a:blipFill>
                <a:blip r:embed="rId2"/>
                <a:stretch>
                  <a:fillRect l="-570" t="-345" r="-1614"/>
                </a:stretch>
              </a:blipFill>
            </p:spPr>
            <p:txBody>
              <a:bodyPr/>
              <a:lstStyle/>
              <a:p>
                <a:r>
                  <a:rPr lang="it-IT">
                    <a:noFill/>
                  </a:rPr>
                  <a:t> </a:t>
                </a:r>
              </a:p>
            </p:txBody>
          </p:sp>
        </mc:Fallback>
      </mc:AlternateContent>
      <p:pic>
        <p:nvPicPr>
          <p:cNvPr id="9" name="Elemento grafico 8">
            <a:extLst>
              <a:ext uri="{FF2B5EF4-FFF2-40B4-BE49-F238E27FC236}">
                <a16:creationId xmlns:a16="http://schemas.microsoft.com/office/drawing/2014/main" id="{7CB93853-71CA-6441-709E-D861EC5555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5285" y="2001434"/>
            <a:ext cx="3710290" cy="4238047"/>
          </a:xfrm>
          <a:prstGeom prst="rect">
            <a:avLst/>
          </a:prstGeom>
        </p:spPr>
      </p:pic>
    </p:spTree>
    <p:extLst>
      <p:ext uri="{BB962C8B-B14F-4D97-AF65-F5344CB8AC3E}">
        <p14:creationId xmlns:p14="http://schemas.microsoft.com/office/powerpoint/2010/main" val="3408482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22A83-2352-EA04-9EFD-2C3A1C7094DC}"/>
              </a:ext>
            </a:extLst>
          </p:cNvPr>
          <p:cNvSpPr>
            <a:spLocks noGrp="1"/>
          </p:cNvSpPr>
          <p:nvPr>
            <p:ph type="title"/>
          </p:nvPr>
        </p:nvSpPr>
        <p:spPr/>
        <p:txBody>
          <a:bodyPr/>
          <a:lstStyle/>
          <a:p>
            <a:r>
              <a:rPr lang="it-IT" dirty="0"/>
              <a:t>Le RETI SEQUENZIALI SINCRONE (3)</a:t>
            </a:r>
          </a:p>
        </p:txBody>
      </p:sp>
      <p:sp>
        <p:nvSpPr>
          <p:cNvPr id="3" name="Segnaposto contenuto 2">
            <a:extLst>
              <a:ext uri="{FF2B5EF4-FFF2-40B4-BE49-F238E27FC236}">
                <a16:creationId xmlns:a16="http://schemas.microsoft.com/office/drawing/2014/main" id="{36886A58-E0F8-BC89-7592-64B541FC931D}"/>
              </a:ext>
            </a:extLst>
          </p:cNvPr>
          <p:cNvSpPr>
            <a:spLocks noGrp="1"/>
          </p:cNvSpPr>
          <p:nvPr>
            <p:ph idx="1"/>
          </p:nvPr>
        </p:nvSpPr>
        <p:spPr>
          <a:xfrm>
            <a:off x="1141413" y="2249487"/>
            <a:ext cx="6841697" cy="3745796"/>
          </a:xfrm>
        </p:spPr>
        <p:txBody>
          <a:bodyPr>
            <a:normAutofit fontScale="85000" lnSpcReduction="20000"/>
          </a:bodyPr>
          <a:lstStyle/>
          <a:p>
            <a:r>
              <a:rPr lang="it-IT" dirty="0"/>
              <a:t>Utilizzano una cadenza (clock) per l’elaborazione.</a:t>
            </a:r>
          </a:p>
          <a:p>
            <a:r>
              <a:rPr lang="it-IT" dirty="0"/>
              <a:t>Necessitano di un registro (insieme di flip-flop) per memorizzare lo stato interno.</a:t>
            </a:r>
          </a:p>
          <a:p>
            <a:r>
              <a:rPr lang="it-IT" dirty="0"/>
              <a:t>Usano una rete combinatoria per calcolare il prossimo stato.</a:t>
            </a:r>
          </a:p>
          <a:p>
            <a:r>
              <a:rPr lang="it-IT" dirty="0"/>
              <a:t>Possono avere una rete combinatoria per produrre lo stato d’uscita.</a:t>
            </a:r>
          </a:p>
          <a:p>
            <a:r>
              <a:rPr lang="it-IT" dirty="0"/>
              <a:t>Sono dette Macchine di Moore se l’uscita dipende solo dallo stato interno; sono chiamate Macchine di </a:t>
            </a:r>
            <a:r>
              <a:rPr lang="it-IT" dirty="0" err="1"/>
              <a:t>Mealy</a:t>
            </a:r>
            <a:r>
              <a:rPr lang="it-IT" dirty="0"/>
              <a:t> quelle il cui stato d’uscita dipende sia dallo stato interno che dallo stato d’ingresso.</a:t>
            </a:r>
          </a:p>
        </p:txBody>
      </p:sp>
      <p:pic>
        <p:nvPicPr>
          <p:cNvPr id="5" name="Elemento grafico 4">
            <a:extLst>
              <a:ext uri="{FF2B5EF4-FFF2-40B4-BE49-F238E27FC236}">
                <a16:creationId xmlns:a16="http://schemas.microsoft.com/office/drawing/2014/main" id="{13ABE494-7F8A-A429-2485-0A8F7A2277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83110" y="1275761"/>
            <a:ext cx="3425399" cy="5125777"/>
          </a:xfrm>
          <a:prstGeom prst="rect">
            <a:avLst/>
          </a:prstGeom>
        </p:spPr>
      </p:pic>
    </p:spTree>
    <p:extLst>
      <p:ext uri="{BB962C8B-B14F-4D97-AF65-F5344CB8AC3E}">
        <p14:creationId xmlns:p14="http://schemas.microsoft.com/office/powerpoint/2010/main" val="17303177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it-IT" dirty="0"/>
              <a:t>ESEMPIODI RETE SEQUENZIALE SINCRONA (1)</a:t>
            </a:r>
          </a:p>
        </p:txBody>
      </p:sp>
      <p:pic>
        <p:nvPicPr>
          <p:cNvPr id="10" name="Elemento grafico 9">
            <a:extLst>
              <a:ext uri="{FF2B5EF4-FFF2-40B4-BE49-F238E27FC236}">
                <a16:creationId xmlns:a16="http://schemas.microsoft.com/office/drawing/2014/main" id="{ED2E99E8-4909-F315-B024-2D465BBEA4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7499" y="1868558"/>
            <a:ext cx="10393826" cy="4695686"/>
          </a:xfrm>
          <a:prstGeom prst="rect">
            <a:avLst/>
          </a:prstGeom>
        </p:spPr>
      </p:pic>
      <p:sp>
        <p:nvSpPr>
          <p:cNvPr id="3" name="Ovale 2">
            <a:extLst>
              <a:ext uri="{FF2B5EF4-FFF2-40B4-BE49-F238E27FC236}">
                <a16:creationId xmlns:a16="http://schemas.microsoft.com/office/drawing/2014/main" id="{D73CE9FE-67C1-78B9-DCBF-B1A2C5D4B293}"/>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35182722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a:xfrm>
            <a:off x="1141413" y="618518"/>
            <a:ext cx="9905998" cy="621885"/>
          </a:xfrm>
        </p:spPr>
        <p:txBody>
          <a:bodyPr/>
          <a:lstStyle/>
          <a:p>
            <a:r>
              <a:rPr lang="it-IT" dirty="0"/>
              <a:t>ESEMPIODI RETE SEQUENZIALE SINCRONA (2)</a:t>
            </a:r>
          </a:p>
        </p:txBody>
      </p:sp>
      <p:pic>
        <p:nvPicPr>
          <p:cNvPr id="5" name="Elemento grafico 4">
            <a:extLst>
              <a:ext uri="{FF2B5EF4-FFF2-40B4-BE49-F238E27FC236}">
                <a16:creationId xmlns:a16="http://schemas.microsoft.com/office/drawing/2014/main" id="{431F8A2C-A914-5EE8-3024-F071C85CE5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4807" y="1284639"/>
            <a:ext cx="9359210" cy="5338300"/>
          </a:xfrm>
          <a:prstGeom prst="rect">
            <a:avLst/>
          </a:prstGeom>
        </p:spPr>
      </p:pic>
    </p:spTree>
    <p:extLst>
      <p:ext uri="{BB962C8B-B14F-4D97-AF65-F5344CB8AC3E}">
        <p14:creationId xmlns:p14="http://schemas.microsoft.com/office/powerpoint/2010/main" val="12041949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E83D14-AAF5-6385-ECF1-1E07E2F1B11A}"/>
              </a:ext>
            </a:extLst>
          </p:cNvPr>
          <p:cNvSpPr>
            <a:spLocks noGrp="1"/>
          </p:cNvSpPr>
          <p:nvPr>
            <p:ph type="title"/>
          </p:nvPr>
        </p:nvSpPr>
        <p:spPr/>
        <p:txBody>
          <a:bodyPr/>
          <a:lstStyle/>
          <a:p>
            <a:r>
              <a:rPr lang="it-IT" dirty="0"/>
              <a:t>AUMENTO DELLA COMPLESSITÀ CIRCUITALE</a:t>
            </a:r>
          </a:p>
        </p:txBody>
      </p:sp>
      <p:sp>
        <p:nvSpPr>
          <p:cNvPr id="3" name="Segnaposto contenuto 2">
            <a:extLst>
              <a:ext uri="{FF2B5EF4-FFF2-40B4-BE49-F238E27FC236}">
                <a16:creationId xmlns:a16="http://schemas.microsoft.com/office/drawing/2014/main" id="{3B897DC9-60E9-63F3-10E2-693BBA464C02}"/>
              </a:ext>
            </a:extLst>
          </p:cNvPr>
          <p:cNvSpPr>
            <a:spLocks noGrp="1"/>
          </p:cNvSpPr>
          <p:nvPr>
            <p:ph idx="1"/>
          </p:nvPr>
        </p:nvSpPr>
        <p:spPr/>
        <p:txBody>
          <a:bodyPr>
            <a:normAutofit fontScale="77500" lnSpcReduction="20000"/>
          </a:bodyPr>
          <a:lstStyle/>
          <a:p>
            <a:r>
              <a:rPr lang="it-IT" dirty="0"/>
              <a:t>Per ridurre dimensione, consumo e costo e permettere strutture logiche più complesse e veloci, l’industria dei semiconduttori ha introdotto componenti sempre più complessi e nuove tecnologie hardware e relativi sistemi software di sviluppo.</a:t>
            </a:r>
          </a:p>
          <a:p>
            <a:pPr marL="971550" lvl="1" indent="-514350">
              <a:buFont typeface="+mj-lt"/>
              <a:buAutoNum type="romanLcPeriod"/>
            </a:pPr>
            <a:r>
              <a:rPr lang="it-IT" dirty="0"/>
              <a:t>Le cosiddette «logiche programmabili semplici» (SPLD) quali PROM, PAL, PLA, GAL, PALCE in sostituzione di parti di reti fatte con componenti discreti (porte logiche e piccole funzioni SSI).</a:t>
            </a:r>
          </a:p>
          <a:p>
            <a:pPr marL="971550" lvl="1" indent="-514350">
              <a:buFont typeface="+mj-lt"/>
              <a:buAutoNum type="romanLcPeriod"/>
            </a:pPr>
            <a:r>
              <a:rPr lang="it-IT" dirty="0"/>
              <a:t>Introduzione dei primi rudimentali strumenti software HDL per gestire la programmazione degli SPLD con PALASM e successivamente ABEL, ISP e CUPL.</a:t>
            </a:r>
          </a:p>
          <a:p>
            <a:pPr marL="971550" lvl="1" indent="-514350">
              <a:buFont typeface="+mj-lt"/>
              <a:buAutoNum type="romanLcPeriod"/>
            </a:pPr>
            <a:r>
              <a:rPr lang="it-IT" dirty="0"/>
              <a:t>Apparizione sul mercato delle prime «logiche programmabili complesse» (CPLD).</a:t>
            </a:r>
          </a:p>
          <a:p>
            <a:pPr marL="971550" lvl="1" indent="-514350">
              <a:buFont typeface="+mj-lt"/>
              <a:buAutoNum type="romanLcPeriod"/>
            </a:pPr>
            <a:r>
              <a:rPr lang="it-IT" dirty="0"/>
              <a:t>Comparsa del primo dispositivo Gate Array programmabile (FPGA), ovvero XC2064 di </a:t>
            </a:r>
            <a:r>
              <a:rPr lang="it-IT" dirty="0" err="1"/>
              <a:t>Xilinx</a:t>
            </a:r>
            <a:r>
              <a:rPr lang="it-IT" dirty="0"/>
              <a:t> </a:t>
            </a:r>
            <a:r>
              <a:rPr lang="it-IT" dirty="0" err="1"/>
              <a:t>inc.</a:t>
            </a:r>
            <a:r>
              <a:rPr lang="it-IT" dirty="0"/>
              <a:t>, introdotto nel 1985. Il tool per programmare questo dispositivo si chiamava XACT (</a:t>
            </a:r>
            <a:r>
              <a:rPr lang="it-IT" dirty="0" err="1"/>
              <a:t>Xilinx</a:t>
            </a:r>
            <a:r>
              <a:rPr lang="it-IT" dirty="0"/>
              <a:t> Advanced CAD Technology), la cui sintassi era basata su ABEL (Advanced </a:t>
            </a:r>
            <a:r>
              <a:rPr lang="it-IT" dirty="0" err="1"/>
              <a:t>Boolean</a:t>
            </a:r>
            <a:r>
              <a:rPr lang="it-IT" dirty="0"/>
              <a:t> </a:t>
            </a:r>
            <a:r>
              <a:rPr lang="it-IT" dirty="0" err="1"/>
              <a:t>Expression</a:t>
            </a:r>
            <a:r>
              <a:rPr lang="it-IT" dirty="0"/>
              <a:t> Language) di Data I/O Corporation.</a:t>
            </a:r>
          </a:p>
        </p:txBody>
      </p:sp>
    </p:spTree>
    <p:extLst>
      <p:ext uri="{BB962C8B-B14F-4D97-AF65-F5344CB8AC3E}">
        <p14:creationId xmlns:p14="http://schemas.microsoft.com/office/powerpoint/2010/main" val="20832370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5D90FD-405D-7536-A711-641FF0F60519}"/>
              </a:ext>
            </a:extLst>
          </p:cNvPr>
          <p:cNvSpPr>
            <a:spLocks noGrp="1"/>
          </p:cNvSpPr>
          <p:nvPr>
            <p:ph type="title"/>
          </p:nvPr>
        </p:nvSpPr>
        <p:spPr/>
        <p:txBody>
          <a:bodyPr/>
          <a:lstStyle/>
          <a:p>
            <a:r>
              <a:rPr lang="it-IT" dirty="0"/>
              <a:t>CPLD</a:t>
            </a:r>
          </a:p>
        </p:txBody>
      </p:sp>
      <p:sp>
        <p:nvSpPr>
          <p:cNvPr id="3" name="Segnaposto contenuto 2">
            <a:extLst>
              <a:ext uri="{FF2B5EF4-FFF2-40B4-BE49-F238E27FC236}">
                <a16:creationId xmlns:a16="http://schemas.microsoft.com/office/drawing/2014/main" id="{69F511F5-09F2-756E-6581-ED3B3AD33B6A}"/>
              </a:ext>
            </a:extLst>
          </p:cNvPr>
          <p:cNvSpPr>
            <a:spLocks noGrp="1"/>
          </p:cNvSpPr>
          <p:nvPr>
            <p:ph idx="1"/>
          </p:nvPr>
        </p:nvSpPr>
        <p:spPr>
          <a:xfrm>
            <a:off x="1141412" y="2249487"/>
            <a:ext cx="6515099" cy="3841212"/>
          </a:xfrm>
        </p:spPr>
        <p:txBody>
          <a:bodyPr>
            <a:normAutofit fontScale="62500" lnSpcReduction="20000"/>
          </a:bodyPr>
          <a:lstStyle/>
          <a:p>
            <a:pPr marL="0" indent="0">
              <a:buNone/>
            </a:pPr>
            <a:r>
              <a:rPr lang="it-IT" dirty="0"/>
              <a:t>Le CPLD possono essere considerate un'evoluzione delle PAL e sono costituite da più strutture PAL messe assieme, note come «</a:t>
            </a:r>
            <a:r>
              <a:rPr lang="it-IT" dirty="0" err="1"/>
              <a:t>macrocelle</a:t>
            </a:r>
            <a:r>
              <a:rPr lang="it-IT" dirty="0"/>
              <a:t>». </a:t>
            </a:r>
          </a:p>
          <a:p>
            <a:pPr marL="0" indent="0">
              <a:buNone/>
            </a:pPr>
            <a:r>
              <a:rPr lang="it-IT" dirty="0"/>
              <a:t>Le </a:t>
            </a:r>
            <a:r>
              <a:rPr lang="it-IT" dirty="0" err="1"/>
              <a:t>macrocelle</a:t>
            </a:r>
            <a:r>
              <a:rPr lang="it-IT" dirty="0"/>
              <a:t> sono collegate tramite un'interconnessione programmabile, denominata anche GIM (global </a:t>
            </a:r>
            <a:r>
              <a:rPr lang="it-IT" dirty="0" err="1"/>
              <a:t>interconnection</a:t>
            </a:r>
            <a:r>
              <a:rPr lang="it-IT" dirty="0"/>
              <a:t> </a:t>
            </a:r>
            <a:r>
              <a:rPr lang="it-IT" dirty="0" err="1"/>
              <a:t>matrix</a:t>
            </a:r>
            <a:r>
              <a:rPr lang="it-IT" dirty="0"/>
              <a:t>). Riconfigurando la GIM è possibile realizzare i più disparati circuiti logici interconnettendo le </a:t>
            </a:r>
            <a:r>
              <a:rPr lang="it-IT" dirty="0" err="1"/>
              <a:t>macrocelle</a:t>
            </a:r>
            <a:r>
              <a:rPr lang="it-IT" dirty="0"/>
              <a:t> fra loro. </a:t>
            </a:r>
          </a:p>
          <a:p>
            <a:pPr marL="0" indent="0">
              <a:buNone/>
            </a:pPr>
            <a:r>
              <a:rPr lang="it-IT" dirty="0"/>
              <a:t>Le CPLD comunicano con il mondo esterno utilizzando gli I/O digitali. Nell’esempio a lato si può vedere che questi ultimi sono divisi in gruppi intimamente ed efficientemente collegati alla propria </a:t>
            </a:r>
            <a:r>
              <a:rPr lang="it-IT" dirty="0" err="1"/>
              <a:t>macrocella</a:t>
            </a:r>
            <a:r>
              <a:rPr lang="it-IT" dirty="0"/>
              <a:t>. Comunque una </a:t>
            </a:r>
            <a:r>
              <a:rPr lang="it-IT" dirty="0" err="1"/>
              <a:t>macrocella</a:t>
            </a:r>
            <a:r>
              <a:rPr lang="it-IT" dirty="0"/>
              <a:t> può raggiungere gli I/O di altre </a:t>
            </a:r>
            <a:r>
              <a:rPr lang="it-IT" dirty="0" err="1"/>
              <a:t>macrocelle</a:t>
            </a:r>
            <a:r>
              <a:rPr lang="it-IT" dirty="0"/>
              <a:t> attraverso la matrice di interconnessione programmabile (GIM), seppur meno efficientemente.</a:t>
            </a:r>
          </a:p>
          <a:p>
            <a:pPr marL="0" indent="0">
              <a:buNone/>
            </a:pPr>
            <a:r>
              <a:rPr lang="it-IT" dirty="0"/>
              <a:t>Le CPLD hanno una complessità sufficiente da rendere necessari strumenti CAE per la loro programmazione.</a:t>
            </a:r>
          </a:p>
        </p:txBody>
      </p:sp>
      <p:pic>
        <p:nvPicPr>
          <p:cNvPr id="6" name="Elemento grafico 5">
            <a:extLst>
              <a:ext uri="{FF2B5EF4-FFF2-40B4-BE49-F238E27FC236}">
                <a16:creationId xmlns:a16="http://schemas.microsoft.com/office/drawing/2014/main" id="{C1C7A89C-7DAE-95E8-8F46-FE52FE2F21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6511" y="2400562"/>
            <a:ext cx="3390900" cy="2905125"/>
          </a:xfrm>
          <a:prstGeom prst="rect">
            <a:avLst/>
          </a:prstGeom>
        </p:spPr>
      </p:pic>
    </p:spTree>
    <p:extLst>
      <p:ext uri="{BB962C8B-B14F-4D97-AF65-F5344CB8AC3E}">
        <p14:creationId xmlns:p14="http://schemas.microsoft.com/office/powerpoint/2010/main" val="38126248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5D90FD-405D-7536-A711-641FF0F60519}"/>
              </a:ext>
            </a:extLst>
          </p:cNvPr>
          <p:cNvSpPr>
            <a:spLocks noGrp="1"/>
          </p:cNvSpPr>
          <p:nvPr>
            <p:ph type="title"/>
          </p:nvPr>
        </p:nvSpPr>
        <p:spPr>
          <a:xfrm>
            <a:off x="1141413" y="332268"/>
            <a:ext cx="9905998" cy="772960"/>
          </a:xfrm>
        </p:spPr>
        <p:txBody>
          <a:bodyPr/>
          <a:lstStyle/>
          <a:p>
            <a:r>
              <a:rPr lang="it-IT" dirty="0"/>
              <a:t>FPGA</a:t>
            </a:r>
          </a:p>
        </p:txBody>
      </p:sp>
      <p:sp>
        <p:nvSpPr>
          <p:cNvPr id="3" name="Segnaposto contenuto 2">
            <a:extLst>
              <a:ext uri="{FF2B5EF4-FFF2-40B4-BE49-F238E27FC236}">
                <a16:creationId xmlns:a16="http://schemas.microsoft.com/office/drawing/2014/main" id="{69F511F5-09F2-756E-6581-ED3B3AD33B6A}"/>
              </a:ext>
            </a:extLst>
          </p:cNvPr>
          <p:cNvSpPr>
            <a:spLocks noGrp="1"/>
          </p:cNvSpPr>
          <p:nvPr>
            <p:ph idx="1"/>
          </p:nvPr>
        </p:nvSpPr>
        <p:spPr>
          <a:xfrm>
            <a:off x="1141412" y="1232449"/>
            <a:ext cx="6388473" cy="5303523"/>
          </a:xfrm>
        </p:spPr>
        <p:txBody>
          <a:bodyPr>
            <a:normAutofit fontScale="62500" lnSpcReduction="20000"/>
          </a:bodyPr>
          <a:lstStyle/>
          <a:p>
            <a:pPr marL="0" indent="0">
              <a:buNone/>
            </a:pPr>
            <a:r>
              <a:rPr lang="it-IT" dirty="0"/>
              <a:t>Le FPGA sono a tutti gli effetti dei Gate Array programmabili. Si tratta dei dispositivi programmabili dall'utente che più si avvicinano agli ASIC. Le FPGA sono organizzate in blocchi logici (CLB, </a:t>
            </a:r>
            <a:r>
              <a:rPr lang="it-IT" dirty="0" err="1"/>
              <a:t>Configurable</a:t>
            </a:r>
            <a:r>
              <a:rPr lang="it-IT" dirty="0"/>
              <a:t> </a:t>
            </a:r>
            <a:r>
              <a:rPr lang="it-IT" dirty="0" err="1"/>
              <a:t>Logic</a:t>
            </a:r>
            <a:r>
              <a:rPr lang="it-IT" dirty="0"/>
              <a:t> Block), un po' come per le CPLD, ma questi sono più semplici, in numero maggiore e possono essere interconnessi fra loro con le interconnessioni programmabili (PI). Queste ultime collegano gli I/O i quali normalmente sono divisi in banchi.</a:t>
            </a:r>
          </a:p>
          <a:p>
            <a:pPr marL="0" indent="0">
              <a:buNone/>
            </a:pPr>
            <a:r>
              <a:rPr lang="it-IT" dirty="0"/>
              <a:t>In generale, le CLB sono costituite da un numero relativamente esiguo di elementi. Una tipica CLB è costituita da una LUT (Look Up </a:t>
            </a:r>
            <a:r>
              <a:rPr lang="it-IT" dirty="0" err="1"/>
              <a:t>Table</a:t>
            </a:r>
            <a:r>
              <a:rPr lang="it-IT" dirty="0"/>
              <a:t>) a 4-5 ingressi, un Full-</a:t>
            </a:r>
            <a:r>
              <a:rPr lang="it-IT" dirty="0" err="1"/>
              <a:t>Adder</a:t>
            </a:r>
            <a:r>
              <a:rPr lang="it-IT" dirty="0"/>
              <a:t> e un flip-flop di tipo D. Spesso è presente anche un multiplexer all'ingresso del </a:t>
            </a:r>
            <a:r>
              <a:rPr lang="it-IT" dirty="0" err="1"/>
              <a:t>Flip-FLop</a:t>
            </a:r>
            <a:r>
              <a:rPr lang="it-IT" dirty="0"/>
              <a:t>. Non esiste uno schema standard per le LUT che sono sempre diverse a seconda del costruttore.</a:t>
            </a:r>
          </a:p>
          <a:p>
            <a:pPr marL="0" indent="0">
              <a:buNone/>
            </a:pPr>
            <a:r>
              <a:rPr lang="it-IT" dirty="0"/>
              <a:t>Le FPGA moderne hanno anche molti </a:t>
            </a:r>
            <a:r>
              <a:rPr lang="it-IT" dirty="0" err="1"/>
              <a:t>macroblocchi</a:t>
            </a:r>
            <a:r>
              <a:rPr lang="it-IT" dirty="0"/>
              <a:t> predefiniti (Hard Block) dedicati a funzioni complesse, e sono specificamente ottimizzati in termini di velocità e spazio occupato sul chip. Ci sono dispositivi con blocchi di memoria, moltiplicatori paralleli, intere funzioni DSP, processori e molto altro. Le FPGA </a:t>
            </a:r>
            <a:r>
              <a:rPr lang="it-IT" dirty="0" err="1"/>
              <a:t>implemenetano</a:t>
            </a:r>
            <a:r>
              <a:rPr lang="it-IT" dirty="0"/>
              <a:t> anche il supporto per la generazione dei clock (PLL) e dei ritardi programmabili. Alcune sono tanto ricche di risorse da poter implementare interi sistemi al loro interno (</a:t>
            </a:r>
            <a:r>
              <a:rPr lang="it-IT" dirty="0" err="1"/>
              <a:t>SoC</a:t>
            </a:r>
            <a:r>
              <a:rPr lang="it-IT" dirty="0"/>
              <a:t>, System on Chip).</a:t>
            </a:r>
          </a:p>
          <a:p>
            <a:pPr marL="0" indent="0">
              <a:buNone/>
            </a:pPr>
            <a:r>
              <a:rPr lang="it-IT" dirty="0"/>
              <a:t>La programmazione di una FPGA moderna è affrontabile solo con strumenti software sofisticati che prevedano la mappatura più efficiente delle celle e un oculato instradamento dei segnali fra le celle e verso gli I/O. </a:t>
            </a:r>
          </a:p>
        </p:txBody>
      </p:sp>
      <p:pic>
        <p:nvPicPr>
          <p:cNvPr id="6" name="Elemento grafico 5">
            <a:extLst>
              <a:ext uri="{FF2B5EF4-FFF2-40B4-BE49-F238E27FC236}">
                <a16:creationId xmlns:a16="http://schemas.microsoft.com/office/drawing/2014/main" id="{ECABC59B-BDCE-87C4-BC6D-7AFA4CB662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9885" y="2017819"/>
            <a:ext cx="3901026" cy="3847095"/>
          </a:xfrm>
          <a:prstGeom prst="rect">
            <a:avLst/>
          </a:prstGeom>
        </p:spPr>
      </p:pic>
    </p:spTree>
    <p:extLst>
      <p:ext uri="{BB962C8B-B14F-4D97-AF65-F5344CB8AC3E}">
        <p14:creationId xmlns:p14="http://schemas.microsoft.com/office/powerpoint/2010/main" val="39084787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F104B07-2EB8-FD00-18BC-40D77B0482EA}"/>
              </a:ext>
            </a:extLst>
          </p:cNvPr>
          <p:cNvSpPr>
            <a:spLocks noGrp="1"/>
          </p:cNvSpPr>
          <p:nvPr>
            <p:ph type="title"/>
          </p:nvPr>
        </p:nvSpPr>
        <p:spPr/>
        <p:txBody>
          <a:bodyPr/>
          <a:lstStyle/>
          <a:p>
            <a:r>
              <a:rPr lang="it-IT" dirty="0"/>
              <a:t>GESTIONE DELLA COMPLESSITÀ CIRCUITALE</a:t>
            </a:r>
          </a:p>
        </p:txBody>
      </p:sp>
      <p:sp>
        <p:nvSpPr>
          <p:cNvPr id="3" name="Segnaposto contenuto 2">
            <a:extLst>
              <a:ext uri="{FF2B5EF4-FFF2-40B4-BE49-F238E27FC236}">
                <a16:creationId xmlns:a16="http://schemas.microsoft.com/office/drawing/2014/main" id="{7F82CCB2-2DED-D329-33BA-41982DBA7D8A}"/>
              </a:ext>
            </a:extLst>
          </p:cNvPr>
          <p:cNvSpPr>
            <a:spLocks noGrp="1"/>
          </p:cNvSpPr>
          <p:nvPr>
            <p:ph idx="1"/>
          </p:nvPr>
        </p:nvSpPr>
        <p:spPr/>
        <p:txBody>
          <a:bodyPr>
            <a:normAutofit/>
          </a:bodyPr>
          <a:lstStyle/>
          <a:p>
            <a:r>
              <a:rPr lang="it-IT" dirty="0"/>
              <a:t>Sintesi di complessità inaffrontabile manualmente o coi primitivi HDL relativamente all’utilizzo di moderne FPGA o PLD complesse.</a:t>
            </a:r>
          </a:p>
          <a:p>
            <a:r>
              <a:rPr lang="it-IT" dirty="0"/>
              <a:t>Simulazione come supporto primario alla progettazione di reti logiche per anticipare la verifica del funzionamento ben prima della realizzazione.</a:t>
            </a:r>
          </a:p>
          <a:p>
            <a:r>
              <a:rPr lang="it-IT" dirty="0"/>
              <a:t>Necessità di sintetizzare automaticamente la rete logica o parti di essa.</a:t>
            </a:r>
          </a:p>
          <a:p>
            <a:r>
              <a:rPr lang="it-IT" dirty="0"/>
              <a:t>Comparsa dei primi strumenti sofisticati di Automazione Elettronica del Progetto (EDA).</a:t>
            </a:r>
          </a:p>
        </p:txBody>
      </p:sp>
    </p:spTree>
    <p:extLst>
      <p:ext uri="{BB962C8B-B14F-4D97-AF65-F5344CB8AC3E}">
        <p14:creationId xmlns:p14="http://schemas.microsoft.com/office/powerpoint/2010/main" val="9866484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C197DD9A-5BF0-5144-87DA-F61902818B7F}"/>
              </a:ext>
            </a:extLst>
          </p:cNvPr>
          <p:cNvSpPr>
            <a:spLocks noGrp="1"/>
          </p:cNvSpPr>
          <p:nvPr>
            <p:ph type="title"/>
          </p:nvPr>
        </p:nvSpPr>
        <p:spPr>
          <a:xfrm>
            <a:off x="1141413" y="618518"/>
            <a:ext cx="9905998" cy="5710720"/>
          </a:xfrm>
        </p:spPr>
        <p:txBody>
          <a:bodyPr>
            <a:normAutofit/>
          </a:bodyPr>
          <a:lstStyle/>
          <a:p>
            <a:pPr algn="ctr">
              <a:lnSpc>
                <a:spcPct val="100000"/>
              </a:lnSpc>
            </a:pPr>
            <a:r>
              <a:rPr lang="it-IT" sz="8000" dirty="0"/>
              <a:t>PARTE SECONDA</a:t>
            </a:r>
            <a:br>
              <a:rPr lang="it-IT" sz="8000" dirty="0"/>
            </a:br>
            <a:r>
              <a:rPr lang="it-IT" sz="5400" dirty="0"/>
              <a:t>HARDWARE </a:t>
            </a:r>
            <a:br>
              <a:rPr lang="it-IT" sz="5400" dirty="0"/>
            </a:br>
            <a:r>
              <a:rPr lang="it-IT" sz="5400" dirty="0"/>
              <a:t>DESCRIPTION</a:t>
            </a:r>
            <a:br>
              <a:rPr lang="it-IT" sz="5400" dirty="0"/>
            </a:br>
            <a:r>
              <a:rPr lang="it-IT" sz="5400" dirty="0"/>
              <a:t>LANGUAGES</a:t>
            </a:r>
          </a:p>
        </p:txBody>
      </p:sp>
      <p:sp>
        <p:nvSpPr>
          <p:cNvPr id="2" name="Ovale 1">
            <a:extLst>
              <a:ext uri="{FF2B5EF4-FFF2-40B4-BE49-F238E27FC236}">
                <a16:creationId xmlns:a16="http://schemas.microsoft.com/office/drawing/2014/main" id="{7F369D3D-9E09-5A23-E168-FB78AE4AB109}"/>
              </a:ext>
            </a:extLst>
          </p:cNvPr>
          <p:cNvSpPr/>
          <p:nvPr/>
        </p:nvSpPr>
        <p:spPr>
          <a:xfrm>
            <a:off x="1038044" y="504854"/>
            <a:ext cx="119270" cy="119270"/>
          </a:xfrm>
          <a:prstGeom prst="ellipse">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8670892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9BD43A-4266-F13C-865E-A163B10CA766}"/>
              </a:ext>
            </a:extLst>
          </p:cNvPr>
          <p:cNvSpPr>
            <a:spLocks noGrp="1"/>
          </p:cNvSpPr>
          <p:nvPr>
            <p:ph type="title"/>
          </p:nvPr>
        </p:nvSpPr>
        <p:spPr/>
        <p:txBody>
          <a:bodyPr/>
          <a:lstStyle/>
          <a:p>
            <a:r>
              <a:rPr lang="it-IT" dirty="0"/>
              <a:t>il progetto automatizzato</a:t>
            </a:r>
          </a:p>
        </p:txBody>
      </p:sp>
      <p:sp>
        <p:nvSpPr>
          <p:cNvPr id="3" name="Segnaposto contenuto 2">
            <a:extLst>
              <a:ext uri="{FF2B5EF4-FFF2-40B4-BE49-F238E27FC236}">
                <a16:creationId xmlns:a16="http://schemas.microsoft.com/office/drawing/2014/main" id="{C82AB7F9-E9DC-CA19-C11D-B457D49F7BF2}"/>
              </a:ext>
            </a:extLst>
          </p:cNvPr>
          <p:cNvSpPr>
            <a:spLocks noGrp="1"/>
          </p:cNvSpPr>
          <p:nvPr>
            <p:ph idx="1"/>
          </p:nvPr>
        </p:nvSpPr>
        <p:spPr>
          <a:xfrm>
            <a:off x="1141412" y="2249486"/>
            <a:ext cx="9905999" cy="4255009"/>
          </a:xfrm>
        </p:spPr>
        <p:txBody>
          <a:bodyPr>
            <a:normAutofit fontScale="85000" lnSpcReduction="20000"/>
          </a:bodyPr>
          <a:lstStyle/>
          <a:p>
            <a:r>
              <a:rPr lang="it-IT" dirty="0"/>
              <a:t>Gli HDL (Hardware </a:t>
            </a:r>
            <a:r>
              <a:rPr lang="it-IT" dirty="0" err="1"/>
              <a:t>Description</a:t>
            </a:r>
            <a:r>
              <a:rPr lang="it-IT" dirty="0"/>
              <a:t> Language) sono linguaggi di modellazione, simulazione ed eventuale verifica formale dell'hardware.</a:t>
            </a:r>
          </a:p>
          <a:p>
            <a:r>
              <a:rPr lang="it-IT" dirty="0"/>
              <a:t>Se opportunamente scritto, un modello definito con HDL può ammettere la sintesi automatica.</a:t>
            </a:r>
          </a:p>
          <a:p>
            <a:r>
              <a:rPr lang="it-IT" dirty="0"/>
              <a:t>I linguaggi principalmente utilizzati sono </a:t>
            </a:r>
            <a:r>
              <a:rPr lang="it-IT" dirty="0" err="1"/>
              <a:t>Verilog</a:t>
            </a:r>
            <a:r>
              <a:rPr lang="it-IT" dirty="0"/>
              <a:t> (e </a:t>
            </a:r>
            <a:r>
              <a:rPr lang="it-IT" dirty="0" err="1"/>
              <a:t>SystemVerilog</a:t>
            </a:r>
            <a:r>
              <a:rPr lang="it-IT" dirty="0"/>
              <a:t>), VHDL e più raramente </a:t>
            </a:r>
            <a:r>
              <a:rPr lang="it-IT" dirty="0" err="1"/>
              <a:t>SystemC</a:t>
            </a:r>
            <a:r>
              <a:rPr lang="it-IT" dirty="0"/>
              <a:t>.</a:t>
            </a:r>
          </a:p>
          <a:p>
            <a:r>
              <a:rPr lang="it-IT" dirty="0"/>
              <a:t>Permettono la descrizione del modello a diversi livelli di astrazione (comportamentale, strutturale RTL, a livello di gate o di switch/transistor).</a:t>
            </a:r>
          </a:p>
          <a:p>
            <a:r>
              <a:rPr lang="it-IT" dirty="0"/>
              <a:t>Ammettono la descrizione di vettori di test per stimolare i modelli da eseguire su appositi simulatori. Possono supportare funzioni stocastiche (code e distribuzioni di probabilità casuali) per supportare la verifica delle prestazioni.</a:t>
            </a:r>
          </a:p>
          <a:p>
            <a:r>
              <a:rPr lang="it-IT" dirty="0"/>
              <a:t>Permettono eventualmente la verifica formale del modello (</a:t>
            </a:r>
            <a:r>
              <a:rPr lang="it-IT" dirty="0" err="1"/>
              <a:t>SystemVerilog</a:t>
            </a:r>
            <a:r>
              <a:rPr lang="it-IT" dirty="0"/>
              <a:t>).</a:t>
            </a:r>
          </a:p>
        </p:txBody>
      </p:sp>
    </p:spTree>
    <p:extLst>
      <p:ext uri="{BB962C8B-B14F-4D97-AF65-F5344CB8AC3E}">
        <p14:creationId xmlns:p14="http://schemas.microsoft.com/office/powerpoint/2010/main" val="35280639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D55BE0-75FF-D480-EB33-0F227A4712C2}"/>
              </a:ext>
            </a:extLst>
          </p:cNvPr>
          <p:cNvSpPr>
            <a:spLocks noGrp="1"/>
          </p:cNvSpPr>
          <p:nvPr>
            <p:ph type="title"/>
          </p:nvPr>
        </p:nvSpPr>
        <p:spPr/>
        <p:txBody>
          <a:bodyPr/>
          <a:lstStyle/>
          <a:p>
            <a:r>
              <a:rPr lang="it-IT" dirty="0"/>
              <a:t>EDA – Electronic Design </a:t>
            </a:r>
            <a:r>
              <a:rPr lang="it-IT" dirty="0" err="1"/>
              <a:t>automation</a:t>
            </a:r>
            <a:r>
              <a:rPr lang="it-IT" dirty="0"/>
              <a:t> (1)</a:t>
            </a:r>
          </a:p>
        </p:txBody>
      </p:sp>
      <p:sp>
        <p:nvSpPr>
          <p:cNvPr id="3" name="Segnaposto contenuto 2">
            <a:extLst>
              <a:ext uri="{FF2B5EF4-FFF2-40B4-BE49-F238E27FC236}">
                <a16:creationId xmlns:a16="http://schemas.microsoft.com/office/drawing/2014/main" id="{A767B33B-AFA4-A552-61B5-A23A7F527CFA}"/>
              </a:ext>
            </a:extLst>
          </p:cNvPr>
          <p:cNvSpPr>
            <a:spLocks noGrp="1"/>
          </p:cNvSpPr>
          <p:nvPr>
            <p:ph idx="1"/>
          </p:nvPr>
        </p:nvSpPr>
        <p:spPr>
          <a:xfrm>
            <a:off x="1141412" y="2249486"/>
            <a:ext cx="9905999" cy="4179593"/>
          </a:xfrm>
        </p:spPr>
        <p:txBody>
          <a:bodyPr>
            <a:normAutofit fontScale="92500"/>
          </a:bodyPr>
          <a:lstStyle/>
          <a:p>
            <a:r>
              <a:rPr lang="it-IT" dirty="0"/>
              <a:t>Insieme di strumenti, nello specifico dei sistemi digitali, per la progettazione di ASIC</a:t>
            </a:r>
            <a:br>
              <a:rPr lang="it-IT" dirty="0"/>
            </a:br>
            <a:r>
              <a:rPr lang="it-IT" dirty="0"/>
              <a:t>o per lo sviluppo su CPLD e FPGA.</a:t>
            </a:r>
          </a:p>
          <a:p>
            <a:r>
              <a:rPr lang="it-IT" dirty="0"/>
              <a:t>Ambiti degli EDA per lo sviluppo di sistemi digitali:</a:t>
            </a:r>
          </a:p>
          <a:p>
            <a:pPr marL="914400" lvl="1" indent="-457200">
              <a:buFont typeface="+mj-lt"/>
              <a:buAutoNum type="arabicPeriod"/>
            </a:pPr>
            <a:r>
              <a:rPr lang="it-IT" dirty="0"/>
              <a:t>Design Entry: definizione del progetto della rete logica (schemi elettrici e linguaggi HDL).</a:t>
            </a:r>
          </a:p>
          <a:p>
            <a:pPr marL="914400" lvl="1" indent="-457200">
              <a:buFont typeface="+mj-lt"/>
              <a:buAutoNum type="arabicPeriod"/>
            </a:pPr>
            <a:r>
              <a:rPr lang="it-IT" dirty="0"/>
              <a:t>Verifica della rete logica (</a:t>
            </a:r>
            <a:r>
              <a:rPr lang="it-IT" dirty="0" err="1"/>
              <a:t>pre</a:t>
            </a:r>
            <a:r>
              <a:rPr lang="it-IT" dirty="0"/>
              <a:t>-sintesi) a mezzo esecuzione del codice HDL su simulatore.</a:t>
            </a:r>
          </a:p>
          <a:p>
            <a:pPr marL="914400" lvl="1" indent="-457200">
              <a:buFont typeface="+mj-lt"/>
              <a:buAutoNum type="arabicPeriod"/>
            </a:pPr>
            <a:r>
              <a:rPr lang="it-IT" dirty="0"/>
              <a:t>Sintesi della rete logica dal codice HDL generando </a:t>
            </a:r>
            <a:r>
              <a:rPr lang="it-IT" dirty="0" err="1"/>
              <a:t>netlist</a:t>
            </a:r>
            <a:r>
              <a:rPr lang="it-IT" dirty="0"/>
              <a:t> (strutture di componenti/funzioni e nodi come interconnessioni) specifiche per l’architettura dell’hardware di destinazione.</a:t>
            </a:r>
          </a:p>
          <a:p>
            <a:pPr marL="914400" lvl="1" indent="-457200">
              <a:buFont typeface="+mj-lt"/>
              <a:buAutoNum type="arabicPeriod"/>
            </a:pPr>
            <a:r>
              <a:rPr lang="it-IT" dirty="0"/>
              <a:t>Simulazione della rete logica a livello strutturale (</a:t>
            </a:r>
            <a:r>
              <a:rPr lang="it-IT" dirty="0" err="1"/>
              <a:t>pre</a:t>
            </a:r>
            <a:r>
              <a:rPr lang="it-IT" dirty="0"/>
              <a:t>-layout): i blocchi della tecnologia sono considerati come componenti ideali.</a:t>
            </a:r>
          </a:p>
        </p:txBody>
      </p:sp>
    </p:spTree>
    <p:extLst>
      <p:ext uri="{BB962C8B-B14F-4D97-AF65-F5344CB8AC3E}">
        <p14:creationId xmlns:p14="http://schemas.microsoft.com/office/powerpoint/2010/main" val="20453301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D55BE0-75FF-D480-EB33-0F227A4712C2}"/>
              </a:ext>
            </a:extLst>
          </p:cNvPr>
          <p:cNvSpPr>
            <a:spLocks noGrp="1"/>
          </p:cNvSpPr>
          <p:nvPr>
            <p:ph type="title"/>
          </p:nvPr>
        </p:nvSpPr>
        <p:spPr/>
        <p:txBody>
          <a:bodyPr/>
          <a:lstStyle/>
          <a:p>
            <a:r>
              <a:rPr lang="it-IT" dirty="0"/>
              <a:t>EDA – Electronic Design </a:t>
            </a:r>
            <a:r>
              <a:rPr lang="it-IT" dirty="0" err="1"/>
              <a:t>automation</a:t>
            </a:r>
            <a:r>
              <a:rPr lang="it-IT" dirty="0"/>
              <a:t> (2)</a:t>
            </a:r>
          </a:p>
        </p:txBody>
      </p:sp>
      <p:sp>
        <p:nvSpPr>
          <p:cNvPr id="3" name="Segnaposto contenuto 2">
            <a:extLst>
              <a:ext uri="{FF2B5EF4-FFF2-40B4-BE49-F238E27FC236}">
                <a16:creationId xmlns:a16="http://schemas.microsoft.com/office/drawing/2014/main" id="{A767B33B-AFA4-A552-61B5-A23A7F527CFA}"/>
              </a:ext>
            </a:extLst>
          </p:cNvPr>
          <p:cNvSpPr>
            <a:spLocks noGrp="1"/>
          </p:cNvSpPr>
          <p:nvPr>
            <p:ph idx="1"/>
          </p:nvPr>
        </p:nvSpPr>
        <p:spPr>
          <a:xfrm>
            <a:off x="1141412" y="2249487"/>
            <a:ext cx="9905999" cy="4226728"/>
          </a:xfrm>
        </p:spPr>
        <p:txBody>
          <a:bodyPr>
            <a:normAutofit fontScale="92500"/>
          </a:bodyPr>
          <a:lstStyle/>
          <a:p>
            <a:r>
              <a:rPr lang="it-IT" dirty="0"/>
              <a:t>Ambiti degli EDA per lo sviluppo di sistemi digitali (continua)</a:t>
            </a:r>
          </a:p>
          <a:p>
            <a:pPr marL="914400" lvl="1" indent="-457200">
              <a:buFont typeface="+mj-lt"/>
              <a:buAutoNum type="arabicPeriod" startAt="5"/>
            </a:pPr>
            <a:r>
              <a:rPr lang="it-IT" dirty="0"/>
              <a:t>Place &amp; </a:t>
            </a:r>
            <a:r>
              <a:rPr lang="it-IT" dirty="0" err="1"/>
              <a:t>Route</a:t>
            </a:r>
            <a:r>
              <a:rPr lang="it-IT" dirty="0"/>
              <a:t>, cioè mappatura della rete nei vari blocchi predefiniti della tecnologia scelta e instradamento dei segnali.</a:t>
            </a:r>
          </a:p>
          <a:p>
            <a:pPr marL="914400" lvl="1" indent="-457200">
              <a:buFont typeface="+mj-lt"/>
              <a:buAutoNum type="arabicPeriod" startAt="5"/>
            </a:pPr>
            <a:r>
              <a:rPr lang="it-IT" dirty="0"/>
              <a:t>Calcolo dei tempi necessari ai segnali per attraversare le interconnessioni ed i blocchi logici (tempi di propagazione). Generazione di una ulteriore </a:t>
            </a:r>
            <a:r>
              <a:rPr lang="it-IT" dirty="0" err="1"/>
              <a:t>netlist</a:t>
            </a:r>
            <a:r>
              <a:rPr lang="it-IT" dirty="0"/>
              <a:t> provvista di elementi atti a  generare ritardi equivalenti ai tempi di propagazione sopra calcolati (back-</a:t>
            </a:r>
            <a:r>
              <a:rPr lang="it-IT" dirty="0" err="1"/>
              <a:t>annotation</a:t>
            </a:r>
            <a:r>
              <a:rPr lang="it-IT" dirty="0"/>
              <a:t>). </a:t>
            </a:r>
            <a:br>
              <a:rPr lang="it-IT" dirty="0"/>
            </a:br>
            <a:r>
              <a:rPr lang="it-IT" dirty="0"/>
              <a:t>Lo scopo della back-</a:t>
            </a:r>
            <a:r>
              <a:rPr lang="it-IT" dirty="0" err="1"/>
              <a:t>annotation</a:t>
            </a:r>
            <a:r>
              <a:rPr lang="it-IT" dirty="0"/>
              <a:t> è quello di avere simulazioni accurate post-sintesi che tengano conto anche delle condizioni fisiche operative (quali temperatura ambiente stimata e tensione/i di alimentazione).    </a:t>
            </a:r>
          </a:p>
          <a:p>
            <a:pPr marL="914400" lvl="1" indent="-457200">
              <a:buFont typeface="+mj-lt"/>
              <a:buAutoNum type="arabicPeriod" startAt="5"/>
            </a:pPr>
            <a:r>
              <a:rPr lang="it-IT" dirty="0"/>
              <a:t>Programmazione del dispositivo (con bitstream) o generazione dei layout (maschere) per la produzione.</a:t>
            </a:r>
          </a:p>
        </p:txBody>
      </p:sp>
    </p:spTree>
    <p:extLst>
      <p:ext uri="{BB962C8B-B14F-4D97-AF65-F5344CB8AC3E}">
        <p14:creationId xmlns:p14="http://schemas.microsoft.com/office/powerpoint/2010/main" val="13465667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C197DD9A-5BF0-5144-87DA-F61902818B7F}"/>
              </a:ext>
            </a:extLst>
          </p:cNvPr>
          <p:cNvSpPr>
            <a:spLocks noGrp="1"/>
          </p:cNvSpPr>
          <p:nvPr>
            <p:ph type="title"/>
          </p:nvPr>
        </p:nvSpPr>
        <p:spPr>
          <a:xfrm>
            <a:off x="1141413" y="618518"/>
            <a:ext cx="9905998" cy="5710720"/>
          </a:xfrm>
        </p:spPr>
        <p:txBody>
          <a:bodyPr>
            <a:normAutofit/>
          </a:bodyPr>
          <a:lstStyle/>
          <a:p>
            <a:pPr algn="ctr">
              <a:lnSpc>
                <a:spcPct val="150000"/>
              </a:lnSpc>
            </a:pPr>
            <a:r>
              <a:rPr lang="it-IT" sz="8000" dirty="0"/>
              <a:t>PARTE SECONDA</a:t>
            </a:r>
            <a:br>
              <a:rPr lang="it-IT" sz="8000" dirty="0"/>
            </a:br>
            <a:r>
              <a:rPr lang="it-IT" sz="5400" dirty="0"/>
              <a:t>Il LINGUAGGIO VERILOG</a:t>
            </a:r>
            <a:r>
              <a:rPr lang="it-IT" sz="5400" baseline="30000" dirty="0"/>
              <a:t>®</a:t>
            </a:r>
          </a:p>
        </p:txBody>
      </p:sp>
    </p:spTree>
    <p:extLst>
      <p:ext uri="{BB962C8B-B14F-4D97-AF65-F5344CB8AC3E}">
        <p14:creationId xmlns:p14="http://schemas.microsoft.com/office/powerpoint/2010/main" val="20066857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2A1AD8-8D98-6D24-CC50-0B2062F70FE9}"/>
              </a:ext>
            </a:extLst>
          </p:cNvPr>
          <p:cNvSpPr>
            <a:spLocks noGrp="1"/>
          </p:cNvSpPr>
          <p:nvPr>
            <p:ph type="title"/>
          </p:nvPr>
        </p:nvSpPr>
        <p:spPr/>
        <p:txBody>
          <a:bodyPr/>
          <a:lstStyle/>
          <a:p>
            <a:r>
              <a:rPr lang="it-IT" dirty="0"/>
              <a:t>BREVE STORIA DEL LINGUAGGIO VERILOG</a:t>
            </a:r>
          </a:p>
        </p:txBody>
      </p:sp>
      <p:sp>
        <p:nvSpPr>
          <p:cNvPr id="3" name="Segnaposto contenuto 2">
            <a:extLst>
              <a:ext uri="{FF2B5EF4-FFF2-40B4-BE49-F238E27FC236}">
                <a16:creationId xmlns:a16="http://schemas.microsoft.com/office/drawing/2014/main" id="{78D8CF62-E62F-D873-19C8-F489A3291389}"/>
              </a:ext>
            </a:extLst>
          </p:cNvPr>
          <p:cNvSpPr>
            <a:spLocks noGrp="1"/>
          </p:cNvSpPr>
          <p:nvPr>
            <p:ph idx="1"/>
          </p:nvPr>
        </p:nvSpPr>
        <p:spPr>
          <a:xfrm>
            <a:off x="1141412" y="1971924"/>
            <a:ext cx="9905999" cy="4267558"/>
          </a:xfrm>
        </p:spPr>
        <p:txBody>
          <a:bodyPr>
            <a:normAutofit fontScale="70000" lnSpcReduction="20000"/>
          </a:bodyPr>
          <a:lstStyle/>
          <a:p>
            <a:r>
              <a:rPr lang="it-IT" dirty="0" err="1"/>
              <a:t>Verilog</a:t>
            </a:r>
            <a:r>
              <a:rPr lang="it-IT" dirty="0"/>
              <a:t> HDL è stato inventato da Phil </a:t>
            </a:r>
            <a:r>
              <a:rPr lang="it-IT" dirty="0" err="1"/>
              <a:t>Moorby</a:t>
            </a:r>
            <a:r>
              <a:rPr lang="it-IT" dirty="0"/>
              <a:t> e </a:t>
            </a:r>
            <a:r>
              <a:rPr lang="it-IT" dirty="0" err="1"/>
              <a:t>Prabhu</a:t>
            </a:r>
            <a:r>
              <a:rPr lang="it-IT" dirty="0"/>
              <a:t> </a:t>
            </a:r>
            <a:r>
              <a:rPr lang="it-IT" dirty="0" err="1"/>
              <a:t>Goel</a:t>
            </a:r>
            <a:r>
              <a:rPr lang="it-IT" dirty="0"/>
              <a:t> intorno al 1984 come linguaggio di modellazione hardware proprietario di Gateway Design Automation Inc.</a:t>
            </a:r>
          </a:p>
          <a:p>
            <a:r>
              <a:rPr lang="it-IT" dirty="0"/>
              <a:t>Stabilizzato come specifiche nel 1990 e reso aperto da </a:t>
            </a:r>
            <a:r>
              <a:rPr lang="it-IT" dirty="0" err="1"/>
              <a:t>Cadence</a:t>
            </a:r>
            <a:r>
              <a:rPr lang="it-IT" dirty="0"/>
              <a:t> Design System nel 1991 sempre da </a:t>
            </a:r>
            <a:r>
              <a:rPr lang="it-IT" dirty="0" err="1"/>
              <a:t>Candence</a:t>
            </a:r>
            <a:r>
              <a:rPr lang="it-IT" dirty="0"/>
              <a:t> che organizzò il consorzio Open </a:t>
            </a:r>
            <a:r>
              <a:rPr lang="it-IT" dirty="0" err="1"/>
              <a:t>Verilog</a:t>
            </a:r>
            <a:r>
              <a:rPr lang="it-IT" dirty="0"/>
              <a:t> International (OVI).</a:t>
            </a:r>
          </a:p>
          <a:p>
            <a:r>
              <a:rPr lang="it-IT" dirty="0"/>
              <a:t>Successivamente è stato presentato all'IEEE ed è diventato lo standard IEEE 1364-1995, comunemente indicato come Verilog-95.</a:t>
            </a:r>
          </a:p>
          <a:p>
            <a:r>
              <a:rPr lang="it-IT" dirty="0"/>
              <a:t>Per coprire alcune carenze riscontrate del Verilog-95 alcune estensioni furono ripresentate all'IEEE e diventarono lo standard IEEE 1364-2001, noto come Verilog-2001.</a:t>
            </a:r>
          </a:p>
          <a:p>
            <a:r>
              <a:rPr lang="it-IT" dirty="0"/>
              <a:t>Verilog-2005 (IEEE Standard 1364-2005) è stato pubblicato con piccole correzioni e modifiche.</a:t>
            </a:r>
          </a:p>
          <a:p>
            <a:r>
              <a:rPr lang="it-IT" dirty="0"/>
              <a:t>Sempre nel 2005 è stato pubblicato </a:t>
            </a:r>
            <a:r>
              <a:rPr lang="it-IT" dirty="0" err="1"/>
              <a:t>SystemVerilog</a:t>
            </a:r>
            <a:r>
              <a:rPr lang="it-IT" dirty="0"/>
              <a:t>, un </a:t>
            </a:r>
            <a:r>
              <a:rPr lang="it-IT" dirty="0" err="1"/>
              <a:t>superset</a:t>
            </a:r>
            <a:r>
              <a:rPr lang="it-IT" dirty="0"/>
              <a:t> di Verilog-2005, con molte nuove funzionalità e capacità per facilitare la verifica della progettazione. </a:t>
            </a:r>
          </a:p>
          <a:p>
            <a:r>
              <a:rPr lang="it-IT" dirty="0"/>
              <a:t>A partire dal 2009, gli standard </a:t>
            </a:r>
            <a:r>
              <a:rPr lang="it-IT" dirty="0" err="1"/>
              <a:t>SystemVerilog</a:t>
            </a:r>
            <a:r>
              <a:rPr lang="it-IT" dirty="0"/>
              <a:t> e </a:t>
            </a:r>
            <a:r>
              <a:rPr lang="it-IT" dirty="0" err="1"/>
              <a:t>Verilog</a:t>
            </a:r>
            <a:r>
              <a:rPr lang="it-IT" dirty="0"/>
              <a:t> sono stati fusi in </a:t>
            </a:r>
            <a:r>
              <a:rPr lang="it-IT" dirty="0" err="1"/>
              <a:t>SystemVerilog</a:t>
            </a:r>
            <a:r>
              <a:rPr lang="it-IT" dirty="0"/>
              <a:t> 2009 (IEEE Standard 1800-2009).</a:t>
            </a:r>
          </a:p>
        </p:txBody>
      </p:sp>
    </p:spTree>
    <p:extLst>
      <p:ext uri="{BB962C8B-B14F-4D97-AF65-F5344CB8AC3E}">
        <p14:creationId xmlns:p14="http://schemas.microsoft.com/office/powerpoint/2010/main" val="35813881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2A1AD8-8D98-6D24-CC50-0B2062F70FE9}"/>
              </a:ext>
            </a:extLst>
          </p:cNvPr>
          <p:cNvSpPr>
            <a:spLocks noGrp="1"/>
          </p:cNvSpPr>
          <p:nvPr>
            <p:ph type="title"/>
          </p:nvPr>
        </p:nvSpPr>
        <p:spPr/>
        <p:txBody>
          <a:bodyPr/>
          <a:lstStyle/>
          <a:p>
            <a:r>
              <a:rPr lang="it-IT" dirty="0"/>
              <a:t>VERILOG E LINGUAGGI PER COMPUTER</a:t>
            </a:r>
          </a:p>
        </p:txBody>
      </p:sp>
      <p:sp>
        <p:nvSpPr>
          <p:cNvPr id="3" name="Segnaposto contenuto 2">
            <a:extLst>
              <a:ext uri="{FF2B5EF4-FFF2-40B4-BE49-F238E27FC236}">
                <a16:creationId xmlns:a16="http://schemas.microsoft.com/office/drawing/2014/main" id="{78D8CF62-E62F-D873-19C8-F489A3291389}"/>
              </a:ext>
            </a:extLst>
          </p:cNvPr>
          <p:cNvSpPr>
            <a:spLocks noGrp="1"/>
          </p:cNvSpPr>
          <p:nvPr>
            <p:ph idx="1"/>
          </p:nvPr>
        </p:nvSpPr>
        <p:spPr/>
        <p:txBody>
          <a:bodyPr>
            <a:normAutofit lnSpcReduction="10000"/>
          </a:bodyPr>
          <a:lstStyle/>
          <a:p>
            <a:r>
              <a:rPr lang="it-IT" dirty="0"/>
              <a:t>Differenza dai linguaggi di programmazione per computer.</a:t>
            </a:r>
          </a:p>
          <a:p>
            <a:pPr lvl="1">
              <a:buFont typeface="Tw Cen MT" panose="020B0602020104020603" pitchFamily="34" charset="0"/>
              <a:buChar char="–"/>
            </a:pPr>
            <a:r>
              <a:rPr lang="it-IT" b="1" dirty="0"/>
              <a:t>Scopo:</a:t>
            </a:r>
            <a:r>
              <a:rPr lang="it-IT" dirty="0"/>
              <a:t> </a:t>
            </a:r>
            <a:r>
              <a:rPr lang="it-IT" dirty="0" err="1"/>
              <a:t>Verilog</a:t>
            </a:r>
            <a:r>
              <a:rPr lang="it-IT" dirty="0"/>
              <a:t> serve a descrivere un circuito o un intero sistema digitale; un </a:t>
            </a:r>
            <a:r>
              <a:rPr lang="it-IT" dirty="0" err="1"/>
              <a:t>linguggio</a:t>
            </a:r>
            <a:r>
              <a:rPr lang="it-IT" dirty="0"/>
              <a:t> di programmazione per computer serve a produrre codice eseguibile.</a:t>
            </a:r>
          </a:p>
          <a:p>
            <a:pPr lvl="1">
              <a:buFont typeface="Tw Cen MT" panose="020B0602020104020603" pitchFamily="34" charset="0"/>
              <a:buChar char="–"/>
            </a:pPr>
            <a:r>
              <a:rPr lang="it-IT" b="1" dirty="0"/>
              <a:t>Costrutti: </a:t>
            </a:r>
            <a:r>
              <a:rPr lang="it-IT" dirty="0" err="1"/>
              <a:t>Verilog</a:t>
            </a:r>
            <a:r>
              <a:rPr lang="it-IT" dirty="0"/>
              <a:t> descrive le </a:t>
            </a:r>
            <a:r>
              <a:rPr lang="it-IT" dirty="0" err="1"/>
              <a:t>propietà</a:t>
            </a:r>
            <a:r>
              <a:rPr lang="it-IT" dirty="0"/>
              <a:t> di fili, registri, porte logiche, etc., mentre un linguaggio di programmazione descrive variabili, funzioni e strutture per il controllo di flusso.</a:t>
            </a:r>
          </a:p>
          <a:p>
            <a:pPr lvl="1">
              <a:buFont typeface="Tw Cen MT" panose="020B0602020104020603" pitchFamily="34" charset="0"/>
              <a:buChar char="–"/>
            </a:pPr>
            <a:r>
              <a:rPr lang="it-IT" b="1" dirty="0"/>
              <a:t>Esecuzione: </a:t>
            </a:r>
            <a:r>
              <a:rPr lang="it-IT" dirty="0" err="1"/>
              <a:t>Verilog</a:t>
            </a:r>
            <a:r>
              <a:rPr lang="it-IT" dirty="0"/>
              <a:t> descrive ma non esegue direttamente: può essere utilizzato per generare configurazioni o maschere per circuiti fisici; un linguaggio per computer descrive codice che, una volta compilato, è eseguito su una CPU.</a:t>
            </a:r>
          </a:p>
        </p:txBody>
      </p:sp>
    </p:spTree>
    <p:extLst>
      <p:ext uri="{BB962C8B-B14F-4D97-AF65-F5344CB8AC3E}">
        <p14:creationId xmlns:p14="http://schemas.microsoft.com/office/powerpoint/2010/main" val="10675014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5FE837-D8AB-0370-BF3B-1DBF0F417B2B}"/>
              </a:ext>
            </a:extLst>
          </p:cNvPr>
          <p:cNvSpPr>
            <a:spLocks noGrp="1"/>
          </p:cNvSpPr>
          <p:nvPr>
            <p:ph type="title"/>
          </p:nvPr>
        </p:nvSpPr>
        <p:spPr/>
        <p:txBody>
          <a:bodyPr/>
          <a:lstStyle/>
          <a:p>
            <a:r>
              <a:rPr lang="it-IT" dirty="0"/>
              <a:t>Introduzione al linguaggio VERILOG</a:t>
            </a:r>
          </a:p>
        </p:txBody>
      </p:sp>
      <p:sp>
        <p:nvSpPr>
          <p:cNvPr id="3" name="Segnaposto contenuto 2">
            <a:extLst>
              <a:ext uri="{FF2B5EF4-FFF2-40B4-BE49-F238E27FC236}">
                <a16:creationId xmlns:a16="http://schemas.microsoft.com/office/drawing/2014/main" id="{D76B933F-4BA2-FED6-46E4-5C59991A374C}"/>
              </a:ext>
            </a:extLst>
          </p:cNvPr>
          <p:cNvSpPr>
            <a:spLocks noGrp="1"/>
          </p:cNvSpPr>
          <p:nvPr>
            <p:ph idx="1"/>
          </p:nvPr>
        </p:nvSpPr>
        <p:spPr>
          <a:xfrm>
            <a:off x="1143000" y="2249487"/>
            <a:ext cx="9905999" cy="3541714"/>
          </a:xfrm>
        </p:spPr>
        <p:txBody>
          <a:bodyPr>
            <a:normAutofit fontScale="92500" lnSpcReduction="10000"/>
          </a:bodyPr>
          <a:lstStyle/>
          <a:p>
            <a:r>
              <a:rPr lang="it-IT" dirty="0"/>
              <a:t>Un progetto </a:t>
            </a:r>
            <a:r>
              <a:rPr lang="it-IT" dirty="0" err="1"/>
              <a:t>Verilog</a:t>
            </a:r>
            <a:r>
              <a:rPr lang="it-IT" dirty="0"/>
              <a:t> è costituito da almeno un file di testo; solitamente si usa .v come estensione (.</a:t>
            </a:r>
            <a:r>
              <a:rPr lang="it-IT" dirty="0" err="1"/>
              <a:t>sv</a:t>
            </a:r>
            <a:r>
              <a:rPr lang="it-IT" dirty="0"/>
              <a:t> per </a:t>
            </a:r>
            <a:r>
              <a:rPr lang="it-IT" dirty="0" err="1"/>
              <a:t>SystemVerilog</a:t>
            </a:r>
            <a:r>
              <a:rPr lang="it-IT" dirty="0"/>
              <a:t>).</a:t>
            </a:r>
          </a:p>
          <a:p>
            <a:r>
              <a:rPr lang="it-IT" dirty="0" err="1"/>
              <a:t>Verilog</a:t>
            </a:r>
            <a:r>
              <a:rPr lang="it-IT" dirty="0"/>
              <a:t> è «case sensitive»: </a:t>
            </a:r>
            <a:r>
              <a:rPr lang="it-IT" dirty="0" err="1"/>
              <a:t>var_X</a:t>
            </a:r>
            <a:r>
              <a:rPr lang="it-IT" dirty="0"/>
              <a:t> e </a:t>
            </a:r>
            <a:r>
              <a:rPr lang="it-IT" dirty="0" err="1"/>
              <a:t>var_x</a:t>
            </a:r>
            <a:r>
              <a:rPr lang="it-IT" dirty="0"/>
              <a:t> sono due oggetti diversi.</a:t>
            </a:r>
          </a:p>
          <a:p>
            <a:r>
              <a:rPr lang="it-IT" dirty="0"/>
              <a:t>Il costrutto principale in </a:t>
            </a:r>
            <a:r>
              <a:rPr lang="it-IT" dirty="0" err="1"/>
              <a:t>Verilog</a:t>
            </a:r>
            <a:r>
              <a:rPr lang="it-IT" dirty="0"/>
              <a:t> è il modulo (elemento lessicale '</a:t>
            </a:r>
            <a:r>
              <a:rPr lang="it-IT" dirty="0" err="1"/>
              <a:t>module</a:t>
            </a:r>
            <a:r>
              <a:rPr lang="it-IT" dirty="0"/>
              <a:t>’).</a:t>
            </a:r>
          </a:p>
          <a:p>
            <a:r>
              <a:rPr lang="it-IT" dirty="0"/>
              <a:t>Un file .v può contenere uno o più moduli e altri comandi, quali le cosiddette direttive e task (che iniziano con $).</a:t>
            </a:r>
          </a:p>
          <a:p>
            <a:r>
              <a:rPr lang="it-IT" dirty="0"/>
              <a:t>Alcuni file possono avere l’estensione .</a:t>
            </a:r>
            <a:r>
              <a:rPr lang="it-IT" dirty="0" err="1"/>
              <a:t>tf</a:t>
            </a:r>
            <a:r>
              <a:rPr lang="it-IT" dirty="0"/>
              <a:t> (test </a:t>
            </a:r>
            <a:r>
              <a:rPr lang="it-IT" dirty="0" err="1"/>
              <a:t>fixtures</a:t>
            </a:r>
            <a:r>
              <a:rPr lang="it-IT" dirty="0"/>
              <a:t>): sono file </a:t>
            </a:r>
            <a:r>
              <a:rPr lang="it-IT" dirty="0" err="1"/>
              <a:t>Verilog</a:t>
            </a:r>
            <a:r>
              <a:rPr lang="it-IT" dirty="0"/>
              <a:t> (come i .v) che contengono i vettori (da usare col simulatore) di stimolo e verifica.</a:t>
            </a:r>
          </a:p>
        </p:txBody>
      </p:sp>
    </p:spTree>
    <p:extLst>
      <p:ext uri="{BB962C8B-B14F-4D97-AF65-F5344CB8AC3E}">
        <p14:creationId xmlns:p14="http://schemas.microsoft.com/office/powerpoint/2010/main" val="24386292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11F41B-87F0-52C3-31D0-E72459C54F2D}"/>
              </a:ext>
            </a:extLst>
          </p:cNvPr>
          <p:cNvSpPr>
            <a:spLocks noGrp="1"/>
          </p:cNvSpPr>
          <p:nvPr>
            <p:ph type="title"/>
          </p:nvPr>
        </p:nvSpPr>
        <p:spPr/>
        <p:txBody>
          <a:bodyPr/>
          <a:lstStyle/>
          <a:p>
            <a:r>
              <a:rPr lang="it-IT" dirty="0"/>
              <a:t>LIVELLI DI ASTRAZIONE</a:t>
            </a:r>
          </a:p>
        </p:txBody>
      </p:sp>
      <p:sp>
        <p:nvSpPr>
          <p:cNvPr id="3" name="Segnaposto contenuto 2">
            <a:extLst>
              <a:ext uri="{FF2B5EF4-FFF2-40B4-BE49-F238E27FC236}">
                <a16:creationId xmlns:a16="http://schemas.microsoft.com/office/drawing/2014/main" id="{4E81AC60-6AF4-C708-F890-F940C638F8AF}"/>
              </a:ext>
            </a:extLst>
          </p:cNvPr>
          <p:cNvSpPr>
            <a:spLocks noGrp="1"/>
          </p:cNvSpPr>
          <p:nvPr>
            <p:ph idx="1"/>
          </p:nvPr>
        </p:nvSpPr>
        <p:spPr>
          <a:xfrm>
            <a:off x="1141412" y="2249487"/>
            <a:ext cx="9905999" cy="4095654"/>
          </a:xfrm>
        </p:spPr>
        <p:txBody>
          <a:bodyPr>
            <a:normAutofit fontScale="70000" lnSpcReduction="20000"/>
          </a:bodyPr>
          <a:lstStyle/>
          <a:p>
            <a:r>
              <a:rPr lang="it-IT" dirty="0" err="1"/>
              <a:t>Verilog</a:t>
            </a:r>
            <a:r>
              <a:rPr lang="it-IT" dirty="0"/>
              <a:t> supporta la modellazione comportamentale astratta, quindi può essere utilizzato per modellare la funzionalità di una rete logica ad un alto livello di astrazione. Ciò è utile per verificare la fase di analisi e partizionamento del sistema (</a:t>
            </a:r>
            <a:r>
              <a:rPr lang="it-IT" dirty="0" err="1"/>
              <a:t>proof</a:t>
            </a:r>
            <a:r>
              <a:rPr lang="it-IT" dirty="0"/>
              <a:t> of concept). </a:t>
            </a:r>
          </a:p>
          <a:p>
            <a:r>
              <a:rPr lang="it-IT" dirty="0" err="1"/>
              <a:t>Verilog</a:t>
            </a:r>
            <a:r>
              <a:rPr lang="it-IT" dirty="0"/>
              <a:t> supporta il livello RTL (</a:t>
            </a:r>
            <a:r>
              <a:rPr lang="it-IT" dirty="0" err="1"/>
              <a:t>Register</a:t>
            </a:r>
            <a:r>
              <a:rPr lang="it-IT" dirty="0"/>
              <a:t> Transfer Level), che è utilizzato per la progettazione dettagliata dei circuiti digitali. Se il codice è scritto in modo appropriato, i tool di sintesi trasformano le descrizioni RTL fino al livello di gate/blocchi logici/switch. </a:t>
            </a:r>
          </a:p>
          <a:p>
            <a:r>
              <a:rPr lang="it-IT" dirty="0" err="1"/>
              <a:t>Verilog</a:t>
            </a:r>
            <a:r>
              <a:rPr lang="it-IT" dirty="0"/>
              <a:t> supporta le descrizioni a livello di gate e switch, utilizzate per la verifica di progetti digitali, inclusa la simulazione logica a bassissimo livello, analisi temporale statica e dinamica, analisi di testabilità e classificazione dei guasti. </a:t>
            </a:r>
          </a:p>
          <a:p>
            <a:r>
              <a:rPr lang="it-IT" dirty="0"/>
              <a:t>I vettori di test, che stimolano la rete e contengono i risultati attesi per confrontarli con l’uscita della rete stessa sono scritti anch’essi in </a:t>
            </a:r>
            <a:r>
              <a:rPr lang="it-IT" dirty="0" err="1"/>
              <a:t>Verilog</a:t>
            </a:r>
            <a:r>
              <a:rPr lang="it-IT" dirty="0"/>
              <a:t>, solitamente in forma non sintetizzabile.</a:t>
            </a:r>
          </a:p>
          <a:p>
            <a:r>
              <a:rPr lang="it-IT" dirty="0"/>
              <a:t>Al livello più alto, </a:t>
            </a:r>
            <a:r>
              <a:rPr lang="it-IT" dirty="0" err="1"/>
              <a:t>Verilog</a:t>
            </a:r>
            <a:r>
              <a:rPr lang="it-IT" dirty="0"/>
              <a:t> contiene funzioni stocastiche (code e distribuzioni di probabilità casuali) per supportare le test-</a:t>
            </a:r>
            <a:r>
              <a:rPr lang="it-IT" dirty="0" err="1"/>
              <a:t>fixtures</a:t>
            </a:r>
            <a:r>
              <a:rPr lang="it-IT" dirty="0"/>
              <a:t> per la modellazione delle prestazioni. </a:t>
            </a:r>
          </a:p>
          <a:p>
            <a:endParaRPr lang="it-IT" dirty="0"/>
          </a:p>
        </p:txBody>
      </p:sp>
      <p:sp>
        <p:nvSpPr>
          <p:cNvPr id="5" name="Ovale 4">
            <a:extLst>
              <a:ext uri="{FF2B5EF4-FFF2-40B4-BE49-F238E27FC236}">
                <a16:creationId xmlns:a16="http://schemas.microsoft.com/office/drawing/2014/main" id="{566C5E46-41CD-1133-ECC4-5142FCF6A57A}"/>
              </a:ext>
            </a:extLst>
          </p:cNvPr>
          <p:cNvSpPr/>
          <p:nvPr/>
        </p:nvSpPr>
        <p:spPr>
          <a:xfrm>
            <a:off x="1038044" y="504854"/>
            <a:ext cx="119270" cy="119270"/>
          </a:xfrm>
          <a:prstGeom prst="ellipse">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38828853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ADF5D0-B923-1831-7C06-1D0C33BAA54D}"/>
              </a:ext>
            </a:extLst>
          </p:cNvPr>
          <p:cNvSpPr>
            <a:spLocks noGrp="1"/>
          </p:cNvSpPr>
          <p:nvPr>
            <p:ph type="title"/>
          </p:nvPr>
        </p:nvSpPr>
        <p:spPr/>
        <p:txBody>
          <a:bodyPr/>
          <a:lstStyle/>
          <a:p>
            <a:r>
              <a:rPr lang="it-IT" dirty="0"/>
              <a:t>FLUSSO DI SVILUPPO ASIC CON HDL (1)</a:t>
            </a:r>
          </a:p>
        </p:txBody>
      </p:sp>
      <p:sp>
        <p:nvSpPr>
          <p:cNvPr id="3" name="Segnaposto contenuto 2">
            <a:extLst>
              <a:ext uri="{FF2B5EF4-FFF2-40B4-BE49-F238E27FC236}">
                <a16:creationId xmlns:a16="http://schemas.microsoft.com/office/drawing/2014/main" id="{33283AB3-55A8-4CF3-40C0-FA76C92A401E}"/>
              </a:ext>
            </a:extLst>
          </p:cNvPr>
          <p:cNvSpPr>
            <a:spLocks noGrp="1"/>
          </p:cNvSpPr>
          <p:nvPr>
            <p:ph idx="1"/>
          </p:nvPr>
        </p:nvSpPr>
        <p:spPr>
          <a:xfrm>
            <a:off x="1141412" y="2249487"/>
            <a:ext cx="8006702" cy="3809407"/>
          </a:xfrm>
        </p:spPr>
        <p:txBody>
          <a:bodyPr>
            <a:normAutofit/>
          </a:bodyPr>
          <a:lstStyle/>
          <a:p>
            <a:pPr marL="457200" indent="-457200">
              <a:buFont typeface="+mj-lt"/>
              <a:buAutoNum type="arabicPeriod"/>
            </a:pPr>
            <a:r>
              <a:rPr lang="it-IT" dirty="0"/>
              <a:t>Analisi e partizionamento del problema.</a:t>
            </a:r>
          </a:p>
          <a:p>
            <a:pPr marL="457200" indent="-457200">
              <a:buFont typeface="+mj-lt"/>
              <a:buAutoNum type="arabicPeriod"/>
            </a:pPr>
            <a:r>
              <a:rPr lang="it-IT" dirty="0"/>
              <a:t>Scrittura o editing dei blocchi di codice (moduli) in stile comportamentale o RTL e relativi vettori di test.</a:t>
            </a:r>
          </a:p>
          <a:p>
            <a:pPr marL="457200" indent="-457200">
              <a:buFont typeface="+mj-lt"/>
              <a:buAutoNum type="arabicPeriod"/>
            </a:pPr>
            <a:r>
              <a:rPr lang="it-IT" dirty="0"/>
              <a:t>Simulazione (</a:t>
            </a:r>
            <a:r>
              <a:rPr lang="it-IT" dirty="0" err="1"/>
              <a:t>pre</a:t>
            </a:r>
            <a:r>
              <a:rPr lang="it-IT" dirty="0"/>
              <a:t> sintesi) del codice: in caso di risultati inaspettati si torna al passo 2.</a:t>
            </a:r>
          </a:p>
          <a:p>
            <a:pPr marL="457200" indent="-457200">
              <a:buFont typeface="+mj-lt"/>
              <a:buAutoNum type="arabicPeriod"/>
            </a:pPr>
            <a:r>
              <a:rPr lang="it-IT" dirty="0"/>
              <a:t>Sintesi in blocchi specifici della tecnologia scelta.</a:t>
            </a:r>
          </a:p>
          <a:p>
            <a:pPr marL="457200" indent="-457200">
              <a:buFont typeface="+mj-lt"/>
              <a:buAutoNum type="arabicPeriod"/>
            </a:pPr>
            <a:endParaRPr lang="it-IT" dirty="0"/>
          </a:p>
          <a:p>
            <a:pPr marL="457200" indent="-457200">
              <a:buFont typeface="+mj-lt"/>
              <a:buAutoNum type="arabicPeriod"/>
            </a:pPr>
            <a:endParaRPr lang="it-IT" dirty="0"/>
          </a:p>
        </p:txBody>
      </p:sp>
      <p:pic>
        <p:nvPicPr>
          <p:cNvPr id="11" name="Elemento grafico 10">
            <a:extLst>
              <a:ext uri="{FF2B5EF4-FFF2-40B4-BE49-F238E27FC236}">
                <a16:creationId xmlns:a16="http://schemas.microsoft.com/office/drawing/2014/main" id="{07E4FBA0-C952-272F-959A-B098864AE5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8114" y="618518"/>
            <a:ext cx="2532352" cy="5804311"/>
          </a:xfrm>
          <a:prstGeom prst="rect">
            <a:avLst/>
          </a:prstGeom>
        </p:spPr>
      </p:pic>
    </p:spTree>
    <p:extLst>
      <p:ext uri="{BB962C8B-B14F-4D97-AF65-F5344CB8AC3E}">
        <p14:creationId xmlns:p14="http://schemas.microsoft.com/office/powerpoint/2010/main" val="13423302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BF64A-39C3-FAB0-FFF5-799AC9909A3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C0D621D-ED1A-7961-311A-2DA26BDBB0C0}"/>
              </a:ext>
            </a:extLst>
          </p:cNvPr>
          <p:cNvSpPr>
            <a:spLocks noGrp="1"/>
          </p:cNvSpPr>
          <p:nvPr>
            <p:ph type="title"/>
          </p:nvPr>
        </p:nvSpPr>
        <p:spPr/>
        <p:txBody>
          <a:bodyPr/>
          <a:lstStyle/>
          <a:p>
            <a:r>
              <a:rPr lang="it-IT" dirty="0"/>
              <a:t>FLUSSO DI SVILUPPO ASIC CON HDL (2)</a:t>
            </a:r>
          </a:p>
        </p:txBody>
      </p:sp>
      <p:sp>
        <p:nvSpPr>
          <p:cNvPr id="3" name="Segnaposto contenuto 2">
            <a:extLst>
              <a:ext uri="{FF2B5EF4-FFF2-40B4-BE49-F238E27FC236}">
                <a16:creationId xmlns:a16="http://schemas.microsoft.com/office/drawing/2014/main" id="{DFAFA0A6-94A7-3B0E-6972-DC55A379C495}"/>
              </a:ext>
            </a:extLst>
          </p:cNvPr>
          <p:cNvSpPr>
            <a:spLocks noGrp="1"/>
          </p:cNvSpPr>
          <p:nvPr>
            <p:ph idx="1"/>
          </p:nvPr>
        </p:nvSpPr>
        <p:spPr>
          <a:xfrm>
            <a:off x="1141412" y="2249487"/>
            <a:ext cx="8006702" cy="3809407"/>
          </a:xfrm>
        </p:spPr>
        <p:txBody>
          <a:bodyPr>
            <a:normAutofit fontScale="92500"/>
          </a:bodyPr>
          <a:lstStyle/>
          <a:p>
            <a:pPr marL="457200" indent="-457200">
              <a:buFont typeface="+mj-lt"/>
              <a:buAutoNum type="arabicPeriod" startAt="5"/>
            </a:pPr>
            <a:r>
              <a:rPr lang="it-IT" dirty="0"/>
              <a:t>Simulazione (post-sintesi) del codice: in caso di errore si torna al passo 2. </a:t>
            </a:r>
          </a:p>
          <a:p>
            <a:pPr marL="457200" indent="-457200">
              <a:buFont typeface="+mj-lt"/>
              <a:buAutoNum type="arabicPeriod" startAt="5"/>
            </a:pPr>
            <a:r>
              <a:rPr lang="it-IT" dirty="0"/>
              <a:t>Place &amp; </a:t>
            </a:r>
            <a:r>
              <a:rPr lang="it-IT" dirty="0" err="1"/>
              <a:t>route</a:t>
            </a:r>
            <a:r>
              <a:rPr lang="it-IT" dirty="0"/>
              <a:t>. Mapping delle «risorse» e interconnessioni. </a:t>
            </a:r>
          </a:p>
          <a:p>
            <a:pPr marL="457200" indent="-457200">
              <a:buFont typeface="+mj-lt"/>
              <a:buAutoNum type="arabicPeriod" startAt="5"/>
            </a:pPr>
            <a:r>
              <a:rPr lang="it-IT" dirty="0"/>
              <a:t>La simulazione post-place &amp; </a:t>
            </a:r>
            <a:r>
              <a:rPr lang="it-IT" dirty="0" err="1"/>
              <a:t>route</a:t>
            </a:r>
            <a:r>
              <a:rPr lang="it-IT" dirty="0"/>
              <a:t> è da considerarsi un passo facoltativo e non molto utile da farsi se non in circostanze particolari. Invece della simulazione si utilizza la tecnica basata sui cosiddetti «</a:t>
            </a:r>
            <a:r>
              <a:rPr lang="it-IT" dirty="0" err="1"/>
              <a:t>constraint</a:t>
            </a:r>
            <a:r>
              <a:rPr lang="it-IT" dirty="0"/>
              <a:t>» applicati ai percorsi dei segnali critici.</a:t>
            </a:r>
          </a:p>
          <a:p>
            <a:pPr marL="457200" indent="-457200">
              <a:buFont typeface="+mj-lt"/>
              <a:buAutoNum type="arabicPeriod" startAt="5"/>
            </a:pPr>
            <a:r>
              <a:rPr lang="it-IT" dirty="0"/>
              <a:t>Programmazione del dispositivo o realizzazione circuitale.</a:t>
            </a:r>
          </a:p>
          <a:p>
            <a:pPr marL="457200" indent="-457200">
              <a:buFont typeface="+mj-lt"/>
              <a:buAutoNum type="arabicPeriod" startAt="5"/>
            </a:pPr>
            <a:endParaRPr lang="it-IT" dirty="0"/>
          </a:p>
          <a:p>
            <a:pPr marL="457200" indent="-457200">
              <a:buFont typeface="+mj-lt"/>
              <a:buAutoNum type="arabicPeriod" startAt="5"/>
            </a:pPr>
            <a:endParaRPr lang="it-IT" dirty="0"/>
          </a:p>
        </p:txBody>
      </p:sp>
      <p:pic>
        <p:nvPicPr>
          <p:cNvPr id="11" name="Elemento grafico 10">
            <a:extLst>
              <a:ext uri="{FF2B5EF4-FFF2-40B4-BE49-F238E27FC236}">
                <a16:creationId xmlns:a16="http://schemas.microsoft.com/office/drawing/2014/main" id="{B500695D-FE1D-9A1D-5639-F9A02D3A2A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8114" y="618518"/>
            <a:ext cx="2532352" cy="5804311"/>
          </a:xfrm>
          <a:prstGeom prst="rect">
            <a:avLst/>
          </a:prstGeom>
        </p:spPr>
      </p:pic>
    </p:spTree>
    <p:extLst>
      <p:ext uri="{BB962C8B-B14F-4D97-AF65-F5344CB8AC3E}">
        <p14:creationId xmlns:p14="http://schemas.microsoft.com/office/powerpoint/2010/main" val="13835194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p:txBody>
          <a:bodyPr/>
          <a:lstStyle/>
          <a:p>
            <a:r>
              <a:rPr lang="it-IT" dirty="0"/>
              <a:t>TUTORIAL </a:t>
            </a:r>
            <a:r>
              <a:rPr lang="it-IT" dirty="0" err="1"/>
              <a:t>INTRODUTTIVo</a:t>
            </a:r>
            <a:r>
              <a:rPr lang="it-IT" dirty="0"/>
              <a:t> (1)</a:t>
            </a:r>
          </a:p>
        </p:txBody>
      </p:sp>
      <p:sp>
        <p:nvSpPr>
          <p:cNvPr id="3" name="Segnaposto contenuto 2">
            <a:extLst>
              <a:ext uri="{FF2B5EF4-FFF2-40B4-BE49-F238E27FC236}">
                <a16:creationId xmlns:a16="http://schemas.microsoft.com/office/drawing/2014/main" id="{659C268E-733F-CB6D-79EB-6E4ED4D2DF3C}"/>
              </a:ext>
            </a:extLst>
          </p:cNvPr>
          <p:cNvSpPr>
            <a:spLocks noGrp="1"/>
          </p:cNvSpPr>
          <p:nvPr>
            <p:ph idx="1"/>
          </p:nvPr>
        </p:nvSpPr>
        <p:spPr>
          <a:xfrm>
            <a:off x="1141413" y="1994171"/>
            <a:ext cx="6588566" cy="3312728"/>
          </a:xfrm>
        </p:spPr>
        <p:txBody>
          <a:bodyPr>
            <a:normAutofit fontScale="92500" lnSpcReduction="20000"/>
          </a:bodyPr>
          <a:lstStyle/>
          <a:p>
            <a:pPr marL="0" indent="0">
              <a:buNone/>
            </a:pPr>
            <a:r>
              <a:rPr lang="it-IT" dirty="0"/>
              <a:t>I Moduli:</a:t>
            </a:r>
          </a:p>
          <a:p>
            <a:r>
              <a:rPr lang="it-IT" dirty="0"/>
              <a:t>Sono blocchi di codice che implementano funzionalità.</a:t>
            </a:r>
          </a:p>
          <a:p>
            <a:r>
              <a:rPr lang="it-IT" dirty="0"/>
              <a:t>Comunicano con l'esterno tramite porte (input/output), che sono assimilabili a connessioni elettriche (</a:t>
            </a:r>
            <a:r>
              <a:rPr lang="it-IT" dirty="0" err="1"/>
              <a:t>wire</a:t>
            </a:r>
            <a:r>
              <a:rPr lang="it-IT" dirty="0"/>
              <a:t>).</a:t>
            </a:r>
          </a:p>
          <a:p>
            <a:r>
              <a:rPr lang="it-IT" dirty="0"/>
              <a:t>Contengono costrutti di codice che ne descrivono la struttura interna.</a:t>
            </a:r>
          </a:p>
          <a:p>
            <a:r>
              <a:rPr lang="it-IT" dirty="0"/>
              <a:t>Sono delimitati dalle parole chiave </a:t>
            </a:r>
            <a:r>
              <a:rPr lang="it-IT" i="1" dirty="0" err="1"/>
              <a:t>module</a:t>
            </a:r>
            <a:r>
              <a:rPr lang="it-IT" dirty="0"/>
              <a:t> e </a:t>
            </a:r>
            <a:r>
              <a:rPr lang="it-IT" i="1" dirty="0" err="1"/>
              <a:t>endmodule</a:t>
            </a:r>
            <a:r>
              <a:rPr lang="it-IT" dirty="0"/>
              <a:t>.</a:t>
            </a:r>
          </a:p>
          <a:p>
            <a:pPr marL="0" indent="0">
              <a:buNone/>
            </a:pPr>
            <a:endParaRPr lang="it-IT" dirty="0"/>
          </a:p>
          <a:p>
            <a:endParaRPr lang="it-IT" dirty="0"/>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5" name="CasellaDiTesto 4">
            <a:extLst>
              <a:ext uri="{FF2B5EF4-FFF2-40B4-BE49-F238E27FC236}">
                <a16:creationId xmlns:a16="http://schemas.microsoft.com/office/drawing/2014/main" id="{B2089992-080F-2A5E-2560-DE1B93AF37BD}"/>
              </a:ext>
            </a:extLst>
          </p:cNvPr>
          <p:cNvSpPr txBox="1"/>
          <p:nvPr/>
        </p:nvSpPr>
        <p:spPr>
          <a:xfrm>
            <a:off x="3384123" y="5192247"/>
            <a:ext cx="3742440" cy="738664"/>
          </a:xfrm>
          <a:prstGeom prst="rect">
            <a:avLst/>
          </a:prstGeom>
          <a:solidFill>
            <a:schemeClr val="bg1">
              <a:lumMod val="95000"/>
              <a:lumOff val="5000"/>
            </a:schemeClr>
          </a:solidFill>
          <a:ln w="38100">
            <a:solidFill>
              <a:schemeClr val="accent5">
                <a:lumMod val="75000"/>
              </a:schemeClr>
            </a:solidFill>
          </a:ln>
        </p:spPr>
        <p:txBody>
          <a:bodyPr wrap="square" rtlCol="0" anchor="ctr">
            <a:spAutoFit/>
          </a:bodyPr>
          <a:lstStyle/>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module </a:t>
            </a:r>
            <a:r>
              <a:rPr lang="it-IT" sz="1400" b="1" i="1" noProof="1">
                <a:highlight>
                  <a:srgbClr val="000000"/>
                </a:highlight>
                <a:latin typeface="Courier New" panose="02070309020205020404" pitchFamily="49" charset="0"/>
                <a:cs typeface="Courier New" panose="02070309020205020404" pitchFamily="49" charset="0"/>
              </a:rPr>
              <a:t>nome</a:t>
            </a:r>
            <a:r>
              <a:rPr lang="it-IT" sz="1400" b="1" noProof="1">
                <a:solidFill>
                  <a:srgbClr val="DFC47D"/>
                </a:solidFill>
                <a:highlight>
                  <a:srgbClr val="000000"/>
                </a:highlight>
                <a:latin typeface="Courier New" panose="02070309020205020404" pitchFamily="49" charset="0"/>
                <a:cs typeface="Courier New" panose="02070309020205020404" pitchFamily="49" charset="0"/>
              </a:rPr>
              <a:t>( </a:t>
            </a:r>
            <a:r>
              <a:rPr lang="it-IT" sz="1400" b="1" i="1" noProof="1">
                <a:highlight>
                  <a:srgbClr val="000000"/>
                </a:highlight>
                <a:latin typeface="Courier New" panose="02070309020205020404" pitchFamily="49" charset="0"/>
                <a:cs typeface="Courier New" panose="02070309020205020404" pitchFamily="49" charset="0"/>
              </a:rPr>
              <a:t>[elenco porte]</a:t>
            </a:r>
            <a:r>
              <a:rPr lang="it-IT" sz="1400" b="1" noProof="1">
                <a:solidFill>
                  <a:srgbClr val="DFC47D"/>
                </a:solidFill>
                <a:highlight>
                  <a:srgbClr val="000000"/>
                </a:highlight>
                <a:latin typeface="Courier New" panose="02070309020205020404" pitchFamily="49" charset="0"/>
                <a:cs typeface="Courier New" panose="02070309020205020404" pitchFamily="49" charset="0"/>
              </a:rPr>
              <a:t> );</a:t>
            </a:r>
          </a:p>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  // Contenuto del modulo</a:t>
            </a:r>
          </a:p>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it-IT" sz="1400" noProof="1">
              <a:highlight>
                <a:srgbClr val="000000"/>
              </a:highlight>
              <a:latin typeface="Courier New" panose="02070309020205020404" pitchFamily="49" charset="0"/>
              <a:cs typeface="Courier New" panose="02070309020205020404" pitchFamily="49" charset="0"/>
            </a:endParaRPr>
          </a:p>
        </p:txBody>
      </p:sp>
      <p:pic>
        <p:nvPicPr>
          <p:cNvPr id="7" name="Elemento grafico 6">
            <a:extLst>
              <a:ext uri="{FF2B5EF4-FFF2-40B4-BE49-F238E27FC236}">
                <a16:creationId xmlns:a16="http://schemas.microsoft.com/office/drawing/2014/main" id="{54569F14-4B86-D29A-EBF8-909A243376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70247" y="3524425"/>
            <a:ext cx="3742440" cy="2406486"/>
          </a:xfrm>
          <a:prstGeom prst="rect">
            <a:avLst/>
          </a:prstGeom>
        </p:spPr>
      </p:pic>
    </p:spTree>
    <p:extLst>
      <p:ext uri="{BB962C8B-B14F-4D97-AF65-F5344CB8AC3E}">
        <p14:creationId xmlns:p14="http://schemas.microsoft.com/office/powerpoint/2010/main" val="4844272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p:txBody>
          <a:bodyPr/>
          <a:lstStyle/>
          <a:p>
            <a:r>
              <a:rPr lang="it-IT" dirty="0"/>
              <a:t>TUTORIAL </a:t>
            </a:r>
            <a:r>
              <a:rPr lang="it-IT" dirty="0" err="1"/>
              <a:t>INTRODUTTIVo</a:t>
            </a:r>
            <a:r>
              <a:rPr lang="it-IT" dirty="0"/>
              <a:t> (2)</a:t>
            </a:r>
          </a:p>
        </p:txBody>
      </p:sp>
      <p:sp>
        <p:nvSpPr>
          <p:cNvPr id="3" name="Segnaposto contenuto 2">
            <a:extLst>
              <a:ext uri="{FF2B5EF4-FFF2-40B4-BE49-F238E27FC236}">
                <a16:creationId xmlns:a16="http://schemas.microsoft.com/office/drawing/2014/main" id="{659C268E-733F-CB6D-79EB-6E4ED4D2DF3C}"/>
              </a:ext>
            </a:extLst>
          </p:cNvPr>
          <p:cNvSpPr>
            <a:spLocks noGrp="1"/>
          </p:cNvSpPr>
          <p:nvPr>
            <p:ph idx="1"/>
          </p:nvPr>
        </p:nvSpPr>
        <p:spPr>
          <a:xfrm>
            <a:off x="1141412" y="1701585"/>
            <a:ext cx="9905999" cy="4537897"/>
          </a:xfrm>
        </p:spPr>
        <p:txBody>
          <a:bodyPr>
            <a:normAutofit fontScale="92500" lnSpcReduction="20000"/>
          </a:bodyPr>
          <a:lstStyle/>
          <a:p>
            <a:pPr marL="0" indent="0">
              <a:buNone/>
            </a:pPr>
            <a:r>
              <a:rPr lang="it-IT" dirty="0"/>
              <a:t>I Moduli:</a:t>
            </a:r>
          </a:p>
          <a:p>
            <a:r>
              <a:rPr lang="it-IT" dirty="0"/>
              <a:t>Possono essere privi di un elenco delle porte.</a:t>
            </a:r>
          </a:p>
          <a:p>
            <a:endParaRPr lang="it-IT" dirty="0"/>
          </a:p>
          <a:p>
            <a:r>
              <a:rPr lang="it-IT" dirty="0"/>
              <a:t>Le keyword </a:t>
            </a:r>
            <a:r>
              <a:rPr lang="it-IT" i="1" dirty="0"/>
              <a:t>input</a:t>
            </a:r>
            <a:r>
              <a:rPr lang="it-IT" dirty="0"/>
              <a:t> e </a:t>
            </a:r>
            <a:r>
              <a:rPr lang="it-IT" i="1" dirty="0"/>
              <a:t>output</a:t>
            </a:r>
            <a:r>
              <a:rPr lang="it-IT" dirty="0"/>
              <a:t> si usano per definire le rispettive porte di ingresso ed uscita.</a:t>
            </a:r>
          </a:p>
          <a:p>
            <a:endParaRPr lang="it-IT" dirty="0"/>
          </a:p>
          <a:p>
            <a:r>
              <a:rPr lang="it-IT" dirty="0"/>
              <a:t>All’interno del modulo ci sono i costrutti che definiscono il comportamento. In questo riquadro vediamo un costrutto che rappresenta un assegnamento combinatorio «continuo».</a:t>
            </a:r>
            <a:br>
              <a:rPr lang="it-IT" dirty="0"/>
            </a:br>
            <a:br>
              <a:rPr lang="it-IT" dirty="0"/>
            </a:br>
            <a:endParaRPr lang="it-IT" dirty="0"/>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5" name="CasellaDiTesto 4">
            <a:extLst>
              <a:ext uri="{FF2B5EF4-FFF2-40B4-BE49-F238E27FC236}">
                <a16:creationId xmlns:a16="http://schemas.microsoft.com/office/drawing/2014/main" id="{B2089992-080F-2A5E-2560-DE1B93AF37BD}"/>
              </a:ext>
            </a:extLst>
          </p:cNvPr>
          <p:cNvSpPr txBox="1"/>
          <p:nvPr/>
        </p:nvSpPr>
        <p:spPr>
          <a:xfrm>
            <a:off x="6634937" y="2276209"/>
            <a:ext cx="3120271" cy="738664"/>
          </a:xfrm>
          <a:prstGeom prst="rect">
            <a:avLst/>
          </a:prstGeom>
          <a:solidFill>
            <a:schemeClr val="bg1"/>
          </a:solidFill>
          <a:ln w="38100">
            <a:solidFill>
              <a:schemeClr val="accent5">
                <a:lumMod val="75000"/>
              </a:schemeClr>
            </a:solidFill>
          </a:ln>
        </p:spPr>
        <p:txBody>
          <a:bodyPr wrap="square" rtlCol="0" anchor="ctr">
            <a:spAutoFit/>
          </a:bodyPr>
          <a:lstStyle/>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module </a:t>
            </a:r>
            <a:r>
              <a:rPr lang="it-IT" sz="1400" b="1" i="1" noProof="1">
                <a:highlight>
                  <a:srgbClr val="000000"/>
                </a:highlight>
                <a:latin typeface="Courier New" panose="02070309020205020404" pitchFamily="49" charset="0"/>
                <a:cs typeface="Courier New" panose="02070309020205020404" pitchFamily="49" charset="0"/>
              </a:rPr>
              <a:t>nome</a:t>
            </a:r>
            <a:r>
              <a:rPr lang="it-IT" sz="1400" b="1" noProof="1">
                <a:solidFill>
                  <a:srgbClr val="DFC47D"/>
                </a:solidFill>
                <a:highlight>
                  <a:srgbClr val="000000"/>
                </a:highlight>
                <a:latin typeface="Courier New" panose="02070309020205020404" pitchFamily="49" charset="0"/>
                <a:cs typeface="Courier New" panose="02070309020205020404" pitchFamily="49" charset="0"/>
              </a:rPr>
              <a:t>;</a:t>
            </a:r>
          </a:p>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  </a:t>
            </a:r>
            <a:r>
              <a:rPr lang="it-IT" sz="1400" b="1" noProof="1">
                <a:solidFill>
                  <a:schemeClr val="accent4">
                    <a:lumMod val="75000"/>
                  </a:schemeClr>
                </a:solidFill>
                <a:highlight>
                  <a:srgbClr val="000000"/>
                </a:highlight>
                <a:latin typeface="Courier New" panose="02070309020205020404" pitchFamily="49" charset="0"/>
                <a:cs typeface="Courier New" panose="02070309020205020404" pitchFamily="49" charset="0"/>
              </a:rPr>
              <a:t>// Contenuto del modulo</a:t>
            </a:r>
          </a:p>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it-IT" sz="1400" noProof="1">
              <a:highlight>
                <a:srgbClr val="000000"/>
              </a:highlight>
              <a:latin typeface="Courier New" panose="02070309020205020404" pitchFamily="49" charset="0"/>
              <a:cs typeface="Courier New" panose="02070309020205020404" pitchFamily="49" charset="0"/>
            </a:endParaRPr>
          </a:p>
        </p:txBody>
      </p:sp>
      <p:sp>
        <p:nvSpPr>
          <p:cNvPr id="7" name="CasellaDiTesto 6">
            <a:extLst>
              <a:ext uri="{FF2B5EF4-FFF2-40B4-BE49-F238E27FC236}">
                <a16:creationId xmlns:a16="http://schemas.microsoft.com/office/drawing/2014/main" id="{5C0135D2-D798-A040-FB43-BB5E0EC3BCDB}"/>
              </a:ext>
            </a:extLst>
          </p:cNvPr>
          <p:cNvSpPr txBox="1"/>
          <p:nvPr/>
        </p:nvSpPr>
        <p:spPr>
          <a:xfrm>
            <a:off x="2813702" y="3547402"/>
            <a:ext cx="5631641" cy="738664"/>
          </a:xfrm>
          <a:prstGeom prst="rect">
            <a:avLst/>
          </a:prstGeom>
          <a:solidFill>
            <a:schemeClr val="bg1">
              <a:lumMod val="95000"/>
              <a:lumOff val="5000"/>
            </a:schemeClr>
          </a:solidFill>
          <a:ln w="38100">
            <a:solidFill>
              <a:schemeClr val="accent5">
                <a:lumMod val="75000"/>
              </a:schemeClr>
            </a:solidFill>
          </a:ln>
        </p:spPr>
        <p:txBody>
          <a:bodyPr wrap="square" rtlCol="0" anchor="ctr">
            <a:spAutoFit/>
          </a:bodyPr>
          <a:lstStyle/>
          <a:p>
            <a:r>
              <a:rPr lang="en-US" sz="1400" b="1" dirty="0">
                <a:solidFill>
                  <a:srgbClr val="DFC47D"/>
                </a:solidFill>
                <a:highlight>
                  <a:srgbClr val="000000"/>
                </a:highlight>
                <a:latin typeface="Courier New" panose="02070309020205020404" pitchFamily="49" charset="0"/>
                <a:cs typeface="Courier New" panose="02070309020205020404" pitchFamily="49" charset="0"/>
              </a:rPr>
              <a:t>module</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fn_Z</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input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input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b</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input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c</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output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z </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endParaRPr lang="en-US" sz="1400" b="0" dirty="0">
              <a:solidFill>
                <a:srgbClr val="DCDCCC"/>
              </a:solidFill>
              <a:highlight>
                <a:srgbClr val="000000"/>
              </a:highlight>
              <a:latin typeface="Courier New" panose="02070309020205020404" pitchFamily="49" charset="0"/>
              <a:cs typeface="Courier New" panose="02070309020205020404" pitchFamily="49" charset="0"/>
            </a:endParaRPr>
          </a:p>
          <a:p>
            <a:r>
              <a:rPr lang="it-IT" sz="1400" b="1" dirty="0">
                <a:solidFill>
                  <a:srgbClr val="DFC47D"/>
                </a:solidFill>
                <a:highlight>
                  <a:srgbClr val="000000"/>
                </a:highlight>
                <a:latin typeface="Courier New" panose="02070309020205020404" pitchFamily="49" charset="0"/>
                <a:cs typeface="Courier New" panose="02070309020205020404" pitchFamily="49" charset="0"/>
              </a:rPr>
              <a:t>  </a:t>
            </a:r>
            <a:r>
              <a:rPr lang="it-IT" sz="1400" b="1" dirty="0">
                <a:solidFill>
                  <a:schemeClr val="accent4">
                    <a:lumMod val="75000"/>
                  </a:schemeClr>
                </a:solidFill>
                <a:highlight>
                  <a:srgbClr val="000000"/>
                </a:highlight>
                <a:latin typeface="Courier New" panose="02070309020205020404" pitchFamily="49" charset="0"/>
                <a:cs typeface="Courier New" panose="02070309020205020404" pitchFamily="49" charset="0"/>
              </a:rPr>
              <a:t>// Contenuto del modulo</a:t>
            </a:r>
          </a:p>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it-IT" sz="1400" noProof="1">
              <a:highlight>
                <a:srgbClr val="000000"/>
              </a:highlight>
              <a:latin typeface="Courier New" panose="02070309020205020404" pitchFamily="49" charset="0"/>
              <a:cs typeface="Courier New" panose="02070309020205020404" pitchFamily="49" charset="0"/>
            </a:endParaRPr>
          </a:p>
        </p:txBody>
      </p:sp>
      <p:sp>
        <p:nvSpPr>
          <p:cNvPr id="8" name="CasellaDiTesto 7">
            <a:extLst>
              <a:ext uri="{FF2B5EF4-FFF2-40B4-BE49-F238E27FC236}">
                <a16:creationId xmlns:a16="http://schemas.microsoft.com/office/drawing/2014/main" id="{B5FF0F52-FE4B-D25E-1C09-FB974BB0FF07}"/>
              </a:ext>
            </a:extLst>
          </p:cNvPr>
          <p:cNvSpPr txBox="1"/>
          <p:nvPr/>
        </p:nvSpPr>
        <p:spPr>
          <a:xfrm>
            <a:off x="2923531" y="5240569"/>
            <a:ext cx="7061608" cy="738664"/>
          </a:xfrm>
          <a:prstGeom prst="rect">
            <a:avLst/>
          </a:prstGeom>
          <a:solidFill>
            <a:schemeClr val="bg1">
              <a:lumMod val="95000"/>
              <a:lumOff val="5000"/>
            </a:schemeClr>
          </a:solidFill>
          <a:ln w="38100">
            <a:solidFill>
              <a:schemeClr val="accent5">
                <a:lumMod val="75000"/>
              </a:schemeClr>
            </a:solidFill>
          </a:ln>
        </p:spPr>
        <p:txBody>
          <a:bodyPr wrap="square" rtlCol="0" anchor="ctr">
            <a:spAutoFit/>
          </a:bodyPr>
          <a:lstStyle/>
          <a:p>
            <a:r>
              <a:rPr lang="en-US" sz="1400" b="1" dirty="0">
                <a:solidFill>
                  <a:srgbClr val="DFC47D"/>
                </a:solidFill>
                <a:highlight>
                  <a:srgbClr val="000000"/>
                </a:highlight>
                <a:latin typeface="Courier New" panose="02070309020205020404" pitchFamily="49" charset="0"/>
                <a:cs typeface="Courier New" panose="02070309020205020404" pitchFamily="49" charset="0"/>
              </a:rPr>
              <a:t>module</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device_under_test</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input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input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b</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input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c</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output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z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endParaRPr lang="en-US" sz="1400" b="0" noProof="1">
              <a:solidFill>
                <a:srgbClr val="DCDCCC"/>
              </a:solidFill>
              <a:highlight>
                <a:srgbClr val="000000"/>
              </a:highlight>
              <a:latin typeface="Courier New" panose="02070309020205020404" pitchFamily="49" charset="0"/>
              <a:cs typeface="Courier New" panose="02070309020205020404" pitchFamily="49" charset="0"/>
            </a:endParaRPr>
          </a:p>
          <a:p>
            <a:r>
              <a:rPr lang="it-IT" sz="1400" b="0" dirty="0">
                <a:solidFill>
                  <a:srgbClr val="DCDCCC"/>
                </a:solidFill>
                <a:highlight>
                  <a:srgbClr val="000000"/>
                </a:highlight>
                <a:latin typeface="Courier New" panose="02070309020205020404" pitchFamily="49" charset="0"/>
                <a:cs typeface="Courier New" panose="02070309020205020404" pitchFamily="49" charset="0"/>
              </a:rPr>
              <a:t>  </a:t>
            </a:r>
            <a:r>
              <a:rPr lang="it-IT" sz="1400" b="1" noProof="1">
                <a:solidFill>
                  <a:srgbClr val="DFC47D"/>
                </a:solidFill>
                <a:highlight>
                  <a:srgbClr val="000000"/>
                </a:highlight>
                <a:latin typeface="Courier New" panose="02070309020205020404" pitchFamily="49" charset="0"/>
                <a:cs typeface="Courier New" panose="02070309020205020404" pitchFamily="49" charset="0"/>
              </a:rPr>
              <a:t>assign</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z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a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b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c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a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b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b </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it-IT" sz="1400" b="0" noProof="1">
                <a:solidFill>
                  <a:srgbClr val="DCDCCC"/>
                </a:solidFill>
                <a:highlight>
                  <a:srgbClr val="000000"/>
                </a:highlight>
                <a:latin typeface="Courier New" panose="02070309020205020404" pitchFamily="49" charset="0"/>
                <a:cs typeface="Courier New" panose="02070309020205020404" pitchFamily="49" charset="0"/>
              </a:rPr>
              <a:t> c</a:t>
            </a:r>
            <a:r>
              <a:rPr lang="it-IT" sz="1400" b="1" noProof="1">
                <a:solidFill>
                  <a:srgbClr val="9F9D6D"/>
                </a:solidFill>
                <a:highlight>
                  <a:srgbClr val="000000"/>
                </a:highlight>
                <a:latin typeface="Courier New" panose="02070309020205020404" pitchFamily="49" charset="0"/>
                <a:cs typeface="Courier New" panose="02070309020205020404" pitchFamily="49" charset="0"/>
              </a:rPr>
              <a:t>;</a:t>
            </a:r>
            <a:endParaRPr lang="it-IT" sz="1400" b="0" noProof="1">
              <a:solidFill>
                <a:srgbClr val="DCDCCC"/>
              </a:solidFill>
              <a:highlight>
                <a:srgbClr val="000000"/>
              </a:highlight>
              <a:latin typeface="Courier New" panose="02070309020205020404" pitchFamily="49" charset="0"/>
              <a:cs typeface="Courier New" panose="02070309020205020404" pitchFamily="49" charset="0"/>
            </a:endParaRPr>
          </a:p>
          <a:p>
            <a:r>
              <a:rPr lang="it-IT"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it-IT" sz="1400" noProof="1">
              <a:highlight>
                <a:srgbClr val="00000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825078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p:txBody>
          <a:bodyPr/>
          <a:lstStyle/>
          <a:p>
            <a:r>
              <a:rPr lang="it-IT" dirty="0"/>
              <a:t>TUTORIAL </a:t>
            </a:r>
            <a:r>
              <a:rPr lang="it-IT" dirty="0" err="1"/>
              <a:t>INTRODUTTIVo</a:t>
            </a:r>
            <a:r>
              <a:rPr lang="it-IT" dirty="0"/>
              <a:t> (3)</a:t>
            </a:r>
          </a:p>
        </p:txBody>
      </p:sp>
      <p:sp>
        <p:nvSpPr>
          <p:cNvPr id="3" name="Segnaposto contenuto 2">
            <a:extLst>
              <a:ext uri="{FF2B5EF4-FFF2-40B4-BE49-F238E27FC236}">
                <a16:creationId xmlns:a16="http://schemas.microsoft.com/office/drawing/2014/main" id="{659C268E-733F-CB6D-79EB-6E4ED4D2DF3C}"/>
              </a:ext>
            </a:extLst>
          </p:cNvPr>
          <p:cNvSpPr>
            <a:spLocks noGrp="1"/>
          </p:cNvSpPr>
          <p:nvPr>
            <p:ph idx="1"/>
          </p:nvPr>
        </p:nvSpPr>
        <p:spPr>
          <a:xfrm>
            <a:off x="1141412" y="1780162"/>
            <a:ext cx="9905998" cy="5077838"/>
          </a:xfrm>
        </p:spPr>
        <p:txBody>
          <a:bodyPr>
            <a:normAutofit lnSpcReduction="10000"/>
          </a:bodyPr>
          <a:lstStyle/>
          <a:p>
            <a:pPr marL="0" indent="0">
              <a:buNone/>
            </a:pPr>
            <a:r>
              <a:rPr lang="it-IT" dirty="0"/>
              <a:t>I Moduli:</a:t>
            </a:r>
          </a:p>
          <a:p>
            <a:r>
              <a:rPr lang="it-IT" dirty="0"/>
              <a:t>Per verificare la correttezza di quanto abbiamo scritto finora, useremo uno strumento open source chiamato Icarus </a:t>
            </a:r>
            <a:r>
              <a:rPr lang="it-IT" dirty="0" err="1"/>
              <a:t>Verilog</a:t>
            </a:r>
            <a:r>
              <a:rPr lang="it-IT" dirty="0"/>
              <a:t> (</a:t>
            </a:r>
            <a:r>
              <a:rPr lang="it-IT" dirty="0" err="1"/>
              <a:t>iverilog</a:t>
            </a:r>
            <a:r>
              <a:rPr lang="it-IT" dirty="0"/>
              <a:t>). Icarus </a:t>
            </a:r>
            <a:r>
              <a:rPr lang="it-IT" dirty="0" err="1"/>
              <a:t>Verilog</a:t>
            </a:r>
            <a:r>
              <a:rPr lang="it-IT" dirty="0"/>
              <a:t> è un'implementazione per il linguaggio di descrizione dell’hardware </a:t>
            </a:r>
            <a:br>
              <a:rPr lang="it-IT" dirty="0"/>
            </a:br>
            <a:r>
              <a:rPr lang="it-IT" dirty="0" err="1"/>
              <a:t>Verilog</a:t>
            </a:r>
            <a:r>
              <a:rPr lang="it-IT" dirty="0"/>
              <a:t> IEEE-1364. </a:t>
            </a:r>
          </a:p>
          <a:p>
            <a:r>
              <a:rPr lang="it-IT" dirty="0"/>
              <a:t>Icarus </a:t>
            </a:r>
            <a:r>
              <a:rPr lang="it-IT" dirty="0" err="1"/>
              <a:t>Verilog</a:t>
            </a:r>
            <a:r>
              <a:rPr lang="it-IT" dirty="0"/>
              <a:t> è un compilatore e simulatore, </a:t>
            </a:r>
            <a:br>
              <a:rPr lang="it-IT" dirty="0"/>
            </a:br>
            <a:r>
              <a:rPr lang="it-IT" dirty="0"/>
              <a:t>che legge un </a:t>
            </a:r>
            <a:r>
              <a:rPr lang="it-IT" dirty="0" err="1"/>
              <a:t>un</a:t>
            </a:r>
            <a:r>
              <a:rPr lang="it-IT" dirty="0"/>
              <a:t> file sorgente </a:t>
            </a:r>
            <a:r>
              <a:rPr lang="it-IT" dirty="0" err="1"/>
              <a:t>Verilog</a:t>
            </a:r>
            <a:r>
              <a:rPr lang="it-IT" dirty="0"/>
              <a:t> </a:t>
            </a:r>
            <a:br>
              <a:rPr lang="it-IT" dirty="0"/>
            </a:br>
            <a:r>
              <a:rPr lang="it-IT" dirty="0"/>
              <a:t>e produce un file di uscita. Quest’ultimo, </a:t>
            </a:r>
            <a:br>
              <a:rPr lang="it-IT" dirty="0"/>
            </a:br>
            <a:r>
              <a:rPr lang="it-IT" dirty="0"/>
              <a:t>nell’ambito di alcune piattaforme, può </a:t>
            </a:r>
            <a:br>
              <a:rPr lang="it-IT" dirty="0"/>
            </a:br>
            <a:r>
              <a:rPr lang="it-IT" dirty="0"/>
              <a:t>anche essere un eseguibile puro. Se la compilazione del modulo non produce errori siamo di fronte a codice almeno sintatticamente corretto.</a:t>
            </a:r>
          </a:p>
          <a:p>
            <a:endParaRPr lang="it-IT" dirty="0"/>
          </a:p>
          <a:p>
            <a:pPr marL="0" indent="0">
              <a:buNone/>
            </a:pPr>
            <a:endParaRPr lang="it-IT" dirty="0"/>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9" name="CasellaDiTesto 8">
            <a:extLst>
              <a:ext uri="{FF2B5EF4-FFF2-40B4-BE49-F238E27FC236}">
                <a16:creationId xmlns:a16="http://schemas.microsoft.com/office/drawing/2014/main" id="{F6F8196C-8622-9632-0BB9-77B0CDD2CE6A}"/>
              </a:ext>
            </a:extLst>
          </p:cNvPr>
          <p:cNvSpPr txBox="1"/>
          <p:nvPr/>
        </p:nvSpPr>
        <p:spPr>
          <a:xfrm>
            <a:off x="7055409" y="3888188"/>
            <a:ext cx="4400561" cy="1569660"/>
          </a:xfrm>
          <a:prstGeom prst="rect">
            <a:avLst/>
          </a:prstGeom>
          <a:solidFill>
            <a:schemeClr val="bg1"/>
          </a:solidFill>
          <a:ln w="38100">
            <a:solidFill>
              <a:schemeClr val="accent5">
                <a:lumMod val="75000"/>
              </a:schemeClr>
            </a:solidFill>
          </a:ln>
        </p:spPr>
        <p:txBody>
          <a:bodyPr wrap="square" rtlCol="0">
            <a:spAutoFit/>
          </a:bodyPr>
          <a:lstStyle/>
          <a:p>
            <a:r>
              <a:rPr lang="it-IT" sz="1200" noProof="1">
                <a:solidFill>
                  <a:schemeClr val="accent4">
                    <a:lumMod val="75000"/>
                  </a:schemeClr>
                </a:solidFill>
                <a:latin typeface="Consolas" panose="020B0609020204030204" pitchFamily="49" charset="0"/>
              </a:rPr>
              <a:t>$</a:t>
            </a:r>
            <a:r>
              <a:rPr lang="it-IT" sz="1200" noProof="1">
                <a:solidFill>
                  <a:schemeClr val="accent1">
                    <a:lumMod val="60000"/>
                    <a:lumOff val="40000"/>
                  </a:schemeClr>
                </a:solidFill>
                <a:latin typeface="Consolas" panose="020B0609020204030204" pitchFamily="49" charset="0"/>
              </a:rPr>
              <a:t> </a:t>
            </a:r>
            <a:r>
              <a:rPr lang="it-IT" sz="1200" noProof="1">
                <a:solidFill>
                  <a:schemeClr val="accent6">
                    <a:lumMod val="75000"/>
                  </a:schemeClr>
                </a:solidFill>
                <a:latin typeface="Consolas" panose="020B0609020204030204" pitchFamily="49" charset="0"/>
              </a:rPr>
              <a:t>iverilog</a:t>
            </a:r>
            <a:r>
              <a:rPr lang="it-IT" sz="1200" noProof="1">
                <a:solidFill>
                  <a:schemeClr val="accent1">
                    <a:lumMod val="60000"/>
                    <a:lumOff val="40000"/>
                  </a:schemeClr>
                </a:solidFill>
                <a:latin typeface="Consolas" panose="020B0609020204030204" pitchFamily="49" charset="0"/>
              </a:rPr>
              <a:t> assign.v</a:t>
            </a:r>
          </a:p>
          <a:p>
            <a:r>
              <a:rPr lang="it-IT" sz="1200" noProof="1">
                <a:solidFill>
                  <a:schemeClr val="accent4">
                    <a:lumMod val="75000"/>
                  </a:schemeClr>
                </a:solidFill>
                <a:latin typeface="Consolas" panose="020B0609020204030204" pitchFamily="49" charset="0"/>
              </a:rPr>
              <a:t>$</a:t>
            </a:r>
            <a:r>
              <a:rPr lang="it-IT" sz="1200" noProof="1">
                <a:solidFill>
                  <a:schemeClr val="accent1">
                    <a:lumMod val="60000"/>
                    <a:lumOff val="40000"/>
                  </a:schemeClr>
                </a:solidFill>
                <a:latin typeface="Consolas" panose="020B0609020204030204" pitchFamily="49" charset="0"/>
              </a:rPr>
              <a:t> </a:t>
            </a:r>
            <a:r>
              <a:rPr lang="it-IT" sz="1200" noProof="1">
                <a:solidFill>
                  <a:schemeClr val="accent6">
                    <a:lumMod val="75000"/>
                  </a:schemeClr>
                </a:solidFill>
                <a:latin typeface="Consolas" panose="020B0609020204030204" pitchFamily="49" charset="0"/>
              </a:rPr>
              <a:t>ll</a:t>
            </a:r>
          </a:p>
          <a:p>
            <a:r>
              <a:rPr lang="it-IT" sz="1200" noProof="1">
                <a:solidFill>
                  <a:schemeClr val="tx1">
                    <a:lumMod val="95000"/>
                  </a:schemeClr>
                </a:solidFill>
                <a:latin typeface="Consolas" panose="020B0609020204030204" pitchFamily="49" charset="0"/>
              </a:rPr>
              <a:t>drwxr-xr-x  2 user user 4096 Apr 23 12:43 ./</a:t>
            </a:r>
          </a:p>
          <a:p>
            <a:r>
              <a:rPr lang="it-IT" sz="1200" noProof="1">
                <a:solidFill>
                  <a:schemeClr val="tx1">
                    <a:lumMod val="95000"/>
                  </a:schemeClr>
                </a:solidFill>
                <a:latin typeface="Consolas" panose="020B0609020204030204" pitchFamily="49" charset="0"/>
              </a:rPr>
              <a:t>drwxr-x--- 29 user user 4096 Apr 23 11:56 ../</a:t>
            </a:r>
          </a:p>
          <a:p>
            <a:r>
              <a:rPr lang="it-IT" sz="1200" noProof="1">
                <a:solidFill>
                  <a:schemeClr val="tx1">
                    <a:lumMod val="95000"/>
                  </a:schemeClr>
                </a:solidFill>
                <a:latin typeface="Consolas" panose="020B0609020204030204" pitchFamily="49" charset="0"/>
              </a:rPr>
              <a:t>-rwxr-xr-x  1 user user 2367 Apr 23 12:43 </a:t>
            </a:r>
            <a:r>
              <a:rPr lang="it-IT" sz="1200" noProof="1">
                <a:solidFill>
                  <a:srgbClr val="92D050"/>
                </a:solidFill>
                <a:latin typeface="Consolas" panose="020B0609020204030204" pitchFamily="49" charset="0"/>
              </a:rPr>
              <a:t>a.out*</a:t>
            </a:r>
          </a:p>
          <a:p>
            <a:r>
              <a:rPr lang="it-IT" sz="1200" noProof="1">
                <a:latin typeface="Consolas" panose="020B0609020204030204" pitchFamily="49" charset="0"/>
              </a:rPr>
              <a:t>-rw-r--r--  1 user user  109 Apr 23 12:32 assign.v</a:t>
            </a:r>
          </a:p>
          <a:p>
            <a:r>
              <a:rPr lang="it-IT" sz="1200" noProof="1">
                <a:solidFill>
                  <a:schemeClr val="accent4">
                    <a:lumMod val="75000"/>
                  </a:schemeClr>
                </a:solidFill>
                <a:latin typeface="Consolas" panose="020B0609020204030204" pitchFamily="49" charset="0"/>
              </a:rPr>
              <a:t>$</a:t>
            </a:r>
            <a:r>
              <a:rPr lang="it-IT" sz="1200" noProof="1">
                <a:solidFill>
                  <a:schemeClr val="accent1">
                    <a:lumMod val="60000"/>
                    <a:lumOff val="40000"/>
                  </a:schemeClr>
                </a:solidFill>
                <a:latin typeface="Consolas" panose="020B0609020204030204" pitchFamily="49" charset="0"/>
              </a:rPr>
              <a:t> </a:t>
            </a:r>
            <a:r>
              <a:rPr lang="it-IT" sz="1200" noProof="1">
                <a:solidFill>
                  <a:schemeClr val="accent6">
                    <a:lumMod val="75000"/>
                  </a:schemeClr>
                </a:solidFill>
                <a:latin typeface="Consolas" panose="020B0609020204030204" pitchFamily="49" charset="0"/>
              </a:rPr>
              <a:t>./a.out</a:t>
            </a:r>
          </a:p>
          <a:p>
            <a:r>
              <a:rPr lang="pt-BR" sz="1200" dirty="0">
                <a:solidFill>
                  <a:schemeClr val="accent4">
                    <a:lumMod val="75000"/>
                  </a:schemeClr>
                </a:solidFill>
                <a:latin typeface="Consolas" panose="020B0609020204030204" pitchFamily="49" charset="0"/>
              </a:rPr>
              <a:t>$</a:t>
            </a:r>
            <a:r>
              <a:rPr lang="pt-BR" sz="1200" dirty="0">
                <a:solidFill>
                  <a:schemeClr val="tx1">
                    <a:lumMod val="65000"/>
                  </a:schemeClr>
                </a:solidFill>
                <a:latin typeface="Consolas" panose="020B0609020204030204" pitchFamily="49" charset="0"/>
              </a:rPr>
              <a:t> _</a:t>
            </a:r>
            <a:endParaRPr lang="it-IT" sz="1200" dirty="0">
              <a:solidFill>
                <a:schemeClr val="accent1">
                  <a:lumMod val="60000"/>
                  <a:lumOff val="40000"/>
                </a:schemeClr>
              </a:solidFill>
              <a:latin typeface="Consolas" panose="020B0609020204030204" pitchFamily="49" charset="0"/>
            </a:endParaRPr>
          </a:p>
        </p:txBody>
      </p:sp>
    </p:spTree>
    <p:extLst>
      <p:ext uri="{BB962C8B-B14F-4D97-AF65-F5344CB8AC3E}">
        <p14:creationId xmlns:p14="http://schemas.microsoft.com/office/powerpoint/2010/main" val="19308333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(4/1)</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13" name="Segnaposto contenuto 2">
            <a:extLst>
              <a:ext uri="{FF2B5EF4-FFF2-40B4-BE49-F238E27FC236}">
                <a16:creationId xmlns:a16="http://schemas.microsoft.com/office/drawing/2014/main" id="{D0ACB004-DCF4-7D6C-F347-9DC27934A948}"/>
              </a:ext>
            </a:extLst>
          </p:cNvPr>
          <p:cNvSpPr txBox="1">
            <a:spLocks/>
          </p:cNvSpPr>
          <p:nvPr/>
        </p:nvSpPr>
        <p:spPr>
          <a:xfrm>
            <a:off x="1141412" y="1478603"/>
            <a:ext cx="7484114" cy="480907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I sistemi digitali sono strutturati gerarchicamente: vale a dire che sono costituiti da </a:t>
            </a:r>
            <a:r>
              <a:rPr lang="it-IT" u="sng" dirty="0"/>
              <a:t>blocchi interconnessi fra loro</a:t>
            </a:r>
            <a:r>
              <a:rPr lang="it-IT" dirty="0"/>
              <a:t> aventi funzioni più o meno complesse. Alcuni blocchi contengono blocchi che a loro volta possono contenere altri blocchi e così via. </a:t>
            </a:r>
            <a:r>
              <a:rPr lang="it-IT" dirty="0" err="1"/>
              <a:t>Verilog</a:t>
            </a:r>
            <a:r>
              <a:rPr lang="it-IT" dirty="0"/>
              <a:t>, tramite i moduli, può modellare la struttura gerarchica di tali sistemi.</a:t>
            </a:r>
          </a:p>
          <a:p>
            <a:r>
              <a:rPr lang="it-IT" dirty="0"/>
              <a:t>I moduli comunque </a:t>
            </a:r>
            <a:r>
              <a:rPr lang="it-IT" u="sng" dirty="0"/>
              <a:t>non possono essere definiti</a:t>
            </a:r>
            <a:r>
              <a:rPr lang="it-IT" dirty="0"/>
              <a:t> all’interno di altri moduli. Anche se questo sembra contraddire il punto precedente, va ricordato che – alla stregua dei linguaggi di programmazione – anche </a:t>
            </a:r>
            <a:r>
              <a:rPr lang="it-IT" dirty="0" err="1"/>
              <a:t>Verilog</a:t>
            </a:r>
            <a:r>
              <a:rPr lang="it-IT" dirty="0"/>
              <a:t> distingue fra </a:t>
            </a:r>
            <a:r>
              <a:rPr lang="it-IT" u="sng" dirty="0"/>
              <a:t>dichiarazioni</a:t>
            </a:r>
            <a:r>
              <a:rPr lang="it-IT" dirty="0"/>
              <a:t> e </a:t>
            </a:r>
            <a:r>
              <a:rPr lang="it-IT" u="sng" dirty="0"/>
              <a:t>definizioni</a:t>
            </a:r>
            <a:r>
              <a:rPr lang="it-IT" dirty="0"/>
              <a:t>.</a:t>
            </a:r>
          </a:p>
        </p:txBody>
      </p:sp>
      <p:pic>
        <p:nvPicPr>
          <p:cNvPr id="5" name="Elemento grafico 4">
            <a:extLst>
              <a:ext uri="{FF2B5EF4-FFF2-40B4-BE49-F238E27FC236}">
                <a16:creationId xmlns:a16="http://schemas.microsoft.com/office/drawing/2014/main" id="{1D90C6ED-4336-E795-F31D-1A26592250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84017" y="1231043"/>
            <a:ext cx="2543175" cy="2981325"/>
          </a:xfrm>
          <a:prstGeom prst="rect">
            <a:avLst/>
          </a:prstGeom>
        </p:spPr>
      </p:pic>
      <p:sp>
        <p:nvSpPr>
          <p:cNvPr id="7" name="CasellaDiTesto 6">
            <a:extLst>
              <a:ext uri="{FF2B5EF4-FFF2-40B4-BE49-F238E27FC236}">
                <a16:creationId xmlns:a16="http://schemas.microsoft.com/office/drawing/2014/main" id="{B3C374FD-82C9-3FA7-7EB8-0435728905B7}"/>
              </a:ext>
            </a:extLst>
          </p:cNvPr>
          <p:cNvSpPr txBox="1"/>
          <p:nvPr/>
        </p:nvSpPr>
        <p:spPr>
          <a:xfrm>
            <a:off x="9091705" y="4503038"/>
            <a:ext cx="2543175" cy="1569660"/>
          </a:xfrm>
          <a:prstGeom prst="rect">
            <a:avLst/>
          </a:prstGeom>
          <a:solidFill>
            <a:srgbClr val="1F1F1F"/>
          </a:solidFill>
          <a:ln w="25400">
            <a:solidFill>
              <a:schemeClr val="accent5">
                <a:lumMod val="75000"/>
              </a:schemeClr>
            </a:solidFill>
          </a:ln>
        </p:spPr>
        <p:txBody>
          <a:bodyPr wrap="square" rtlCol="0">
            <a:spAutoFit/>
          </a:bodyPr>
          <a:lstStyle/>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a:t>
            </a:r>
            <a:r>
              <a:rPr lang="it-IT" sz="1200" noProof="1">
                <a:solidFill>
                  <a:srgbClr val="CCCCCC"/>
                </a:solidFill>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a:t>
            </a:r>
          </a:p>
          <a:p>
            <a:r>
              <a:rPr lang="it-IT" sz="1200" noProof="1">
                <a:solidFill>
                  <a:srgbClr val="CCCCCC"/>
                </a:solidFill>
                <a:highlight>
                  <a:srgbClr val="1F1F1F"/>
                </a:highlight>
                <a:latin typeface="Consolas" panose="020B0609020204030204" pitchFamily="49" charset="0"/>
              </a:rPr>
              <a:t>  </a:t>
            </a:r>
            <a:r>
              <a:rPr lang="it-IT" sz="1200" noProof="1">
                <a:solidFill>
                  <a:srgbClr val="92D050"/>
                </a:solidFill>
                <a:highlight>
                  <a:srgbClr val="1F1F1F"/>
                </a:highlight>
                <a:latin typeface="Consolas" panose="020B0609020204030204" pitchFamily="49" charset="0"/>
              </a:rPr>
              <a:t>// Contenuto del modulo</a:t>
            </a:r>
            <a:endParaRPr lang="it-IT" sz="1200" b="0" noProof="1">
              <a:solidFill>
                <a:srgbClr val="92D050"/>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endParaRPr lang="it-IT"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7406374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(4/2)</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13" name="Segnaposto contenuto 2">
            <a:extLst>
              <a:ext uri="{FF2B5EF4-FFF2-40B4-BE49-F238E27FC236}">
                <a16:creationId xmlns:a16="http://schemas.microsoft.com/office/drawing/2014/main" id="{D0ACB004-DCF4-7D6C-F347-9DC27934A948}"/>
              </a:ext>
            </a:extLst>
          </p:cNvPr>
          <p:cNvSpPr txBox="1">
            <a:spLocks/>
          </p:cNvSpPr>
          <p:nvPr/>
        </p:nvSpPr>
        <p:spPr>
          <a:xfrm>
            <a:off x="1141412" y="1478603"/>
            <a:ext cx="7484114" cy="39606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I moduli possono altresì contenere «istanze» (cioè </a:t>
            </a:r>
            <a:r>
              <a:rPr lang="it-IT" u="sng" dirty="0"/>
              <a:t>dichiarazioni</a:t>
            </a:r>
            <a:r>
              <a:rPr lang="it-IT" dirty="0"/>
              <a:t>) di altri moduli, ma non possono contenere direttamente o indirettamente istanze di se stessi. </a:t>
            </a:r>
          </a:p>
          <a:p>
            <a:r>
              <a:rPr lang="it-IT" dirty="0"/>
              <a:t>Un modulo può anche dichiarare multiple istanze di altri moduli. </a:t>
            </a:r>
          </a:p>
          <a:p>
            <a:r>
              <a:rPr lang="it-IT" dirty="0"/>
              <a:t>All’apice della gerarchia avremo un unico modulo che li contiene tutti (direttamente o indirettamente) ed è identificato come «top» </a:t>
            </a:r>
            <a:r>
              <a:rPr lang="it-IT" dirty="0" err="1"/>
              <a:t>module</a:t>
            </a:r>
            <a:r>
              <a:rPr lang="it-IT" dirty="0"/>
              <a:t> (</a:t>
            </a:r>
            <a:r>
              <a:rPr lang="it-IT" i="1" dirty="0" err="1"/>
              <a:t>tf</a:t>
            </a:r>
            <a:r>
              <a:rPr lang="it-IT" dirty="0"/>
              <a:t> nell’esempio a fianco).</a:t>
            </a:r>
          </a:p>
        </p:txBody>
      </p:sp>
      <p:pic>
        <p:nvPicPr>
          <p:cNvPr id="5" name="Elemento grafico 4">
            <a:extLst>
              <a:ext uri="{FF2B5EF4-FFF2-40B4-BE49-F238E27FC236}">
                <a16:creationId xmlns:a16="http://schemas.microsoft.com/office/drawing/2014/main" id="{1D90C6ED-4336-E795-F31D-1A26592250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84017" y="1231043"/>
            <a:ext cx="2543175" cy="2981325"/>
          </a:xfrm>
          <a:prstGeom prst="rect">
            <a:avLst/>
          </a:prstGeom>
        </p:spPr>
      </p:pic>
      <p:sp>
        <p:nvSpPr>
          <p:cNvPr id="7" name="CasellaDiTesto 6">
            <a:extLst>
              <a:ext uri="{FF2B5EF4-FFF2-40B4-BE49-F238E27FC236}">
                <a16:creationId xmlns:a16="http://schemas.microsoft.com/office/drawing/2014/main" id="{B3C374FD-82C9-3FA7-7EB8-0435728905B7}"/>
              </a:ext>
            </a:extLst>
          </p:cNvPr>
          <p:cNvSpPr txBox="1"/>
          <p:nvPr/>
        </p:nvSpPr>
        <p:spPr>
          <a:xfrm>
            <a:off x="9091705" y="4503038"/>
            <a:ext cx="2543175" cy="1569660"/>
          </a:xfrm>
          <a:prstGeom prst="rect">
            <a:avLst/>
          </a:prstGeom>
          <a:solidFill>
            <a:srgbClr val="1F1F1F"/>
          </a:solidFill>
          <a:ln w="25400">
            <a:solidFill>
              <a:schemeClr val="accent5">
                <a:lumMod val="75000"/>
              </a:schemeClr>
            </a:solidFill>
          </a:ln>
        </p:spPr>
        <p:txBody>
          <a:bodyPr wrap="square" rtlCol="0">
            <a:spAutoFit/>
          </a:bodyPr>
          <a:lstStyle/>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a:t>
            </a:r>
            <a:r>
              <a:rPr lang="it-IT" sz="1200" noProof="1">
                <a:solidFill>
                  <a:srgbClr val="CCCCCC"/>
                </a:solidFill>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a:t>
            </a:r>
          </a:p>
          <a:p>
            <a:r>
              <a:rPr lang="it-IT" sz="1200" noProof="1">
                <a:solidFill>
                  <a:srgbClr val="CCCCCC"/>
                </a:solidFill>
                <a:highlight>
                  <a:srgbClr val="1F1F1F"/>
                </a:highlight>
                <a:latin typeface="Consolas" panose="020B0609020204030204" pitchFamily="49" charset="0"/>
              </a:rPr>
              <a:t>  </a:t>
            </a:r>
            <a:r>
              <a:rPr lang="it-IT" sz="1200" noProof="1">
                <a:solidFill>
                  <a:srgbClr val="92D050"/>
                </a:solidFill>
                <a:highlight>
                  <a:srgbClr val="1F1F1F"/>
                </a:highlight>
                <a:latin typeface="Consolas" panose="020B0609020204030204" pitchFamily="49" charset="0"/>
              </a:rPr>
              <a:t>// Contenuto del modulo</a:t>
            </a:r>
            <a:endParaRPr lang="it-IT" sz="1200" b="0" noProof="1">
              <a:solidFill>
                <a:srgbClr val="92D050"/>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endParaRPr lang="it-IT"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1476179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(5/1)</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254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endParaRPr lang="it-IT" sz="1200" b="0" noProof="1">
              <a:solidFill>
                <a:srgbClr val="CCCCCC"/>
              </a:solidFill>
              <a:effectLst/>
              <a:highlight>
                <a:srgbClr val="1F1F1F"/>
              </a:highlight>
              <a:latin typeface="Consolas" panose="020B0609020204030204" pitchFamily="49" charset="0"/>
            </a:endParaRPr>
          </a:p>
        </p:txBody>
      </p:sp>
      <p:sp>
        <p:nvSpPr>
          <p:cNvPr id="9" name="Rettangolo 8">
            <a:extLst>
              <a:ext uri="{FF2B5EF4-FFF2-40B4-BE49-F238E27FC236}">
                <a16:creationId xmlns:a16="http://schemas.microsoft.com/office/drawing/2014/main" id="{AE956A62-E268-524F-10AB-98ECE69D645C}"/>
              </a:ext>
            </a:extLst>
          </p:cNvPr>
          <p:cNvSpPr/>
          <p:nvPr/>
        </p:nvSpPr>
        <p:spPr>
          <a:xfrm>
            <a:off x="7861955" y="2177592"/>
            <a:ext cx="2762053" cy="2837468"/>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Segnaposto contenuto 2">
            <a:extLst>
              <a:ext uri="{FF2B5EF4-FFF2-40B4-BE49-F238E27FC236}">
                <a16:creationId xmlns:a16="http://schemas.microsoft.com/office/drawing/2014/main" id="{D0ACB004-DCF4-7D6C-F347-9DC27934A948}"/>
              </a:ext>
            </a:extLst>
          </p:cNvPr>
          <p:cNvSpPr txBox="1">
            <a:spLocks/>
          </p:cNvSpPr>
          <p:nvPr/>
        </p:nvSpPr>
        <p:spPr>
          <a:xfrm>
            <a:off x="1141412" y="1478603"/>
            <a:ext cx="6334043" cy="128345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Alcuni moduli (test </a:t>
            </a:r>
            <a:r>
              <a:rPr lang="it-IT" dirty="0" err="1"/>
              <a:t>bench</a:t>
            </a:r>
            <a:r>
              <a:rPr lang="it-IT" dirty="0"/>
              <a:t>) possono contenere gli stimoli per la simulazione (test </a:t>
            </a:r>
            <a:r>
              <a:rPr lang="it-IT" dirty="0" err="1"/>
              <a:t>fixtures</a:t>
            </a:r>
            <a:r>
              <a:rPr lang="it-IT" dirty="0"/>
              <a:t>). Gli stimoli sono di solito raggruppati in opportuni costrutti.</a:t>
            </a:r>
          </a:p>
          <a:p>
            <a:pPr marL="914400" lvl="1" indent="-457200">
              <a:buFont typeface="+mj-lt"/>
              <a:buAutoNum type="arabicPeriod" startAt="8"/>
            </a:pPr>
            <a:endParaRPr lang="it-IT" dirty="0"/>
          </a:p>
        </p:txBody>
      </p:sp>
    </p:spTree>
    <p:extLst>
      <p:ext uri="{BB962C8B-B14F-4D97-AF65-F5344CB8AC3E}">
        <p14:creationId xmlns:p14="http://schemas.microsoft.com/office/powerpoint/2010/main" val="6480027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(5/2)</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FFFF00"/>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
        <p:nvSpPr>
          <p:cNvPr id="3" name="Segnaposto contenuto 2">
            <a:extLst>
              <a:ext uri="{FF2B5EF4-FFF2-40B4-BE49-F238E27FC236}">
                <a16:creationId xmlns:a16="http://schemas.microsoft.com/office/drawing/2014/main" id="{ED9B4A70-2400-2E2B-2BBA-4D4C51C14478}"/>
              </a:ext>
            </a:extLst>
          </p:cNvPr>
          <p:cNvSpPr txBox="1">
            <a:spLocks/>
          </p:cNvSpPr>
          <p:nvPr/>
        </p:nvSpPr>
        <p:spPr>
          <a:xfrm>
            <a:off x="1141412" y="1478604"/>
            <a:ext cx="6334043" cy="290486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Alcuni moduli (test </a:t>
            </a:r>
            <a:r>
              <a:rPr lang="it-IT" dirty="0" err="1"/>
              <a:t>bench</a:t>
            </a:r>
            <a:r>
              <a:rPr lang="it-IT" dirty="0"/>
              <a:t>) possono contenere gli stimoli per la simulazione (test </a:t>
            </a:r>
            <a:r>
              <a:rPr lang="it-IT" dirty="0" err="1"/>
              <a:t>fixtures</a:t>
            </a:r>
            <a:r>
              <a:rPr lang="it-IT" dirty="0"/>
              <a:t>). Gli stimoli sono di solito raggruppati in opportuni costrutti.</a:t>
            </a:r>
          </a:p>
          <a:p>
            <a:r>
              <a:rPr lang="it-IT" dirty="0"/>
              <a:t>Nel nostro esempio, per definire una sequenza temporale di applicazione degli stimoli si usa la keyword </a:t>
            </a:r>
            <a:r>
              <a:rPr lang="it-IT" i="1" dirty="0" err="1"/>
              <a:t>initial</a:t>
            </a:r>
            <a:r>
              <a:rPr lang="it-IT" dirty="0"/>
              <a:t>. Durante la simulazione, quanto controllato da </a:t>
            </a:r>
            <a:r>
              <a:rPr lang="it-IT" i="1" dirty="0" err="1"/>
              <a:t>initial</a:t>
            </a:r>
            <a:r>
              <a:rPr lang="it-IT" dirty="0"/>
              <a:t> è eseguito solo una volta. Per poter incorporare più di un comando dentro </a:t>
            </a:r>
            <a:r>
              <a:rPr lang="it-IT" i="1" dirty="0" err="1"/>
              <a:t>initial</a:t>
            </a:r>
            <a:r>
              <a:rPr lang="it-IT" dirty="0"/>
              <a:t>, dobbiamo ricorrere ad un altro costrutto che rappresenta il cosiddetto </a:t>
            </a:r>
            <a:r>
              <a:rPr lang="it-IT" u="sng" dirty="0"/>
              <a:t>blocco</a:t>
            </a:r>
            <a:r>
              <a:rPr lang="it-IT" dirty="0"/>
              <a:t>.</a:t>
            </a:r>
          </a:p>
        </p:txBody>
      </p:sp>
    </p:spTree>
    <p:extLst>
      <p:ext uri="{BB962C8B-B14F-4D97-AF65-F5344CB8AC3E}">
        <p14:creationId xmlns:p14="http://schemas.microsoft.com/office/powerpoint/2010/main" val="10464378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(5/3)</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4"/>
            <a:ext cx="6334043" cy="51021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Alcuni moduli (test </a:t>
            </a:r>
            <a:r>
              <a:rPr lang="it-IT" dirty="0" err="1"/>
              <a:t>bench</a:t>
            </a:r>
            <a:r>
              <a:rPr lang="it-IT" dirty="0"/>
              <a:t>) possono contenere gli stimoli per la simulazione (test </a:t>
            </a:r>
            <a:r>
              <a:rPr lang="it-IT" dirty="0" err="1"/>
              <a:t>fixtures</a:t>
            </a:r>
            <a:r>
              <a:rPr lang="it-IT" dirty="0"/>
              <a:t>). Gli stimoli sono di solito raggruppati in opportuni costrutti.</a:t>
            </a:r>
          </a:p>
          <a:p>
            <a:r>
              <a:rPr lang="it-IT" dirty="0"/>
              <a:t>Nel nostro esempio, per definire una sequenza temporale di applicazione degli stimoli si usa la keyword </a:t>
            </a:r>
            <a:r>
              <a:rPr lang="it-IT" i="1" dirty="0" err="1"/>
              <a:t>initial</a:t>
            </a:r>
            <a:r>
              <a:rPr lang="it-IT" dirty="0"/>
              <a:t>. Durante la simulazione, quanto controllato da </a:t>
            </a:r>
            <a:r>
              <a:rPr lang="it-IT" i="1" dirty="0" err="1"/>
              <a:t>initial</a:t>
            </a:r>
            <a:r>
              <a:rPr lang="it-IT" dirty="0"/>
              <a:t> è eseguito solo una volta. Per poter incorporare più di un comando dentro </a:t>
            </a:r>
            <a:r>
              <a:rPr lang="it-IT" i="1" dirty="0" err="1"/>
              <a:t>initial</a:t>
            </a:r>
            <a:r>
              <a:rPr lang="it-IT" dirty="0"/>
              <a:t>, dobbiamo ricorrere ad un altro costrutto che rappresenta il cosiddetto </a:t>
            </a:r>
            <a:r>
              <a:rPr lang="it-IT" u="sng" dirty="0"/>
              <a:t>blocco</a:t>
            </a:r>
            <a:r>
              <a:rPr lang="it-IT" dirty="0"/>
              <a:t>.</a:t>
            </a:r>
          </a:p>
          <a:p>
            <a:r>
              <a:rPr lang="it-IT" dirty="0"/>
              <a:t>Il blocco è sintatticamente definito dalla coppia di keyword </a:t>
            </a:r>
            <a:r>
              <a:rPr lang="it-IT" i="1" dirty="0" err="1"/>
              <a:t>begin</a:t>
            </a:r>
            <a:r>
              <a:rPr lang="it-IT" dirty="0"/>
              <a:t>…</a:t>
            </a:r>
            <a:r>
              <a:rPr lang="it-IT" i="1" dirty="0"/>
              <a:t>end</a:t>
            </a:r>
            <a:r>
              <a:rPr lang="it-IT" dirty="0"/>
              <a:t>. All’interno di un blocco, che è sempre controllato da un altro costrutto (in questo caso </a:t>
            </a:r>
            <a:r>
              <a:rPr lang="it-IT" i="1" dirty="0" err="1"/>
              <a:t>initial</a:t>
            </a:r>
            <a:r>
              <a:rPr lang="it-IT" dirty="0"/>
              <a:t>), le dichiarazioni sono considerate essere un tutt’uno. Nel caso di </a:t>
            </a:r>
            <a:r>
              <a:rPr lang="it-IT" i="1" dirty="0" err="1"/>
              <a:t>initial</a:t>
            </a:r>
            <a:r>
              <a:rPr lang="it-IT" dirty="0"/>
              <a:t> i comandi del blocco (ad esclusione delle direttive che iniziano con $) sono eseguiti sequenzialmente. I blocchi </a:t>
            </a:r>
            <a:r>
              <a:rPr lang="it-IT" i="1" dirty="0" err="1"/>
              <a:t>initial</a:t>
            </a:r>
            <a:r>
              <a:rPr lang="it-IT" dirty="0"/>
              <a:t> non sono sintetizzabili. Per il momento i dettagli dei costrutti per la simulazione saranno ignorati.</a:t>
            </a:r>
          </a:p>
          <a:p>
            <a:endParaRPr lang="it-IT" dirty="0"/>
          </a:p>
        </p:txBody>
      </p:sp>
      <p:sp>
        <p:nvSpPr>
          <p:cNvPr id="6" name="Figura a mano libera: forma 5">
            <a:extLst>
              <a:ext uri="{FF2B5EF4-FFF2-40B4-BE49-F238E27FC236}">
                <a16:creationId xmlns:a16="http://schemas.microsoft.com/office/drawing/2014/main" id="{F9DE69F3-3BAB-84D0-6943-91AE18CC0571}"/>
              </a:ext>
            </a:extLst>
          </p:cNvPr>
          <p:cNvSpPr/>
          <p:nvPr/>
        </p:nvSpPr>
        <p:spPr>
          <a:xfrm>
            <a:off x="7937369" y="2187019"/>
            <a:ext cx="2384982" cy="2780907"/>
          </a:xfrm>
          <a:custGeom>
            <a:avLst/>
            <a:gdLst>
              <a:gd name="connsiteX0" fmla="*/ 650450 w 2384982"/>
              <a:gd name="connsiteY0" fmla="*/ 207389 h 2780907"/>
              <a:gd name="connsiteX1" fmla="*/ 650450 w 2384982"/>
              <a:gd name="connsiteY1" fmla="*/ 0 h 2780907"/>
              <a:gd name="connsiteX2" fmla="*/ 2375555 w 2384982"/>
              <a:gd name="connsiteY2" fmla="*/ 0 h 2780907"/>
              <a:gd name="connsiteX3" fmla="*/ 2375555 w 2384982"/>
              <a:gd name="connsiteY3" fmla="*/ 2724346 h 2780907"/>
              <a:gd name="connsiteX4" fmla="*/ 2375555 w 2384982"/>
              <a:gd name="connsiteY4" fmla="*/ 2762053 h 2780907"/>
              <a:gd name="connsiteX5" fmla="*/ 2384982 w 2384982"/>
              <a:gd name="connsiteY5" fmla="*/ 2780907 h 2780907"/>
              <a:gd name="connsiteX6" fmla="*/ 0 w 2384982"/>
              <a:gd name="connsiteY6" fmla="*/ 2780907 h 2780907"/>
              <a:gd name="connsiteX7" fmla="*/ 0 w 2384982"/>
              <a:gd name="connsiteY7" fmla="*/ 207389 h 2780907"/>
              <a:gd name="connsiteX8" fmla="*/ 650450 w 2384982"/>
              <a:gd name="connsiteY8" fmla="*/ 207389 h 2780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4982" h="2780907">
                <a:moveTo>
                  <a:pt x="650450" y="207389"/>
                </a:moveTo>
                <a:lnTo>
                  <a:pt x="650450" y="0"/>
                </a:lnTo>
                <a:lnTo>
                  <a:pt x="2375555" y="0"/>
                </a:lnTo>
                <a:lnTo>
                  <a:pt x="2375555" y="2724346"/>
                </a:lnTo>
                <a:lnTo>
                  <a:pt x="2375555" y="2762053"/>
                </a:lnTo>
                <a:lnTo>
                  <a:pt x="2384982" y="2780907"/>
                </a:lnTo>
                <a:lnTo>
                  <a:pt x="0" y="2780907"/>
                </a:lnTo>
                <a:lnTo>
                  <a:pt x="0" y="207389"/>
                </a:lnTo>
                <a:lnTo>
                  <a:pt x="650450" y="207389"/>
                </a:lnTo>
                <a:close/>
              </a:path>
            </a:pathLst>
          </a:cu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2106438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(6/1)</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4"/>
            <a:ext cx="6871372" cy="165109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All’interno dei moduli di simulazione esistono le istanze dei moduli da simulare (costituiscono generalmente una gerarchia). Nell’esempio a fianco, vediamo che il modulo </a:t>
            </a:r>
            <a:r>
              <a:rPr lang="it-IT" i="1" dirty="0" err="1"/>
              <a:t>fn_z</a:t>
            </a:r>
            <a:r>
              <a:rPr lang="it-IT" dirty="0"/>
              <a:t> definisce una istanza (</a:t>
            </a:r>
            <a:r>
              <a:rPr lang="it-IT" i="1" dirty="0" err="1"/>
              <a:t>device_under_test</a:t>
            </a:r>
            <a:r>
              <a:rPr lang="it-IT" dirty="0"/>
              <a:t>) che riceve gli stimoli generati dal modulo ospitante </a:t>
            </a:r>
            <a:r>
              <a:rPr lang="it-IT" i="1" dirty="0" err="1"/>
              <a:t>tf</a:t>
            </a:r>
            <a:r>
              <a:rPr lang="it-IT" dirty="0"/>
              <a:t>.</a:t>
            </a:r>
          </a:p>
          <a:p>
            <a:pPr marL="914400" lvl="1" indent="-457200">
              <a:buFont typeface="+mj-lt"/>
              <a:buAutoNum type="arabicPeriod" startAt="8"/>
            </a:pPr>
            <a:endParaRPr lang="it-IT" dirty="0"/>
          </a:p>
        </p:txBody>
      </p:sp>
      <p:sp>
        <p:nvSpPr>
          <p:cNvPr id="6" name="CasellaDiTesto 5">
            <a:extLst>
              <a:ext uri="{FF2B5EF4-FFF2-40B4-BE49-F238E27FC236}">
                <a16:creationId xmlns:a16="http://schemas.microsoft.com/office/drawing/2014/main" id="{414412D6-3AF0-3868-C73B-6C010B9E7FCE}"/>
              </a:ext>
            </a:extLst>
          </p:cNvPr>
          <p:cNvSpPr txBox="1"/>
          <p:nvPr/>
        </p:nvSpPr>
        <p:spPr>
          <a:xfrm>
            <a:off x="8012784" y="890083"/>
            <a:ext cx="3771071"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chemeClr val="bg1"/>
                </a:solidFill>
                <a:effectLst/>
                <a:highlight>
                  <a:srgbClr val="FFFF00"/>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4761719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(6/2)</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3"/>
            <a:ext cx="6871372" cy="504379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All’interno dei moduli di simulazione esistono le istanze dei moduli da simulare (costituiscono generalmente una gerarchia). Nell’esempio a fianco, vediamo che il modulo </a:t>
            </a:r>
            <a:r>
              <a:rPr lang="it-IT" i="1" dirty="0" err="1"/>
              <a:t>fn_z</a:t>
            </a:r>
            <a:r>
              <a:rPr lang="it-IT" dirty="0"/>
              <a:t> definisce una istanza (</a:t>
            </a:r>
            <a:r>
              <a:rPr lang="it-IT" i="1" dirty="0" err="1"/>
              <a:t>device_under_test</a:t>
            </a:r>
            <a:r>
              <a:rPr lang="it-IT" dirty="0"/>
              <a:t>) che riceve gli stimoli generati dal modulo ospitante </a:t>
            </a:r>
            <a:r>
              <a:rPr lang="it-IT" i="1" dirty="0" err="1"/>
              <a:t>tf</a:t>
            </a:r>
            <a:r>
              <a:rPr lang="it-IT" dirty="0"/>
              <a:t>.</a:t>
            </a:r>
          </a:p>
          <a:p>
            <a:r>
              <a:rPr lang="it-IT" dirty="0"/>
              <a:t>Esistono altri elementi fondamentali che abbiamo già incontrato. Oltre a </a:t>
            </a:r>
            <a:r>
              <a:rPr lang="it-IT" i="1" dirty="0"/>
              <a:t>reg</a:t>
            </a:r>
            <a:r>
              <a:rPr lang="it-IT" dirty="0"/>
              <a:t> vediamo la keyword </a:t>
            </a:r>
            <a:r>
              <a:rPr lang="it-IT" i="1" dirty="0" err="1"/>
              <a:t>wire</a:t>
            </a:r>
            <a:r>
              <a:rPr lang="it-IT" dirty="0"/>
              <a:t> evidenziata a lato. Entrambi gli elementi permettono l’interconnessione fra i moduli.</a:t>
            </a:r>
          </a:p>
          <a:p>
            <a:r>
              <a:rPr lang="it-IT" dirty="0"/>
              <a:t>I </a:t>
            </a:r>
            <a:r>
              <a:rPr lang="it-IT" i="1" dirty="0" err="1"/>
              <a:t>wire</a:t>
            </a:r>
            <a:r>
              <a:rPr lang="it-IT" dirty="0"/>
              <a:t> sono assimilabili a collegamenti elettrici reali. Possono essere letti o assegnati. Nessun valore viene memorizzato al loro interno. Devono essere pilotati da una istruzione </a:t>
            </a:r>
            <a:r>
              <a:rPr lang="it-IT" i="1" dirty="0" err="1"/>
              <a:t>assign</a:t>
            </a:r>
            <a:r>
              <a:rPr lang="it-IT" dirty="0"/>
              <a:t> o da una porta di un modulo.</a:t>
            </a:r>
          </a:p>
          <a:p>
            <a:r>
              <a:rPr lang="it-IT" dirty="0"/>
              <a:t>I </a:t>
            </a:r>
            <a:r>
              <a:rPr lang="it-IT" i="1" dirty="0"/>
              <a:t>reg</a:t>
            </a:r>
            <a:r>
              <a:rPr lang="it-IT" dirty="0"/>
              <a:t> rappresentano gli elementi di memoria (registri) già visti precedentemente. Mantengono il loro valore finché non gliene viene fornito uno successivo. Contrariamente al loro nome, i </a:t>
            </a:r>
            <a:r>
              <a:rPr lang="it-IT" i="1" dirty="0"/>
              <a:t>reg</a:t>
            </a:r>
            <a:r>
              <a:rPr lang="it-IT" dirty="0"/>
              <a:t> non corrispondono necessariamente a registri fisici. Possono essere sintetizzati come Flip-Flop, latch o circuiti combinatori. </a:t>
            </a:r>
          </a:p>
          <a:p>
            <a:pPr marL="914400" lvl="1" indent="-457200">
              <a:buFont typeface="+mj-lt"/>
              <a:buAutoNum type="arabicPeriod" startAt="8"/>
            </a:pPr>
            <a:endParaRPr lang="it-IT" dirty="0"/>
          </a:p>
        </p:txBody>
      </p:sp>
      <p:sp>
        <p:nvSpPr>
          <p:cNvPr id="6" name="CasellaDiTesto 5">
            <a:extLst>
              <a:ext uri="{FF2B5EF4-FFF2-40B4-BE49-F238E27FC236}">
                <a16:creationId xmlns:a16="http://schemas.microsoft.com/office/drawing/2014/main" id="{414412D6-3AF0-3868-C73B-6C010B9E7FCE}"/>
              </a:ext>
            </a:extLst>
          </p:cNvPr>
          <p:cNvSpPr txBox="1"/>
          <p:nvPr/>
        </p:nvSpPr>
        <p:spPr>
          <a:xfrm>
            <a:off x="8012784" y="890083"/>
            <a:ext cx="3771071"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chemeClr val="bg1"/>
                </a:solidFill>
                <a:effectLst/>
                <a:highlight>
                  <a:srgbClr val="FFFF00"/>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p>
          <a:p>
            <a:r>
              <a:rPr lang="it-IT" sz="1200" b="0" noProof="1">
                <a:solidFill>
                  <a:srgbClr val="CCCCCC"/>
                </a:solidFill>
                <a:effectLst/>
                <a:highlight>
                  <a:srgbClr val="1F1F1F"/>
                </a:highlight>
                <a:latin typeface="Consolas" panose="020B0609020204030204" pitchFamily="49" charset="0"/>
              </a:rPr>
              <a:t>  </a:t>
            </a:r>
            <a:r>
              <a:rPr lang="it-IT" sz="1200" b="0" noProof="1">
                <a:solidFill>
                  <a:schemeClr val="bg1"/>
                </a:solidFill>
                <a:effectLst/>
                <a:highlight>
                  <a:srgbClr val="FFFF00"/>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0041279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(7/1)</a:t>
            </a:r>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chemeClr val="bg1"/>
                </a:solidFill>
                <a:effectLst/>
                <a:highlight>
                  <a:srgbClr val="FFFF00"/>
                </a:highlight>
                <a:latin typeface="Consolas" panose="020B0609020204030204" pitchFamily="49" charset="0"/>
              </a:rPr>
              <a:t>reg a, b, c</a:t>
            </a:r>
            <a:r>
              <a:rPr lang="it-IT" sz="1200" b="0" noProof="1">
                <a:solidFill>
                  <a:schemeClr val="bg1"/>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3"/>
            <a:ext cx="6334043" cy="112147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Gli stimoli veri e propri sono costituiti da sequenze di valori assegnati ai </a:t>
            </a:r>
            <a:r>
              <a:rPr lang="it-IT" dirty="0">
                <a:solidFill>
                  <a:srgbClr val="FFFF00"/>
                </a:solidFill>
              </a:rPr>
              <a:t>registri</a:t>
            </a:r>
            <a:r>
              <a:rPr lang="it-IT" dirty="0"/>
              <a:t>.</a:t>
            </a:r>
          </a:p>
          <a:p>
            <a:endParaRPr lang="it-IT" dirty="0"/>
          </a:p>
        </p:txBody>
      </p:sp>
      <p:sp>
        <p:nvSpPr>
          <p:cNvPr id="3" name="Rettangolo 2">
            <a:extLst>
              <a:ext uri="{FF2B5EF4-FFF2-40B4-BE49-F238E27FC236}">
                <a16:creationId xmlns:a16="http://schemas.microsoft.com/office/drawing/2014/main" id="{1088452C-C0FD-7FF8-0812-A788FB6509BF}"/>
              </a:ext>
            </a:extLst>
          </p:cNvPr>
          <p:cNvSpPr/>
          <p:nvPr/>
        </p:nvSpPr>
        <p:spPr>
          <a:xfrm>
            <a:off x="8078771" y="2948459"/>
            <a:ext cx="2144324" cy="1478570"/>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Elemento grafico 9">
            <a:extLst>
              <a:ext uri="{FF2B5EF4-FFF2-40B4-BE49-F238E27FC236}">
                <a16:creationId xmlns:a16="http://schemas.microsoft.com/office/drawing/2014/main" id="{EA2D3F76-8000-5D4B-9B33-A2095597C5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00750" y="2701580"/>
            <a:ext cx="913394" cy="1714945"/>
          </a:xfrm>
          <a:prstGeom prst="rect">
            <a:avLst/>
          </a:prstGeom>
        </p:spPr>
      </p:pic>
      <p:sp>
        <p:nvSpPr>
          <p:cNvPr id="12" name="Freccia a sinistra 11">
            <a:extLst>
              <a:ext uri="{FF2B5EF4-FFF2-40B4-BE49-F238E27FC236}">
                <a16:creationId xmlns:a16="http://schemas.microsoft.com/office/drawing/2014/main" id="{F658CBF1-F864-066E-EFBC-D75379A38C53}"/>
              </a:ext>
            </a:extLst>
          </p:cNvPr>
          <p:cNvSpPr/>
          <p:nvPr/>
        </p:nvSpPr>
        <p:spPr>
          <a:xfrm>
            <a:off x="10270801" y="3531312"/>
            <a:ext cx="379379" cy="30840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640819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(7/2)</a:t>
            </a:r>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chemeClr val="bg1"/>
                </a:solidFill>
                <a:effectLst/>
                <a:highlight>
                  <a:srgbClr val="FFFF00"/>
                </a:highlight>
                <a:latin typeface="Consolas" panose="020B0609020204030204" pitchFamily="49" charset="0"/>
              </a:rPr>
              <a:t>`timescale 10ns/100ps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4"/>
            <a:ext cx="6334043" cy="306159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Gli stimoli veri e propri sono costituiti da sequenze di valori assegnati ai registri.</a:t>
            </a:r>
          </a:p>
          <a:p>
            <a:r>
              <a:rPr lang="it-IT" dirty="0"/>
              <a:t>I "test </a:t>
            </a:r>
            <a:r>
              <a:rPr lang="it-IT" dirty="0" err="1"/>
              <a:t>bench</a:t>
            </a:r>
            <a:r>
              <a:rPr lang="it-IT" dirty="0"/>
              <a:t>" di </a:t>
            </a:r>
            <a:r>
              <a:rPr lang="it-IT" dirty="0" err="1"/>
              <a:t>Verilog</a:t>
            </a:r>
            <a:r>
              <a:rPr lang="it-IT" dirty="0"/>
              <a:t> dovrebbero includere una direttiva </a:t>
            </a:r>
            <a:r>
              <a:rPr lang="it-IT" dirty="0">
                <a:solidFill>
                  <a:srgbClr val="FFFF00"/>
                </a:solidFill>
              </a:rPr>
              <a:t>`</a:t>
            </a:r>
            <a:r>
              <a:rPr lang="it-IT" dirty="0" err="1">
                <a:solidFill>
                  <a:srgbClr val="FFFF00"/>
                </a:solidFill>
              </a:rPr>
              <a:t>timescale</a:t>
            </a:r>
            <a:r>
              <a:rPr lang="it-IT" dirty="0"/>
              <a:t>. Il primo valore definisce l'unità di tempo predefinita e il secondo la risoluzione della simulazione. In questo esempio, l'unità di tempo predefinita è 10 ns e la risoluzione della simulazione è 100 </a:t>
            </a:r>
            <a:r>
              <a:rPr lang="it-IT" dirty="0" err="1"/>
              <a:t>ps</a:t>
            </a:r>
            <a:r>
              <a:rPr lang="it-IT" dirty="0"/>
              <a:t>. </a:t>
            </a:r>
          </a:p>
          <a:p>
            <a:pPr marL="0" indent="0">
              <a:buNone/>
            </a:pPr>
            <a:endParaRPr lang="it-IT" dirty="0"/>
          </a:p>
        </p:txBody>
      </p:sp>
    </p:spTree>
    <p:extLst>
      <p:ext uri="{BB962C8B-B14F-4D97-AF65-F5344CB8AC3E}">
        <p14:creationId xmlns:p14="http://schemas.microsoft.com/office/powerpoint/2010/main" val="23070357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it-IT" dirty="0"/>
              <a:t>TUTORIAL </a:t>
            </a:r>
            <a:r>
              <a:rPr lang="it-IT" dirty="0" err="1"/>
              <a:t>INTRODUTTIVo</a:t>
            </a:r>
            <a:r>
              <a:rPr lang="it-IT" dirty="0"/>
              <a:t> (7/3)</a:t>
            </a:r>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it-IT" sz="1200" b="0" noProof="1">
                <a:solidFill>
                  <a:srgbClr val="6A9955"/>
                </a:solidFill>
                <a:effectLst/>
                <a:highlight>
                  <a:srgbClr val="1F1F1F"/>
                </a:highlight>
                <a:latin typeface="Consolas" panose="020B0609020204030204" pitchFamily="49" charset="0"/>
              </a:rPr>
              <a:t>// File assign_sim.v</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`timescale</a:t>
            </a:r>
            <a:r>
              <a:rPr lang="it-IT" sz="1200" b="0" noProof="1">
                <a:solidFill>
                  <a:srgbClr val="CCCCCC"/>
                </a:solidFill>
                <a:effectLst/>
                <a:highlight>
                  <a:srgbClr val="1F1F1F"/>
                </a:highlight>
                <a:latin typeface="Consolas" panose="020B0609020204030204" pitchFamily="49" charset="0"/>
              </a:rPr>
              <a:t> 10ns</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100ps</a:t>
            </a:r>
          </a:p>
          <a:p>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tf</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reg</a:t>
            </a:r>
            <a:r>
              <a:rPr lang="it-IT" sz="1200" b="0" noProof="1">
                <a:solidFill>
                  <a:srgbClr val="CCCCCC"/>
                </a:solidFill>
                <a:effectLst/>
                <a:highlight>
                  <a:srgbClr val="1F1F1F"/>
                </a:highlight>
                <a:latin typeface="Consolas" panose="020B0609020204030204" pitchFamily="49" charset="0"/>
              </a:rPr>
              <a:t> a, b, c;</a:t>
            </a:r>
            <a:r>
              <a:rPr lang="it-IT" sz="1200" b="0" noProof="1">
                <a:solidFill>
                  <a:schemeClr val="bg1"/>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wire</a:t>
            </a:r>
            <a:r>
              <a:rPr lang="it-IT" sz="1200" b="0" noProof="1">
                <a:solidFill>
                  <a:srgbClr val="CCCCCC"/>
                </a:solidFill>
                <a:effectLst/>
                <a:highlight>
                  <a:srgbClr val="1F1F1F"/>
                </a:highlight>
                <a:latin typeface="Consolas" panose="020B0609020204030204" pitchFamily="49" charset="0"/>
              </a:rPr>
              <a:t> z;</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initial</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begin</a:t>
            </a:r>
            <a:endParaRPr lang="it-IT" sz="1200" b="0" noProof="1">
              <a:solidFill>
                <a:srgbClr val="CCCCCC"/>
              </a:solidFill>
              <a:effectLst/>
              <a:highlight>
                <a:srgbClr val="1F1F1F"/>
              </a:highlight>
              <a:latin typeface="Consolas" panose="020B0609020204030204" pitchFamily="49" charset="0"/>
            </a:endParaRPr>
          </a:p>
          <a:p>
            <a:r>
              <a:rPr lang="it-IT" sz="1200" b="0" noProof="1">
                <a:solidFill>
                  <a:srgbClr val="CCCCCC"/>
                </a:solidFill>
                <a:effectLst/>
                <a:highlight>
                  <a:srgbClr val="1F1F1F"/>
                </a:highlight>
                <a:latin typeface="Consolas" panose="020B0609020204030204" pitchFamily="49" charset="0"/>
              </a:rPr>
              <a:t>    $monitor( a, b, c,, z );</a:t>
            </a:r>
          </a:p>
          <a:p>
            <a:r>
              <a:rPr lang="it-IT" sz="1200" b="0" noProof="1">
                <a:solidFill>
                  <a:srgbClr val="DCDCAA"/>
                </a:solidFill>
                <a:effectLst/>
                <a:highlight>
                  <a:srgbClr val="1F1F1F"/>
                </a:highlight>
                <a:latin typeface="Consolas" panose="020B0609020204030204" pitchFamily="49" charset="0"/>
              </a:rPr>
              <a:t>    $dumpvars</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tf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0</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B5CEA8"/>
                </a:solidFill>
                <a:effectLst/>
                <a:highlight>
                  <a:srgbClr val="1F1F1F"/>
                </a:highlight>
                <a:latin typeface="Consolas" panose="020B0609020204030204" pitchFamily="49" charset="0"/>
              </a:rPr>
              <a:t>#10</a:t>
            </a:r>
            <a:r>
              <a:rPr lang="it-IT" sz="1200" b="0" noProof="1">
                <a:solidFill>
                  <a:srgbClr val="CCCCCC"/>
                </a:solidFill>
                <a:effectLst/>
                <a:highlight>
                  <a:srgbClr val="1F1F1F"/>
                </a:highlight>
                <a:latin typeface="Consolas" panose="020B0609020204030204" pitchFamily="49" charset="0"/>
              </a:rPr>
              <a:t>        </a:t>
            </a: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DCDCAA"/>
                </a:solidFill>
                <a:effectLst/>
                <a:highlight>
                  <a:srgbClr val="1F1F1F"/>
                </a:highlight>
                <a:latin typeface="Consolas" panose="020B0609020204030204" pitchFamily="49" charset="0"/>
              </a:rPr>
              <a:t>$finish</a:t>
            </a:r>
            <a:r>
              <a:rPr lang="it-IT" sz="1200" b="0" noProof="1">
                <a:solidFill>
                  <a:srgbClr val="CCCCCC"/>
                </a:solidFill>
                <a:effectLst/>
                <a:highlight>
                  <a:srgbClr val="1F1F1F"/>
                </a:highlight>
                <a:latin typeface="Consolas" panose="020B0609020204030204" pitchFamily="49" charset="0"/>
              </a:rPr>
              <a:t>;</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end</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device_under_test</a:t>
            </a:r>
            <a:r>
              <a:rPr lang="it-IT" sz="1200" b="0" noProof="1">
                <a:solidFill>
                  <a:srgbClr val="CCCCCC"/>
                </a:solidFill>
                <a:effectLst/>
                <a:highlight>
                  <a:srgbClr val="1F1F1F"/>
                </a:highlight>
                <a:latin typeface="Consolas" panose="020B0609020204030204" pitchFamily="49" charset="0"/>
              </a:rPr>
              <a:t>( a, b, c, z );</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a:p>
            <a:br>
              <a:rPr lang="it-IT" sz="1200" b="0" noProof="1">
                <a:solidFill>
                  <a:srgbClr val="CCCCCC"/>
                </a:solidFill>
                <a:effectLst/>
                <a:highlight>
                  <a:srgbClr val="1F1F1F"/>
                </a:highlight>
                <a:latin typeface="Consolas" panose="020B0609020204030204" pitchFamily="49" charset="0"/>
              </a:rPr>
            </a:br>
            <a:r>
              <a:rPr lang="it-IT" sz="1200" b="0" noProof="1">
                <a:solidFill>
                  <a:srgbClr val="569CD6"/>
                </a:solidFill>
                <a:effectLst/>
                <a:highlight>
                  <a:srgbClr val="1F1F1F"/>
                </a:highlight>
                <a:latin typeface="Consolas" panose="020B0609020204030204" pitchFamily="49" charset="0"/>
              </a:rPr>
              <a:t>module</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4EC9B0"/>
                </a:solidFill>
                <a:effectLst/>
                <a:highlight>
                  <a:srgbClr val="1F1F1F"/>
                </a:highlight>
                <a:latin typeface="Consolas" panose="020B0609020204030204" pitchFamily="49" charset="0"/>
              </a:rPr>
              <a:t>fn_z</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input</a:t>
            </a:r>
            <a:r>
              <a:rPr lang="it-IT" sz="1200" b="0" noProof="1">
                <a:solidFill>
                  <a:srgbClr val="CCCCCC"/>
                </a:solidFill>
                <a:effectLst/>
                <a:highlight>
                  <a:srgbClr val="1F1F1F"/>
                </a:highlight>
                <a:latin typeface="Consolas" panose="020B0609020204030204" pitchFamily="49" charset="0"/>
              </a:rPr>
              <a:t> a, b, c, </a:t>
            </a:r>
            <a:r>
              <a:rPr lang="it-IT" sz="1200" b="0" noProof="1">
                <a:solidFill>
                  <a:srgbClr val="569CD6"/>
                </a:solidFill>
                <a:effectLst/>
                <a:highlight>
                  <a:srgbClr val="1F1F1F"/>
                </a:highlight>
                <a:latin typeface="Consolas" panose="020B0609020204030204" pitchFamily="49" charset="0"/>
              </a:rPr>
              <a:t>output</a:t>
            </a:r>
            <a:r>
              <a:rPr lang="it-IT" sz="1200" b="0" noProof="1">
                <a:solidFill>
                  <a:srgbClr val="CCCCCC"/>
                </a:solidFill>
                <a:effectLst/>
                <a:highlight>
                  <a:srgbClr val="1F1F1F"/>
                </a:highlight>
                <a:latin typeface="Consolas" panose="020B0609020204030204" pitchFamily="49" charset="0"/>
              </a:rPr>
              <a:t> z );</a:t>
            </a:r>
          </a:p>
          <a:p>
            <a:r>
              <a:rPr lang="it-IT" sz="1200" b="0" noProof="1">
                <a:solidFill>
                  <a:srgbClr val="CCCCCC"/>
                </a:solidFill>
                <a:effectLst/>
                <a:highlight>
                  <a:srgbClr val="1F1F1F"/>
                </a:highlight>
                <a:latin typeface="Consolas" panose="020B0609020204030204" pitchFamily="49" charset="0"/>
              </a:rPr>
              <a:t>  </a:t>
            </a:r>
            <a:r>
              <a:rPr lang="it-IT" sz="1200" b="0" noProof="1">
                <a:solidFill>
                  <a:srgbClr val="569CD6"/>
                </a:solidFill>
                <a:effectLst/>
                <a:highlight>
                  <a:srgbClr val="1F1F1F"/>
                </a:highlight>
                <a:latin typeface="Consolas" panose="020B0609020204030204" pitchFamily="49" charset="0"/>
              </a:rPr>
              <a:t>assign</a:t>
            </a:r>
            <a:r>
              <a:rPr lang="it-IT" sz="1200" b="0" noProof="1">
                <a:solidFill>
                  <a:srgbClr val="CCCCCC"/>
                </a:solidFill>
                <a:effectLst/>
                <a:highlight>
                  <a:srgbClr val="1F1F1F"/>
                </a:highlight>
                <a:latin typeface="Consolas" panose="020B0609020204030204" pitchFamily="49" charset="0"/>
              </a:rPr>
              <a:t> z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c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a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t>
            </a:r>
            <a:r>
              <a:rPr lang="it-IT" sz="1200" b="0" noProof="1">
                <a:solidFill>
                  <a:srgbClr val="CCCCCC"/>
                </a:solidFill>
                <a:effectLst/>
                <a:highlight>
                  <a:srgbClr val="1F1F1F"/>
                </a:highlight>
                <a:latin typeface="Consolas" panose="020B0609020204030204" pitchFamily="49" charset="0"/>
              </a:rPr>
              <a:t> b </a:t>
            </a:r>
            <a:r>
              <a:rPr lang="it-IT" sz="1200" b="0" noProof="1">
                <a:solidFill>
                  <a:srgbClr val="D4D4D4"/>
                </a:solidFill>
                <a:effectLst/>
                <a:highlight>
                  <a:srgbClr val="1F1F1F"/>
                </a:highlight>
                <a:latin typeface="Consolas" panose="020B0609020204030204" pitchFamily="49" charset="0"/>
              </a:rPr>
              <a:t>&amp;</a:t>
            </a:r>
            <a:r>
              <a:rPr lang="it-IT" sz="1200" b="0" noProof="1">
                <a:solidFill>
                  <a:srgbClr val="CCCCCC"/>
                </a:solidFill>
                <a:effectLst/>
                <a:highlight>
                  <a:srgbClr val="1F1F1F"/>
                </a:highlight>
                <a:latin typeface="Consolas" panose="020B0609020204030204" pitchFamily="49" charset="0"/>
              </a:rPr>
              <a:t> c;</a:t>
            </a:r>
          </a:p>
          <a:p>
            <a:r>
              <a:rPr lang="it-IT" sz="1200" b="0" noProof="1">
                <a:solidFill>
                  <a:srgbClr val="569CD6"/>
                </a:solidFill>
                <a:effectLst/>
                <a:highlight>
                  <a:srgbClr val="1F1F1F"/>
                </a:highlight>
                <a:latin typeface="Consolas" panose="020B0609020204030204" pitchFamily="49" charset="0"/>
              </a:rPr>
              <a:t>endmodule</a:t>
            </a:r>
            <a:endParaRPr lang="it-IT"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3"/>
            <a:ext cx="6334043" cy="504379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Gli stimoli veri e propri sono costituiti da sequenze di valori assegnati ai </a:t>
            </a:r>
            <a:r>
              <a:rPr lang="it-IT" dirty="0">
                <a:solidFill>
                  <a:schemeClr val="tx1">
                    <a:lumMod val="95000"/>
                  </a:schemeClr>
                </a:solidFill>
              </a:rPr>
              <a:t>registri</a:t>
            </a:r>
            <a:r>
              <a:rPr lang="it-IT" dirty="0"/>
              <a:t>.</a:t>
            </a:r>
          </a:p>
          <a:p>
            <a:r>
              <a:rPr lang="it-IT" dirty="0"/>
              <a:t>I "test </a:t>
            </a:r>
            <a:r>
              <a:rPr lang="it-IT" dirty="0" err="1"/>
              <a:t>bench</a:t>
            </a:r>
            <a:r>
              <a:rPr lang="it-IT" dirty="0"/>
              <a:t>" di </a:t>
            </a:r>
            <a:r>
              <a:rPr lang="it-IT" dirty="0" err="1"/>
              <a:t>Verilog</a:t>
            </a:r>
            <a:r>
              <a:rPr lang="it-IT" dirty="0"/>
              <a:t> dovrebbero includere una direttiva `</a:t>
            </a:r>
            <a:r>
              <a:rPr lang="it-IT" dirty="0" err="1"/>
              <a:t>timescale</a:t>
            </a:r>
            <a:r>
              <a:rPr lang="it-IT" dirty="0"/>
              <a:t>. Il primo valore definisce l'unità di tempo predefinita e il secondo la risoluzione della simulazione. In questo esempio, l'unità di tempo predefinita è 10 ns e la risoluzione della simulazione è 100 </a:t>
            </a:r>
            <a:r>
              <a:rPr lang="it-IT" dirty="0" err="1"/>
              <a:t>ps</a:t>
            </a:r>
            <a:r>
              <a:rPr lang="it-IT" dirty="0"/>
              <a:t>. </a:t>
            </a:r>
          </a:p>
          <a:p>
            <a:r>
              <a:rPr lang="it-IT" dirty="0"/>
              <a:t>Dopo ogni assegnamento ai registri </a:t>
            </a:r>
            <a:r>
              <a:rPr lang="it-IT" i="1" dirty="0"/>
              <a:t>a</a:t>
            </a:r>
            <a:r>
              <a:rPr lang="it-IT" dirty="0"/>
              <a:t>, </a:t>
            </a:r>
            <a:r>
              <a:rPr lang="it-IT" i="1" dirty="0"/>
              <a:t>b</a:t>
            </a:r>
            <a:r>
              <a:rPr lang="it-IT" dirty="0"/>
              <a:t>, e </a:t>
            </a:r>
            <a:r>
              <a:rPr lang="it-IT" i="1" dirty="0"/>
              <a:t>c</a:t>
            </a:r>
            <a:r>
              <a:rPr lang="it-IT" dirty="0"/>
              <a:t>, è presente l’operatore #. Nel nostro caso, # interrompe l’elaborazione per periodo di tempo calcolato moltiplicando l’unità di tempo definita dalla direttiva </a:t>
            </a:r>
            <a:r>
              <a:rPr lang="it-IT" i="1" dirty="0" err="1"/>
              <a:t>timescale</a:t>
            </a:r>
            <a:r>
              <a:rPr lang="it-IT" dirty="0"/>
              <a:t> per il valore che segue l’operatore stesso. Un ritardo di #10 risulterà in un passo di 100 ns. </a:t>
            </a:r>
          </a:p>
          <a:p>
            <a:endParaRPr lang="it-IT" dirty="0"/>
          </a:p>
        </p:txBody>
      </p:sp>
      <p:sp>
        <p:nvSpPr>
          <p:cNvPr id="4" name="Rettangolo 3">
            <a:extLst>
              <a:ext uri="{FF2B5EF4-FFF2-40B4-BE49-F238E27FC236}">
                <a16:creationId xmlns:a16="http://schemas.microsoft.com/office/drawing/2014/main" id="{B27E897E-F1B4-E6D7-48B0-F687B5788967}"/>
              </a:ext>
            </a:extLst>
          </p:cNvPr>
          <p:cNvSpPr/>
          <p:nvPr/>
        </p:nvSpPr>
        <p:spPr>
          <a:xfrm>
            <a:off x="9827811" y="2948459"/>
            <a:ext cx="395283" cy="1478570"/>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72691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wire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(8/1)</a:t>
            </a:r>
          </a:p>
        </p:txBody>
      </p:sp>
      <p:sp>
        <p:nvSpPr>
          <p:cNvPr id="6" name="Segnaposto contenuto 2">
            <a:extLst>
              <a:ext uri="{FF2B5EF4-FFF2-40B4-BE49-F238E27FC236}">
                <a16:creationId xmlns:a16="http://schemas.microsoft.com/office/drawing/2014/main" id="{645856B2-D6A9-5B0C-3180-52D462316864}"/>
              </a:ext>
            </a:extLst>
          </p:cNvPr>
          <p:cNvSpPr>
            <a:spLocks noGrp="1"/>
          </p:cNvSpPr>
          <p:nvPr>
            <p:ph idx="1"/>
          </p:nvPr>
        </p:nvSpPr>
        <p:spPr>
          <a:xfrm>
            <a:off x="1141411" y="1336917"/>
            <a:ext cx="6547499" cy="1208320"/>
          </a:xfrm>
        </p:spPr>
        <p:txBody>
          <a:bodyPr>
            <a:normAutofit fontScale="85000" lnSpcReduction="10000"/>
          </a:bodyPr>
          <a:lstStyle/>
          <a:p>
            <a:r>
              <a:rPr lang="it-IT" dirty="0" err="1"/>
              <a:t>Verilog</a:t>
            </a:r>
            <a:r>
              <a:rPr lang="it-IT" dirty="0"/>
              <a:t> dispone di net e variabili di tipo scalare e vettoriale.</a:t>
            </a:r>
          </a:p>
          <a:p>
            <a:pPr lvl="1">
              <a:buFont typeface="Tw Cen MT" panose="020B0602020104020603" pitchFamily="34" charset="0"/>
              <a:buChar char="–"/>
            </a:pPr>
            <a:r>
              <a:rPr lang="it-IT" dirty="0"/>
              <a:t>Una dichiarazione </a:t>
            </a:r>
            <a:r>
              <a:rPr lang="it-IT" u="sng" dirty="0"/>
              <a:t>senza specificare un cosiddetto «intervallo»</a:t>
            </a:r>
            <a:r>
              <a:rPr lang="it-IT" dirty="0"/>
              <a:t> </a:t>
            </a:r>
            <a:br>
              <a:rPr lang="it-IT" dirty="0"/>
            </a:br>
            <a:r>
              <a:rPr lang="it-IT" dirty="0"/>
              <a:t>è considerata larga un bit ed è uno scalare.</a:t>
            </a:r>
          </a:p>
        </p:txBody>
      </p:sp>
    </p:spTree>
    <p:extLst>
      <p:ext uri="{BB962C8B-B14F-4D97-AF65-F5344CB8AC3E}">
        <p14:creationId xmlns:p14="http://schemas.microsoft.com/office/powerpoint/2010/main" val="7410519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336916"/>
            <a:ext cx="6547499" cy="2678493"/>
          </a:xfrm>
        </p:spPr>
        <p:txBody>
          <a:bodyPr>
            <a:normAutofit fontScale="85000" lnSpcReduction="10000"/>
          </a:bodyPr>
          <a:lstStyle/>
          <a:p>
            <a:r>
              <a:rPr lang="it-IT" dirty="0" err="1"/>
              <a:t>Verilog</a:t>
            </a:r>
            <a:r>
              <a:rPr lang="it-IT" dirty="0"/>
              <a:t> dispone di net e variabili di tipo scalare e vettoriale.</a:t>
            </a:r>
          </a:p>
          <a:p>
            <a:pPr lvl="1">
              <a:buFont typeface="Tw Cen MT" panose="020B0602020104020603" pitchFamily="34" charset="0"/>
              <a:buChar char="–"/>
            </a:pPr>
            <a:r>
              <a:rPr lang="it-IT" dirty="0"/>
              <a:t>Una dichiarazione </a:t>
            </a:r>
            <a:r>
              <a:rPr lang="it-IT" u="sng" dirty="0"/>
              <a:t>senza specificare un cosiddetto «intervallo»</a:t>
            </a:r>
            <a:r>
              <a:rPr lang="it-IT" dirty="0"/>
              <a:t> </a:t>
            </a:r>
            <a:br>
              <a:rPr lang="it-IT" dirty="0"/>
            </a:br>
            <a:r>
              <a:rPr lang="it-IT" dirty="0"/>
              <a:t>è considerata larga un bit ed è uno scalare.</a:t>
            </a:r>
          </a:p>
          <a:p>
            <a:pPr lvl="1">
              <a:buFont typeface="Tw Cen MT" panose="020B0602020104020603" pitchFamily="34" charset="0"/>
              <a:buChar char="–"/>
            </a:pPr>
            <a:r>
              <a:rPr lang="it-IT" dirty="0"/>
              <a:t>Se in una dichiarazione </a:t>
            </a:r>
            <a:r>
              <a:rPr lang="it-IT" u="sng" dirty="0"/>
              <a:t>viene specificato un intervallo</a:t>
            </a:r>
            <a:r>
              <a:rPr lang="it-IT" dirty="0"/>
              <a:t>, avremo un'entità a più bit nota anche come «vettore». La sintassi per definire un intervallo (e quindi un vettore) è la seguente:</a:t>
            </a:r>
          </a:p>
          <a:p>
            <a:pPr marL="457200" lvl="1" indent="0">
              <a:buNone/>
            </a:pPr>
            <a:r>
              <a:rPr lang="en-US" dirty="0">
                <a:solidFill>
                  <a:srgbClr val="FFFF00"/>
                </a:solidFill>
              </a:rPr>
              <a:t>    [MSB bit index : LSB bit index]</a:t>
            </a:r>
            <a:endParaRPr lang="it-IT" dirty="0">
              <a:solidFill>
                <a:srgbClr val="FFFF00"/>
              </a:solidFill>
            </a:endParaRPr>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reg [2:0]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(8/2)</a:t>
            </a:r>
          </a:p>
        </p:txBody>
      </p:sp>
    </p:spTree>
    <p:extLst>
      <p:ext uri="{BB962C8B-B14F-4D97-AF65-F5344CB8AC3E}">
        <p14:creationId xmlns:p14="http://schemas.microsoft.com/office/powerpoint/2010/main" val="7243845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336915"/>
            <a:ext cx="6547499" cy="5170645"/>
          </a:xfrm>
        </p:spPr>
        <p:txBody>
          <a:bodyPr>
            <a:normAutofit fontScale="85000" lnSpcReduction="10000"/>
          </a:bodyPr>
          <a:lstStyle/>
          <a:p>
            <a:r>
              <a:rPr lang="it-IT" dirty="0" err="1"/>
              <a:t>Verilog</a:t>
            </a:r>
            <a:r>
              <a:rPr lang="it-IT" dirty="0"/>
              <a:t> dispone di net e variabili di tipo scalare e vettoriale.</a:t>
            </a:r>
          </a:p>
          <a:p>
            <a:pPr lvl="1">
              <a:buFont typeface="Tw Cen MT" panose="020B0602020104020603" pitchFamily="34" charset="0"/>
              <a:buChar char="–"/>
            </a:pPr>
            <a:r>
              <a:rPr lang="it-IT" dirty="0"/>
              <a:t>Una dichiarazione </a:t>
            </a:r>
            <a:r>
              <a:rPr lang="it-IT" u="sng" dirty="0"/>
              <a:t>senza specificare un cosiddetto «intervallo»</a:t>
            </a:r>
            <a:r>
              <a:rPr lang="it-IT" dirty="0"/>
              <a:t> </a:t>
            </a:r>
            <a:br>
              <a:rPr lang="it-IT" dirty="0"/>
            </a:br>
            <a:r>
              <a:rPr lang="it-IT" dirty="0"/>
              <a:t>è considerata larga un bit ed è uno scalare.</a:t>
            </a:r>
          </a:p>
          <a:p>
            <a:pPr lvl="1">
              <a:buFont typeface="Tw Cen MT" panose="020B0602020104020603" pitchFamily="34" charset="0"/>
              <a:buChar char="–"/>
            </a:pPr>
            <a:r>
              <a:rPr lang="it-IT" dirty="0"/>
              <a:t>Se in una dichiarazione </a:t>
            </a:r>
            <a:r>
              <a:rPr lang="it-IT" u="sng" dirty="0"/>
              <a:t>viene specificato un intervallo</a:t>
            </a:r>
            <a:r>
              <a:rPr lang="it-IT" dirty="0"/>
              <a:t>, avremo un'entità a più bit nota anche come «vettore». La sintassi per definire un intervallo (e quindi un vettore) è la seguente:</a:t>
            </a:r>
          </a:p>
          <a:p>
            <a:pPr marL="457200" lvl="1" indent="0">
              <a:buNone/>
            </a:pPr>
            <a:r>
              <a:rPr lang="en-US" dirty="0">
                <a:solidFill>
                  <a:srgbClr val="FFFF00"/>
                </a:solidFill>
              </a:rPr>
              <a:t>    </a:t>
            </a:r>
            <a:r>
              <a:rPr lang="en-US" dirty="0"/>
              <a:t>[MSB bit index : LSB bit index]</a:t>
            </a:r>
            <a:endParaRPr lang="it-IT" dirty="0"/>
          </a:p>
          <a:p>
            <a:r>
              <a:rPr lang="it-IT" dirty="0"/>
              <a:t>In </a:t>
            </a:r>
            <a:r>
              <a:rPr lang="it-IT" dirty="0" err="1"/>
              <a:t>verilog</a:t>
            </a:r>
            <a:r>
              <a:rPr lang="it-IT" dirty="0"/>
              <a:t> per specificare i valori si usa la seguente sintassi:</a:t>
            </a:r>
          </a:p>
          <a:p>
            <a:pPr marL="457200" lvl="1" indent="0">
              <a:buNone/>
            </a:pPr>
            <a:r>
              <a:rPr lang="en-US" dirty="0">
                <a:solidFill>
                  <a:srgbClr val="FFFF00"/>
                </a:solidFill>
              </a:rPr>
              <a:t>[</a:t>
            </a:r>
            <a:r>
              <a:rPr lang="en-US" i="1" dirty="0">
                <a:solidFill>
                  <a:srgbClr val="FFFF00"/>
                </a:solidFill>
              </a:rPr>
              <a:t>width</a:t>
            </a:r>
            <a:r>
              <a:rPr lang="en-US" dirty="0">
                <a:solidFill>
                  <a:srgbClr val="FFFF00"/>
                </a:solidFill>
              </a:rPr>
              <a:t>]’[</a:t>
            </a:r>
            <a:r>
              <a:rPr lang="en-US" i="1" dirty="0">
                <a:solidFill>
                  <a:srgbClr val="FFFF00"/>
                </a:solidFill>
              </a:rPr>
              <a:t>radix</a:t>
            </a:r>
            <a:r>
              <a:rPr lang="en-US" dirty="0">
                <a:solidFill>
                  <a:srgbClr val="FFFF00"/>
                </a:solidFill>
              </a:rPr>
              <a:t>][</a:t>
            </a:r>
            <a:r>
              <a:rPr lang="en-US" i="1" dirty="0">
                <a:solidFill>
                  <a:srgbClr val="FFFF00"/>
                </a:solidFill>
              </a:rPr>
              <a:t>literal</a:t>
            </a:r>
            <a:r>
              <a:rPr lang="en-US" dirty="0">
                <a:solidFill>
                  <a:srgbClr val="FFFF00"/>
                </a:solidFill>
              </a:rPr>
              <a:t>]</a:t>
            </a:r>
          </a:p>
          <a:p>
            <a:pPr marL="457200" lvl="1" indent="0">
              <a:buNone/>
            </a:pPr>
            <a:r>
              <a:rPr lang="en-US" i="1" dirty="0"/>
              <a:t>width:</a:t>
            </a:r>
            <a:r>
              <a:rPr lang="en-US" dirty="0"/>
              <a:t> </a:t>
            </a:r>
            <a:r>
              <a:rPr lang="en-US" dirty="0" err="1"/>
              <a:t>dichiara</a:t>
            </a:r>
            <a:r>
              <a:rPr lang="en-US" dirty="0"/>
              <a:t> </a:t>
            </a:r>
            <a:r>
              <a:rPr lang="en-US" dirty="0" err="1"/>
              <a:t>l’ampiezza</a:t>
            </a:r>
            <a:r>
              <a:rPr lang="en-US" dirty="0"/>
              <a:t> del </a:t>
            </a:r>
            <a:r>
              <a:rPr lang="en-US" dirty="0" err="1"/>
              <a:t>valore</a:t>
            </a:r>
            <a:r>
              <a:rPr lang="en-US" dirty="0"/>
              <a:t> in bit;</a:t>
            </a:r>
          </a:p>
          <a:p>
            <a:pPr marL="457200" lvl="1" indent="0">
              <a:buNone/>
            </a:pPr>
            <a:r>
              <a:rPr lang="en-US" i="1" dirty="0"/>
              <a:t>literal:</a:t>
            </a:r>
            <a:r>
              <a:rPr lang="en-US" dirty="0"/>
              <a:t> </a:t>
            </a:r>
            <a:r>
              <a:rPr lang="en-US" dirty="0" err="1"/>
              <a:t>rappresenta</a:t>
            </a:r>
            <a:r>
              <a:rPr lang="en-US" dirty="0"/>
              <a:t> il </a:t>
            </a:r>
            <a:r>
              <a:rPr lang="en-US" dirty="0" err="1"/>
              <a:t>valore</a:t>
            </a:r>
            <a:r>
              <a:rPr lang="en-US" dirty="0"/>
              <a:t> </a:t>
            </a:r>
            <a:r>
              <a:rPr lang="en-US" dirty="0" err="1"/>
              <a:t>vero</a:t>
            </a:r>
            <a:r>
              <a:rPr lang="en-US" dirty="0"/>
              <a:t> e proprio</a:t>
            </a:r>
          </a:p>
          <a:p>
            <a:pPr marL="457200" lvl="1" indent="0">
              <a:buNone/>
            </a:pPr>
            <a:r>
              <a:rPr lang="it-IT" i="1" dirty="0" err="1"/>
              <a:t>radix</a:t>
            </a:r>
            <a:r>
              <a:rPr lang="it-IT" i="1" dirty="0"/>
              <a:t>: </a:t>
            </a:r>
            <a:r>
              <a:rPr lang="it-IT" dirty="0"/>
              <a:t>specifica la natura del valore espresso da </a:t>
            </a:r>
            <a:r>
              <a:rPr lang="it-IT" i="1" dirty="0" err="1"/>
              <a:t>literal</a:t>
            </a:r>
            <a:r>
              <a:rPr lang="it-IT" dirty="0"/>
              <a:t> e può essere: </a:t>
            </a:r>
            <a:r>
              <a:rPr lang="it-IT" i="1" dirty="0"/>
              <a:t>d</a:t>
            </a:r>
            <a:r>
              <a:rPr lang="it-IT" dirty="0"/>
              <a:t> (decimale), </a:t>
            </a:r>
            <a:r>
              <a:rPr lang="it-IT" i="1" dirty="0"/>
              <a:t>h</a:t>
            </a:r>
            <a:r>
              <a:rPr lang="it-IT" dirty="0"/>
              <a:t> (esadecimale), </a:t>
            </a:r>
            <a:r>
              <a:rPr lang="it-IT" i="1" dirty="0"/>
              <a:t>o</a:t>
            </a:r>
            <a:r>
              <a:rPr lang="it-IT" dirty="0"/>
              <a:t> (ottale), </a:t>
            </a:r>
            <a:r>
              <a:rPr lang="it-IT" i="1" dirty="0"/>
              <a:t>b</a:t>
            </a:r>
            <a:r>
              <a:rPr lang="it-IT" dirty="0"/>
              <a:t> (binario).</a:t>
            </a:r>
            <a:endParaRPr lang="en-US" dirty="0"/>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(8/3)</a:t>
            </a:r>
          </a:p>
        </p:txBody>
      </p:sp>
      <p:sp>
        <p:nvSpPr>
          <p:cNvPr id="2" name="Rettangolo 1">
            <a:extLst>
              <a:ext uri="{FF2B5EF4-FFF2-40B4-BE49-F238E27FC236}">
                <a16:creationId xmlns:a16="http://schemas.microsoft.com/office/drawing/2014/main" id="{646ACF9F-6655-EF5F-2C70-1814ADAE7117}"/>
              </a:ext>
            </a:extLst>
          </p:cNvPr>
          <p:cNvSpPr/>
          <p:nvPr/>
        </p:nvSpPr>
        <p:spPr>
          <a:xfrm>
            <a:off x="8428383" y="3196424"/>
            <a:ext cx="612250" cy="1407381"/>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5688973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388474" cy="5170645"/>
          </a:xfrm>
        </p:spPr>
        <p:txBody>
          <a:bodyPr>
            <a:normAutofit/>
          </a:bodyPr>
          <a:lstStyle/>
          <a:p>
            <a:r>
              <a:rPr lang="en-US" dirty="0" err="1"/>
              <a:t>Indicizzazione</a:t>
            </a:r>
            <a:r>
              <a:rPr lang="en-US" dirty="0"/>
              <a:t> di </a:t>
            </a:r>
            <a:r>
              <a:rPr lang="en-US" dirty="0" err="1"/>
              <a:t>vettori</a:t>
            </a:r>
            <a:br>
              <a:rPr lang="en-US" dirty="0"/>
            </a:br>
            <a:r>
              <a:rPr lang="en-US" dirty="0"/>
              <a:t>Per </a:t>
            </a:r>
            <a:r>
              <a:rPr lang="en-US" dirty="0" err="1"/>
              <a:t>selezionare</a:t>
            </a:r>
            <a:r>
              <a:rPr lang="en-US" dirty="0"/>
              <a:t> uno o </a:t>
            </a:r>
            <a:r>
              <a:rPr lang="en-US" dirty="0" err="1"/>
              <a:t>più</a:t>
            </a:r>
            <a:r>
              <a:rPr lang="en-US" dirty="0"/>
              <a:t> bit </a:t>
            </a:r>
            <a:r>
              <a:rPr lang="en-US" dirty="0" err="1"/>
              <a:t>appartenenti</a:t>
            </a:r>
            <a:r>
              <a:rPr lang="en-US" dirty="0"/>
              <a:t> ad un </a:t>
            </a:r>
            <a:r>
              <a:rPr lang="en-US" dirty="0" err="1"/>
              <a:t>vettore</a:t>
            </a:r>
            <a:r>
              <a:rPr lang="en-US" dirty="0"/>
              <a:t> </a:t>
            </a:r>
            <a:r>
              <a:rPr lang="en-US" dirty="0" err="1"/>
              <a:t>si</a:t>
            </a:r>
            <a:r>
              <a:rPr lang="en-US" dirty="0"/>
              <a:t> </a:t>
            </a:r>
            <a:r>
              <a:rPr lang="en-US" dirty="0" err="1"/>
              <a:t>usa</a:t>
            </a:r>
            <a:r>
              <a:rPr lang="en-US" dirty="0"/>
              <a:t> </a:t>
            </a:r>
            <a:r>
              <a:rPr lang="en-US" dirty="0" err="1"/>
              <a:t>l’operatore</a:t>
            </a:r>
            <a:r>
              <a:rPr lang="en-US" dirty="0"/>
              <a:t> [], ed ha l </a:t>
            </a:r>
            <a:r>
              <a:rPr lang="en-US" dirty="0" err="1"/>
              <a:t>seguente</a:t>
            </a:r>
            <a:r>
              <a:rPr lang="en-US" dirty="0"/>
              <a:t> </a:t>
            </a:r>
            <a:r>
              <a:rPr lang="en-US" dirty="0" err="1"/>
              <a:t>sintassi</a:t>
            </a:r>
            <a:r>
              <a:rPr lang="en-US" dirty="0"/>
              <a:t>:</a:t>
            </a:r>
            <a:br>
              <a:rPr lang="en-US" dirty="0"/>
            </a:br>
            <a:r>
              <a:rPr lang="en-US" dirty="0"/>
              <a:t>	</a:t>
            </a:r>
            <a:r>
              <a:rPr lang="en-US" dirty="0">
                <a:solidFill>
                  <a:srgbClr val="FFFF00"/>
                </a:solidFill>
              </a:rPr>
              <a:t>[</a:t>
            </a:r>
            <a:r>
              <a:rPr lang="en-US" dirty="0" err="1">
                <a:solidFill>
                  <a:srgbClr val="FFFF00"/>
                </a:solidFill>
              </a:rPr>
              <a:t>msb-index:lsb-index</a:t>
            </a:r>
            <a:r>
              <a:rPr lang="en-US" dirty="0">
                <a:solidFill>
                  <a:srgbClr val="FFFF00"/>
                </a:solidFill>
              </a:rPr>
              <a:t>] o [bit-index]</a:t>
            </a:r>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in[2], in[1], in[0]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(9/1)</a:t>
            </a:r>
          </a:p>
        </p:txBody>
      </p:sp>
    </p:spTree>
    <p:extLst>
      <p:ext uri="{BB962C8B-B14F-4D97-AF65-F5344CB8AC3E}">
        <p14:creationId xmlns:p14="http://schemas.microsoft.com/office/powerpoint/2010/main" val="16323950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388474" cy="5170645"/>
          </a:xfrm>
        </p:spPr>
        <p:txBody>
          <a:bodyPr>
            <a:normAutofit/>
          </a:bodyPr>
          <a:lstStyle/>
          <a:p>
            <a:r>
              <a:rPr lang="en-US" dirty="0" err="1"/>
              <a:t>Indicizzazione</a:t>
            </a:r>
            <a:r>
              <a:rPr lang="en-US" dirty="0"/>
              <a:t> di </a:t>
            </a:r>
            <a:r>
              <a:rPr lang="en-US" dirty="0" err="1"/>
              <a:t>vettori</a:t>
            </a:r>
            <a:br>
              <a:rPr lang="en-US" dirty="0"/>
            </a:br>
            <a:r>
              <a:rPr lang="en-US" dirty="0"/>
              <a:t>Per </a:t>
            </a:r>
            <a:r>
              <a:rPr lang="en-US" dirty="0" err="1"/>
              <a:t>selezionare</a:t>
            </a:r>
            <a:r>
              <a:rPr lang="en-US" dirty="0"/>
              <a:t> uno o </a:t>
            </a:r>
            <a:r>
              <a:rPr lang="en-US" dirty="0" err="1"/>
              <a:t>più</a:t>
            </a:r>
            <a:r>
              <a:rPr lang="en-US" dirty="0"/>
              <a:t> bit </a:t>
            </a:r>
            <a:r>
              <a:rPr lang="en-US" dirty="0" err="1"/>
              <a:t>appartenenti</a:t>
            </a:r>
            <a:r>
              <a:rPr lang="en-US" dirty="0"/>
              <a:t> ad un </a:t>
            </a:r>
            <a:r>
              <a:rPr lang="en-US" dirty="0" err="1"/>
              <a:t>vettore</a:t>
            </a:r>
            <a:r>
              <a:rPr lang="en-US" dirty="0"/>
              <a:t> </a:t>
            </a:r>
            <a:r>
              <a:rPr lang="en-US" dirty="0" err="1"/>
              <a:t>si</a:t>
            </a:r>
            <a:r>
              <a:rPr lang="en-US" dirty="0"/>
              <a:t> </a:t>
            </a:r>
            <a:r>
              <a:rPr lang="en-US" dirty="0" err="1"/>
              <a:t>usa</a:t>
            </a:r>
            <a:r>
              <a:rPr lang="en-US" dirty="0"/>
              <a:t> </a:t>
            </a:r>
            <a:r>
              <a:rPr lang="en-US" dirty="0" err="1"/>
              <a:t>l’operatore</a:t>
            </a:r>
            <a:r>
              <a:rPr lang="en-US" dirty="0"/>
              <a:t> [], ed ha l </a:t>
            </a:r>
            <a:r>
              <a:rPr lang="en-US" dirty="0" err="1"/>
              <a:t>seguente</a:t>
            </a:r>
            <a:r>
              <a:rPr lang="en-US" dirty="0"/>
              <a:t> </a:t>
            </a:r>
            <a:r>
              <a:rPr lang="en-US" dirty="0" err="1"/>
              <a:t>sintassi</a:t>
            </a:r>
            <a:r>
              <a:rPr lang="en-US" dirty="0"/>
              <a:t>:</a:t>
            </a:r>
            <a:br>
              <a:rPr lang="en-US" dirty="0"/>
            </a:br>
            <a:r>
              <a:rPr lang="en-US" dirty="0"/>
              <a:t>	[</a:t>
            </a:r>
            <a:r>
              <a:rPr lang="en-US" dirty="0" err="1"/>
              <a:t>msb-index:lsb-index</a:t>
            </a:r>
            <a:r>
              <a:rPr lang="en-US" dirty="0"/>
              <a:t>] o [bit-index]</a:t>
            </a:r>
          </a:p>
          <a:p>
            <a:r>
              <a:rPr lang="en-US" dirty="0"/>
              <a:t>Il modulo </a:t>
            </a:r>
            <a:r>
              <a:rPr lang="en-US" dirty="0" err="1"/>
              <a:t>può</a:t>
            </a:r>
            <a:r>
              <a:rPr lang="en-US" dirty="0"/>
              <a:t> </a:t>
            </a:r>
            <a:r>
              <a:rPr lang="en-US" dirty="0" err="1"/>
              <a:t>avere</a:t>
            </a:r>
            <a:r>
              <a:rPr lang="en-US" dirty="0"/>
              <a:t> </a:t>
            </a:r>
            <a:r>
              <a:rPr lang="en-US" dirty="0" err="1"/>
              <a:t>i</a:t>
            </a:r>
            <a:r>
              <a:rPr lang="en-US" dirty="0"/>
              <a:t> </a:t>
            </a:r>
            <a:r>
              <a:rPr lang="en-US" dirty="0" err="1"/>
              <a:t>parametri</a:t>
            </a:r>
            <a:r>
              <a:rPr lang="en-US" dirty="0"/>
              <a:t> </a:t>
            </a:r>
            <a:r>
              <a:rPr lang="en-US" dirty="0" err="1"/>
              <a:t>che</a:t>
            </a:r>
            <a:r>
              <a:rPr lang="en-US" dirty="0"/>
              <a:t> </a:t>
            </a:r>
            <a:r>
              <a:rPr lang="en-US" dirty="0" err="1"/>
              <a:t>descrivono</a:t>
            </a:r>
            <a:r>
              <a:rPr lang="en-US" dirty="0"/>
              <a:t> </a:t>
            </a:r>
            <a:r>
              <a:rPr lang="en-US" dirty="0" err="1"/>
              <a:t>l’interfaccia</a:t>
            </a:r>
            <a:r>
              <a:rPr lang="en-US" dirty="0"/>
              <a:t> con la quale </a:t>
            </a:r>
            <a:r>
              <a:rPr lang="en-US" dirty="0" err="1"/>
              <a:t>comunica</a:t>
            </a:r>
            <a:r>
              <a:rPr lang="en-US" dirty="0"/>
              <a:t> </a:t>
            </a:r>
            <a:r>
              <a:rPr lang="en-US" dirty="0" err="1"/>
              <a:t>esternamente</a:t>
            </a:r>
            <a:r>
              <a:rPr lang="en-US" dirty="0"/>
              <a:t>. </a:t>
            </a:r>
            <a:br>
              <a:rPr lang="en-US" dirty="0"/>
            </a:br>
            <a:r>
              <a:rPr lang="en-US" dirty="0"/>
              <a:t>Ai </a:t>
            </a:r>
            <a:r>
              <a:rPr lang="en-US" dirty="0" err="1"/>
              <a:t>parametri</a:t>
            </a:r>
            <a:r>
              <a:rPr lang="en-US" dirty="0"/>
              <a:t> </a:t>
            </a:r>
            <a:r>
              <a:rPr lang="en-US" dirty="0" err="1"/>
              <a:t>sono</a:t>
            </a:r>
            <a:r>
              <a:rPr lang="en-US" dirty="0"/>
              <a:t> </a:t>
            </a:r>
            <a:r>
              <a:rPr lang="en-US" dirty="0" err="1"/>
              <a:t>associati</a:t>
            </a:r>
            <a:r>
              <a:rPr lang="en-US" dirty="0"/>
              <a:t> </a:t>
            </a:r>
            <a:r>
              <a:rPr lang="en-US" dirty="0" err="1"/>
              <a:t>i</a:t>
            </a:r>
            <a:r>
              <a:rPr lang="en-US" dirty="0"/>
              <a:t> </a:t>
            </a:r>
            <a:r>
              <a:rPr lang="en-US" dirty="0" err="1"/>
              <a:t>nomi</a:t>
            </a:r>
            <a:r>
              <a:rPr lang="en-US" dirty="0"/>
              <a:t> </a:t>
            </a:r>
            <a:r>
              <a:rPr lang="en-US" dirty="0" err="1"/>
              <a:t>necessari</a:t>
            </a:r>
            <a:r>
              <a:rPr lang="en-US" dirty="0"/>
              <a:t> </a:t>
            </a:r>
            <a:r>
              <a:rPr lang="en-US" dirty="0" err="1"/>
              <a:t>all’utilizzo</a:t>
            </a:r>
            <a:r>
              <a:rPr lang="en-US" dirty="0"/>
              <a:t> </a:t>
            </a:r>
            <a:r>
              <a:rPr lang="en-US" dirty="0" err="1"/>
              <a:t>all’interno</a:t>
            </a:r>
            <a:r>
              <a:rPr lang="en-US" dirty="0"/>
              <a:t> del modulo.</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(9/2)</a:t>
            </a:r>
          </a:p>
        </p:txBody>
      </p:sp>
      <p:sp>
        <p:nvSpPr>
          <p:cNvPr id="2" name="CasellaDiTesto 1">
            <a:extLst>
              <a:ext uri="{FF2B5EF4-FFF2-40B4-BE49-F238E27FC236}">
                <a16:creationId xmlns:a16="http://schemas.microsoft.com/office/drawing/2014/main" id="{BA3F3AFE-A648-C587-E7F0-DE359203108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input a, b, c, output z</a:t>
            </a:r>
            <a:r>
              <a:rPr lang="it-IT" sz="1100" b="0" noProof="1">
                <a:solidFill>
                  <a:schemeClr val="bg1"/>
                </a:solidFill>
                <a:effectLst/>
                <a:highlight>
                  <a:srgbClr val="1F1F1F"/>
                </a:highlight>
                <a:latin typeface="Consolas" panose="020B0609020204030204" pitchFamily="49" charset="0"/>
              </a:rPr>
              <a:t> </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1849747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388474" cy="5170645"/>
          </a:xfrm>
        </p:spPr>
        <p:txBody>
          <a:bodyPr>
            <a:normAutofit/>
          </a:bodyPr>
          <a:lstStyle/>
          <a:p>
            <a:r>
              <a:rPr lang="it-IT" dirty="0"/>
              <a:t>Indicizzazione di vettori</a:t>
            </a:r>
            <a:br>
              <a:rPr lang="it-IT" dirty="0"/>
            </a:br>
            <a:r>
              <a:rPr lang="it-IT" dirty="0"/>
              <a:t>Per selezionare uno o più bit appartenenti ad un vettore si usa l’operatore [], ed ha l seguente sintassi:</a:t>
            </a:r>
            <a:br>
              <a:rPr lang="it-IT" dirty="0"/>
            </a:br>
            <a:r>
              <a:rPr lang="it-IT" dirty="0"/>
              <a:t>	[</a:t>
            </a:r>
            <a:r>
              <a:rPr lang="it-IT" dirty="0" err="1"/>
              <a:t>msb-index:lsb-index</a:t>
            </a:r>
            <a:r>
              <a:rPr lang="it-IT" dirty="0"/>
              <a:t>] o [bit-index]</a:t>
            </a:r>
          </a:p>
          <a:p>
            <a:r>
              <a:rPr lang="it-IT" dirty="0"/>
              <a:t>Il modulo può avere i parametri che descrivono l’interfaccia con la quale comunica esternamente. </a:t>
            </a:r>
            <a:br>
              <a:rPr lang="it-IT" dirty="0"/>
            </a:br>
            <a:r>
              <a:rPr lang="it-IT" dirty="0"/>
              <a:t>Ai parametri sono associati i nomi necessari all’utilizzo all’interno del modulo.</a:t>
            </a:r>
          </a:p>
          <a:p>
            <a:r>
              <a:rPr lang="it-IT" dirty="0"/>
              <a:t>È necessario dichiarare la </a:t>
            </a:r>
            <a:r>
              <a:rPr lang="it-IT" dirty="0">
                <a:solidFill>
                  <a:srgbClr val="FFFF00"/>
                </a:solidFill>
              </a:rPr>
              <a:t>direzione</a:t>
            </a:r>
            <a:r>
              <a:rPr lang="it-IT" dirty="0"/>
              <a:t> dei segnali per tutti i parametri del modulo.</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(9/3)</a:t>
            </a:r>
          </a:p>
        </p:txBody>
      </p:sp>
      <p:sp>
        <p:nvSpPr>
          <p:cNvPr id="6" name="CasellaDiTesto 5">
            <a:extLst>
              <a:ext uri="{FF2B5EF4-FFF2-40B4-BE49-F238E27FC236}">
                <a16:creationId xmlns:a16="http://schemas.microsoft.com/office/drawing/2014/main" id="{9319965E-9468-6A6A-8DA2-3F9DBA3D16DD}"/>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chemeClr val="bg1"/>
                </a:solidFill>
                <a:effectLst/>
                <a:highlight>
                  <a:srgbClr val="FFFF00"/>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3857814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41413" y="346142"/>
            <a:ext cx="9905998" cy="858336"/>
          </a:xfrm>
        </p:spPr>
        <p:txBody>
          <a:bodyPr/>
          <a:lstStyle/>
          <a:p>
            <a:r>
              <a:rPr lang="it-IT" dirty="0"/>
              <a:t>TUTORIAL </a:t>
            </a:r>
            <a:r>
              <a:rPr lang="it-IT" dirty="0" err="1"/>
              <a:t>INTRODUTTIVo</a:t>
            </a:r>
            <a:r>
              <a:rPr lang="it-IT" dirty="0"/>
              <a:t> (10)</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it-IT" dirty="0"/>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3" y="1089509"/>
            <a:ext cx="10201038" cy="57684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it-IT" dirty="0"/>
              <a:t>I Moduli:</a:t>
            </a:r>
          </a:p>
          <a:p>
            <a:r>
              <a:rPr lang="it-IT" dirty="0"/>
              <a:t>Con gli stimoli forniti nel modulo </a:t>
            </a:r>
            <a:r>
              <a:rPr lang="it-IT" i="1" dirty="0" err="1"/>
              <a:t>tf</a:t>
            </a:r>
            <a:r>
              <a:rPr lang="it-IT" dirty="0"/>
              <a:t> all’istanza </a:t>
            </a:r>
            <a:r>
              <a:rPr lang="it-IT" i="1" dirty="0" err="1"/>
              <a:t>device_under_test</a:t>
            </a:r>
            <a:r>
              <a:rPr lang="it-IT" dirty="0"/>
              <a:t> di tipo </a:t>
            </a:r>
            <a:r>
              <a:rPr lang="it-IT" i="1" dirty="0" err="1"/>
              <a:t>fn_z</a:t>
            </a:r>
            <a:r>
              <a:rPr lang="it-IT" dirty="0"/>
              <a:t>, si esegue ancora Icarus </a:t>
            </a:r>
            <a:r>
              <a:rPr lang="it-IT" dirty="0" err="1"/>
              <a:t>Verilog</a:t>
            </a:r>
            <a:r>
              <a:rPr lang="it-IT" dirty="0"/>
              <a:t>.</a:t>
            </a:r>
          </a:p>
          <a:p>
            <a:r>
              <a:rPr lang="it-IT" dirty="0"/>
              <a:t>Lanciando il comando </a:t>
            </a:r>
            <a:r>
              <a:rPr lang="it-IT" i="1" dirty="0" err="1"/>
              <a:t>vvp</a:t>
            </a:r>
            <a:r>
              <a:rPr lang="it-IT" dirty="0"/>
              <a:t> (il motore </a:t>
            </a:r>
            <a:r>
              <a:rPr lang="it-IT" dirty="0" err="1"/>
              <a:t>run</a:t>
            </a:r>
            <a:r>
              <a:rPr lang="it-IT" dirty="0"/>
              <a:t>-time </a:t>
            </a:r>
            <a:br>
              <a:rPr lang="it-IT" dirty="0"/>
            </a:br>
            <a:r>
              <a:rPr lang="it-IT" dirty="0"/>
              <a:t>del simulatore) e passandogli </a:t>
            </a:r>
            <a:r>
              <a:rPr lang="it-IT" i="1" dirty="0" err="1"/>
              <a:t>assign_sim.out</a:t>
            </a:r>
            <a:r>
              <a:rPr lang="it-IT" i="1" dirty="0"/>
              <a:t> </a:t>
            </a:r>
            <a:br>
              <a:rPr lang="it-IT" i="1" dirty="0"/>
            </a:br>
            <a:r>
              <a:rPr lang="it-IT" dirty="0"/>
              <a:t>come parametro, viene prodotto il file </a:t>
            </a:r>
            <a:br>
              <a:rPr lang="it-IT" dirty="0"/>
            </a:br>
            <a:r>
              <a:rPr lang="it-IT" i="1" dirty="0" err="1"/>
              <a:t>dump.vcd</a:t>
            </a:r>
            <a:r>
              <a:rPr lang="it-IT" i="1" dirty="0"/>
              <a:t> e </a:t>
            </a:r>
            <a:r>
              <a:rPr lang="it-IT" dirty="0"/>
              <a:t>scritto il risultato della simulazione </a:t>
            </a:r>
            <a:br>
              <a:rPr lang="it-IT" dirty="0"/>
            </a:br>
            <a:r>
              <a:rPr lang="it-IT" dirty="0"/>
              <a:t>sullo standard output. Si può vedere che </a:t>
            </a:r>
            <a:br>
              <a:rPr lang="it-IT" dirty="0"/>
            </a:br>
            <a:r>
              <a:rPr lang="it-IT" dirty="0"/>
              <a:t>l’ultima colonna corrisponde a quanto previsto </a:t>
            </a:r>
            <a:br>
              <a:rPr lang="it-IT" dirty="0"/>
            </a:br>
            <a:r>
              <a:rPr lang="it-IT" dirty="0"/>
              <a:t>dalla tabella di verità della funzione </a:t>
            </a:r>
            <a:r>
              <a:rPr lang="it-IT" i="1" dirty="0"/>
              <a:t>z</a:t>
            </a:r>
            <a:r>
              <a:rPr lang="it-IT" dirty="0"/>
              <a:t>. </a:t>
            </a:r>
          </a:p>
          <a:p>
            <a:r>
              <a:rPr lang="it-IT" dirty="0"/>
              <a:t>Infine il file </a:t>
            </a:r>
            <a:r>
              <a:rPr lang="it-IT" dirty="0" err="1"/>
              <a:t>dump.vcd</a:t>
            </a:r>
            <a:r>
              <a:rPr lang="it-IT" dirty="0"/>
              <a:t> passato </a:t>
            </a:r>
            <a:br>
              <a:rPr lang="it-IT" dirty="0"/>
            </a:br>
            <a:r>
              <a:rPr lang="it-IT" dirty="0"/>
              <a:t>al software </a:t>
            </a:r>
            <a:r>
              <a:rPr lang="it-IT" i="1" dirty="0" err="1"/>
              <a:t>gtkwave</a:t>
            </a:r>
            <a:r>
              <a:rPr lang="it-IT" dirty="0"/>
              <a:t>, permette </a:t>
            </a:r>
            <a:br>
              <a:rPr lang="it-IT" dirty="0"/>
            </a:br>
            <a:r>
              <a:rPr lang="it-IT" dirty="0"/>
              <a:t>di visualizzare un diagramma </a:t>
            </a:r>
            <a:br>
              <a:rPr lang="it-IT" dirty="0"/>
            </a:br>
            <a:r>
              <a:rPr lang="it-IT" dirty="0"/>
              <a:t>con i segnali </a:t>
            </a:r>
            <a:r>
              <a:rPr lang="it-IT" i="1" dirty="0"/>
              <a:t>a, b, c </a:t>
            </a:r>
            <a:r>
              <a:rPr lang="it-IT" dirty="0"/>
              <a:t>e </a:t>
            </a:r>
            <a:r>
              <a:rPr lang="it-IT" i="1" dirty="0"/>
              <a:t>z</a:t>
            </a:r>
            <a:r>
              <a:rPr lang="it-IT" dirty="0"/>
              <a:t> che </a:t>
            </a:r>
            <a:br>
              <a:rPr lang="it-IT" dirty="0"/>
            </a:br>
            <a:r>
              <a:rPr lang="it-IT" dirty="0"/>
              <a:t>evolvono nel tempo.</a:t>
            </a:r>
          </a:p>
        </p:txBody>
      </p:sp>
      <p:sp>
        <p:nvSpPr>
          <p:cNvPr id="3" name="CasellaDiTesto 2">
            <a:extLst>
              <a:ext uri="{FF2B5EF4-FFF2-40B4-BE49-F238E27FC236}">
                <a16:creationId xmlns:a16="http://schemas.microsoft.com/office/drawing/2014/main" id="{2C3631CF-3138-647F-2ECB-EE0108C9D888}"/>
              </a:ext>
            </a:extLst>
          </p:cNvPr>
          <p:cNvSpPr txBox="1"/>
          <p:nvPr/>
        </p:nvSpPr>
        <p:spPr>
          <a:xfrm>
            <a:off x="7762630" y="2182504"/>
            <a:ext cx="4126418" cy="2554865"/>
          </a:xfrm>
          <a:prstGeom prst="rect">
            <a:avLst/>
          </a:prstGeom>
          <a:solidFill>
            <a:schemeClr val="bg1"/>
          </a:solidFill>
          <a:ln w="38100">
            <a:solidFill>
              <a:schemeClr val="accent5">
                <a:lumMod val="75000"/>
              </a:schemeClr>
            </a:solidFill>
          </a:ln>
        </p:spPr>
        <p:txBody>
          <a:bodyPr wrap="square" rtlCol="0">
            <a:spAutoFit/>
          </a:bodyPr>
          <a:lstStyle/>
          <a:p>
            <a:r>
              <a:rPr lang="pt-BR" sz="1200" dirty="0">
                <a:solidFill>
                  <a:schemeClr val="accent4">
                    <a:lumMod val="75000"/>
                  </a:schemeClr>
                </a:solidFill>
                <a:latin typeface="Consolas" panose="020B0609020204030204" pitchFamily="49" charset="0"/>
              </a:rPr>
              <a:t>$</a:t>
            </a:r>
            <a:r>
              <a:rPr lang="pt-BR" sz="1200" dirty="0">
                <a:latin typeface="Consolas" panose="020B0609020204030204" pitchFamily="49" charset="0"/>
              </a:rPr>
              <a:t> </a:t>
            </a:r>
            <a:r>
              <a:rPr lang="pt-BR" sz="1200" dirty="0">
                <a:solidFill>
                  <a:schemeClr val="accent6">
                    <a:lumMod val="75000"/>
                  </a:schemeClr>
                </a:solidFill>
                <a:latin typeface="Consolas" panose="020B0609020204030204" pitchFamily="49" charset="0"/>
              </a:rPr>
              <a:t>iverilog</a:t>
            </a:r>
            <a:r>
              <a:rPr lang="pt-BR" sz="1200" dirty="0">
                <a:latin typeface="Consolas" panose="020B0609020204030204" pitchFamily="49" charset="0"/>
              </a:rPr>
              <a:t> </a:t>
            </a:r>
            <a:r>
              <a:rPr lang="pt-BR" sz="1200" dirty="0">
                <a:solidFill>
                  <a:srgbClr val="92D050"/>
                </a:solidFill>
                <a:latin typeface="Consolas" panose="020B0609020204030204" pitchFamily="49" charset="0"/>
              </a:rPr>
              <a:t>assign_sim.v -o assign_sim.out</a:t>
            </a:r>
          </a:p>
          <a:p>
            <a:r>
              <a:rPr lang="pt-BR" sz="1200" dirty="0">
                <a:solidFill>
                  <a:schemeClr val="accent4">
                    <a:lumMod val="75000"/>
                  </a:schemeClr>
                </a:solidFill>
                <a:latin typeface="Consolas" panose="020B0609020204030204" pitchFamily="49" charset="0"/>
              </a:rPr>
              <a:t>$</a:t>
            </a:r>
            <a:r>
              <a:rPr lang="pt-BR" sz="1200" dirty="0">
                <a:latin typeface="Consolas" panose="020B0609020204030204" pitchFamily="49" charset="0"/>
              </a:rPr>
              <a:t> </a:t>
            </a:r>
            <a:r>
              <a:rPr lang="pt-BR" sz="1200" dirty="0">
                <a:solidFill>
                  <a:schemeClr val="accent6">
                    <a:lumMod val="75000"/>
                  </a:schemeClr>
                </a:solidFill>
                <a:latin typeface="Consolas" panose="020B0609020204030204" pitchFamily="49" charset="0"/>
              </a:rPr>
              <a:t>vvp</a:t>
            </a:r>
            <a:r>
              <a:rPr lang="pt-BR" sz="1200" dirty="0">
                <a:latin typeface="Consolas" panose="020B0609020204030204" pitchFamily="49" charset="0"/>
              </a:rPr>
              <a:t> </a:t>
            </a:r>
            <a:r>
              <a:rPr lang="pt-BR" sz="1200" dirty="0">
                <a:solidFill>
                  <a:srgbClr val="92D050"/>
                </a:solidFill>
                <a:latin typeface="Consolas" panose="020B0609020204030204" pitchFamily="49" charset="0"/>
              </a:rPr>
              <a:t>assign_sim.out</a:t>
            </a:r>
          </a:p>
          <a:p>
            <a:r>
              <a:rPr lang="pt-BR" sz="1200" dirty="0">
                <a:latin typeface="Consolas" panose="020B0609020204030204" pitchFamily="49" charset="0"/>
              </a:rPr>
              <a:t>VCD info: dumpfile dump.vcd opened for output.</a:t>
            </a:r>
          </a:p>
          <a:p>
            <a:r>
              <a:rPr lang="pt-BR" sz="1200" dirty="0">
                <a:latin typeface="Consolas" panose="020B0609020204030204" pitchFamily="49" charset="0"/>
              </a:rPr>
              <a:t>000 1</a:t>
            </a:r>
          </a:p>
          <a:p>
            <a:r>
              <a:rPr lang="pt-BR" sz="1200" dirty="0">
                <a:latin typeface="Consolas" panose="020B0609020204030204" pitchFamily="49" charset="0"/>
              </a:rPr>
              <a:t>001 0</a:t>
            </a:r>
          </a:p>
          <a:p>
            <a:r>
              <a:rPr lang="pt-BR" sz="1200" dirty="0">
                <a:latin typeface="Consolas" panose="020B0609020204030204" pitchFamily="49" charset="0"/>
              </a:rPr>
              <a:t>010 0</a:t>
            </a:r>
          </a:p>
          <a:p>
            <a:r>
              <a:rPr lang="pt-BR" sz="1200" dirty="0">
                <a:latin typeface="Consolas" panose="020B0609020204030204" pitchFamily="49" charset="0"/>
              </a:rPr>
              <a:t>011 1</a:t>
            </a:r>
          </a:p>
          <a:p>
            <a:r>
              <a:rPr lang="pt-BR" sz="1200" dirty="0">
                <a:latin typeface="Consolas" panose="020B0609020204030204" pitchFamily="49" charset="0"/>
              </a:rPr>
              <a:t>100 0</a:t>
            </a:r>
          </a:p>
          <a:p>
            <a:r>
              <a:rPr lang="pt-BR" sz="1200" dirty="0">
                <a:latin typeface="Consolas" panose="020B0609020204030204" pitchFamily="49" charset="0"/>
              </a:rPr>
              <a:t>101 0</a:t>
            </a:r>
          </a:p>
          <a:p>
            <a:r>
              <a:rPr lang="pt-BR" sz="1200" dirty="0">
                <a:latin typeface="Consolas" panose="020B0609020204030204" pitchFamily="49" charset="0"/>
              </a:rPr>
              <a:t>110 1</a:t>
            </a:r>
          </a:p>
          <a:p>
            <a:r>
              <a:rPr lang="pt-BR" sz="1200" dirty="0">
                <a:latin typeface="Consolas" panose="020B0609020204030204" pitchFamily="49" charset="0"/>
              </a:rPr>
              <a:t>111 1</a:t>
            </a:r>
          </a:p>
          <a:p>
            <a:r>
              <a:rPr lang="pt-BR" sz="1200" dirty="0">
                <a:solidFill>
                  <a:schemeClr val="accent4">
                    <a:lumMod val="75000"/>
                  </a:schemeClr>
                </a:solidFill>
                <a:latin typeface="Consolas" panose="020B0609020204030204" pitchFamily="49" charset="0"/>
              </a:rPr>
              <a:t>$</a:t>
            </a:r>
            <a:r>
              <a:rPr lang="pt-BR" sz="1200" dirty="0">
                <a:latin typeface="Consolas" panose="020B0609020204030204" pitchFamily="49" charset="0"/>
              </a:rPr>
              <a:t> </a:t>
            </a:r>
            <a:r>
              <a:rPr lang="pt-BR" sz="1200" dirty="0">
                <a:solidFill>
                  <a:schemeClr val="accent6">
                    <a:lumMod val="75000"/>
                  </a:schemeClr>
                </a:solidFill>
                <a:latin typeface="Consolas" panose="020B0609020204030204" pitchFamily="49" charset="0"/>
              </a:rPr>
              <a:t>gtkwave</a:t>
            </a:r>
            <a:r>
              <a:rPr lang="pt-BR" sz="1200" dirty="0">
                <a:latin typeface="Consolas" panose="020B0609020204030204" pitchFamily="49" charset="0"/>
              </a:rPr>
              <a:t> </a:t>
            </a:r>
            <a:r>
              <a:rPr lang="pt-BR" sz="1200" dirty="0">
                <a:solidFill>
                  <a:srgbClr val="92D050"/>
                </a:solidFill>
                <a:latin typeface="Consolas" panose="020B0609020204030204" pitchFamily="49" charset="0"/>
              </a:rPr>
              <a:t>dump.vcd</a:t>
            </a:r>
            <a:r>
              <a:rPr lang="pt-BR" sz="1200" dirty="0">
                <a:latin typeface="Consolas" panose="020B0609020204030204" pitchFamily="49" charset="0"/>
              </a:rPr>
              <a:t> &amp;</a:t>
            </a:r>
          </a:p>
          <a:p>
            <a:r>
              <a:rPr lang="pt-BR" sz="1200" dirty="0">
                <a:solidFill>
                  <a:schemeClr val="accent4">
                    <a:lumMod val="75000"/>
                  </a:schemeClr>
                </a:solidFill>
                <a:latin typeface="Consolas" panose="020B0609020204030204" pitchFamily="49" charset="0"/>
              </a:rPr>
              <a:t>$</a:t>
            </a:r>
            <a:r>
              <a:rPr lang="pt-BR" sz="1200" dirty="0">
                <a:solidFill>
                  <a:schemeClr val="tx1">
                    <a:lumMod val="65000"/>
                  </a:schemeClr>
                </a:solidFill>
                <a:latin typeface="Consolas" panose="020B0609020204030204" pitchFamily="49" charset="0"/>
              </a:rPr>
              <a:t> _</a:t>
            </a:r>
            <a:endParaRPr lang="it-IT" sz="1200" dirty="0">
              <a:solidFill>
                <a:schemeClr val="accent1">
                  <a:lumMod val="60000"/>
                  <a:lumOff val="40000"/>
                </a:schemeClr>
              </a:solidFill>
              <a:latin typeface="Consolas" panose="020B0609020204030204" pitchFamily="49" charset="0"/>
            </a:endParaRPr>
          </a:p>
        </p:txBody>
      </p:sp>
      <p:pic>
        <p:nvPicPr>
          <p:cNvPr id="6" name="Elemento grafico 5">
            <a:extLst>
              <a:ext uri="{FF2B5EF4-FFF2-40B4-BE49-F238E27FC236}">
                <a16:creationId xmlns:a16="http://schemas.microsoft.com/office/drawing/2014/main" id="{D580C86C-C778-8036-FA59-BB82436514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14844" y="2514111"/>
            <a:ext cx="919894" cy="1727149"/>
          </a:xfrm>
          <a:prstGeom prst="rect">
            <a:avLst/>
          </a:prstGeom>
        </p:spPr>
      </p:pic>
      <p:pic>
        <p:nvPicPr>
          <p:cNvPr id="17" name="Immagine 16">
            <a:extLst>
              <a:ext uri="{FF2B5EF4-FFF2-40B4-BE49-F238E27FC236}">
                <a16:creationId xmlns:a16="http://schemas.microsoft.com/office/drawing/2014/main" id="{836812A6-CCCA-45D3-ED75-7701A3089F3C}"/>
              </a:ext>
            </a:extLst>
          </p:cNvPr>
          <p:cNvPicPr>
            <a:picLocks noChangeAspect="1"/>
          </p:cNvPicPr>
          <p:nvPr/>
        </p:nvPicPr>
        <p:blipFill>
          <a:blip r:embed="rId4"/>
          <a:stretch>
            <a:fillRect/>
          </a:stretch>
        </p:blipFill>
        <p:spPr>
          <a:xfrm>
            <a:off x="5009745" y="4928963"/>
            <a:ext cx="6879303" cy="1463277"/>
          </a:xfrm>
          <a:prstGeom prst="rect">
            <a:avLst/>
          </a:prstGeom>
        </p:spPr>
      </p:pic>
    </p:spTree>
    <p:extLst>
      <p:ext uri="{BB962C8B-B14F-4D97-AF65-F5344CB8AC3E}">
        <p14:creationId xmlns:p14="http://schemas.microsoft.com/office/powerpoint/2010/main" val="8387047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6245350" cy="3290743"/>
          </a:xfrm>
        </p:spPr>
        <p:txBody>
          <a:bodyPr>
            <a:normAutofit fontScale="70000" lnSpcReduction="20000"/>
          </a:bodyPr>
          <a:lstStyle/>
          <a:p>
            <a:r>
              <a:rPr lang="it-IT" dirty="0"/>
              <a:t>Come abbiamo visto, i tipi di dati si usano per caratterizzare gli elementi di memoria (</a:t>
            </a:r>
            <a:r>
              <a:rPr lang="it-IT" i="1" dirty="0"/>
              <a:t>reg</a:t>
            </a:r>
            <a:r>
              <a:rPr lang="it-IT" dirty="0"/>
              <a:t>) e le «net», che in </a:t>
            </a:r>
            <a:r>
              <a:rPr lang="it-IT" dirty="0" err="1"/>
              <a:t>Verilog</a:t>
            </a:r>
            <a:r>
              <a:rPr lang="it-IT" dirty="0"/>
              <a:t> ricordiamo sono assimilabili ai </a:t>
            </a:r>
            <a:r>
              <a:rPr lang="it-IT" i="1" dirty="0" err="1"/>
              <a:t>wire</a:t>
            </a:r>
            <a:r>
              <a:rPr lang="it-IT" dirty="0"/>
              <a:t>. È possibile raggruppare ordinatamente più </a:t>
            </a:r>
            <a:r>
              <a:rPr lang="it-IT" i="1" dirty="0" err="1"/>
              <a:t>wire</a:t>
            </a:r>
            <a:r>
              <a:rPr lang="it-IT" dirty="0"/>
              <a:t> o </a:t>
            </a:r>
            <a:r>
              <a:rPr lang="it-IT" i="1" dirty="0"/>
              <a:t>reg </a:t>
            </a:r>
            <a:r>
              <a:rPr lang="it-IT" dirty="0"/>
              <a:t>per rappresentare un unico tipo di dato.</a:t>
            </a:r>
          </a:p>
          <a:p>
            <a:r>
              <a:rPr lang="it-IT" dirty="0"/>
              <a:t>Gli agglomerati di </a:t>
            </a:r>
            <a:r>
              <a:rPr lang="it-IT" i="1" dirty="0" err="1"/>
              <a:t>wire</a:t>
            </a:r>
            <a:r>
              <a:rPr lang="it-IT" dirty="0"/>
              <a:t> possono essere considerati alla stregua dei cosiddetti «Bus» come sono classicamente rappresentati nel contesto dei sistemi digitali.</a:t>
            </a:r>
          </a:p>
          <a:p>
            <a:r>
              <a:rPr lang="it-IT" dirty="0"/>
              <a:t>Gli elementi di memoria sono assimilabili alle variabili nei linguaggi di programmazione; un singolo Flip-Flop (</a:t>
            </a:r>
            <a:r>
              <a:rPr lang="it-IT" i="1" dirty="0"/>
              <a:t>reg</a:t>
            </a:r>
            <a:r>
              <a:rPr lang="it-IT" dirty="0"/>
              <a:t>) è un esempio di variabile che memorizza un bit. </a:t>
            </a:r>
            <a:br>
              <a:rPr lang="it-IT" dirty="0"/>
            </a:br>
            <a:r>
              <a:rPr lang="it-IT" dirty="0"/>
              <a:t>Un agglomerato di </a:t>
            </a:r>
            <a:r>
              <a:rPr lang="it-IT" i="1" dirty="0"/>
              <a:t>reg</a:t>
            </a:r>
            <a:r>
              <a:rPr lang="it-IT" dirty="0"/>
              <a:t> rappresenta un tipico registro di </a:t>
            </a:r>
            <a:r>
              <a:rPr lang="it-IT" i="1" dirty="0"/>
              <a:t>n-</a:t>
            </a:r>
            <a:r>
              <a:rPr lang="it-IT" dirty="0"/>
              <a:t>bit.</a:t>
            </a:r>
          </a:p>
          <a:p>
            <a:endParaRPr lang="it-IT" dirty="0"/>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6A9955"/>
                </a:solidFill>
                <a:effectLst/>
                <a:highlight>
                  <a:srgbClr val="1F1F1F"/>
                </a:highlight>
                <a:latin typeface="Consolas" panose="020B0609020204030204" pitchFamily="49" charset="0"/>
              </a:rPr>
              <a:t>// File assign_sim_b.v</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in;</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out;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$monitor( in,,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in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device_under_test</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in[</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assign</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pic>
        <p:nvPicPr>
          <p:cNvPr id="6" name="Immagine 5">
            <a:extLst>
              <a:ext uri="{FF2B5EF4-FFF2-40B4-BE49-F238E27FC236}">
                <a16:creationId xmlns:a16="http://schemas.microsoft.com/office/drawing/2014/main" id="{DF9A584E-B268-8CC4-D264-547CC5BD66A3}"/>
              </a:ext>
            </a:extLst>
          </p:cNvPr>
          <p:cNvPicPr>
            <a:picLocks noChangeAspect="1"/>
          </p:cNvPicPr>
          <p:nvPr/>
        </p:nvPicPr>
        <p:blipFill>
          <a:blip r:embed="rId2"/>
          <a:stretch>
            <a:fillRect/>
          </a:stretch>
        </p:blipFill>
        <p:spPr>
          <a:xfrm>
            <a:off x="1254145" y="4774012"/>
            <a:ext cx="5972175" cy="1733550"/>
          </a:xfrm>
          <a:prstGeom prst="rect">
            <a:avLst/>
          </a:prstGeom>
        </p:spPr>
      </p:pic>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(11)</a:t>
            </a:r>
          </a:p>
        </p:txBody>
      </p:sp>
    </p:spTree>
    <p:extLst>
      <p:ext uri="{BB962C8B-B14F-4D97-AF65-F5344CB8AC3E}">
        <p14:creationId xmlns:p14="http://schemas.microsoft.com/office/powerpoint/2010/main" val="42271809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0" y="1336914"/>
            <a:ext cx="4780946" cy="1195614"/>
          </a:xfrm>
        </p:spPr>
        <p:txBody>
          <a:bodyPr>
            <a:normAutofit fontScale="55000" lnSpcReduction="20000"/>
          </a:bodyPr>
          <a:lstStyle/>
          <a:p>
            <a:pPr marL="0" indent="0">
              <a:buNone/>
            </a:pPr>
            <a:r>
              <a:rPr lang="it-IT" dirty="0"/>
              <a:t>Gli operatori</a:t>
            </a:r>
          </a:p>
          <a:p>
            <a:pPr marL="0" indent="0">
              <a:buNone/>
            </a:pPr>
            <a:r>
              <a:rPr lang="it-IT" dirty="0" err="1"/>
              <a:t>Verilog</a:t>
            </a:r>
            <a:r>
              <a:rPr lang="it-IT" dirty="0"/>
              <a:t> possiede diversi operatori: a lato vediamo una tabella riassuntiva dove possiamo trovare anche gli operatori logici (</a:t>
            </a:r>
            <a:r>
              <a:rPr lang="it-IT" dirty="0" err="1"/>
              <a:t>bitwise</a:t>
            </a:r>
            <a:r>
              <a:rPr lang="it-IT" dirty="0"/>
              <a:t> o bit-a-bit) usati finora. Sotto la tabella delle precedenze.</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(12)</a:t>
            </a:r>
          </a:p>
        </p:txBody>
      </p:sp>
      <p:pic>
        <p:nvPicPr>
          <p:cNvPr id="7" name="Elemento grafico 6">
            <a:extLst>
              <a:ext uri="{FF2B5EF4-FFF2-40B4-BE49-F238E27FC236}">
                <a16:creationId xmlns:a16="http://schemas.microsoft.com/office/drawing/2014/main" id="{71C83016-73AA-4E13-8C58-12F16E1C24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2356" y="1129085"/>
            <a:ext cx="5976243" cy="5580575"/>
          </a:xfrm>
          <a:prstGeom prst="rect">
            <a:avLst/>
          </a:prstGeom>
        </p:spPr>
      </p:pic>
      <p:pic>
        <p:nvPicPr>
          <p:cNvPr id="10" name="Elemento grafico 9">
            <a:extLst>
              <a:ext uri="{FF2B5EF4-FFF2-40B4-BE49-F238E27FC236}">
                <a16:creationId xmlns:a16="http://schemas.microsoft.com/office/drawing/2014/main" id="{25755DA3-B8F7-91A0-7EF1-BEC4C21245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0014" y="2445065"/>
            <a:ext cx="3338148" cy="4177132"/>
          </a:xfrm>
          <a:prstGeom prst="rect">
            <a:avLst/>
          </a:prstGeom>
        </p:spPr>
      </p:pic>
    </p:spTree>
    <p:extLst>
      <p:ext uri="{BB962C8B-B14F-4D97-AF65-F5344CB8AC3E}">
        <p14:creationId xmlns:p14="http://schemas.microsoft.com/office/powerpoint/2010/main" val="18560898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9905998" cy="2980641"/>
          </a:xfrm>
        </p:spPr>
        <p:txBody>
          <a:bodyPr>
            <a:normAutofit fontScale="92500" lnSpcReduction="10000"/>
          </a:bodyPr>
          <a:lstStyle/>
          <a:p>
            <a:pPr marL="0" indent="0">
              <a:buNone/>
            </a:pPr>
            <a:r>
              <a:rPr lang="en-US" dirty="0" err="1"/>
              <a:t>Blocco</a:t>
            </a:r>
            <a:r>
              <a:rPr lang="en-US" dirty="0"/>
              <a:t> Always</a:t>
            </a:r>
          </a:p>
          <a:p>
            <a:r>
              <a:rPr lang="it-IT" dirty="0" err="1"/>
              <a:t>Verilog</a:t>
            </a:r>
            <a:r>
              <a:rPr lang="it-IT" dirty="0"/>
              <a:t> consente una logica più complessa del </a:t>
            </a:r>
            <a:br>
              <a:rPr lang="it-IT" dirty="0"/>
            </a:br>
            <a:r>
              <a:rPr lang="it-IT" dirty="0"/>
              <a:t>semplice </a:t>
            </a:r>
            <a:r>
              <a:rPr lang="it-IT" i="1" dirty="0" err="1"/>
              <a:t>assign</a:t>
            </a:r>
            <a:r>
              <a:rPr lang="it-IT" dirty="0"/>
              <a:t> grazie all'uso dei </a:t>
            </a:r>
            <a:r>
              <a:rPr lang="it-IT" dirty="0">
                <a:solidFill>
                  <a:srgbClr val="FFFF00"/>
                </a:solidFill>
              </a:rPr>
              <a:t>blocchi </a:t>
            </a:r>
            <a:r>
              <a:rPr lang="it-IT" i="1" dirty="0" err="1">
                <a:solidFill>
                  <a:srgbClr val="FFFF00"/>
                </a:solidFill>
              </a:rPr>
              <a:t>always</a:t>
            </a:r>
            <a:r>
              <a:rPr lang="it-IT" dirty="0"/>
              <a:t>. </a:t>
            </a:r>
            <a:br>
              <a:rPr lang="it-IT" dirty="0"/>
            </a:br>
            <a:r>
              <a:rPr lang="it-IT" dirty="0"/>
              <a:t>La logica combinatoria può essere scritta </a:t>
            </a:r>
            <a:br>
              <a:rPr lang="it-IT" dirty="0"/>
            </a:br>
            <a:r>
              <a:rPr lang="it-IT" dirty="0"/>
              <a:t>utilizzando </a:t>
            </a:r>
            <a:r>
              <a:rPr lang="it-IT" i="1" dirty="0" err="1"/>
              <a:t>always</a:t>
            </a:r>
            <a:r>
              <a:rPr lang="it-IT" i="1" dirty="0"/>
              <a:t> @(*)</a:t>
            </a:r>
            <a:r>
              <a:rPr lang="it-IT" dirty="0"/>
              <a:t>. Il valore all'interno delle </a:t>
            </a:r>
            <a:br>
              <a:rPr lang="it-IT" dirty="0"/>
            </a:br>
            <a:r>
              <a:rPr lang="it-IT" dirty="0"/>
              <a:t>parentesi è chiamata «</a:t>
            </a:r>
            <a:r>
              <a:rPr lang="it-IT" dirty="0" err="1"/>
              <a:t>sensivity</a:t>
            </a:r>
            <a:r>
              <a:rPr lang="it-IT" dirty="0"/>
              <a:t> list».</a:t>
            </a:r>
            <a:br>
              <a:rPr lang="it-IT" dirty="0"/>
            </a:br>
            <a:r>
              <a:rPr lang="it-IT" dirty="0"/>
              <a:t>L'uso di un * indica al tool di calcolare automaticamente suddetta «</a:t>
            </a:r>
            <a:r>
              <a:rPr lang="it-IT" dirty="0" err="1"/>
              <a:t>sensivity</a:t>
            </a:r>
            <a:r>
              <a:rPr lang="it-IT" dirty="0"/>
              <a:t> list». </a:t>
            </a:r>
            <a:endParaRPr lang="en-US" dirty="0"/>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(13/1)</a:t>
            </a:r>
          </a:p>
        </p:txBody>
      </p:sp>
      <p:sp>
        <p:nvSpPr>
          <p:cNvPr id="12" name="CasellaDiTesto 11">
            <a:extLst>
              <a:ext uri="{FF2B5EF4-FFF2-40B4-BE49-F238E27FC236}">
                <a16:creationId xmlns:a16="http://schemas.microsoft.com/office/drawing/2014/main" id="{FABCBA91-A89B-F543-A6D6-3CFDC2A1825C}"/>
              </a:ext>
            </a:extLst>
          </p:cNvPr>
          <p:cNvSpPr txBox="1"/>
          <p:nvPr/>
        </p:nvSpPr>
        <p:spPr>
          <a:xfrm>
            <a:off x="7291347" y="1908845"/>
            <a:ext cx="3840480" cy="1615827"/>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necessario con always</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assign z = ~a &amp; ~b &amp; ~c | a &amp; b | b &amp; c;</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always @(a,b,c) </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13" name="Rettangolo 12">
            <a:extLst>
              <a:ext uri="{FF2B5EF4-FFF2-40B4-BE49-F238E27FC236}">
                <a16:creationId xmlns:a16="http://schemas.microsoft.com/office/drawing/2014/main" id="{1D872D41-5DA8-52D7-6B3B-68D4268EF763}"/>
              </a:ext>
            </a:extLst>
          </p:cNvPr>
          <p:cNvSpPr/>
          <p:nvPr/>
        </p:nvSpPr>
        <p:spPr>
          <a:xfrm>
            <a:off x="7490131" y="2623931"/>
            <a:ext cx="2926078" cy="675862"/>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0292876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9905998" cy="4952567"/>
          </a:xfrm>
        </p:spPr>
        <p:txBody>
          <a:bodyPr>
            <a:normAutofit fontScale="92500" lnSpcReduction="10000"/>
          </a:bodyPr>
          <a:lstStyle/>
          <a:p>
            <a:pPr marL="0" indent="0">
              <a:buNone/>
            </a:pPr>
            <a:r>
              <a:rPr lang="en-US" dirty="0" err="1"/>
              <a:t>Blocco</a:t>
            </a:r>
            <a:r>
              <a:rPr lang="en-US" dirty="0"/>
              <a:t> Always</a:t>
            </a:r>
          </a:p>
          <a:p>
            <a:r>
              <a:rPr lang="it-IT" dirty="0" err="1"/>
              <a:t>Verilog</a:t>
            </a:r>
            <a:r>
              <a:rPr lang="it-IT" dirty="0"/>
              <a:t> consente una logica più complessa del </a:t>
            </a:r>
            <a:br>
              <a:rPr lang="it-IT" dirty="0"/>
            </a:br>
            <a:r>
              <a:rPr lang="it-IT" dirty="0"/>
              <a:t>semplice </a:t>
            </a:r>
            <a:r>
              <a:rPr lang="it-IT" i="1" dirty="0" err="1"/>
              <a:t>assign</a:t>
            </a:r>
            <a:r>
              <a:rPr lang="it-IT" dirty="0"/>
              <a:t> grazie all'uso dei blocchi </a:t>
            </a:r>
            <a:r>
              <a:rPr lang="it-IT" i="1" dirty="0" err="1"/>
              <a:t>always</a:t>
            </a:r>
            <a:r>
              <a:rPr lang="it-IT" dirty="0"/>
              <a:t>. </a:t>
            </a:r>
            <a:br>
              <a:rPr lang="it-IT" dirty="0"/>
            </a:br>
            <a:r>
              <a:rPr lang="it-IT" dirty="0"/>
              <a:t>La logica combinatoria può essere scritta </a:t>
            </a:r>
            <a:br>
              <a:rPr lang="it-IT" dirty="0"/>
            </a:br>
            <a:r>
              <a:rPr lang="it-IT" dirty="0"/>
              <a:t>utilizzando </a:t>
            </a:r>
            <a:r>
              <a:rPr lang="it-IT" i="1" dirty="0" err="1"/>
              <a:t>always</a:t>
            </a:r>
            <a:r>
              <a:rPr lang="it-IT" i="1" dirty="0"/>
              <a:t> @(*)</a:t>
            </a:r>
            <a:r>
              <a:rPr lang="it-IT" dirty="0"/>
              <a:t>. Il valore all'interno delle </a:t>
            </a:r>
            <a:br>
              <a:rPr lang="it-IT" dirty="0"/>
            </a:br>
            <a:r>
              <a:rPr lang="it-IT" dirty="0"/>
              <a:t>parentesi è chiamata «</a:t>
            </a:r>
            <a:r>
              <a:rPr lang="it-IT" dirty="0" err="1"/>
              <a:t>sensivity</a:t>
            </a:r>
            <a:r>
              <a:rPr lang="it-IT" dirty="0"/>
              <a:t> list».</a:t>
            </a:r>
            <a:br>
              <a:rPr lang="it-IT" dirty="0"/>
            </a:br>
            <a:r>
              <a:rPr lang="it-IT" dirty="0"/>
              <a:t>L'uso di un * indica al tool di calcolare automaticamente suddetta «</a:t>
            </a:r>
            <a:r>
              <a:rPr lang="it-IT" dirty="0" err="1"/>
              <a:t>sensivity</a:t>
            </a:r>
            <a:r>
              <a:rPr lang="it-IT" dirty="0"/>
              <a:t> list». </a:t>
            </a:r>
            <a:endParaRPr lang="en-US" dirty="0"/>
          </a:p>
          <a:p>
            <a:r>
              <a:rPr lang="it-IT" dirty="0"/>
              <a:t>Se un segnale è controllato all'interno di un blocco </a:t>
            </a:r>
            <a:r>
              <a:rPr lang="it-IT" i="1" dirty="0" err="1"/>
              <a:t>always</a:t>
            </a:r>
            <a:r>
              <a:rPr lang="it-IT" dirty="0"/>
              <a:t>, deve essere </a:t>
            </a:r>
            <a:r>
              <a:rPr lang="it-IT" dirty="0">
                <a:solidFill>
                  <a:srgbClr val="FFFF00"/>
                </a:solidFill>
              </a:rPr>
              <a:t>definito come </a:t>
            </a:r>
            <a:r>
              <a:rPr lang="it-IT" i="1" dirty="0">
                <a:solidFill>
                  <a:srgbClr val="FFFF00"/>
                </a:solidFill>
              </a:rPr>
              <a:t>reg</a:t>
            </a:r>
            <a:r>
              <a:rPr lang="it-IT" i="1" dirty="0"/>
              <a:t>.</a:t>
            </a:r>
            <a:r>
              <a:rPr lang="it-IT" dirty="0"/>
              <a:t> Viceversa, come abbiamo visto, se è utilizzato un assegnamento continuo (</a:t>
            </a:r>
            <a:r>
              <a:rPr lang="it-IT" i="1" dirty="0" err="1"/>
              <a:t>assign</a:t>
            </a:r>
            <a:r>
              <a:rPr lang="it-IT" dirty="0"/>
              <a:t>), può essere definito come </a:t>
            </a:r>
            <a:r>
              <a:rPr lang="it-IT" i="1" dirty="0" err="1"/>
              <a:t>wire</a:t>
            </a:r>
            <a:r>
              <a:rPr lang="it-IT" dirty="0"/>
              <a:t> il quale rappresenta sempre una connessione, mentre un </a:t>
            </a:r>
            <a:r>
              <a:rPr lang="it-IT" i="1" dirty="0"/>
              <a:t>reg</a:t>
            </a:r>
            <a:r>
              <a:rPr lang="it-IT" dirty="0"/>
              <a:t> è equivalente ad un </a:t>
            </a:r>
            <a:r>
              <a:rPr lang="it-IT" i="1" dirty="0" err="1"/>
              <a:t>wire</a:t>
            </a:r>
            <a:r>
              <a:rPr lang="it-IT" dirty="0"/>
              <a:t> se è utilizzato all'interno di un costrutto </a:t>
            </a:r>
            <a:r>
              <a:rPr lang="it-IT" i="1" dirty="0" err="1"/>
              <a:t>always</a:t>
            </a:r>
            <a:r>
              <a:rPr lang="it-IT" i="1" dirty="0"/>
              <a:t> @(*)</a:t>
            </a:r>
            <a:r>
              <a:rPr lang="it-IT" dirty="0"/>
              <a:t>.</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(13/2)</a:t>
            </a:r>
          </a:p>
        </p:txBody>
      </p:sp>
      <p:sp>
        <p:nvSpPr>
          <p:cNvPr id="12" name="CasellaDiTesto 11">
            <a:extLst>
              <a:ext uri="{FF2B5EF4-FFF2-40B4-BE49-F238E27FC236}">
                <a16:creationId xmlns:a16="http://schemas.microsoft.com/office/drawing/2014/main" id="{FABCBA91-A89B-F543-A6D6-3CFDC2A1825C}"/>
              </a:ext>
            </a:extLst>
          </p:cNvPr>
          <p:cNvSpPr txBox="1"/>
          <p:nvPr/>
        </p:nvSpPr>
        <p:spPr>
          <a:xfrm>
            <a:off x="7291347" y="1908845"/>
            <a:ext cx="3840480" cy="1615827"/>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fn_z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 b, c,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reg 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necessario con always</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assign z = ~a &amp; ~b &amp; ~c | a &amp; b | b &amp; c;</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always @(a,b,c) </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z</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c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b </a:t>
            </a:r>
            <a:r>
              <a:rPr lang="it-IT" sz="1100" b="0" noProof="1">
                <a:solidFill>
                  <a:srgbClr val="D4D4D4"/>
                </a:solidFill>
                <a:effectLst/>
                <a:highlight>
                  <a:srgbClr val="1F1F1F"/>
                </a:highlight>
                <a:latin typeface="Consolas" panose="020B0609020204030204" pitchFamily="49" charset="0"/>
              </a:rPr>
              <a:t>&amp;</a:t>
            </a:r>
            <a:r>
              <a:rPr lang="it-IT" sz="1100" b="0" noProof="1">
                <a:solidFill>
                  <a:srgbClr val="CCCCCC"/>
                </a:solidFill>
                <a:effectLst/>
                <a:highlight>
                  <a:srgbClr val="1F1F1F"/>
                </a:highlight>
                <a:latin typeface="Consolas" panose="020B0609020204030204" pitchFamily="49" charset="0"/>
              </a:rPr>
              <a:t> c;</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42224580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(14)</a:t>
            </a:r>
          </a:p>
        </p:txBody>
      </p:sp>
      <p:sp>
        <p:nvSpPr>
          <p:cNvPr id="7" name="CasellaDiTesto 6">
            <a:extLst>
              <a:ext uri="{FF2B5EF4-FFF2-40B4-BE49-F238E27FC236}">
                <a16:creationId xmlns:a16="http://schemas.microsoft.com/office/drawing/2014/main" id="{AA5DBA62-CC2B-8DA6-44EE-4BE204F8BF36}"/>
              </a:ext>
            </a:extLst>
          </p:cNvPr>
          <p:cNvSpPr txBox="1"/>
          <p:nvPr/>
        </p:nvSpPr>
        <p:spPr>
          <a:xfrm>
            <a:off x="7279420" y="1483178"/>
            <a:ext cx="4222143" cy="2800767"/>
          </a:xfrm>
          <a:prstGeom prst="rect">
            <a:avLst/>
          </a:prstGeom>
          <a:solidFill>
            <a:srgbClr val="1F1F1F"/>
          </a:solidFill>
          <a:ln w="38100">
            <a:solidFill>
              <a:schemeClr val="accent5">
                <a:lumMod val="75000"/>
              </a:schemeClr>
            </a:solidFill>
          </a:ln>
        </p:spPr>
        <p:txBody>
          <a:bodyPr wrap="square" rtlCol="0">
            <a:spAutoFit/>
          </a:bodyPr>
          <a:lstStyle/>
          <a:p>
            <a:r>
              <a:rPr lang="it-IT" sz="1100" b="0" dirty="0" err="1">
                <a:solidFill>
                  <a:srgbClr val="569CD6"/>
                </a:solidFill>
                <a:effectLst/>
                <a:highlight>
                  <a:srgbClr val="1F1F1F"/>
                </a:highlight>
                <a:latin typeface="Consolas" panose="020B0609020204030204" pitchFamily="49" charset="0"/>
              </a:rPr>
              <a:t>module</a:t>
            </a:r>
            <a:r>
              <a:rPr lang="it-IT" sz="1100" b="0" dirty="0">
                <a:solidFill>
                  <a:srgbClr val="CCCCCC"/>
                </a:solidFill>
                <a:effectLst/>
                <a:highlight>
                  <a:srgbClr val="1F1F1F"/>
                </a:highlight>
                <a:latin typeface="Consolas" panose="020B0609020204030204" pitchFamily="49" charset="0"/>
              </a:rPr>
              <a:t> </a:t>
            </a:r>
            <a:r>
              <a:rPr lang="it-IT" sz="1100" b="0" dirty="0">
                <a:solidFill>
                  <a:srgbClr val="4EC9B0"/>
                </a:solidFill>
                <a:effectLst/>
                <a:highlight>
                  <a:srgbClr val="1F1F1F"/>
                </a:highlight>
                <a:latin typeface="Consolas" panose="020B0609020204030204" pitchFamily="49" charset="0"/>
              </a:rPr>
              <a:t>counter</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G );</a:t>
            </a:r>
          </a:p>
          <a:p>
            <a:r>
              <a:rPr lang="it-IT" sz="1100" b="0" dirty="0">
                <a:solidFill>
                  <a:srgbClr val="CCCCCC"/>
                </a:solidFill>
                <a:effectLst/>
                <a:highlight>
                  <a:srgbClr val="1F1F1F"/>
                </a:highlight>
                <a:latin typeface="Consolas" panose="020B0609020204030204" pitchFamily="49" charset="0"/>
              </a:rPr>
              <a:t>  </a:t>
            </a:r>
            <a:r>
              <a:rPr lang="it-IT" sz="1100" b="0" dirty="0">
                <a:solidFill>
                  <a:schemeClr val="bg1"/>
                </a:solidFill>
                <a:effectLst/>
                <a:highlight>
                  <a:srgbClr val="FFFF00"/>
                </a:highlight>
                <a:latin typeface="Consolas" panose="020B0609020204030204" pitchFamily="49" charset="0"/>
              </a:rPr>
              <a:t>reg</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2</a:t>
            </a:r>
            <a:r>
              <a:rPr lang="it-IT" sz="1100" b="0" dirty="0">
                <a:solidFill>
                  <a:srgbClr val="CCCCCC"/>
                </a:solidFill>
                <a:effectLst/>
                <a:highlight>
                  <a:srgbClr val="1F1F1F"/>
                </a:highlight>
                <a:latin typeface="Consolas" panose="020B0609020204030204" pitchFamily="49" charset="0"/>
              </a:rPr>
              <a:t>:</a:t>
            </a:r>
            <a:r>
              <a:rPr lang="it-IT" sz="1100" b="0" dirty="0">
                <a:solidFill>
                  <a:srgbClr val="B5CEA8"/>
                </a:solidFill>
                <a:effectLst/>
                <a:highlight>
                  <a:srgbClr val="1F1F1F"/>
                </a:highlight>
                <a:latin typeface="Consolas" panose="020B0609020204030204" pitchFamily="49" charset="0"/>
              </a:rPr>
              <a:t>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3’d0</a:t>
            </a:r>
            <a:r>
              <a:rPr lang="it-IT" sz="1100" b="0" dirty="0">
                <a:solidFill>
                  <a:srgbClr val="CCCCCC"/>
                </a:solidFill>
                <a:effectLst/>
                <a:highlight>
                  <a:srgbClr val="1F1F1F"/>
                </a:highlight>
                <a:latin typeface="Consolas" panose="020B0609020204030204" pitchFamily="49" charset="0"/>
              </a:rPr>
              <a:t>; </a:t>
            </a:r>
            <a:r>
              <a:rPr lang="it-IT" sz="1100" b="0" dirty="0">
                <a:solidFill>
                  <a:srgbClr val="6A9955"/>
                </a:solidFill>
                <a:effectLst/>
                <a:highlight>
                  <a:srgbClr val="1F1F1F"/>
                </a:highlight>
                <a:latin typeface="Consolas" panose="020B0609020204030204" pitchFamily="49" charset="0"/>
              </a:rPr>
              <a:t>// WARNING: non sintetizzabile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always</a:t>
            </a:r>
            <a:r>
              <a:rPr lang="it-IT" sz="1100" b="0" dirty="0">
                <a:solidFill>
                  <a:srgbClr val="CCCCCC"/>
                </a:solidFill>
                <a:effectLst/>
                <a:highlight>
                  <a:srgbClr val="1F1F1F"/>
                </a:highlight>
                <a:latin typeface="Consolas" panose="020B0609020204030204" pitchFamily="49" charset="0"/>
              </a:rPr>
              <a:t> </a:t>
            </a:r>
            <a:r>
              <a:rPr lang="it-IT" sz="1100" b="0" dirty="0">
                <a:solidFill>
                  <a:schemeClr val="bg1"/>
                </a:solidFill>
                <a:effectLst/>
                <a:highlight>
                  <a:srgbClr val="FFFF00"/>
                </a:highlight>
                <a:latin typeface="Consolas" panose="020B0609020204030204" pitchFamily="49" charset="0"/>
              </a:rPr>
              <a:t>@( </a:t>
            </a:r>
            <a:r>
              <a:rPr lang="it-IT" sz="1100" b="0" dirty="0" err="1">
                <a:solidFill>
                  <a:schemeClr val="bg1"/>
                </a:solidFill>
                <a:effectLst/>
                <a:highlight>
                  <a:srgbClr val="FFFF00"/>
                </a:highlight>
                <a:latin typeface="Consolas" panose="020B0609020204030204" pitchFamily="49" charset="0"/>
              </a:rPr>
              <a:t>posedge</a:t>
            </a:r>
            <a:r>
              <a:rPr lang="it-IT" sz="1100" b="0" dirty="0">
                <a:solidFill>
                  <a:schemeClr val="bg1"/>
                </a:solidFill>
                <a:effectLst/>
                <a:highlight>
                  <a:srgbClr val="FFFF00"/>
                </a:highlight>
                <a:latin typeface="Consolas" panose="020B0609020204030204" pitchFamily="49" charset="0"/>
              </a:rPr>
              <a:t> </a:t>
            </a:r>
            <a:r>
              <a:rPr lang="it-IT" sz="1100" b="0" dirty="0" err="1">
                <a:solidFill>
                  <a:schemeClr val="bg1"/>
                </a:solidFill>
                <a:effectLst/>
                <a:highlight>
                  <a:srgbClr val="FFFF00"/>
                </a:highlight>
                <a:latin typeface="Consolas" panose="020B0609020204030204" pitchFamily="49" charset="0"/>
              </a:rPr>
              <a:t>Clk</a:t>
            </a:r>
            <a:r>
              <a:rPr lang="it-IT" sz="1100" b="0" dirty="0">
                <a:solidFill>
                  <a:schemeClr val="bg1"/>
                </a:solidFill>
                <a:effectLst/>
                <a:highlight>
                  <a:srgbClr val="FFFF00"/>
                </a:highlight>
                <a:latin typeface="Consolas" panose="020B0609020204030204" pitchFamily="49" charset="0"/>
              </a:rPr>
              <a:t> )</a:t>
            </a:r>
            <a:r>
              <a:rPr lang="it-IT" sz="1100" b="0" dirty="0">
                <a:solidFill>
                  <a:schemeClr val="bg1"/>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begin</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case</a:t>
            </a:r>
            <a:r>
              <a:rPr lang="it-IT" sz="1100" b="0" dirty="0">
                <a:solidFill>
                  <a:srgbClr val="CCCCCC"/>
                </a:solidFill>
                <a:effectLst/>
                <a:highlight>
                  <a:srgbClr val="1F1F1F"/>
                </a:highlight>
                <a:latin typeface="Consolas" panose="020B0609020204030204" pitchFamily="49" charset="0"/>
              </a:rPr>
              <a:t>( S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endcase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end</a:t>
            </a:r>
            <a:endParaRPr lang="it-IT" sz="1100" b="0" dirty="0">
              <a:solidFill>
                <a:srgbClr val="CCCCCC"/>
              </a:solidFill>
              <a:effectLst/>
              <a:highlight>
                <a:srgbClr val="1F1F1F"/>
              </a:highlight>
              <a:latin typeface="Consolas" panose="020B0609020204030204" pitchFamily="49" charset="0"/>
            </a:endParaRPr>
          </a:p>
          <a:p>
            <a:r>
              <a:rPr lang="it-IT" sz="1100" b="0" dirty="0" err="1">
                <a:solidFill>
                  <a:srgbClr val="569CD6"/>
                </a:solidFill>
                <a:effectLst/>
                <a:highlight>
                  <a:srgbClr val="1F1F1F"/>
                </a:highlight>
                <a:latin typeface="Consolas" panose="020B0609020204030204" pitchFamily="49" charset="0"/>
              </a:rPr>
              <a:t>endmodule</a:t>
            </a:r>
            <a:endParaRPr lang="it-IT" sz="1100" b="0" dirty="0">
              <a:solidFill>
                <a:srgbClr val="CCCCCC"/>
              </a:solidFill>
              <a:effectLst/>
              <a:highlight>
                <a:srgbClr val="1F1F1F"/>
              </a:highlight>
              <a:latin typeface="Consolas" panose="020B0609020204030204" pitchFamily="49" charset="0"/>
            </a:endParaRPr>
          </a:p>
        </p:txBody>
      </p:sp>
      <p:sp>
        <p:nvSpPr>
          <p:cNvPr id="8" name="Rettangolo 7">
            <a:extLst>
              <a:ext uri="{FF2B5EF4-FFF2-40B4-BE49-F238E27FC236}">
                <a16:creationId xmlns:a16="http://schemas.microsoft.com/office/drawing/2014/main" id="{5A39440F-37E1-A4DD-54C2-62703832B913}"/>
              </a:ext>
            </a:extLst>
          </p:cNvPr>
          <p:cNvSpPr/>
          <p:nvPr/>
        </p:nvSpPr>
        <p:spPr>
          <a:xfrm>
            <a:off x="7482181" y="2014045"/>
            <a:ext cx="3005590" cy="2035533"/>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Segnaposto contenuto 2">
            <a:extLst>
              <a:ext uri="{FF2B5EF4-FFF2-40B4-BE49-F238E27FC236}">
                <a16:creationId xmlns:a16="http://schemas.microsoft.com/office/drawing/2014/main" id="{37DBD7CC-6431-B0CB-F8D0-1513023E1052}"/>
              </a:ext>
            </a:extLst>
          </p:cNvPr>
          <p:cNvSpPr txBox="1">
            <a:spLocks/>
          </p:cNvSpPr>
          <p:nvPr/>
        </p:nvSpPr>
        <p:spPr>
          <a:xfrm>
            <a:off x="1141411" y="1105232"/>
            <a:ext cx="9982463" cy="174133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Il </a:t>
            </a:r>
            <a:r>
              <a:rPr lang="en-US" dirty="0" err="1"/>
              <a:t>blocco</a:t>
            </a:r>
            <a:r>
              <a:rPr lang="en-US" dirty="0"/>
              <a:t> </a:t>
            </a:r>
            <a:r>
              <a:rPr lang="en-US" i="1" dirty="0"/>
              <a:t>always</a:t>
            </a:r>
          </a:p>
          <a:p>
            <a:r>
              <a:rPr lang="it-IT" dirty="0"/>
              <a:t>Un </a:t>
            </a:r>
            <a:r>
              <a:rPr lang="it-IT" i="1" dirty="0">
                <a:solidFill>
                  <a:srgbClr val="FFFF00"/>
                </a:solidFill>
              </a:rPr>
              <a:t>reg</a:t>
            </a:r>
            <a:r>
              <a:rPr lang="it-IT" dirty="0"/>
              <a:t> rappresenta un registro se è usato all'interno di un </a:t>
            </a:r>
            <a:br>
              <a:rPr lang="it-IT" dirty="0"/>
            </a:br>
            <a:r>
              <a:rPr lang="it-IT" dirty="0">
                <a:solidFill>
                  <a:srgbClr val="FFFF00"/>
                </a:solidFill>
              </a:rPr>
              <a:t>blocco </a:t>
            </a:r>
            <a:r>
              <a:rPr lang="it-IT" i="1" dirty="0" err="1">
                <a:solidFill>
                  <a:srgbClr val="FFFF00"/>
                </a:solidFill>
              </a:rPr>
              <a:t>always</a:t>
            </a:r>
            <a:r>
              <a:rPr lang="it-IT" dirty="0"/>
              <a:t> con logica sequenziale sincrona, la quale </a:t>
            </a:r>
            <a:br>
              <a:rPr lang="it-IT" dirty="0"/>
            </a:br>
            <a:r>
              <a:rPr lang="it-IT" dirty="0"/>
              <a:t>è generata specificando la lista dei segnali nella </a:t>
            </a:r>
            <a:r>
              <a:rPr lang="it-IT" dirty="0">
                <a:solidFill>
                  <a:srgbClr val="FFFF00"/>
                </a:solidFill>
              </a:rPr>
              <a:t>«</a:t>
            </a:r>
            <a:r>
              <a:rPr lang="it-IT" dirty="0" err="1">
                <a:solidFill>
                  <a:srgbClr val="FFFF00"/>
                </a:solidFill>
              </a:rPr>
              <a:t>sensivity</a:t>
            </a:r>
            <a:r>
              <a:rPr lang="it-IT" dirty="0">
                <a:solidFill>
                  <a:srgbClr val="FFFF00"/>
                </a:solidFill>
              </a:rPr>
              <a:t> </a:t>
            </a:r>
            <a:br>
              <a:rPr lang="it-IT" dirty="0">
                <a:solidFill>
                  <a:srgbClr val="FFFF00"/>
                </a:solidFill>
              </a:rPr>
            </a:br>
            <a:r>
              <a:rPr lang="it-IT" dirty="0">
                <a:solidFill>
                  <a:srgbClr val="FFFF00"/>
                </a:solidFill>
              </a:rPr>
              <a:t>list»</a:t>
            </a:r>
            <a:r>
              <a:rPr lang="it-IT" dirty="0"/>
              <a:t> del blocco </a:t>
            </a:r>
            <a:r>
              <a:rPr lang="it-IT" i="1" dirty="0" err="1"/>
              <a:t>always</a:t>
            </a:r>
            <a:r>
              <a:rPr lang="it-IT" dirty="0"/>
              <a:t>.</a:t>
            </a:r>
          </a:p>
        </p:txBody>
      </p:sp>
    </p:spTree>
    <p:extLst>
      <p:ext uri="{BB962C8B-B14F-4D97-AF65-F5344CB8AC3E}">
        <p14:creationId xmlns:p14="http://schemas.microsoft.com/office/powerpoint/2010/main" val="40075825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(14/2)</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279420" y="1483178"/>
            <a:ext cx="4222143" cy="2800767"/>
          </a:xfrm>
          <a:prstGeom prst="rect">
            <a:avLst/>
          </a:prstGeom>
          <a:solidFill>
            <a:srgbClr val="1F1F1F"/>
          </a:solidFill>
          <a:ln w="38100">
            <a:solidFill>
              <a:schemeClr val="accent5">
                <a:lumMod val="75000"/>
              </a:schemeClr>
            </a:solidFill>
          </a:ln>
        </p:spPr>
        <p:txBody>
          <a:bodyPr wrap="square" rtlCol="0">
            <a:spAutoFit/>
          </a:bodyPr>
          <a:lstStyle/>
          <a:p>
            <a:r>
              <a:rPr lang="it-IT" sz="1100" b="0" dirty="0" err="1">
                <a:solidFill>
                  <a:srgbClr val="569CD6"/>
                </a:solidFill>
                <a:effectLst/>
                <a:highlight>
                  <a:srgbClr val="1F1F1F"/>
                </a:highlight>
                <a:latin typeface="Consolas" panose="020B0609020204030204" pitchFamily="49" charset="0"/>
              </a:rPr>
              <a:t>module</a:t>
            </a:r>
            <a:r>
              <a:rPr lang="it-IT" sz="1100" b="0" dirty="0">
                <a:solidFill>
                  <a:srgbClr val="CCCCCC"/>
                </a:solidFill>
                <a:effectLst/>
                <a:highlight>
                  <a:srgbClr val="1F1F1F"/>
                </a:highlight>
                <a:latin typeface="Consolas" panose="020B0609020204030204" pitchFamily="49" charset="0"/>
              </a:rPr>
              <a:t> </a:t>
            </a:r>
            <a:r>
              <a:rPr lang="it-IT" sz="1100" b="0" dirty="0">
                <a:solidFill>
                  <a:srgbClr val="4EC9B0"/>
                </a:solidFill>
                <a:effectLst/>
                <a:highlight>
                  <a:srgbClr val="1F1F1F"/>
                </a:highlight>
                <a:latin typeface="Consolas" panose="020B0609020204030204" pitchFamily="49" charset="0"/>
              </a:rPr>
              <a:t>counter</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G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reg</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2</a:t>
            </a:r>
            <a:r>
              <a:rPr lang="it-IT" sz="1100" b="0" dirty="0">
                <a:solidFill>
                  <a:srgbClr val="CCCCCC"/>
                </a:solidFill>
                <a:effectLst/>
                <a:highlight>
                  <a:srgbClr val="1F1F1F"/>
                </a:highlight>
                <a:latin typeface="Consolas" panose="020B0609020204030204" pitchFamily="49" charset="0"/>
              </a:rPr>
              <a:t>:</a:t>
            </a:r>
            <a:r>
              <a:rPr lang="it-IT" sz="1100" b="0" dirty="0">
                <a:solidFill>
                  <a:srgbClr val="B5CEA8"/>
                </a:solidFill>
                <a:effectLst/>
                <a:highlight>
                  <a:srgbClr val="1F1F1F"/>
                </a:highlight>
                <a:latin typeface="Consolas" panose="020B0609020204030204" pitchFamily="49" charset="0"/>
              </a:rPr>
              <a:t>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3’d0</a:t>
            </a:r>
            <a:r>
              <a:rPr lang="it-IT" sz="1100" b="0" dirty="0">
                <a:solidFill>
                  <a:srgbClr val="CCCCCC"/>
                </a:solidFill>
                <a:effectLst/>
                <a:highlight>
                  <a:srgbClr val="1F1F1F"/>
                </a:highlight>
                <a:latin typeface="Consolas" panose="020B0609020204030204" pitchFamily="49" charset="0"/>
              </a:rPr>
              <a:t>; </a:t>
            </a:r>
            <a:r>
              <a:rPr lang="it-IT" sz="1100" b="0" dirty="0">
                <a:solidFill>
                  <a:srgbClr val="6A9955"/>
                </a:solidFill>
                <a:effectLst/>
                <a:highlight>
                  <a:srgbClr val="1F1F1F"/>
                </a:highlight>
                <a:latin typeface="Consolas" panose="020B0609020204030204" pitchFamily="49" charset="0"/>
              </a:rPr>
              <a:t>// WARNING: non sintetizzabile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always</a:t>
            </a:r>
            <a:r>
              <a:rPr lang="it-IT" sz="1100" b="0" dirty="0">
                <a:solidFill>
                  <a:srgbClr val="CCCCCC"/>
                </a:solidFill>
                <a:effectLst/>
                <a:highlight>
                  <a:srgbClr val="1F1F1F"/>
                </a:highlight>
                <a:latin typeface="Consolas" panose="020B0609020204030204" pitchFamily="49" charset="0"/>
              </a:rPr>
              <a:t> @( </a:t>
            </a:r>
            <a:r>
              <a:rPr lang="it-IT" sz="1100" b="0" dirty="0" err="1">
                <a:solidFill>
                  <a:schemeClr val="bg1"/>
                </a:solidFill>
                <a:effectLst/>
                <a:highlight>
                  <a:srgbClr val="FFFF00"/>
                </a:highlight>
                <a:latin typeface="Consolas" panose="020B0609020204030204" pitchFamily="49" charset="0"/>
              </a:rPr>
              <a:t>posedge</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 </a:t>
            </a:r>
            <a:r>
              <a:rPr lang="it-IT" sz="1100" b="0" dirty="0" err="1">
                <a:solidFill>
                  <a:srgbClr val="569CD6"/>
                </a:solidFill>
                <a:effectLst/>
                <a:highlight>
                  <a:srgbClr val="1F1F1F"/>
                </a:highlight>
                <a:latin typeface="Consolas" panose="020B0609020204030204" pitchFamily="49" charset="0"/>
              </a:rPr>
              <a:t>begin</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case</a:t>
            </a:r>
            <a:r>
              <a:rPr lang="it-IT" sz="1100" b="0" dirty="0">
                <a:solidFill>
                  <a:srgbClr val="CCCCCC"/>
                </a:solidFill>
                <a:effectLst/>
                <a:highlight>
                  <a:srgbClr val="1F1F1F"/>
                </a:highlight>
                <a:latin typeface="Consolas" panose="020B0609020204030204" pitchFamily="49" charset="0"/>
              </a:rPr>
              <a:t>( S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endcase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end</a:t>
            </a:r>
            <a:endParaRPr lang="it-IT" sz="1100" b="0" dirty="0">
              <a:solidFill>
                <a:srgbClr val="CCCCCC"/>
              </a:solidFill>
              <a:effectLst/>
              <a:highlight>
                <a:srgbClr val="1F1F1F"/>
              </a:highlight>
              <a:latin typeface="Consolas" panose="020B0609020204030204" pitchFamily="49" charset="0"/>
            </a:endParaRPr>
          </a:p>
          <a:p>
            <a:r>
              <a:rPr lang="it-IT" sz="1100" b="0" dirty="0" err="1">
                <a:solidFill>
                  <a:srgbClr val="569CD6"/>
                </a:solidFill>
                <a:effectLst/>
                <a:highlight>
                  <a:srgbClr val="1F1F1F"/>
                </a:highlight>
                <a:latin typeface="Consolas" panose="020B0609020204030204" pitchFamily="49" charset="0"/>
              </a:rPr>
              <a:t>endmodule</a:t>
            </a:r>
            <a:endParaRPr lang="it-IT" sz="1100" b="0" dirty="0">
              <a:solidFill>
                <a:srgbClr val="CCCCCC"/>
              </a:solidFill>
              <a:effectLst/>
              <a:highlight>
                <a:srgbClr val="1F1F1F"/>
              </a:highlight>
              <a:latin typeface="Consolas" panose="020B0609020204030204" pitchFamily="49" charset="0"/>
            </a:endParaRPr>
          </a:p>
        </p:txBody>
      </p:sp>
      <mc:AlternateContent xmlns:mc="http://schemas.openxmlformats.org/markup-compatibility/2006" xmlns:a14="http://schemas.microsoft.com/office/drawing/2010/main">
        <mc:Choice Requires="a14">
          <p:sp>
            <p:nvSpPr>
              <p:cNvPr id="6" name="Segnaposto contenuto 2">
                <a:extLst>
                  <a:ext uri="{FF2B5EF4-FFF2-40B4-BE49-F238E27FC236}">
                    <a16:creationId xmlns:a16="http://schemas.microsoft.com/office/drawing/2014/main" id="{11454517-9DFC-AEA9-65EE-84036C21684E}"/>
                  </a:ext>
                </a:extLst>
              </p:cNvPr>
              <p:cNvSpPr txBox="1">
                <a:spLocks/>
              </p:cNvSpPr>
              <p:nvPr/>
            </p:nvSpPr>
            <p:spPr>
              <a:xfrm>
                <a:off x="1141411" y="1105231"/>
                <a:ext cx="9982463" cy="274319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Il </a:t>
                </a:r>
                <a:r>
                  <a:rPr lang="en-US" dirty="0" err="1"/>
                  <a:t>blocco</a:t>
                </a:r>
                <a:r>
                  <a:rPr lang="en-US" dirty="0"/>
                  <a:t> </a:t>
                </a:r>
                <a:r>
                  <a:rPr lang="en-US" i="1" dirty="0"/>
                  <a:t>always</a:t>
                </a:r>
              </a:p>
              <a:p>
                <a:r>
                  <a:rPr lang="it-IT" dirty="0"/>
                  <a:t>Un </a:t>
                </a:r>
                <a:r>
                  <a:rPr lang="it-IT" i="1" dirty="0"/>
                  <a:t>reg</a:t>
                </a:r>
                <a:r>
                  <a:rPr lang="it-IT" dirty="0"/>
                  <a:t> rappresenta un registro se è usato all'interno di un </a:t>
                </a:r>
                <a:br>
                  <a:rPr lang="it-IT" dirty="0"/>
                </a:br>
                <a:r>
                  <a:rPr lang="it-IT" dirty="0"/>
                  <a:t>blocco </a:t>
                </a:r>
                <a:r>
                  <a:rPr lang="it-IT" i="1" dirty="0" err="1"/>
                  <a:t>always</a:t>
                </a:r>
                <a:r>
                  <a:rPr lang="it-IT" dirty="0"/>
                  <a:t> con logica sequenziale sincrona, la quale </a:t>
                </a:r>
                <a:br>
                  <a:rPr lang="it-IT" dirty="0"/>
                </a:br>
                <a:r>
                  <a:rPr lang="it-IT" dirty="0"/>
                  <a:t>è generata specificando la lista dei segnali nella «</a:t>
                </a:r>
                <a:r>
                  <a:rPr lang="it-IT" dirty="0" err="1"/>
                  <a:t>sensivity</a:t>
                </a:r>
                <a:r>
                  <a:rPr lang="it-IT" dirty="0"/>
                  <a:t> </a:t>
                </a:r>
                <a:br>
                  <a:rPr lang="it-IT" dirty="0"/>
                </a:br>
                <a:r>
                  <a:rPr lang="it-IT" dirty="0"/>
                  <a:t>list» del blocco </a:t>
                </a:r>
                <a:r>
                  <a:rPr lang="it-IT" i="1" dirty="0" err="1"/>
                  <a:t>always</a:t>
                </a:r>
                <a:r>
                  <a:rPr lang="it-IT" dirty="0"/>
                  <a:t>.</a:t>
                </a:r>
              </a:p>
              <a:p>
                <a:r>
                  <a:rPr lang="it-IT" dirty="0"/>
                  <a:t>Inoltre, con le keyword </a:t>
                </a:r>
                <a:r>
                  <a:rPr lang="it-IT" i="1" dirty="0" err="1">
                    <a:solidFill>
                      <a:srgbClr val="FFFF00"/>
                    </a:solidFill>
                  </a:rPr>
                  <a:t>posedge</a:t>
                </a:r>
                <a:r>
                  <a:rPr lang="it-IT" dirty="0"/>
                  <a:t> e </a:t>
                </a:r>
                <a:r>
                  <a:rPr lang="it-IT" i="1" dirty="0" err="1"/>
                  <a:t>negedge</a:t>
                </a:r>
                <a:r>
                  <a:rPr lang="it-IT" dirty="0"/>
                  <a:t> è possibile </a:t>
                </a:r>
                <a:br>
                  <a:rPr lang="it-IT" dirty="0"/>
                </a:br>
                <a:r>
                  <a:rPr lang="it-IT" dirty="0"/>
                  <a:t>indicare su quale fronte (variazione del segnale) viene </a:t>
                </a:r>
                <a:br>
                  <a:rPr lang="it-IT" dirty="0"/>
                </a:br>
                <a:r>
                  <a:rPr lang="it-IT" dirty="0"/>
                  <a:t>attivato il blocco </a:t>
                </a:r>
                <a:r>
                  <a:rPr lang="it-IT" i="1" dirty="0" err="1"/>
                  <a:t>always</a:t>
                </a:r>
                <a:r>
                  <a:rPr lang="it-IT" i="1" dirty="0"/>
                  <a:t>; </a:t>
                </a:r>
                <a:r>
                  <a:rPr lang="it-IT" i="1" dirty="0" err="1"/>
                  <a:t>posedge</a:t>
                </a:r>
                <a:r>
                  <a:rPr lang="it-IT" i="1" dirty="0"/>
                  <a:t> 0</a:t>
                </a:r>
                <a14:m>
                  <m:oMath xmlns:m="http://schemas.openxmlformats.org/officeDocument/2006/math">
                    <m:r>
                      <a:rPr lang="it-IT" i="1" smtClean="0">
                        <a:latin typeface="Cambria Math" panose="02040503050406030204" pitchFamily="18" charset="0"/>
                        <a:ea typeface="Cambria Math" panose="02040503050406030204" pitchFamily="18" charset="0"/>
                      </a:rPr>
                      <m:t>→</m:t>
                    </m:r>
                  </m:oMath>
                </a14:m>
                <a:r>
                  <a:rPr lang="it-IT" i="1" dirty="0"/>
                  <a:t>1, </a:t>
                </a:r>
                <a:r>
                  <a:rPr lang="it-IT" i="1" dirty="0" err="1"/>
                  <a:t>negedge</a:t>
                </a:r>
                <a:r>
                  <a:rPr lang="it-IT" i="1" dirty="0"/>
                  <a:t> 1</a:t>
                </a:r>
                <a14:m>
                  <m:oMath xmlns:m="http://schemas.openxmlformats.org/officeDocument/2006/math">
                    <m:r>
                      <a:rPr lang="it-IT" i="1">
                        <a:latin typeface="Cambria Math" panose="02040503050406030204" pitchFamily="18" charset="0"/>
                        <a:ea typeface="Cambria Math" panose="02040503050406030204" pitchFamily="18" charset="0"/>
                      </a:rPr>
                      <m:t>→ </m:t>
                    </m:r>
                  </m:oMath>
                </a14:m>
                <a:r>
                  <a:rPr lang="it-IT" i="1" dirty="0"/>
                  <a:t>0.</a:t>
                </a:r>
                <a:endParaRPr lang="it-IT" dirty="0"/>
              </a:p>
            </p:txBody>
          </p:sp>
        </mc:Choice>
        <mc:Fallback xmlns="">
          <p:sp>
            <p:nvSpPr>
              <p:cNvPr id="6" name="Segnaposto contenuto 2">
                <a:extLst>
                  <a:ext uri="{FF2B5EF4-FFF2-40B4-BE49-F238E27FC236}">
                    <a16:creationId xmlns:a16="http://schemas.microsoft.com/office/drawing/2014/main" id="{11454517-9DFC-AEA9-65EE-84036C21684E}"/>
                  </a:ext>
                </a:extLst>
              </p:cNvPr>
              <p:cNvSpPr txBox="1">
                <a:spLocks noRot="1" noChangeAspect="1" noMove="1" noResize="1" noEditPoints="1" noAdjustHandles="1" noChangeArrowheads="1" noChangeShapeType="1" noTextEdit="1"/>
              </p:cNvSpPr>
              <p:nvPr/>
            </p:nvSpPr>
            <p:spPr>
              <a:xfrm>
                <a:off x="1141411" y="1105231"/>
                <a:ext cx="9982463" cy="2743199"/>
              </a:xfrm>
              <a:prstGeom prst="rect">
                <a:avLst/>
              </a:prstGeom>
              <a:blipFill>
                <a:blip r:embed="rId2"/>
                <a:stretch>
                  <a:fillRect l="-733" t="-1333" b="-889"/>
                </a:stretch>
              </a:blipFill>
            </p:spPr>
            <p:txBody>
              <a:bodyPr/>
              <a:lstStyle/>
              <a:p>
                <a:r>
                  <a:rPr lang="it-IT">
                    <a:noFill/>
                  </a:rPr>
                  <a:t> </a:t>
                </a:r>
              </a:p>
            </p:txBody>
          </p:sp>
        </mc:Fallback>
      </mc:AlternateContent>
    </p:spTree>
    <p:extLst>
      <p:ext uri="{BB962C8B-B14F-4D97-AF65-F5344CB8AC3E}">
        <p14:creationId xmlns:p14="http://schemas.microsoft.com/office/powerpoint/2010/main" val="36688113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105232"/>
                <a:ext cx="9982463" cy="4627658"/>
              </a:xfrm>
            </p:spPr>
            <p:txBody>
              <a:bodyPr>
                <a:normAutofit fontScale="77500" lnSpcReduction="20000"/>
              </a:bodyPr>
              <a:lstStyle/>
              <a:p>
                <a:pPr marL="0" indent="0">
                  <a:buNone/>
                </a:pPr>
                <a:r>
                  <a:rPr lang="en-US" dirty="0"/>
                  <a:t>Il </a:t>
                </a:r>
                <a:r>
                  <a:rPr lang="en-US" dirty="0" err="1"/>
                  <a:t>blocco</a:t>
                </a:r>
                <a:r>
                  <a:rPr lang="en-US" dirty="0"/>
                  <a:t> </a:t>
                </a:r>
                <a:r>
                  <a:rPr lang="en-US" i="1" dirty="0"/>
                  <a:t>always</a:t>
                </a:r>
              </a:p>
              <a:p>
                <a:r>
                  <a:rPr lang="it-IT" dirty="0"/>
                  <a:t>Un </a:t>
                </a:r>
                <a:r>
                  <a:rPr lang="it-IT" i="1" dirty="0"/>
                  <a:t>reg</a:t>
                </a:r>
                <a:r>
                  <a:rPr lang="it-IT" dirty="0"/>
                  <a:t> rappresenta un registro se è usato all'interno di un </a:t>
                </a:r>
                <a:br>
                  <a:rPr lang="it-IT" dirty="0"/>
                </a:br>
                <a:r>
                  <a:rPr lang="it-IT" dirty="0"/>
                  <a:t>blocco </a:t>
                </a:r>
                <a:r>
                  <a:rPr lang="it-IT" i="1" dirty="0" err="1"/>
                  <a:t>always</a:t>
                </a:r>
                <a:r>
                  <a:rPr lang="it-IT" dirty="0"/>
                  <a:t> con logica sequenziale sincrona, la quale </a:t>
                </a:r>
                <a:br>
                  <a:rPr lang="it-IT" dirty="0"/>
                </a:br>
                <a:r>
                  <a:rPr lang="it-IT" dirty="0"/>
                  <a:t>è generata specificando la lista dei segnali nella «</a:t>
                </a:r>
                <a:r>
                  <a:rPr lang="it-IT" dirty="0" err="1"/>
                  <a:t>sensivity</a:t>
                </a:r>
                <a:r>
                  <a:rPr lang="it-IT" dirty="0"/>
                  <a:t> </a:t>
                </a:r>
                <a:br>
                  <a:rPr lang="it-IT" dirty="0"/>
                </a:br>
                <a:r>
                  <a:rPr lang="it-IT" dirty="0"/>
                  <a:t>list» del blocco </a:t>
                </a:r>
                <a:r>
                  <a:rPr lang="it-IT" i="1" dirty="0" err="1"/>
                  <a:t>always</a:t>
                </a:r>
                <a:r>
                  <a:rPr lang="it-IT" dirty="0"/>
                  <a:t>.</a:t>
                </a:r>
              </a:p>
              <a:p>
                <a:r>
                  <a:rPr lang="it-IT" dirty="0"/>
                  <a:t>Inoltre, con le keyword </a:t>
                </a:r>
                <a:r>
                  <a:rPr lang="it-IT" i="1" dirty="0" err="1"/>
                  <a:t>posedge</a:t>
                </a:r>
                <a:r>
                  <a:rPr lang="it-IT" dirty="0"/>
                  <a:t> e </a:t>
                </a:r>
                <a:r>
                  <a:rPr lang="it-IT" i="1" dirty="0" err="1"/>
                  <a:t>negedge</a:t>
                </a:r>
                <a:r>
                  <a:rPr lang="it-IT" dirty="0"/>
                  <a:t> è possibile </a:t>
                </a:r>
                <a:br>
                  <a:rPr lang="it-IT" dirty="0"/>
                </a:br>
                <a:r>
                  <a:rPr lang="it-IT" dirty="0"/>
                  <a:t>indicare su quale fronte (variazione del segnale) viene </a:t>
                </a:r>
                <a:br>
                  <a:rPr lang="it-IT" dirty="0"/>
                </a:br>
                <a:r>
                  <a:rPr lang="it-IT" dirty="0"/>
                  <a:t>attivato il blocco </a:t>
                </a:r>
                <a:r>
                  <a:rPr lang="it-IT" i="1" dirty="0" err="1"/>
                  <a:t>always</a:t>
                </a:r>
                <a:r>
                  <a:rPr lang="it-IT" i="1" dirty="0"/>
                  <a:t>; </a:t>
                </a:r>
                <a:r>
                  <a:rPr lang="it-IT" i="1" dirty="0" err="1"/>
                  <a:t>posedge</a:t>
                </a:r>
                <a:r>
                  <a:rPr lang="it-IT" i="1" dirty="0"/>
                  <a:t> 0</a:t>
                </a:r>
                <a14:m>
                  <m:oMath xmlns:m="http://schemas.openxmlformats.org/officeDocument/2006/math">
                    <m:r>
                      <a:rPr lang="it-IT" i="1" smtClean="0">
                        <a:latin typeface="Cambria Math" panose="02040503050406030204" pitchFamily="18" charset="0"/>
                        <a:ea typeface="Cambria Math" panose="02040503050406030204" pitchFamily="18" charset="0"/>
                      </a:rPr>
                      <m:t>→</m:t>
                    </m:r>
                  </m:oMath>
                </a14:m>
                <a:r>
                  <a:rPr lang="it-IT" i="1" dirty="0"/>
                  <a:t>1, </a:t>
                </a:r>
                <a:r>
                  <a:rPr lang="it-IT" i="1" dirty="0" err="1"/>
                  <a:t>negedge</a:t>
                </a:r>
                <a:r>
                  <a:rPr lang="it-IT" i="1" dirty="0"/>
                  <a:t> 1</a:t>
                </a:r>
                <a14:m>
                  <m:oMath xmlns:m="http://schemas.openxmlformats.org/officeDocument/2006/math">
                    <m:r>
                      <a:rPr lang="it-IT" i="1">
                        <a:latin typeface="Cambria Math" panose="02040503050406030204" pitchFamily="18" charset="0"/>
                        <a:ea typeface="Cambria Math" panose="02040503050406030204" pitchFamily="18" charset="0"/>
                      </a:rPr>
                      <m:t>→ </m:t>
                    </m:r>
                  </m:oMath>
                </a14:m>
                <a:r>
                  <a:rPr lang="it-IT" i="1" dirty="0"/>
                  <a:t>0.</a:t>
                </a:r>
                <a:endParaRPr lang="it-IT" dirty="0"/>
              </a:p>
              <a:p>
                <a:r>
                  <a:rPr lang="it-IT" dirty="0"/>
                  <a:t>All’interno del blocco </a:t>
                </a:r>
                <a:r>
                  <a:rPr lang="it-IT" i="1" dirty="0" err="1"/>
                  <a:t>always</a:t>
                </a:r>
                <a:r>
                  <a:rPr lang="it-IT" dirty="0"/>
                  <a:t>, è contenuto uno </a:t>
                </a:r>
                <a:r>
                  <a:rPr lang="it-IT" dirty="0" err="1"/>
                  <a:t>statement</a:t>
                </a:r>
                <a:r>
                  <a:rPr lang="it-IT" dirty="0"/>
                  <a:t> </a:t>
                </a:r>
                <a:br>
                  <a:rPr lang="it-IT" dirty="0"/>
                </a:br>
                <a:r>
                  <a:rPr lang="it-IT" i="1" dirty="0">
                    <a:solidFill>
                      <a:srgbClr val="FFFF00"/>
                    </a:solidFill>
                  </a:rPr>
                  <a:t>case</a:t>
                </a:r>
                <a:r>
                  <a:rPr lang="it-IT" dirty="0"/>
                  <a:t> che serve a sintetizzare la funzione di prossimo stato, </a:t>
                </a:r>
                <a:br>
                  <a:rPr lang="it-IT" dirty="0"/>
                </a:br>
                <a:r>
                  <a:rPr lang="it-IT" dirty="0"/>
                  <a:t>ripresa dall’esempio del contatore Gray/Binario visto in precedenza. Com’è noto, la funzione che calcola il prossimo stato è una struttura combinatoria e si può notare che in questo caso non sono state utilizzate delle equazioni per definirla. I blocchi </a:t>
                </a:r>
                <a:r>
                  <a:rPr lang="it-IT" i="1" dirty="0" err="1"/>
                  <a:t>always</a:t>
                </a:r>
                <a:r>
                  <a:rPr lang="it-IT" dirty="0"/>
                  <a:t> possono rendere il codice più leggibile e immediato da comprendere.</a:t>
                </a:r>
              </a:p>
            </p:txBody>
          </p:sp>
        </mc:Choice>
        <mc:Fallback xmlns="">
          <p:sp>
            <p:nvSpPr>
              <p:cNvPr id="3" name="Segnaposto contenuto 2">
                <a:extLst>
                  <a:ext uri="{FF2B5EF4-FFF2-40B4-BE49-F238E27FC236}">
                    <a16:creationId xmlns:a16="http://schemas.microsoft.com/office/drawing/2014/main" id="{E5263DDB-373B-EAA4-8628-924DA43E44AB}"/>
                  </a:ext>
                </a:extLst>
              </p:cNvPr>
              <p:cNvSpPr>
                <a:spLocks noGrp="1" noRot="1" noChangeAspect="1" noMove="1" noResize="1" noEditPoints="1" noAdjustHandles="1" noChangeArrowheads="1" noChangeShapeType="1" noTextEdit="1"/>
              </p:cNvSpPr>
              <p:nvPr>
                <p:ph idx="1"/>
              </p:nvPr>
            </p:nvSpPr>
            <p:spPr>
              <a:xfrm>
                <a:off x="1141411" y="1105232"/>
                <a:ext cx="9982463" cy="4627658"/>
              </a:xfrm>
              <a:blipFill>
                <a:blip r:embed="rId2"/>
                <a:stretch>
                  <a:fillRect l="-733" t="-791"/>
                </a:stretch>
              </a:blipFill>
            </p:spPr>
            <p:txBody>
              <a:bodyPr/>
              <a:lstStyle/>
              <a:p>
                <a:r>
                  <a:rPr lang="it-IT">
                    <a:noFill/>
                  </a:rPr>
                  <a:t> </a:t>
                </a:r>
              </a:p>
            </p:txBody>
          </p:sp>
        </mc:Fallback>
      </mc:AlternateContent>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(14/3)</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279420" y="1483178"/>
            <a:ext cx="4583926" cy="2800767"/>
          </a:xfrm>
          <a:prstGeom prst="rect">
            <a:avLst/>
          </a:prstGeom>
          <a:solidFill>
            <a:srgbClr val="1F1F1F"/>
          </a:solidFill>
          <a:ln w="38100">
            <a:solidFill>
              <a:schemeClr val="accent5">
                <a:lumMod val="75000"/>
              </a:schemeClr>
            </a:solidFill>
          </a:ln>
        </p:spPr>
        <p:txBody>
          <a:bodyPr wrap="square" rtlCol="0">
            <a:spAutoFit/>
          </a:bodyPr>
          <a:lstStyle/>
          <a:p>
            <a:r>
              <a:rPr lang="it-IT" sz="1100" b="0" dirty="0" err="1">
                <a:solidFill>
                  <a:srgbClr val="569CD6"/>
                </a:solidFill>
                <a:effectLst/>
                <a:highlight>
                  <a:srgbClr val="1F1F1F"/>
                </a:highlight>
                <a:latin typeface="Consolas" panose="020B0609020204030204" pitchFamily="49" charset="0"/>
              </a:rPr>
              <a:t>module</a:t>
            </a:r>
            <a:r>
              <a:rPr lang="it-IT" sz="1100" b="0" dirty="0">
                <a:solidFill>
                  <a:srgbClr val="CCCCCC"/>
                </a:solidFill>
                <a:effectLst/>
                <a:highlight>
                  <a:srgbClr val="1F1F1F"/>
                </a:highlight>
                <a:latin typeface="Consolas" panose="020B0609020204030204" pitchFamily="49" charset="0"/>
              </a:rPr>
              <a:t> </a:t>
            </a:r>
            <a:r>
              <a:rPr lang="it-IT" sz="1100" b="0" dirty="0">
                <a:solidFill>
                  <a:srgbClr val="4EC9B0"/>
                </a:solidFill>
                <a:effectLst/>
                <a:highlight>
                  <a:srgbClr val="1F1F1F"/>
                </a:highlight>
                <a:latin typeface="Consolas" panose="020B0609020204030204" pitchFamily="49" charset="0"/>
              </a:rPr>
              <a:t>counter</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G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reg</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2</a:t>
            </a:r>
            <a:r>
              <a:rPr lang="it-IT" sz="1100" b="0" dirty="0">
                <a:solidFill>
                  <a:srgbClr val="CCCCCC"/>
                </a:solidFill>
                <a:effectLst/>
                <a:highlight>
                  <a:srgbClr val="1F1F1F"/>
                </a:highlight>
                <a:latin typeface="Consolas" panose="020B0609020204030204" pitchFamily="49" charset="0"/>
              </a:rPr>
              <a:t>:</a:t>
            </a:r>
            <a:r>
              <a:rPr lang="it-IT" sz="1100" b="0" dirty="0">
                <a:solidFill>
                  <a:srgbClr val="B5CEA8"/>
                </a:solidFill>
                <a:effectLst/>
                <a:highlight>
                  <a:srgbClr val="1F1F1F"/>
                </a:highlight>
                <a:latin typeface="Consolas" panose="020B0609020204030204" pitchFamily="49" charset="0"/>
              </a:rPr>
              <a:t>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3’d0</a:t>
            </a:r>
            <a:r>
              <a:rPr lang="it-IT" sz="1100" b="0" dirty="0">
                <a:solidFill>
                  <a:srgbClr val="CCCCCC"/>
                </a:solidFill>
                <a:effectLst/>
                <a:highlight>
                  <a:srgbClr val="1F1F1F"/>
                </a:highlight>
                <a:latin typeface="Consolas" panose="020B0609020204030204" pitchFamily="49" charset="0"/>
              </a:rPr>
              <a:t>; </a:t>
            </a:r>
            <a:r>
              <a:rPr lang="it-IT" sz="1100" b="0" dirty="0">
                <a:solidFill>
                  <a:srgbClr val="6A9955"/>
                </a:solidFill>
                <a:effectLst/>
                <a:highlight>
                  <a:srgbClr val="1F1F1F"/>
                </a:highlight>
                <a:latin typeface="Consolas" panose="020B0609020204030204" pitchFamily="49" charset="0"/>
              </a:rPr>
              <a:t>// WARNING: non sintetizzabile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always</a:t>
            </a:r>
            <a:r>
              <a:rPr lang="it-IT" sz="1100" b="0" dirty="0">
                <a:solidFill>
                  <a:srgbClr val="CCCCCC"/>
                </a:solidFill>
                <a:effectLst/>
                <a:highlight>
                  <a:srgbClr val="1F1F1F"/>
                </a:highlight>
                <a:latin typeface="Consolas" panose="020B0609020204030204" pitchFamily="49" charset="0"/>
              </a:rPr>
              <a:t> @( </a:t>
            </a:r>
            <a:r>
              <a:rPr lang="it-IT" sz="1100" b="0" dirty="0" err="1">
                <a:solidFill>
                  <a:srgbClr val="569CD6"/>
                </a:solidFill>
                <a:effectLst/>
                <a:highlight>
                  <a:srgbClr val="1F1F1F"/>
                </a:highlight>
                <a:latin typeface="Consolas" panose="020B0609020204030204" pitchFamily="49" charset="0"/>
              </a:rPr>
              <a:t>posedge</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a:t>
            </a:r>
            <a:r>
              <a:rPr lang="it-IT" sz="1100" b="0" dirty="0">
                <a:solidFill>
                  <a:schemeClr val="bg1"/>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begin</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case</a:t>
            </a:r>
            <a:r>
              <a:rPr lang="it-IT" sz="1100" b="0" dirty="0">
                <a:solidFill>
                  <a:srgbClr val="CCCCCC"/>
                </a:solidFill>
                <a:effectLst/>
                <a:highlight>
                  <a:srgbClr val="1F1F1F"/>
                </a:highlight>
                <a:latin typeface="Consolas" panose="020B0609020204030204" pitchFamily="49" charset="0"/>
              </a:rPr>
              <a:t>( S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endcase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end</a:t>
            </a:r>
            <a:endParaRPr lang="it-IT" sz="1100" b="0" dirty="0">
              <a:solidFill>
                <a:srgbClr val="CCCCCC"/>
              </a:solidFill>
              <a:effectLst/>
              <a:highlight>
                <a:srgbClr val="1F1F1F"/>
              </a:highlight>
              <a:latin typeface="Consolas" panose="020B0609020204030204" pitchFamily="49" charset="0"/>
            </a:endParaRPr>
          </a:p>
          <a:p>
            <a:r>
              <a:rPr lang="it-IT" sz="1100" b="0" dirty="0" err="1">
                <a:solidFill>
                  <a:srgbClr val="569CD6"/>
                </a:solidFill>
                <a:effectLst/>
                <a:highlight>
                  <a:srgbClr val="1F1F1F"/>
                </a:highlight>
                <a:latin typeface="Consolas" panose="020B0609020204030204" pitchFamily="49" charset="0"/>
              </a:rPr>
              <a:t>endmodule</a:t>
            </a:r>
            <a:endParaRPr lang="it-IT" sz="1100" b="0" dirty="0">
              <a:solidFill>
                <a:srgbClr val="CCCCCC"/>
              </a:solidFill>
              <a:effectLst/>
              <a:highlight>
                <a:srgbClr val="1F1F1F"/>
              </a:highlight>
              <a:latin typeface="Consolas" panose="020B0609020204030204" pitchFamily="49" charset="0"/>
            </a:endParaRPr>
          </a:p>
        </p:txBody>
      </p:sp>
      <p:sp>
        <p:nvSpPr>
          <p:cNvPr id="5" name="Rettangolo 4">
            <a:extLst>
              <a:ext uri="{FF2B5EF4-FFF2-40B4-BE49-F238E27FC236}">
                <a16:creationId xmlns:a16="http://schemas.microsoft.com/office/drawing/2014/main" id="{6883197C-B91B-061B-2D26-A3DC369A7E35}"/>
              </a:ext>
            </a:extLst>
          </p:cNvPr>
          <p:cNvSpPr/>
          <p:nvPr/>
        </p:nvSpPr>
        <p:spPr>
          <a:xfrm>
            <a:off x="7649155" y="2210462"/>
            <a:ext cx="2838616" cy="166977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6" name="Elemento grafico 5">
            <a:extLst>
              <a:ext uri="{FF2B5EF4-FFF2-40B4-BE49-F238E27FC236}">
                <a16:creationId xmlns:a16="http://schemas.microsoft.com/office/drawing/2014/main" id="{733C0900-ABE1-E4CF-7A40-94AC098A67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67199" y="1827377"/>
            <a:ext cx="1192780" cy="1900584"/>
          </a:xfrm>
          <a:prstGeom prst="rect">
            <a:avLst/>
          </a:prstGeom>
        </p:spPr>
      </p:pic>
    </p:spTree>
    <p:extLst>
      <p:ext uri="{BB962C8B-B14F-4D97-AF65-F5344CB8AC3E}">
        <p14:creationId xmlns:p14="http://schemas.microsoft.com/office/powerpoint/2010/main" val="237463889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105231"/>
                <a:ext cx="9982463" cy="5752769"/>
              </a:xfrm>
            </p:spPr>
            <p:txBody>
              <a:bodyPr>
                <a:normAutofit fontScale="77500" lnSpcReduction="20000"/>
              </a:bodyPr>
              <a:lstStyle/>
              <a:p>
                <a:pPr marL="0" indent="0">
                  <a:buNone/>
                </a:pPr>
                <a:r>
                  <a:rPr lang="en-US" dirty="0"/>
                  <a:t>Il </a:t>
                </a:r>
                <a:r>
                  <a:rPr lang="en-US" dirty="0" err="1"/>
                  <a:t>blocco</a:t>
                </a:r>
                <a:r>
                  <a:rPr lang="en-US" dirty="0"/>
                  <a:t> </a:t>
                </a:r>
                <a:r>
                  <a:rPr lang="en-US" i="1" dirty="0"/>
                  <a:t>always</a:t>
                </a:r>
              </a:p>
              <a:p>
                <a:r>
                  <a:rPr lang="it-IT" dirty="0"/>
                  <a:t>Un </a:t>
                </a:r>
                <a:r>
                  <a:rPr lang="it-IT" i="1" dirty="0"/>
                  <a:t>reg</a:t>
                </a:r>
                <a:r>
                  <a:rPr lang="it-IT" dirty="0"/>
                  <a:t> rappresenta un registro se è usato all'interno di un </a:t>
                </a:r>
                <a:br>
                  <a:rPr lang="it-IT" dirty="0"/>
                </a:br>
                <a:r>
                  <a:rPr lang="it-IT" dirty="0"/>
                  <a:t>blocco </a:t>
                </a:r>
                <a:r>
                  <a:rPr lang="it-IT" i="1" dirty="0" err="1"/>
                  <a:t>always</a:t>
                </a:r>
                <a:r>
                  <a:rPr lang="it-IT" dirty="0"/>
                  <a:t> con logica sequenziale sincrona, la quale </a:t>
                </a:r>
                <a:br>
                  <a:rPr lang="it-IT" dirty="0"/>
                </a:br>
                <a:r>
                  <a:rPr lang="it-IT" dirty="0"/>
                  <a:t>è generata specificando la lista dei segnali nella «</a:t>
                </a:r>
                <a:r>
                  <a:rPr lang="it-IT" dirty="0" err="1"/>
                  <a:t>sensivity</a:t>
                </a:r>
                <a:r>
                  <a:rPr lang="it-IT" dirty="0"/>
                  <a:t> </a:t>
                </a:r>
                <a:br>
                  <a:rPr lang="it-IT" dirty="0"/>
                </a:br>
                <a:r>
                  <a:rPr lang="it-IT" dirty="0"/>
                  <a:t>list» del blocco </a:t>
                </a:r>
                <a:r>
                  <a:rPr lang="it-IT" i="1" dirty="0" err="1"/>
                  <a:t>always</a:t>
                </a:r>
                <a:r>
                  <a:rPr lang="it-IT" dirty="0"/>
                  <a:t>.</a:t>
                </a:r>
              </a:p>
              <a:p>
                <a:r>
                  <a:rPr lang="it-IT" dirty="0"/>
                  <a:t>Inoltre, con le keyword </a:t>
                </a:r>
                <a:r>
                  <a:rPr lang="it-IT" i="1" dirty="0" err="1"/>
                  <a:t>posedge</a:t>
                </a:r>
                <a:r>
                  <a:rPr lang="it-IT" dirty="0"/>
                  <a:t> e </a:t>
                </a:r>
                <a:r>
                  <a:rPr lang="it-IT" i="1" dirty="0" err="1"/>
                  <a:t>negedge</a:t>
                </a:r>
                <a:r>
                  <a:rPr lang="it-IT" dirty="0"/>
                  <a:t> è possibile </a:t>
                </a:r>
                <a:br>
                  <a:rPr lang="it-IT" dirty="0"/>
                </a:br>
                <a:r>
                  <a:rPr lang="it-IT" dirty="0"/>
                  <a:t>indicare su quale fronte (variazione del segnale) viene </a:t>
                </a:r>
                <a:br>
                  <a:rPr lang="it-IT" dirty="0"/>
                </a:br>
                <a:r>
                  <a:rPr lang="it-IT" dirty="0"/>
                  <a:t>attivato il blocco </a:t>
                </a:r>
                <a:r>
                  <a:rPr lang="it-IT" i="1" dirty="0" err="1"/>
                  <a:t>always</a:t>
                </a:r>
                <a:r>
                  <a:rPr lang="it-IT" i="1" dirty="0"/>
                  <a:t>; </a:t>
                </a:r>
                <a:r>
                  <a:rPr lang="it-IT" i="1" dirty="0" err="1"/>
                  <a:t>posedge</a:t>
                </a:r>
                <a:r>
                  <a:rPr lang="it-IT" i="1" dirty="0"/>
                  <a:t> 0</a:t>
                </a:r>
                <a14:m>
                  <m:oMath xmlns:m="http://schemas.openxmlformats.org/officeDocument/2006/math">
                    <m:r>
                      <a:rPr lang="it-IT" i="1" smtClean="0">
                        <a:latin typeface="Cambria Math" panose="02040503050406030204" pitchFamily="18" charset="0"/>
                        <a:ea typeface="Cambria Math" panose="02040503050406030204" pitchFamily="18" charset="0"/>
                      </a:rPr>
                      <m:t>→</m:t>
                    </m:r>
                  </m:oMath>
                </a14:m>
                <a:r>
                  <a:rPr lang="it-IT" i="1" dirty="0"/>
                  <a:t>1, </a:t>
                </a:r>
                <a:r>
                  <a:rPr lang="it-IT" i="1" dirty="0" err="1"/>
                  <a:t>negedge</a:t>
                </a:r>
                <a:r>
                  <a:rPr lang="it-IT" i="1" dirty="0"/>
                  <a:t> 1</a:t>
                </a:r>
                <a14:m>
                  <m:oMath xmlns:m="http://schemas.openxmlformats.org/officeDocument/2006/math">
                    <m:r>
                      <a:rPr lang="it-IT" i="1">
                        <a:latin typeface="Cambria Math" panose="02040503050406030204" pitchFamily="18" charset="0"/>
                        <a:ea typeface="Cambria Math" panose="02040503050406030204" pitchFamily="18" charset="0"/>
                      </a:rPr>
                      <m:t>→ </m:t>
                    </m:r>
                  </m:oMath>
                </a14:m>
                <a:r>
                  <a:rPr lang="it-IT" i="1" dirty="0"/>
                  <a:t>0.</a:t>
                </a:r>
                <a:endParaRPr lang="it-IT" dirty="0"/>
              </a:p>
              <a:p>
                <a:r>
                  <a:rPr lang="it-IT" dirty="0"/>
                  <a:t>All’interno del blocco </a:t>
                </a:r>
                <a:r>
                  <a:rPr lang="it-IT" i="1" dirty="0" err="1"/>
                  <a:t>always</a:t>
                </a:r>
                <a:r>
                  <a:rPr lang="it-IT" dirty="0"/>
                  <a:t>, è contenuto uno </a:t>
                </a:r>
                <a:r>
                  <a:rPr lang="it-IT" dirty="0" err="1"/>
                  <a:t>statement</a:t>
                </a:r>
                <a:r>
                  <a:rPr lang="it-IT" dirty="0"/>
                  <a:t> </a:t>
                </a:r>
                <a:br>
                  <a:rPr lang="it-IT" dirty="0"/>
                </a:br>
                <a:r>
                  <a:rPr lang="it-IT" i="1" dirty="0"/>
                  <a:t>case</a:t>
                </a:r>
                <a:r>
                  <a:rPr lang="it-IT" dirty="0"/>
                  <a:t> che serve a sintetizzare la funzione di prossimo stato, </a:t>
                </a:r>
                <a:br>
                  <a:rPr lang="it-IT" dirty="0"/>
                </a:br>
                <a:r>
                  <a:rPr lang="it-IT" dirty="0"/>
                  <a:t>ripreso dall’esempio del contatore Gray/Binario visto in precedenza. Com’è noto, la funzione che calcola il prossimo stato è una struttura combinatoria e si può notare che in questo caso non sono state utilizzate delle equazioni per definirla. I blocchi </a:t>
                </a:r>
                <a:r>
                  <a:rPr lang="it-IT" i="1" dirty="0" err="1"/>
                  <a:t>always</a:t>
                </a:r>
                <a:r>
                  <a:rPr lang="it-IT" dirty="0"/>
                  <a:t> possono rendere il codice più leggibile e immediato da comprendere.</a:t>
                </a:r>
              </a:p>
              <a:p>
                <a:r>
                  <a:rPr lang="it-IT" dirty="0" err="1"/>
                  <a:t>Verilog</a:t>
                </a:r>
                <a:r>
                  <a:rPr lang="it-IT" dirty="0"/>
                  <a:t> ha due operatori di assegnazione: bloccante (=) e non bloccante (</a:t>
                </a:r>
                <a:r>
                  <a:rPr lang="it-IT" dirty="0">
                    <a:solidFill>
                      <a:srgbClr val="FFFF00"/>
                    </a:solidFill>
                  </a:rPr>
                  <a:t>&lt;=</a:t>
                </a:r>
                <a:r>
                  <a:rPr lang="it-IT" dirty="0"/>
                  <a:t>). L'operatore bloccante (=) si usa per la logica combinatoria e quello non bloccante per la logica sequenziale sincrona.</a:t>
                </a:r>
                <a:endParaRPr lang="en-US" dirty="0"/>
              </a:p>
            </p:txBody>
          </p:sp>
        </mc:Choice>
        <mc:Fallback xmlns="">
          <p:sp>
            <p:nvSpPr>
              <p:cNvPr id="3" name="Segnaposto contenuto 2">
                <a:extLst>
                  <a:ext uri="{FF2B5EF4-FFF2-40B4-BE49-F238E27FC236}">
                    <a16:creationId xmlns:a16="http://schemas.microsoft.com/office/drawing/2014/main" id="{E5263DDB-373B-EAA4-8628-924DA43E44AB}"/>
                  </a:ext>
                </a:extLst>
              </p:cNvPr>
              <p:cNvSpPr>
                <a:spLocks noGrp="1" noRot="1" noChangeAspect="1" noMove="1" noResize="1" noEditPoints="1" noAdjustHandles="1" noChangeArrowheads="1" noChangeShapeType="1" noTextEdit="1"/>
              </p:cNvSpPr>
              <p:nvPr>
                <p:ph idx="1"/>
              </p:nvPr>
            </p:nvSpPr>
            <p:spPr>
              <a:xfrm>
                <a:off x="1141411" y="1105231"/>
                <a:ext cx="9982463" cy="5752769"/>
              </a:xfrm>
              <a:blipFill>
                <a:blip r:embed="rId2"/>
                <a:stretch>
                  <a:fillRect l="-733" t="-636"/>
                </a:stretch>
              </a:blipFill>
            </p:spPr>
            <p:txBody>
              <a:bodyPr/>
              <a:lstStyle/>
              <a:p>
                <a:r>
                  <a:rPr lang="it-IT">
                    <a:noFill/>
                  </a:rPr>
                  <a:t> </a:t>
                </a:r>
              </a:p>
            </p:txBody>
          </p:sp>
        </mc:Fallback>
      </mc:AlternateContent>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(14/4)</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279420" y="1483178"/>
            <a:ext cx="4583926" cy="2800767"/>
          </a:xfrm>
          <a:prstGeom prst="rect">
            <a:avLst/>
          </a:prstGeom>
          <a:solidFill>
            <a:srgbClr val="1F1F1F"/>
          </a:solidFill>
          <a:ln w="38100">
            <a:solidFill>
              <a:schemeClr val="accent5">
                <a:lumMod val="75000"/>
              </a:schemeClr>
            </a:solidFill>
          </a:ln>
        </p:spPr>
        <p:txBody>
          <a:bodyPr wrap="square" rtlCol="0">
            <a:spAutoFit/>
          </a:bodyPr>
          <a:lstStyle/>
          <a:p>
            <a:r>
              <a:rPr lang="it-IT" sz="1100" b="0" dirty="0" err="1">
                <a:solidFill>
                  <a:srgbClr val="569CD6"/>
                </a:solidFill>
                <a:effectLst/>
                <a:highlight>
                  <a:srgbClr val="1F1F1F"/>
                </a:highlight>
                <a:latin typeface="Consolas" panose="020B0609020204030204" pitchFamily="49" charset="0"/>
              </a:rPr>
              <a:t>module</a:t>
            </a:r>
            <a:r>
              <a:rPr lang="it-IT" sz="1100" b="0" dirty="0">
                <a:solidFill>
                  <a:srgbClr val="CCCCCC"/>
                </a:solidFill>
                <a:effectLst/>
                <a:highlight>
                  <a:srgbClr val="1F1F1F"/>
                </a:highlight>
                <a:latin typeface="Consolas" panose="020B0609020204030204" pitchFamily="49" charset="0"/>
              </a:rPr>
              <a:t> </a:t>
            </a:r>
            <a:r>
              <a:rPr lang="it-IT" sz="1100" b="0" dirty="0">
                <a:solidFill>
                  <a:srgbClr val="4EC9B0"/>
                </a:solidFill>
                <a:effectLst/>
                <a:highlight>
                  <a:srgbClr val="1F1F1F"/>
                </a:highlight>
                <a:latin typeface="Consolas" panose="020B0609020204030204" pitchFamily="49" charset="0"/>
              </a:rPr>
              <a:t>counter</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input</a:t>
            </a:r>
            <a:r>
              <a:rPr lang="it-IT" sz="1100" b="0" dirty="0">
                <a:solidFill>
                  <a:srgbClr val="CCCCCC"/>
                </a:solidFill>
                <a:effectLst/>
                <a:highlight>
                  <a:srgbClr val="1F1F1F"/>
                </a:highlight>
                <a:latin typeface="Consolas" panose="020B0609020204030204" pitchFamily="49" charset="0"/>
              </a:rPr>
              <a:t> G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reg</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2</a:t>
            </a:r>
            <a:r>
              <a:rPr lang="it-IT" sz="1100" b="0" dirty="0">
                <a:solidFill>
                  <a:srgbClr val="CCCCCC"/>
                </a:solidFill>
                <a:effectLst/>
                <a:highlight>
                  <a:srgbClr val="1F1F1F"/>
                </a:highlight>
                <a:latin typeface="Consolas" panose="020B0609020204030204" pitchFamily="49" charset="0"/>
              </a:rPr>
              <a:t>:</a:t>
            </a:r>
            <a:r>
              <a:rPr lang="it-IT" sz="1100" b="0" dirty="0">
                <a:solidFill>
                  <a:srgbClr val="B5CEA8"/>
                </a:solidFill>
                <a:effectLst/>
                <a:highlight>
                  <a:srgbClr val="1F1F1F"/>
                </a:highlight>
                <a:latin typeface="Consolas" panose="020B0609020204030204" pitchFamily="49" charset="0"/>
              </a:rPr>
              <a:t>0</a:t>
            </a:r>
            <a:r>
              <a:rPr lang="it-IT" sz="1100" b="0" dirty="0">
                <a:solidFill>
                  <a:srgbClr val="CCCCCC"/>
                </a:solidFill>
                <a:effectLst/>
                <a:highlight>
                  <a:srgbClr val="1F1F1F"/>
                </a:highlight>
                <a:latin typeface="Consolas" panose="020B0609020204030204" pitchFamily="49" charset="0"/>
              </a:rPr>
              <a:t>] S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3’d0</a:t>
            </a:r>
            <a:r>
              <a:rPr lang="it-IT" sz="1100" b="0" dirty="0">
                <a:solidFill>
                  <a:srgbClr val="CCCCCC"/>
                </a:solidFill>
                <a:effectLst/>
                <a:highlight>
                  <a:srgbClr val="1F1F1F"/>
                </a:highlight>
                <a:latin typeface="Consolas" panose="020B0609020204030204" pitchFamily="49" charset="0"/>
              </a:rPr>
              <a:t>; </a:t>
            </a:r>
            <a:r>
              <a:rPr lang="it-IT" sz="1100" b="0" dirty="0">
                <a:solidFill>
                  <a:srgbClr val="6A9955"/>
                </a:solidFill>
                <a:effectLst/>
                <a:highlight>
                  <a:srgbClr val="1F1F1F"/>
                </a:highlight>
                <a:latin typeface="Consolas" panose="020B0609020204030204" pitchFamily="49" charset="0"/>
              </a:rPr>
              <a:t>// WARNING: non sintetizzabile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always</a:t>
            </a:r>
            <a:r>
              <a:rPr lang="it-IT" sz="1100" b="0" dirty="0">
                <a:solidFill>
                  <a:srgbClr val="CCCCCC"/>
                </a:solidFill>
                <a:effectLst/>
                <a:highlight>
                  <a:srgbClr val="1F1F1F"/>
                </a:highlight>
                <a:latin typeface="Consolas" panose="020B0609020204030204" pitchFamily="49" charset="0"/>
              </a:rPr>
              <a:t> @( </a:t>
            </a:r>
            <a:r>
              <a:rPr lang="it-IT" sz="1100" b="0" dirty="0" err="1">
                <a:solidFill>
                  <a:srgbClr val="569CD6"/>
                </a:solidFill>
                <a:effectLst/>
                <a:highlight>
                  <a:srgbClr val="1F1F1F"/>
                </a:highlight>
                <a:latin typeface="Consolas" panose="020B0609020204030204" pitchFamily="49" charset="0"/>
              </a:rPr>
              <a:t>posedge</a:t>
            </a:r>
            <a:r>
              <a:rPr lang="it-IT" sz="1100" b="0" dirty="0">
                <a:solidFill>
                  <a:srgbClr val="CCCCCC"/>
                </a:solidFill>
                <a:effectLst/>
                <a:highlight>
                  <a:srgbClr val="1F1F1F"/>
                </a:highlight>
                <a:latin typeface="Consolas" panose="020B0609020204030204" pitchFamily="49" charset="0"/>
              </a:rPr>
              <a:t> </a:t>
            </a:r>
            <a:r>
              <a:rPr lang="it-IT" sz="1100" b="0" dirty="0" err="1">
                <a:solidFill>
                  <a:srgbClr val="CCCCCC"/>
                </a:solidFill>
                <a:effectLst/>
                <a:highlight>
                  <a:srgbClr val="1F1F1F"/>
                </a:highlight>
                <a:latin typeface="Consolas" panose="020B0609020204030204" pitchFamily="49" charset="0"/>
              </a:rPr>
              <a:t>Clk</a:t>
            </a:r>
            <a:r>
              <a:rPr lang="it-IT" sz="1100" b="0" dirty="0">
                <a:solidFill>
                  <a:srgbClr val="CCCCCC"/>
                </a:solidFill>
                <a:effectLst/>
                <a:highlight>
                  <a:srgbClr val="1F1F1F"/>
                </a:highlight>
                <a:latin typeface="Consolas" panose="020B0609020204030204" pitchFamily="49" charset="0"/>
              </a:rPr>
              <a:t> )</a:t>
            </a:r>
            <a:r>
              <a:rPr lang="it-IT" sz="1100" b="0" dirty="0">
                <a:solidFill>
                  <a:schemeClr val="bg1"/>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begin</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case</a:t>
            </a:r>
            <a:r>
              <a:rPr lang="it-IT" sz="1100" b="0" dirty="0">
                <a:solidFill>
                  <a:srgbClr val="CCCCCC"/>
                </a:solidFill>
                <a:effectLst/>
                <a:highlight>
                  <a:srgbClr val="1F1F1F"/>
                </a:highlight>
                <a:latin typeface="Consolas" panose="020B0609020204030204" pitchFamily="49" charset="0"/>
              </a:rPr>
              <a:t>( S )</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3'b001</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3'b011</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3'b010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3'b100</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3'b110</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B5CEA8"/>
                </a:solidFill>
                <a:effectLst/>
                <a:highlight>
                  <a:srgbClr val="1F1F1F"/>
                </a:highlight>
                <a:latin typeface="Consolas" panose="020B0609020204030204" pitchFamily="49" charset="0"/>
              </a:rPr>
              <a:t>3'b111</a:t>
            </a:r>
            <a:r>
              <a:rPr lang="it-IT" sz="1100" b="0" dirty="0">
                <a:solidFill>
                  <a:srgbClr val="CCCCCC"/>
                </a:solidFill>
                <a:effectLst/>
                <a:highlight>
                  <a:srgbClr val="1F1F1F"/>
                </a:highlight>
                <a:latin typeface="Consolas" panose="020B0609020204030204" pitchFamily="49" charset="0"/>
              </a:rPr>
              <a:t>: S </a:t>
            </a:r>
            <a:r>
              <a:rPr lang="it-IT" sz="1100" b="0" dirty="0">
                <a:solidFill>
                  <a:schemeClr val="bg1"/>
                </a:solidFill>
                <a:effectLst/>
                <a:highlight>
                  <a:srgbClr val="FFFF00"/>
                </a:highlight>
                <a:latin typeface="Consolas" panose="020B0609020204030204" pitchFamily="49" charset="0"/>
              </a:rPr>
              <a:t>&lt;=</a:t>
            </a:r>
            <a:r>
              <a:rPr lang="it-IT" sz="1100" b="0" dirty="0">
                <a:solidFill>
                  <a:srgbClr val="CCCCCC"/>
                </a:solidFill>
                <a:effectLst/>
                <a:highlight>
                  <a:srgbClr val="1F1F1F"/>
                </a:highlight>
                <a:latin typeface="Consolas" panose="020B0609020204030204" pitchFamily="49" charset="0"/>
              </a:rPr>
              <a:t> </a:t>
            </a:r>
            <a:r>
              <a:rPr lang="it-IT" sz="1100" b="0" dirty="0">
                <a:solidFill>
                  <a:srgbClr val="D4D4D4"/>
                </a:solidFill>
                <a:effectLst/>
                <a:highlight>
                  <a:srgbClr val="1F1F1F"/>
                </a:highlight>
                <a:latin typeface="Consolas" panose="020B0609020204030204" pitchFamily="49" charset="0"/>
              </a:rPr>
              <a:t>!</a:t>
            </a:r>
            <a:r>
              <a:rPr lang="it-IT" sz="1100" b="0" dirty="0">
                <a:solidFill>
                  <a:srgbClr val="CCCCCC"/>
                </a:solidFill>
                <a:effectLst/>
                <a:highlight>
                  <a:srgbClr val="1F1F1F"/>
                </a:highlight>
                <a:latin typeface="Consolas" panose="020B0609020204030204" pitchFamily="49" charset="0"/>
              </a:rPr>
              <a:t>G ? </a:t>
            </a:r>
            <a:r>
              <a:rPr lang="it-IT" sz="1100" b="0" dirty="0">
                <a:solidFill>
                  <a:srgbClr val="B5CEA8"/>
                </a:solidFill>
                <a:effectLst/>
                <a:highlight>
                  <a:srgbClr val="1F1F1F"/>
                </a:highlight>
                <a:latin typeface="Consolas" panose="020B0609020204030204" pitchFamily="49" charset="0"/>
              </a:rPr>
              <a:t>3'b000</a:t>
            </a:r>
            <a:r>
              <a:rPr lang="it-IT" sz="1100" b="0" dirty="0">
                <a:solidFill>
                  <a:srgbClr val="CCCCCC"/>
                </a:solidFill>
                <a:effectLst/>
                <a:highlight>
                  <a:srgbClr val="1F1F1F"/>
                </a:highlight>
                <a:latin typeface="Consolas" panose="020B0609020204030204" pitchFamily="49" charset="0"/>
              </a:rPr>
              <a:t> : </a:t>
            </a:r>
            <a:r>
              <a:rPr lang="it-IT" sz="1100" b="0" dirty="0">
                <a:solidFill>
                  <a:srgbClr val="B5CEA8"/>
                </a:solidFill>
                <a:effectLst/>
                <a:highlight>
                  <a:srgbClr val="1F1F1F"/>
                </a:highlight>
                <a:latin typeface="Consolas" panose="020B0609020204030204" pitchFamily="49" charset="0"/>
              </a:rPr>
              <a:t>3'b101</a:t>
            </a:r>
            <a:r>
              <a:rPr lang="it-IT" sz="1100" b="0" dirty="0">
                <a:solidFill>
                  <a:srgbClr val="CCCCCC"/>
                </a:solidFill>
                <a:effectLst/>
                <a:highlight>
                  <a:srgbClr val="1F1F1F"/>
                </a:highlight>
                <a:latin typeface="Consolas" panose="020B0609020204030204" pitchFamily="49" charset="0"/>
              </a:rPr>
              <a:t>;</a:t>
            </a:r>
          </a:p>
          <a:p>
            <a:r>
              <a:rPr lang="it-IT" sz="1100" b="0" dirty="0">
                <a:solidFill>
                  <a:srgbClr val="CCCCCC"/>
                </a:solidFill>
                <a:effectLst/>
                <a:highlight>
                  <a:srgbClr val="1F1F1F"/>
                </a:highlight>
                <a:latin typeface="Consolas" panose="020B0609020204030204" pitchFamily="49" charset="0"/>
              </a:rPr>
              <a:t>    </a:t>
            </a:r>
            <a:r>
              <a:rPr lang="it-IT" sz="1100" b="0" dirty="0" err="1">
                <a:solidFill>
                  <a:srgbClr val="569CD6"/>
                </a:solidFill>
                <a:effectLst/>
                <a:highlight>
                  <a:srgbClr val="1F1F1F"/>
                </a:highlight>
                <a:latin typeface="Consolas" panose="020B0609020204030204" pitchFamily="49" charset="0"/>
              </a:rPr>
              <a:t>endcase</a:t>
            </a:r>
            <a:endParaRPr lang="it-IT" sz="1100" b="0" dirty="0">
              <a:solidFill>
                <a:srgbClr val="CCCCCC"/>
              </a:solidFill>
              <a:effectLst/>
              <a:highlight>
                <a:srgbClr val="1F1F1F"/>
              </a:highlight>
              <a:latin typeface="Consolas" panose="020B0609020204030204" pitchFamily="49" charset="0"/>
            </a:endParaRPr>
          </a:p>
          <a:p>
            <a:r>
              <a:rPr lang="it-IT" sz="1100" b="0" dirty="0">
                <a:solidFill>
                  <a:srgbClr val="CCCCCC"/>
                </a:solidFill>
                <a:effectLst/>
                <a:highlight>
                  <a:srgbClr val="1F1F1F"/>
                </a:highlight>
                <a:latin typeface="Consolas" panose="020B0609020204030204" pitchFamily="49" charset="0"/>
              </a:rPr>
              <a:t>  </a:t>
            </a:r>
            <a:r>
              <a:rPr lang="it-IT" sz="1100" b="0" dirty="0">
                <a:solidFill>
                  <a:srgbClr val="569CD6"/>
                </a:solidFill>
                <a:effectLst/>
                <a:highlight>
                  <a:srgbClr val="1F1F1F"/>
                </a:highlight>
                <a:latin typeface="Consolas" panose="020B0609020204030204" pitchFamily="49" charset="0"/>
              </a:rPr>
              <a:t>end</a:t>
            </a:r>
            <a:endParaRPr lang="it-IT" sz="1100" b="0" dirty="0">
              <a:solidFill>
                <a:srgbClr val="CCCCCC"/>
              </a:solidFill>
              <a:effectLst/>
              <a:highlight>
                <a:srgbClr val="1F1F1F"/>
              </a:highlight>
              <a:latin typeface="Consolas" panose="020B0609020204030204" pitchFamily="49" charset="0"/>
            </a:endParaRPr>
          </a:p>
          <a:p>
            <a:r>
              <a:rPr lang="it-IT" sz="1100" b="0" dirty="0" err="1">
                <a:solidFill>
                  <a:srgbClr val="569CD6"/>
                </a:solidFill>
                <a:effectLst/>
                <a:highlight>
                  <a:srgbClr val="1F1F1F"/>
                </a:highlight>
                <a:latin typeface="Consolas" panose="020B0609020204030204" pitchFamily="49" charset="0"/>
              </a:rPr>
              <a:t>endmodule</a:t>
            </a:r>
            <a:endParaRPr lang="it-IT" sz="11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380543895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6515694" cy="2092084"/>
          </a:xfrm>
        </p:spPr>
        <p:txBody>
          <a:bodyPr>
            <a:normAutofit fontScale="85000" lnSpcReduction="20000"/>
          </a:bodyPr>
          <a:lstStyle/>
          <a:p>
            <a:pPr marL="0" indent="0">
              <a:buNone/>
            </a:pPr>
            <a:r>
              <a:rPr lang="it-IT" dirty="0"/>
              <a:t>I moduli “Test </a:t>
            </a:r>
            <a:r>
              <a:rPr lang="it-IT" dirty="0" err="1"/>
              <a:t>Bench</a:t>
            </a:r>
            <a:r>
              <a:rPr lang="it-IT" dirty="0"/>
              <a:t>”</a:t>
            </a:r>
          </a:p>
          <a:p>
            <a:r>
              <a:rPr lang="it-IT" dirty="0"/>
              <a:t>In aggiunta al modulo del contatore vero e proprio, serve un modulo aggiuntivo (</a:t>
            </a:r>
            <a:r>
              <a:rPr lang="it-IT" dirty="0">
                <a:solidFill>
                  <a:srgbClr val="FFFF00"/>
                </a:solidFill>
              </a:rPr>
              <a:t>clock</a:t>
            </a:r>
            <a:r>
              <a:rPr lang="it-IT" dirty="0"/>
              <a:t>) che genera la cadenza (</a:t>
            </a:r>
            <a:r>
              <a:rPr lang="it-IT" dirty="0" err="1"/>
              <a:t>clk_gen</a:t>
            </a:r>
            <a:r>
              <a:rPr lang="it-IT" dirty="0"/>
              <a:t>). Questo modulo, così com’è scritto non è sintetizzabile, ma questo non è un problema in quanto serve solo per generare uno dei due vettori di test (Cp) per counter_1.</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(15/1)</a:t>
            </a:r>
          </a:p>
        </p:txBody>
      </p:sp>
      <p:sp>
        <p:nvSpPr>
          <p:cNvPr id="6" name="CasellaDiTesto 5">
            <a:extLst>
              <a:ext uri="{FF2B5EF4-FFF2-40B4-BE49-F238E27FC236}">
                <a16:creationId xmlns:a16="http://schemas.microsoft.com/office/drawing/2014/main" id="{AAB7AEDF-521A-801C-B253-A29B4A115451}"/>
              </a:ext>
            </a:extLst>
          </p:cNvPr>
          <p:cNvSpPr txBox="1"/>
          <p:nvPr/>
        </p:nvSpPr>
        <p:spPr>
          <a:xfrm>
            <a:off x="7792278" y="1336915"/>
            <a:ext cx="3816627" cy="4832092"/>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6A9955"/>
                </a:solidFill>
                <a:effectLst/>
                <a:highlight>
                  <a:srgbClr val="1F1F1F"/>
                </a:highlight>
                <a:latin typeface="Consolas" panose="020B0609020204030204" pitchFamily="49" charset="0"/>
              </a:rPr>
              <a:t>// 0=Bin 1=Gray</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Cp;</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#102</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#108</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clk_gen</a:t>
            </a:r>
            <a:r>
              <a:rPr lang="it-IT" sz="1100" b="0" noProof="1">
                <a:solidFill>
                  <a:srgbClr val="CCCCCC"/>
                </a:solidFill>
                <a:effectLst/>
                <a:highlight>
                  <a:srgbClr val="1F1F1F"/>
                </a:highlight>
                <a:latin typeface="Consolas" panose="020B0609020204030204" pitchFamily="49" charset="0"/>
              </a:rPr>
              <a:t>( .Out( Cp )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counter_1</a:t>
            </a:r>
            <a:r>
              <a:rPr lang="it-IT" sz="1100" b="0" noProof="1">
                <a:solidFill>
                  <a:srgbClr val="CCCCCC"/>
                </a:solidFill>
                <a:effectLst/>
                <a:highlight>
                  <a:srgbClr val="1F1F1F"/>
                </a:highlight>
                <a:latin typeface="Consolas" panose="020B0609020204030204" pitchFamily="49" charset="0"/>
              </a:rPr>
              <a:t>( .Clk( Cp ), .G( Mode )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WARNING: modulo non sintetizzabile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Out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#5</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Out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7" name="Rettangolo 6">
            <a:extLst>
              <a:ext uri="{FF2B5EF4-FFF2-40B4-BE49-F238E27FC236}">
                <a16:creationId xmlns:a16="http://schemas.microsoft.com/office/drawing/2014/main" id="{34FB1C7E-EC93-F4A1-E2D2-B344C2719DD8}"/>
              </a:ext>
            </a:extLst>
          </p:cNvPr>
          <p:cNvSpPr/>
          <p:nvPr/>
        </p:nvSpPr>
        <p:spPr>
          <a:xfrm>
            <a:off x="7850126" y="4230035"/>
            <a:ext cx="3077155" cy="18606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3700124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6515694" cy="2956788"/>
          </a:xfrm>
        </p:spPr>
        <p:txBody>
          <a:bodyPr>
            <a:normAutofit fontScale="85000" lnSpcReduction="20000"/>
          </a:bodyPr>
          <a:lstStyle/>
          <a:p>
            <a:pPr marL="0" indent="0">
              <a:buNone/>
            </a:pPr>
            <a:r>
              <a:rPr lang="it-IT" dirty="0"/>
              <a:t>I moduli “Test </a:t>
            </a:r>
            <a:r>
              <a:rPr lang="it-IT" dirty="0" err="1"/>
              <a:t>Bench</a:t>
            </a:r>
            <a:r>
              <a:rPr lang="it-IT" dirty="0"/>
              <a:t>”</a:t>
            </a:r>
          </a:p>
          <a:p>
            <a:r>
              <a:rPr lang="it-IT" dirty="0"/>
              <a:t>In aggiunta al modulo del contatore vero e proprio, serve un modulo aggiuntivo (clock) che genera la cadenza (</a:t>
            </a:r>
            <a:r>
              <a:rPr lang="it-IT" dirty="0" err="1"/>
              <a:t>clk_gen</a:t>
            </a:r>
            <a:r>
              <a:rPr lang="it-IT" dirty="0"/>
              <a:t>). Questo modulo, così com’è scritto non è sintetizzabile, ma questo non è un problema in quanto serve solo per generare uno dei due vettori di test (Cp) per counter_1.</a:t>
            </a:r>
          </a:p>
          <a:p>
            <a:r>
              <a:rPr lang="it-IT" dirty="0"/>
              <a:t>I due moduli dichiarati dentro </a:t>
            </a:r>
            <a:r>
              <a:rPr lang="it-IT" i="1" dirty="0" err="1"/>
              <a:t>tf</a:t>
            </a:r>
            <a:r>
              <a:rPr lang="it-IT" dirty="0"/>
              <a:t>, cioè </a:t>
            </a:r>
            <a:r>
              <a:rPr lang="it-IT" dirty="0" err="1">
                <a:solidFill>
                  <a:srgbClr val="FFFF00"/>
                </a:solidFill>
              </a:rPr>
              <a:t>clk_gen</a:t>
            </a:r>
            <a:r>
              <a:rPr lang="it-IT" dirty="0"/>
              <a:t> e </a:t>
            </a:r>
            <a:r>
              <a:rPr lang="it-IT" dirty="0">
                <a:solidFill>
                  <a:srgbClr val="FFFF00"/>
                </a:solidFill>
              </a:rPr>
              <a:t>counter_1</a:t>
            </a:r>
            <a:r>
              <a:rPr lang="it-IT" dirty="0"/>
              <a:t>, sono interconnessi fra loro tramite la net </a:t>
            </a:r>
            <a:r>
              <a:rPr lang="it-IT" dirty="0">
                <a:solidFill>
                  <a:srgbClr val="FFFF00"/>
                </a:solidFill>
              </a:rPr>
              <a:t>Cp</a:t>
            </a:r>
            <a:r>
              <a:rPr lang="it-IT" dirty="0"/>
              <a:t> (</a:t>
            </a:r>
            <a:r>
              <a:rPr lang="it-IT" i="1" dirty="0" err="1"/>
              <a:t>wire</a:t>
            </a:r>
            <a:r>
              <a:rPr lang="it-IT" dirty="0"/>
              <a:t>).</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(15/2)</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792278" y="1336915"/>
            <a:ext cx="3816627" cy="4832092"/>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6A9955"/>
                </a:solidFill>
                <a:effectLst/>
                <a:highlight>
                  <a:srgbClr val="1F1F1F"/>
                </a:highlight>
                <a:latin typeface="Consolas" panose="020B0609020204030204" pitchFamily="49" charset="0"/>
              </a:rPr>
              <a:t>// 0=Bin 1=Gray</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wire Cp;</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#102</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#108</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clk_gen</a:t>
            </a:r>
            <a:r>
              <a:rPr lang="it-IT" sz="1100" b="0" noProof="1">
                <a:solidFill>
                  <a:srgbClr val="CCCCCC"/>
                </a:solidFill>
                <a:effectLst/>
                <a:highlight>
                  <a:srgbClr val="1F1F1F"/>
                </a:highlight>
                <a:latin typeface="Consolas" panose="020B0609020204030204" pitchFamily="49" charset="0"/>
              </a:rPr>
              <a:t>( .Out( </a:t>
            </a:r>
            <a:r>
              <a:rPr lang="it-IT" sz="1100" b="0" noProof="1">
                <a:solidFill>
                  <a:schemeClr val="bg1"/>
                </a:solidFill>
                <a:effectLst/>
                <a:highlight>
                  <a:srgbClr val="FFFF00"/>
                </a:highlight>
                <a:latin typeface="Consolas" panose="020B0609020204030204" pitchFamily="49" charset="0"/>
              </a:rPr>
              <a:t>Cp</a:t>
            </a:r>
            <a:r>
              <a:rPr lang="it-IT" sz="1100" b="0" noProof="1">
                <a:solidFill>
                  <a:srgbClr val="CCCCCC"/>
                </a:solidFill>
                <a:effectLst/>
                <a:highlight>
                  <a:srgbClr val="1F1F1F"/>
                </a:highlight>
                <a:latin typeface="Consolas" panose="020B0609020204030204" pitchFamily="49" charset="0"/>
              </a:rPr>
              <a:t> )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counter_1</a:t>
            </a:r>
            <a:r>
              <a:rPr lang="it-IT" sz="1100" b="0" noProof="1">
                <a:solidFill>
                  <a:srgbClr val="CCCCCC"/>
                </a:solidFill>
                <a:effectLst/>
                <a:highlight>
                  <a:srgbClr val="1F1F1F"/>
                </a:highlight>
                <a:latin typeface="Consolas" panose="020B0609020204030204" pitchFamily="49" charset="0"/>
              </a:rPr>
              <a:t>( .Clk( </a:t>
            </a:r>
            <a:r>
              <a:rPr lang="it-IT" sz="1100" b="0" noProof="1">
                <a:solidFill>
                  <a:schemeClr val="bg1"/>
                </a:solidFill>
                <a:effectLst/>
                <a:highlight>
                  <a:srgbClr val="FFFF00"/>
                </a:highlight>
                <a:latin typeface="Consolas" panose="020B0609020204030204" pitchFamily="49" charset="0"/>
              </a:rPr>
              <a:t>Cp</a:t>
            </a:r>
            <a:r>
              <a:rPr lang="it-IT" sz="1100" b="0" noProof="1">
                <a:solidFill>
                  <a:srgbClr val="CCCCCC"/>
                </a:solidFill>
                <a:effectLst/>
                <a:highlight>
                  <a:srgbClr val="1F1F1F"/>
                </a:highlight>
                <a:latin typeface="Consolas" panose="020B0609020204030204" pitchFamily="49" charset="0"/>
              </a:rPr>
              <a:t> ), .G( Mode )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WARNING: modulo non sintetizzabile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Out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#5</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Out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375370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515694" cy="5170645"/>
          </a:xfrm>
        </p:spPr>
        <p:txBody>
          <a:bodyPr>
            <a:normAutofit fontScale="85000" lnSpcReduction="20000"/>
          </a:bodyPr>
          <a:lstStyle/>
          <a:p>
            <a:pPr marL="0" indent="0">
              <a:buNone/>
            </a:pPr>
            <a:r>
              <a:rPr lang="it-IT" dirty="0"/>
              <a:t>I moduli “Test </a:t>
            </a:r>
            <a:r>
              <a:rPr lang="it-IT" dirty="0" err="1"/>
              <a:t>Bench</a:t>
            </a:r>
            <a:r>
              <a:rPr lang="it-IT" dirty="0"/>
              <a:t>”</a:t>
            </a:r>
          </a:p>
          <a:p>
            <a:r>
              <a:rPr lang="it-IT" dirty="0"/>
              <a:t>In aggiunta al modulo del contatore vero e proprio, serve un modulo aggiuntivo (clock) che genera la cadenza (</a:t>
            </a:r>
            <a:r>
              <a:rPr lang="it-IT" dirty="0" err="1"/>
              <a:t>clk_gen</a:t>
            </a:r>
            <a:r>
              <a:rPr lang="it-IT" dirty="0"/>
              <a:t>). Questo modulo, così com’è scritto non è sintetizzabile, ma questo non è un problema in quanto serve solo per generare uno dei due vettori di test (Cp) per counter_1.</a:t>
            </a:r>
          </a:p>
          <a:p>
            <a:r>
              <a:rPr lang="it-IT" dirty="0"/>
              <a:t>I due moduli dichiarati dentro </a:t>
            </a:r>
            <a:r>
              <a:rPr lang="it-IT" dirty="0" err="1"/>
              <a:t>tf</a:t>
            </a:r>
            <a:r>
              <a:rPr lang="it-IT" dirty="0"/>
              <a:t>, cioè </a:t>
            </a:r>
            <a:r>
              <a:rPr lang="it-IT" dirty="0" err="1"/>
              <a:t>clk_gen</a:t>
            </a:r>
            <a:r>
              <a:rPr lang="it-IT" dirty="0"/>
              <a:t> e counter_1, sono interconnessi fra loro tramite la net Cp (</a:t>
            </a:r>
            <a:r>
              <a:rPr lang="it-IT" dirty="0" err="1"/>
              <a:t>wire</a:t>
            </a:r>
            <a:r>
              <a:rPr lang="it-IT" dirty="0"/>
              <a:t>).</a:t>
            </a:r>
          </a:p>
          <a:p>
            <a:r>
              <a:rPr lang="it-IT" dirty="0"/>
              <a:t>Nell’esempio ci sono due costrutti che iniziano con $. </a:t>
            </a:r>
            <a:br>
              <a:rPr lang="it-IT" dirty="0"/>
            </a:br>
            <a:r>
              <a:rPr lang="it-IT" dirty="0"/>
              <a:t>Il primo (</a:t>
            </a:r>
            <a:r>
              <a:rPr lang="it-IT" dirty="0">
                <a:solidFill>
                  <a:srgbClr val="FFFF00"/>
                </a:solidFill>
              </a:rPr>
              <a:t>$</a:t>
            </a:r>
            <a:r>
              <a:rPr lang="it-IT" dirty="0" err="1">
                <a:solidFill>
                  <a:srgbClr val="FFFF00"/>
                </a:solidFill>
              </a:rPr>
              <a:t>dumpvars</a:t>
            </a:r>
            <a:r>
              <a:rPr lang="it-IT" dirty="0"/>
              <a:t>) istruisce il simulatore a considerare la futura osservazione di tutte le net del modulo principale (il </a:t>
            </a:r>
            <a:r>
              <a:rPr lang="it-IT" u="sng" dirty="0"/>
              <a:t>top </a:t>
            </a:r>
            <a:r>
              <a:rPr lang="it-IT" u="sng" dirty="0" err="1"/>
              <a:t>module</a:t>
            </a:r>
            <a:r>
              <a:rPr lang="it-IT" dirty="0"/>
              <a:t> </a:t>
            </a:r>
            <a:r>
              <a:rPr lang="it-IT" i="1" dirty="0" err="1"/>
              <a:t>tf</a:t>
            </a:r>
            <a:r>
              <a:rPr lang="it-IT" dirty="0"/>
              <a:t>).</a:t>
            </a:r>
            <a:br>
              <a:rPr lang="it-IT" dirty="0"/>
            </a:br>
            <a:br>
              <a:rPr lang="it-IT" dirty="0"/>
            </a:br>
            <a:r>
              <a:rPr lang="it-IT" dirty="0"/>
              <a:t>Il secondo costrutto è </a:t>
            </a:r>
            <a:r>
              <a:rPr lang="it-IT" dirty="0">
                <a:solidFill>
                  <a:srgbClr val="FFFF00"/>
                </a:solidFill>
              </a:rPr>
              <a:t>$finish</a:t>
            </a:r>
            <a:r>
              <a:rPr lang="it-IT" dirty="0"/>
              <a:t>. Questa «task di sistema» dice al simulatore di interrompersi e terminare.</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it-IT" dirty="0"/>
              <a:t>TUTORIAL </a:t>
            </a:r>
            <a:r>
              <a:rPr lang="it-IT" dirty="0" err="1"/>
              <a:t>INTRODUTTIVo</a:t>
            </a:r>
            <a:r>
              <a:rPr lang="it-IT" dirty="0"/>
              <a:t> (15/3)</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792278" y="1336915"/>
            <a:ext cx="3816627" cy="4832092"/>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6A9955"/>
                </a:solidFill>
                <a:effectLst/>
                <a:highlight>
                  <a:srgbClr val="1F1F1F"/>
                </a:highlight>
                <a:latin typeface="Consolas" panose="020B0609020204030204" pitchFamily="49" charset="0"/>
              </a:rPr>
              <a:t>// 0=Bin 1=Gray</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Cp;</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$dumpvars( 0, tf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#102</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#108</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$finish;</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clk_gen</a:t>
            </a:r>
            <a:r>
              <a:rPr lang="it-IT" sz="1100" b="0" noProof="1">
                <a:solidFill>
                  <a:srgbClr val="CCCCCC"/>
                </a:solidFill>
                <a:effectLst/>
                <a:highlight>
                  <a:srgbClr val="1F1F1F"/>
                </a:highlight>
                <a:latin typeface="Consolas" panose="020B0609020204030204" pitchFamily="49" charset="0"/>
              </a:rPr>
              <a:t>( .Out( Cp )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counter_1</a:t>
            </a:r>
            <a:r>
              <a:rPr lang="it-IT" sz="1100" b="0" noProof="1">
                <a:solidFill>
                  <a:srgbClr val="CCCCCC"/>
                </a:solidFill>
                <a:effectLst/>
                <a:highlight>
                  <a:srgbClr val="1F1F1F"/>
                </a:highlight>
                <a:latin typeface="Consolas" panose="020B0609020204030204" pitchFamily="49" charset="0"/>
              </a:rPr>
              <a:t>( .Clk( Cp ), .G( Mode ) );</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output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6A9955"/>
                </a:solidFill>
                <a:effectLst/>
                <a:highlight>
                  <a:srgbClr val="1F1F1F"/>
                </a:highlight>
                <a:latin typeface="Consolas" panose="020B0609020204030204" pitchFamily="49" charset="0"/>
              </a:rPr>
              <a:t>// WARNING: modulo non sintetizzabile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Out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#5</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Out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Out;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13372171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it-IT" dirty="0"/>
              <a:t>TUTORIAL </a:t>
            </a:r>
            <a:r>
              <a:rPr lang="it-IT" dirty="0" err="1"/>
              <a:t>INTRODUTTIVo</a:t>
            </a:r>
            <a:r>
              <a:rPr lang="it-IT" dirty="0"/>
              <a:t> (16/1)</a:t>
            </a:r>
            <a:br>
              <a:rPr lang="it-IT" dirty="0"/>
            </a:br>
            <a:endParaRPr lang="it-IT" dirty="0"/>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1"/>
            <a:ext cx="6364619" cy="1288118"/>
          </a:xfrm>
        </p:spPr>
        <p:txBody>
          <a:bodyPr>
            <a:normAutofit fontScale="77500" lnSpcReduction="20000"/>
          </a:bodyPr>
          <a:lstStyle/>
          <a:p>
            <a:r>
              <a:rPr lang="it-IT" dirty="0"/>
              <a:t>Per rendere sintetizzabile il contatore, bisogna aggiungere un meccanismo per azzerare lo stato dall’esterno. A tal scopo si può aggiungere un </a:t>
            </a:r>
            <a:r>
              <a:rPr lang="it-IT" i="1" dirty="0"/>
              <a:t>input</a:t>
            </a:r>
            <a:r>
              <a:rPr lang="it-IT" dirty="0"/>
              <a:t> (net </a:t>
            </a:r>
            <a:r>
              <a:rPr lang="it-IT" i="1" dirty="0" err="1">
                <a:solidFill>
                  <a:srgbClr val="FFFF00"/>
                </a:solidFill>
              </a:rPr>
              <a:t>Rst</a:t>
            </a:r>
            <a:r>
              <a:rPr lang="it-IT" dirty="0"/>
              <a:t>) all’elenco degli input/output del modulo.</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Rst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G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S;</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569CD6"/>
                </a:solidFill>
                <a:effectLst/>
                <a:highlight>
                  <a:srgbClr val="1F1F1F"/>
                </a:highlight>
                <a:latin typeface="Consolas" panose="020B0609020204030204" pitchFamily="49" charset="0"/>
              </a:rPr>
              <a:t>posedge</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or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posedge</a:t>
            </a:r>
            <a:r>
              <a:rPr lang="it-IT" sz="1100" b="0" noProof="1">
                <a:solidFill>
                  <a:srgbClr val="CCCCCC"/>
                </a:solidFill>
                <a:effectLst/>
                <a:highlight>
                  <a:srgbClr val="1F1F1F"/>
                </a:highlight>
                <a:latin typeface="Consolas" panose="020B0609020204030204" pitchFamily="49" charset="0"/>
              </a:rPr>
              <a:t> Rst )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if </a:t>
            </a:r>
            <a:r>
              <a:rPr lang="it-IT" sz="1100" b="0" noProof="1">
                <a:solidFill>
                  <a:srgbClr val="CCCCCC"/>
                </a:solidFill>
                <a:effectLst/>
                <a:highlight>
                  <a:srgbClr val="1F1F1F"/>
                </a:highlight>
                <a:latin typeface="Consolas" panose="020B0609020204030204" pitchFamily="49" charset="0"/>
              </a:rPr>
              <a:t>( Rst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else</a:t>
            </a:r>
            <a:r>
              <a:rPr lang="it-IT" sz="1100" b="0" noProof="1">
                <a:solidFill>
                  <a:srgbClr val="CCCCCC"/>
                </a:solidFill>
                <a:effectLst/>
                <a:highlight>
                  <a:srgbClr val="1F1F1F"/>
                </a:highlight>
                <a:latin typeface="Consolas" panose="020B0609020204030204" pitchFamily="49" charset="0"/>
              </a:rPr>
              <a: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case </a:t>
            </a:r>
            <a:r>
              <a:rPr lang="it-IT" sz="1100" b="0" noProof="1">
                <a:solidFill>
                  <a:srgbClr val="CCCCCC"/>
                </a:solidFill>
                <a:effectLst/>
                <a:highlight>
                  <a:srgbClr val="1F1F1F"/>
                </a:highlight>
                <a:latin typeface="Consolas" panose="020B0609020204030204" pitchFamily="49" charset="0"/>
              </a:rPr>
              <a:t>( S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endcase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3870005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it-IT" dirty="0"/>
              <a:t>TUTORIAL </a:t>
            </a:r>
            <a:r>
              <a:rPr lang="it-IT" dirty="0" err="1"/>
              <a:t>INTRODUTTIVo</a:t>
            </a:r>
            <a:r>
              <a:rPr lang="it-IT" dirty="0"/>
              <a:t> (16/2)</a:t>
            </a:r>
            <a:br>
              <a:rPr lang="it-IT" dirty="0"/>
            </a:br>
            <a:endParaRPr lang="it-IT" dirty="0"/>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0"/>
            <a:ext cx="6364619" cy="2258177"/>
          </a:xfrm>
        </p:spPr>
        <p:txBody>
          <a:bodyPr>
            <a:normAutofit fontScale="77500" lnSpcReduction="20000"/>
          </a:bodyPr>
          <a:lstStyle/>
          <a:p>
            <a:r>
              <a:rPr lang="it-IT" dirty="0"/>
              <a:t>Per rendere sintetizzabile il contatore, bisogna aggiungere un meccanismo per azzerare lo stato dall’esterno. A tal scopo si può aggiungere un </a:t>
            </a:r>
            <a:r>
              <a:rPr lang="it-IT" i="1" dirty="0"/>
              <a:t>input</a:t>
            </a:r>
            <a:r>
              <a:rPr lang="it-IT" dirty="0"/>
              <a:t> (net </a:t>
            </a:r>
            <a:r>
              <a:rPr lang="it-IT" i="1" dirty="0" err="1"/>
              <a:t>Rst</a:t>
            </a:r>
            <a:r>
              <a:rPr lang="it-IT" dirty="0"/>
              <a:t>) all’elenco degli input/output del modulo.</a:t>
            </a:r>
          </a:p>
          <a:p>
            <a:r>
              <a:rPr lang="it-IT" dirty="0"/>
              <a:t>La net </a:t>
            </a:r>
            <a:r>
              <a:rPr lang="it-IT" i="1" dirty="0" err="1"/>
              <a:t>Rst</a:t>
            </a:r>
            <a:r>
              <a:rPr lang="it-IT" dirty="0"/>
              <a:t> è quindi aggiunta anche alla </a:t>
            </a:r>
            <a:r>
              <a:rPr lang="it-IT" i="1" dirty="0" err="1">
                <a:solidFill>
                  <a:srgbClr val="FFFF00"/>
                </a:solidFill>
              </a:rPr>
              <a:t>sensivity</a:t>
            </a:r>
            <a:r>
              <a:rPr lang="it-IT" i="1" dirty="0">
                <a:solidFill>
                  <a:srgbClr val="FFFF00"/>
                </a:solidFill>
              </a:rPr>
              <a:t> list</a:t>
            </a:r>
            <a:r>
              <a:rPr lang="it-IT" dirty="0"/>
              <a:t> dello </a:t>
            </a:r>
            <a:r>
              <a:rPr lang="it-IT" dirty="0" err="1"/>
              <a:t>statement</a:t>
            </a:r>
            <a:r>
              <a:rPr lang="it-IT" dirty="0"/>
              <a:t> </a:t>
            </a:r>
            <a:r>
              <a:rPr lang="it-IT" i="1" dirty="0" err="1"/>
              <a:t>always</a:t>
            </a:r>
            <a:r>
              <a:rPr lang="it-IT" i="1" dirty="0"/>
              <a:t> </a:t>
            </a:r>
            <a:r>
              <a:rPr lang="it-IT" dirty="0"/>
              <a:t>e ogni sua variazione (</a:t>
            </a:r>
            <a:r>
              <a:rPr lang="it-IT" i="1" dirty="0" err="1">
                <a:solidFill>
                  <a:srgbClr val="FFFF00"/>
                </a:solidFill>
              </a:rPr>
              <a:t>posedge</a:t>
            </a:r>
            <a:r>
              <a:rPr lang="it-IT" dirty="0"/>
              <a:t>) verrà quindi presa in considerazione.</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Rst,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G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S;</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569CD6"/>
                </a:solidFill>
                <a:effectLst/>
                <a:highlight>
                  <a:srgbClr val="1F1F1F"/>
                </a:highlight>
                <a:latin typeface="Consolas" panose="020B0609020204030204" pitchFamily="49" charset="0"/>
              </a:rPr>
              <a:t>posedge</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or</a:t>
            </a:r>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lumMod val="95000"/>
                    <a:lumOff val="5000"/>
                  </a:schemeClr>
                </a:solidFill>
                <a:effectLst/>
                <a:highlight>
                  <a:srgbClr val="FFFF00"/>
                </a:highlight>
                <a:latin typeface="Consolas" panose="020B0609020204030204" pitchFamily="49" charset="0"/>
              </a:rPr>
              <a:t>posedge Rst</a:t>
            </a:r>
            <a:r>
              <a:rPr lang="it-IT" sz="1100" b="0" noProof="1">
                <a:solidFill>
                  <a:srgbClr val="CCCCCC"/>
                </a:solidFill>
                <a:effectLst/>
                <a:highlight>
                  <a:srgbClr val="FFFF00"/>
                </a:highlight>
                <a:latin typeface="Consolas" panose="020B0609020204030204" pitchFamily="49" charset="0"/>
              </a:rPr>
              <a:t> </a:t>
            </a:r>
            <a:r>
              <a:rPr lang="it-IT" sz="1100" b="0" noProof="1">
                <a:solidFill>
                  <a:srgbClr val="CCCCCC"/>
                </a:solidFill>
                <a:effectLst/>
                <a:highlight>
                  <a:srgbClr val="1F1F1F"/>
                </a:highlight>
                <a:latin typeface="Consolas" panose="020B0609020204030204" pitchFamily="49" charset="0"/>
              </a:rPr>
              <a: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if </a:t>
            </a:r>
            <a:r>
              <a:rPr lang="it-IT" sz="1100" b="0" noProof="1">
                <a:solidFill>
                  <a:srgbClr val="CCCCCC"/>
                </a:solidFill>
                <a:effectLst/>
                <a:highlight>
                  <a:srgbClr val="1F1F1F"/>
                </a:highlight>
                <a:latin typeface="Consolas" panose="020B0609020204030204" pitchFamily="49" charset="0"/>
              </a:rPr>
              <a:t>( Rst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else</a:t>
            </a:r>
            <a:r>
              <a:rPr lang="it-IT" sz="1100" b="0" noProof="1">
                <a:solidFill>
                  <a:srgbClr val="CCCCCC"/>
                </a:solidFill>
                <a:effectLst/>
                <a:highlight>
                  <a:srgbClr val="1F1F1F"/>
                </a:highlight>
                <a:latin typeface="Consolas" panose="020B0609020204030204" pitchFamily="49" charset="0"/>
              </a:rPr>
              <a: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case </a:t>
            </a:r>
            <a:r>
              <a:rPr lang="it-IT" sz="1100" b="0" noProof="1">
                <a:solidFill>
                  <a:srgbClr val="CCCCCC"/>
                </a:solidFill>
                <a:effectLst/>
                <a:highlight>
                  <a:srgbClr val="1F1F1F"/>
                </a:highlight>
                <a:latin typeface="Consolas" panose="020B0609020204030204" pitchFamily="49" charset="0"/>
              </a:rPr>
              <a:t>( S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endcase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0853565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it-IT" dirty="0"/>
              <a:t>TUTORIAL </a:t>
            </a:r>
            <a:r>
              <a:rPr lang="it-IT" dirty="0" err="1"/>
              <a:t>INTRODUTTIVo</a:t>
            </a:r>
            <a:r>
              <a:rPr lang="it-IT" dirty="0"/>
              <a:t> (16/3)</a:t>
            </a:r>
            <a:br>
              <a:rPr lang="it-IT" dirty="0"/>
            </a:br>
            <a:endParaRPr lang="it-IT" dirty="0"/>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1"/>
            <a:ext cx="6364619" cy="3307750"/>
          </a:xfrm>
        </p:spPr>
        <p:txBody>
          <a:bodyPr>
            <a:normAutofit fontScale="77500" lnSpcReduction="20000"/>
          </a:bodyPr>
          <a:lstStyle/>
          <a:p>
            <a:r>
              <a:rPr lang="it-IT" dirty="0"/>
              <a:t>Per rendere sintetizzabile il contatore, bisogna aggiungere un meccanismo per azzerare lo stato dall’esterno. A tal scopo si può aggiungere un </a:t>
            </a:r>
            <a:r>
              <a:rPr lang="it-IT" i="1" dirty="0"/>
              <a:t>input</a:t>
            </a:r>
            <a:r>
              <a:rPr lang="it-IT" dirty="0"/>
              <a:t> (net </a:t>
            </a:r>
            <a:r>
              <a:rPr lang="it-IT" i="1" dirty="0" err="1"/>
              <a:t>Rst</a:t>
            </a:r>
            <a:r>
              <a:rPr lang="it-IT" dirty="0"/>
              <a:t>) all’elenco degli input/output del modulo.</a:t>
            </a:r>
          </a:p>
          <a:p>
            <a:r>
              <a:rPr lang="it-IT" dirty="0"/>
              <a:t>La net </a:t>
            </a:r>
            <a:r>
              <a:rPr lang="it-IT" i="1" dirty="0" err="1"/>
              <a:t>Rst</a:t>
            </a:r>
            <a:r>
              <a:rPr lang="it-IT" dirty="0"/>
              <a:t> è quindi aggiunta anche alla </a:t>
            </a:r>
            <a:r>
              <a:rPr lang="it-IT" i="1" dirty="0" err="1"/>
              <a:t>sensivity</a:t>
            </a:r>
            <a:r>
              <a:rPr lang="it-IT" i="1" dirty="0"/>
              <a:t> list</a:t>
            </a:r>
            <a:r>
              <a:rPr lang="it-IT" dirty="0"/>
              <a:t> dello </a:t>
            </a:r>
            <a:r>
              <a:rPr lang="it-IT" dirty="0" err="1"/>
              <a:t>statement</a:t>
            </a:r>
            <a:r>
              <a:rPr lang="it-IT" dirty="0"/>
              <a:t> </a:t>
            </a:r>
            <a:r>
              <a:rPr lang="it-IT" i="1" dirty="0" err="1"/>
              <a:t>always</a:t>
            </a:r>
            <a:r>
              <a:rPr lang="it-IT" i="1" dirty="0"/>
              <a:t> </a:t>
            </a:r>
            <a:r>
              <a:rPr lang="it-IT" dirty="0"/>
              <a:t>e ogni sua variazione (</a:t>
            </a:r>
            <a:r>
              <a:rPr lang="it-IT" i="1" dirty="0" err="1"/>
              <a:t>posedge</a:t>
            </a:r>
            <a:r>
              <a:rPr lang="it-IT" dirty="0"/>
              <a:t>) verrà quindi presa in considerazione.</a:t>
            </a:r>
          </a:p>
          <a:p>
            <a:r>
              <a:rPr lang="it-IT" dirty="0"/>
              <a:t>Se al momento dell’attivazione del blocco </a:t>
            </a:r>
            <a:r>
              <a:rPr lang="it-IT" i="1" dirty="0" err="1"/>
              <a:t>always</a:t>
            </a:r>
            <a:r>
              <a:rPr lang="it-IT" dirty="0"/>
              <a:t> il valore di </a:t>
            </a:r>
            <a:r>
              <a:rPr lang="it-IT" i="1" dirty="0" err="1"/>
              <a:t>Rst</a:t>
            </a:r>
            <a:r>
              <a:rPr lang="it-IT" dirty="0"/>
              <a:t> è uguale a 1, siamo di fronte ad una richiesta di azzeramento del registro che conserva lo stato.</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Rst,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G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S;</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569CD6"/>
                </a:solidFill>
                <a:effectLst/>
                <a:highlight>
                  <a:srgbClr val="1F1F1F"/>
                </a:highlight>
                <a:latin typeface="Consolas" panose="020B0609020204030204" pitchFamily="49" charset="0"/>
              </a:rPr>
              <a:t>posedge</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or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posedge</a:t>
            </a:r>
            <a:r>
              <a:rPr lang="it-IT" sz="1100" b="0" noProof="1">
                <a:solidFill>
                  <a:srgbClr val="CCCCCC"/>
                </a:solidFill>
                <a:effectLst/>
                <a:highlight>
                  <a:srgbClr val="1F1F1F"/>
                </a:highlight>
                <a:latin typeface="Consolas" panose="020B0609020204030204" pitchFamily="49" charset="0"/>
              </a:rPr>
              <a:t> Rst )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if </a:t>
            </a:r>
            <a:r>
              <a:rPr lang="it-IT" sz="1100" b="0" noProof="1">
                <a:solidFill>
                  <a:srgbClr val="CCCCCC"/>
                </a:solidFill>
                <a:effectLst/>
                <a:highlight>
                  <a:srgbClr val="1F1F1F"/>
                </a:highlight>
                <a:latin typeface="Consolas" panose="020B0609020204030204" pitchFamily="49" charset="0"/>
              </a:rPr>
              <a:t>( Rst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chemeClr val="bg1"/>
                </a:solidFill>
                <a:effectLst/>
                <a:highlight>
                  <a:srgbClr val="FFFF00"/>
                </a:highlight>
                <a:latin typeface="Consolas" panose="020B0609020204030204" pitchFamily="49" charset="0"/>
              </a:rPr>
              <a:t>S &lt;= 3'b000;</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else</a:t>
            </a:r>
            <a:r>
              <a:rPr lang="it-IT" sz="1100" b="0" noProof="1">
                <a:solidFill>
                  <a:srgbClr val="CCCCCC"/>
                </a:solidFill>
                <a:effectLst/>
                <a:highlight>
                  <a:srgbClr val="1F1F1F"/>
                </a:highlight>
                <a:latin typeface="Consolas" panose="020B0609020204030204" pitchFamily="49" charset="0"/>
              </a:rPr>
              <a: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case </a:t>
            </a:r>
            <a:r>
              <a:rPr lang="it-IT" sz="1100" b="0" noProof="1">
                <a:solidFill>
                  <a:srgbClr val="CCCCCC"/>
                </a:solidFill>
                <a:effectLst/>
                <a:highlight>
                  <a:srgbClr val="1F1F1F"/>
                </a:highlight>
                <a:latin typeface="Consolas" panose="020B0609020204030204" pitchFamily="49" charset="0"/>
              </a:rPr>
              <a:t>( S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endcase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5" name="Rettangolo 4">
            <a:extLst>
              <a:ext uri="{FF2B5EF4-FFF2-40B4-BE49-F238E27FC236}">
                <a16:creationId xmlns:a16="http://schemas.microsoft.com/office/drawing/2014/main" id="{4EEAD860-877B-43F0-335D-973E0F307047}"/>
              </a:ext>
            </a:extLst>
          </p:cNvPr>
          <p:cNvSpPr/>
          <p:nvPr/>
        </p:nvSpPr>
        <p:spPr>
          <a:xfrm>
            <a:off x="8112520" y="2671582"/>
            <a:ext cx="1317727" cy="882652"/>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525876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it-IT" dirty="0"/>
              <a:t>TUTORIAL </a:t>
            </a:r>
            <a:r>
              <a:rPr lang="it-IT" dirty="0" err="1"/>
              <a:t>INTRODUTTIVo</a:t>
            </a:r>
            <a:r>
              <a:rPr lang="it-IT" dirty="0"/>
              <a:t> (16/4)</a:t>
            </a:r>
            <a:br>
              <a:rPr lang="it-IT" dirty="0"/>
            </a:br>
            <a:endParaRPr lang="it-IT" dirty="0"/>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0"/>
            <a:ext cx="6364619" cy="4635611"/>
          </a:xfrm>
        </p:spPr>
        <p:txBody>
          <a:bodyPr>
            <a:normAutofit fontScale="77500" lnSpcReduction="20000"/>
          </a:bodyPr>
          <a:lstStyle/>
          <a:p>
            <a:r>
              <a:rPr lang="it-IT" dirty="0"/>
              <a:t>Per rendere sintetizzabile il contatore, bisogna aggiungere un meccanismo per azzerare lo stato dall’esterno. A tal scopo si può aggiungere un </a:t>
            </a:r>
            <a:r>
              <a:rPr lang="it-IT" i="1" dirty="0"/>
              <a:t>input</a:t>
            </a:r>
            <a:r>
              <a:rPr lang="it-IT" dirty="0"/>
              <a:t> (net </a:t>
            </a:r>
            <a:r>
              <a:rPr lang="it-IT" i="1" dirty="0" err="1"/>
              <a:t>Rst</a:t>
            </a:r>
            <a:r>
              <a:rPr lang="it-IT" dirty="0"/>
              <a:t>) all’elenco degli input/output del modulo.</a:t>
            </a:r>
          </a:p>
          <a:p>
            <a:r>
              <a:rPr lang="it-IT" dirty="0"/>
              <a:t>La net </a:t>
            </a:r>
            <a:r>
              <a:rPr lang="it-IT" i="1" dirty="0" err="1"/>
              <a:t>Rst</a:t>
            </a:r>
            <a:r>
              <a:rPr lang="it-IT" dirty="0"/>
              <a:t> è quindi aggiunta anche alla </a:t>
            </a:r>
            <a:r>
              <a:rPr lang="it-IT" i="1" dirty="0" err="1"/>
              <a:t>sensivity</a:t>
            </a:r>
            <a:r>
              <a:rPr lang="it-IT" i="1" dirty="0"/>
              <a:t> list</a:t>
            </a:r>
            <a:r>
              <a:rPr lang="it-IT" dirty="0"/>
              <a:t> dello </a:t>
            </a:r>
            <a:r>
              <a:rPr lang="it-IT" dirty="0" err="1"/>
              <a:t>statement</a:t>
            </a:r>
            <a:r>
              <a:rPr lang="it-IT" dirty="0"/>
              <a:t> </a:t>
            </a:r>
            <a:r>
              <a:rPr lang="it-IT" i="1" dirty="0" err="1"/>
              <a:t>always</a:t>
            </a:r>
            <a:r>
              <a:rPr lang="it-IT" i="1" dirty="0"/>
              <a:t> </a:t>
            </a:r>
            <a:r>
              <a:rPr lang="it-IT" dirty="0"/>
              <a:t>e ogni sua variazione (</a:t>
            </a:r>
            <a:r>
              <a:rPr lang="it-IT" i="1" dirty="0" err="1"/>
              <a:t>posedge</a:t>
            </a:r>
            <a:r>
              <a:rPr lang="it-IT" dirty="0"/>
              <a:t>) verrà quindi presa in considerazione.</a:t>
            </a:r>
          </a:p>
          <a:p>
            <a:r>
              <a:rPr lang="it-IT" dirty="0"/>
              <a:t>Se al momento dell’attivazione del blocco </a:t>
            </a:r>
            <a:r>
              <a:rPr lang="it-IT" i="1" dirty="0" err="1"/>
              <a:t>always</a:t>
            </a:r>
            <a:r>
              <a:rPr lang="it-IT" dirty="0"/>
              <a:t> il valore di </a:t>
            </a:r>
            <a:r>
              <a:rPr lang="it-IT" i="1" dirty="0" err="1"/>
              <a:t>Rst</a:t>
            </a:r>
            <a:r>
              <a:rPr lang="it-IT" dirty="0"/>
              <a:t> è uguale a 1, siamo di fronte ad una richiesta di azzeramento del registro che conserva lo stato.</a:t>
            </a:r>
          </a:p>
          <a:p>
            <a:r>
              <a:rPr lang="it-IT" dirty="0"/>
              <a:t>Se non è stato </a:t>
            </a:r>
            <a:r>
              <a:rPr lang="it-IT" i="1" dirty="0" err="1"/>
              <a:t>Rst</a:t>
            </a:r>
            <a:r>
              <a:rPr lang="it-IT" dirty="0"/>
              <a:t> ad attivare il blocco </a:t>
            </a:r>
            <a:r>
              <a:rPr lang="it-IT" i="1" dirty="0" err="1"/>
              <a:t>always</a:t>
            </a:r>
            <a:r>
              <a:rPr lang="it-IT" dirty="0"/>
              <a:t>, allora è stato sicuramente l’ingresso </a:t>
            </a:r>
            <a:r>
              <a:rPr lang="it-IT" i="1" dirty="0" err="1">
                <a:solidFill>
                  <a:srgbClr val="FFFF00"/>
                </a:solidFill>
              </a:rPr>
              <a:t>Clk</a:t>
            </a:r>
            <a:r>
              <a:rPr lang="it-IT" dirty="0"/>
              <a:t>. Il registro sarà perciò aggiornato con la regola vista in </a:t>
            </a:r>
            <a:r>
              <a:rPr lang="it-IT" dirty="0" err="1"/>
              <a:t>precenza</a:t>
            </a:r>
            <a:r>
              <a:rPr lang="it-IT" dirty="0"/>
              <a:t> contenuta nello </a:t>
            </a:r>
            <a:r>
              <a:rPr lang="it-IT" dirty="0" err="1"/>
              <a:t>statement</a:t>
            </a:r>
            <a:r>
              <a:rPr lang="it-IT" dirty="0"/>
              <a:t> </a:t>
            </a:r>
            <a:r>
              <a:rPr lang="it-IT" i="1" dirty="0"/>
              <a:t>case</a:t>
            </a:r>
            <a:r>
              <a:rPr lang="it-IT" dirty="0"/>
              <a:t>.</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Clk,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Rst, </a:t>
            </a:r>
            <a:r>
              <a:rPr lang="it-IT" sz="1100" b="0" noProof="1">
                <a:solidFill>
                  <a:srgbClr val="569CD6"/>
                </a:solidFill>
                <a:effectLst/>
                <a:highlight>
                  <a:srgbClr val="1F1F1F"/>
                </a:highlight>
                <a:latin typeface="Consolas" panose="020B0609020204030204" pitchFamily="49" charset="0"/>
              </a:rPr>
              <a:t>input</a:t>
            </a:r>
            <a:r>
              <a:rPr lang="it-IT" sz="1100" b="0" noProof="1">
                <a:solidFill>
                  <a:srgbClr val="CCCCCC"/>
                </a:solidFill>
                <a:effectLst/>
                <a:highlight>
                  <a:srgbClr val="1F1F1F"/>
                </a:highlight>
                <a:latin typeface="Consolas" panose="020B0609020204030204" pitchFamily="49" charset="0"/>
              </a:rPr>
              <a:t> G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S;</a:t>
            </a: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always</a:t>
            </a:r>
            <a:r>
              <a:rPr lang="it-IT" sz="1100" b="0" noProof="1">
                <a:solidFill>
                  <a:srgbClr val="CCCCCC"/>
                </a:solidFill>
                <a:effectLst/>
                <a:highlight>
                  <a:srgbClr val="1F1F1F"/>
                </a:highlight>
                <a:latin typeface="Consolas" panose="020B0609020204030204" pitchFamily="49" charset="0"/>
              </a:rPr>
              <a:t> @( </a:t>
            </a:r>
            <a:r>
              <a:rPr lang="it-IT" sz="1100" b="0" noProof="1">
                <a:solidFill>
                  <a:schemeClr val="bg1">
                    <a:lumMod val="95000"/>
                    <a:lumOff val="5000"/>
                  </a:schemeClr>
                </a:solidFill>
                <a:effectLst/>
                <a:highlight>
                  <a:srgbClr val="FFFF00"/>
                </a:highlight>
                <a:latin typeface="Consolas" panose="020B0609020204030204" pitchFamily="49" charset="0"/>
              </a:rPr>
              <a:t>posedge Clk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or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posedge</a:t>
            </a:r>
            <a:r>
              <a:rPr lang="it-IT" sz="1100" b="0" noProof="1">
                <a:solidFill>
                  <a:srgbClr val="CCCCCC"/>
                </a:solidFill>
                <a:effectLst/>
                <a:highlight>
                  <a:srgbClr val="1F1F1F"/>
                </a:highlight>
                <a:latin typeface="Consolas" panose="020B0609020204030204" pitchFamily="49" charset="0"/>
              </a:rPr>
              <a:t> Rst )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if </a:t>
            </a:r>
            <a:r>
              <a:rPr lang="it-IT" sz="1100" b="0" noProof="1">
                <a:solidFill>
                  <a:srgbClr val="CCCCCC"/>
                </a:solidFill>
                <a:effectLst/>
                <a:highlight>
                  <a:srgbClr val="1F1F1F"/>
                </a:highlight>
                <a:latin typeface="Consolas" panose="020B0609020204030204" pitchFamily="49" charset="0"/>
              </a:rPr>
              <a:t>( Rst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else</a:t>
            </a:r>
            <a:r>
              <a:rPr lang="it-IT" sz="1100" b="0" noProof="1">
                <a:solidFill>
                  <a:srgbClr val="CCCCCC"/>
                </a:solidFill>
                <a:effectLst/>
                <a:highlight>
                  <a:srgbClr val="1F1F1F"/>
                </a:highlight>
                <a:latin typeface="Consolas" panose="020B0609020204030204" pitchFamily="49" charset="0"/>
              </a:rPr>
              <a:t> </a:t>
            </a:r>
          </a:p>
          <a:p>
            <a:r>
              <a:rPr lang="it-IT" sz="1100" noProof="1">
                <a:solidFill>
                  <a:srgbClr val="CCCCCC"/>
                </a:solidFill>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case </a:t>
            </a:r>
            <a:r>
              <a:rPr lang="it-IT" sz="1100" b="0" noProof="1">
                <a:solidFill>
                  <a:srgbClr val="CCCCCC"/>
                </a:solidFill>
                <a:effectLst/>
                <a:highlight>
                  <a:srgbClr val="1F1F1F"/>
                </a:highlight>
                <a:latin typeface="Consolas" panose="020B0609020204030204" pitchFamily="49" charset="0"/>
              </a:rPr>
              <a:t>( S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3'b011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3'b010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3'b100</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3'b110</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3'b111</a:t>
            </a:r>
            <a:r>
              <a:rPr lang="it-IT" sz="1100" b="0" noProof="1">
                <a:solidFill>
                  <a:srgbClr val="CCCCCC"/>
                </a:solidFill>
                <a:effectLst/>
                <a:highlight>
                  <a:srgbClr val="1F1F1F"/>
                </a:highlight>
                <a:latin typeface="Consolas" panose="020B0609020204030204" pitchFamily="49" charset="0"/>
              </a:rPr>
              <a:t>: S </a:t>
            </a:r>
            <a:r>
              <a:rPr lang="it-IT" sz="1100" b="0" noProof="1">
                <a:solidFill>
                  <a:srgbClr val="D4D4D4"/>
                </a:solidFill>
                <a:effectLst/>
                <a:highlight>
                  <a:srgbClr val="1F1F1F"/>
                </a:highlight>
                <a:latin typeface="Consolas" panose="020B0609020204030204" pitchFamily="49" charset="0"/>
              </a:rPr>
              <a:t>&lt;=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G ? </a:t>
            </a:r>
            <a:r>
              <a:rPr lang="it-IT" sz="1100" b="0" noProof="1">
                <a:solidFill>
                  <a:srgbClr val="B5CEA8"/>
                </a:solidFill>
                <a:effectLst/>
                <a:highlight>
                  <a:srgbClr val="1F1F1F"/>
                </a:highlight>
                <a:latin typeface="Consolas" panose="020B0609020204030204" pitchFamily="49" charset="0"/>
              </a:rPr>
              <a:t>3'b000</a:t>
            </a:r>
            <a:r>
              <a:rPr lang="it-IT" sz="1100" b="0" noProof="1">
                <a:solidFill>
                  <a:srgbClr val="CCCCCC"/>
                </a:solidFill>
                <a:effectLst/>
                <a:highlight>
                  <a:srgbClr val="1F1F1F"/>
                </a:highlight>
                <a:latin typeface="Consolas" panose="020B0609020204030204" pitchFamily="49" charset="0"/>
              </a:rPr>
              <a:t> : </a:t>
            </a:r>
            <a:r>
              <a:rPr lang="it-IT" sz="1100" b="0" noProof="1">
                <a:solidFill>
                  <a:srgbClr val="B5CEA8"/>
                </a:solidFill>
                <a:effectLst/>
                <a:highlight>
                  <a:srgbClr val="1F1F1F"/>
                </a:highlight>
                <a:latin typeface="Consolas" panose="020B0609020204030204" pitchFamily="49" charset="0"/>
              </a:rPr>
              <a:t>3'b101</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endcase</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5" name="Rettangolo 4">
            <a:extLst>
              <a:ext uri="{FF2B5EF4-FFF2-40B4-BE49-F238E27FC236}">
                <a16:creationId xmlns:a16="http://schemas.microsoft.com/office/drawing/2014/main" id="{3CEEEE71-592F-DF03-9F40-38A5BEA915C1}"/>
              </a:ext>
            </a:extLst>
          </p:cNvPr>
          <p:cNvSpPr/>
          <p:nvPr/>
        </p:nvSpPr>
        <p:spPr>
          <a:xfrm>
            <a:off x="8136376" y="3355394"/>
            <a:ext cx="3146526" cy="219461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2725748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52C1C9-6050-2163-F188-801A61DC266F}"/>
              </a:ext>
            </a:extLst>
          </p:cNvPr>
          <p:cNvSpPr>
            <a:spLocks noGrp="1"/>
          </p:cNvSpPr>
          <p:nvPr>
            <p:ph type="title"/>
          </p:nvPr>
        </p:nvSpPr>
        <p:spPr>
          <a:xfrm>
            <a:off x="1141413" y="618518"/>
            <a:ext cx="9905998" cy="780912"/>
          </a:xfrm>
        </p:spPr>
        <p:txBody>
          <a:bodyPr/>
          <a:lstStyle/>
          <a:p>
            <a:r>
              <a:rPr lang="it-IT" dirty="0"/>
              <a:t>TUTORIAL </a:t>
            </a:r>
            <a:r>
              <a:rPr lang="it-IT" dirty="0" err="1"/>
              <a:t>INTRODUTTIVo</a:t>
            </a:r>
            <a:r>
              <a:rPr lang="it-IT" dirty="0"/>
              <a:t> (17)</a:t>
            </a:r>
          </a:p>
        </p:txBody>
      </p:sp>
      <p:pic>
        <p:nvPicPr>
          <p:cNvPr id="5" name="Segnaposto contenuto 4">
            <a:extLst>
              <a:ext uri="{FF2B5EF4-FFF2-40B4-BE49-F238E27FC236}">
                <a16:creationId xmlns:a16="http://schemas.microsoft.com/office/drawing/2014/main" id="{B525304F-6528-6D8D-06D4-57643999C9A7}"/>
              </a:ext>
            </a:extLst>
          </p:cNvPr>
          <p:cNvPicPr>
            <a:picLocks noGrp="1" noChangeAspect="1"/>
          </p:cNvPicPr>
          <p:nvPr>
            <p:ph idx="1"/>
          </p:nvPr>
        </p:nvPicPr>
        <p:blipFill>
          <a:blip r:embed="rId2"/>
          <a:stretch>
            <a:fillRect/>
          </a:stretch>
        </p:blipFill>
        <p:spPr>
          <a:xfrm>
            <a:off x="362185" y="4881429"/>
            <a:ext cx="9139624" cy="1437247"/>
          </a:xfrm>
        </p:spPr>
      </p:pic>
      <p:sp>
        <p:nvSpPr>
          <p:cNvPr id="6" name="CasellaDiTesto 5">
            <a:extLst>
              <a:ext uri="{FF2B5EF4-FFF2-40B4-BE49-F238E27FC236}">
                <a16:creationId xmlns:a16="http://schemas.microsoft.com/office/drawing/2014/main" id="{772F4800-8374-C728-677D-93D94193C779}"/>
              </a:ext>
            </a:extLst>
          </p:cNvPr>
          <p:cNvSpPr txBox="1"/>
          <p:nvPr/>
        </p:nvSpPr>
        <p:spPr>
          <a:xfrm>
            <a:off x="9605176" y="1148030"/>
            <a:ext cx="2337682" cy="5170646"/>
          </a:xfrm>
          <a:prstGeom prst="rect">
            <a:avLst/>
          </a:prstGeom>
          <a:solidFill>
            <a:srgbClr val="1F1F1F"/>
          </a:solidFill>
          <a:ln w="38100">
            <a:solidFill>
              <a:schemeClr val="accent5">
                <a:lumMod val="75000"/>
              </a:schemeClr>
            </a:solidFill>
          </a:ln>
        </p:spPr>
        <p:txBody>
          <a:bodyPr wrap="square" rtlCol="0">
            <a:spAutoFit/>
          </a:bodyPr>
          <a:lstStyle/>
          <a:p>
            <a:r>
              <a:rPr lang="it-IT" sz="1100" b="0" noProof="1">
                <a:solidFill>
                  <a:srgbClr val="569CD6"/>
                </a:solidFill>
                <a:effectLst/>
                <a:highlight>
                  <a:srgbClr val="1F1F1F"/>
                </a:highlight>
                <a:latin typeface="Consolas" panose="020B0609020204030204" pitchFamily="49" charset="0"/>
              </a:rPr>
              <a:t>`timescale</a:t>
            </a:r>
            <a:r>
              <a:rPr lang="it-IT" sz="1100" b="0" noProof="1">
                <a:solidFill>
                  <a:srgbClr val="CCCCCC"/>
                </a:solidFill>
                <a:effectLst/>
                <a:highlight>
                  <a:srgbClr val="1F1F1F"/>
                </a:highlight>
                <a:latin typeface="Consolas" panose="020B0609020204030204" pitchFamily="49" charset="0"/>
              </a:rPr>
              <a:t> 10ns</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100ps</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569CD6"/>
                </a:solidFill>
                <a:effectLst/>
                <a:highlight>
                  <a:srgbClr val="1F1F1F"/>
                </a:highlight>
                <a:latin typeface="Consolas" panose="020B0609020204030204" pitchFamily="49" charset="0"/>
              </a:rPr>
              <a:t>module</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4EC9B0"/>
                </a:solidFill>
                <a:effectLst/>
                <a:highlight>
                  <a:srgbClr val="1F1F1F"/>
                </a:highlight>
                <a:latin typeface="Consolas" panose="020B0609020204030204" pitchFamily="49" charset="0"/>
              </a:rPr>
              <a:t>tf</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Mode;</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wire</a:t>
            </a:r>
            <a:r>
              <a:rPr lang="it-IT" sz="1100" b="0" noProof="1">
                <a:solidFill>
                  <a:srgbClr val="CCCCCC"/>
                </a:solidFill>
                <a:effectLst/>
                <a:highlight>
                  <a:srgbClr val="1F1F1F"/>
                </a:highlight>
                <a:latin typeface="Consolas" panose="020B0609020204030204" pitchFamily="49" charset="0"/>
              </a:rPr>
              <a:t> Cp;</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reg</a:t>
            </a:r>
            <a:r>
              <a:rPr lang="it-IT" sz="1100" b="0" noProof="1">
                <a:solidFill>
                  <a:srgbClr val="CCCCCC"/>
                </a:solidFill>
                <a:effectLst/>
                <a:highlight>
                  <a:srgbClr val="1F1F1F"/>
                </a:highlight>
                <a:latin typeface="Consolas" panose="020B0609020204030204" pitchFamily="49" charset="0"/>
              </a:rPr>
              <a:t> Reset;</a:t>
            </a: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$dumpvars</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tf );</a:t>
            </a: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#154</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Mode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#60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DCDCAA"/>
                </a:solidFill>
                <a:effectLst/>
                <a:highlight>
                  <a:srgbClr val="1F1F1F"/>
                </a:highlight>
                <a:latin typeface="Consolas" panose="020B0609020204030204" pitchFamily="49" charset="0"/>
              </a:rPr>
              <a:t>$finish</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initial</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begin</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Reset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#10</a:t>
            </a:r>
            <a:endParaRPr lang="it-IT" sz="1100" b="0" noProof="1">
              <a:solidFill>
                <a:srgbClr val="CCCCCC"/>
              </a:solidFill>
              <a:effectLst/>
              <a:highlight>
                <a:srgbClr val="1F1F1F"/>
              </a:highlight>
              <a:latin typeface="Consolas" panose="020B0609020204030204" pitchFamily="49" charset="0"/>
            </a:endParaRPr>
          </a:p>
          <a:p>
            <a:r>
              <a:rPr lang="it-IT" sz="1100" b="0" noProof="1">
                <a:solidFill>
                  <a:srgbClr val="CCCCCC"/>
                </a:solidFill>
                <a:effectLst/>
                <a:highlight>
                  <a:srgbClr val="1F1F1F"/>
                </a:highlight>
                <a:latin typeface="Consolas" panose="020B0609020204030204" pitchFamily="49" charset="0"/>
              </a:rPr>
              <a:t>    Reset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Reset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#60</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Reset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1</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#20</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Reset </a:t>
            </a:r>
            <a:r>
              <a:rPr lang="it-IT" sz="1100" b="0" noProof="1">
                <a:solidFill>
                  <a:srgbClr val="D4D4D4"/>
                </a:solidFill>
                <a:effectLst/>
                <a:highlight>
                  <a:srgbClr val="1F1F1F"/>
                </a:highlight>
                <a:latin typeface="Consolas" panose="020B0609020204030204" pitchFamily="49" charset="0"/>
              </a:rPr>
              <a:t>=</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B5CEA8"/>
                </a:solidFill>
                <a:effectLst/>
                <a:highlight>
                  <a:srgbClr val="1F1F1F"/>
                </a:highlight>
                <a:latin typeface="Consolas" panose="020B0609020204030204" pitchFamily="49" charset="0"/>
              </a:rPr>
              <a:t>0</a:t>
            </a:r>
            <a:r>
              <a:rPr lang="it-IT" sz="1100" b="0" noProof="1">
                <a:solidFill>
                  <a:srgbClr val="CCCCCC"/>
                </a:solidFill>
                <a:effectLst/>
                <a:highlight>
                  <a:srgbClr val="1F1F1F"/>
                </a:highlight>
                <a:latin typeface="Consolas" panose="020B0609020204030204" pitchFamily="49" charset="0"/>
              </a:rPr>
              <a:t>;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end</a:t>
            </a:r>
            <a:endParaRPr lang="it-IT" sz="1100" b="0" noProof="1">
              <a:solidFill>
                <a:srgbClr val="CCCCCC"/>
              </a:solidFill>
              <a:effectLst/>
              <a:highlight>
                <a:srgbClr val="1F1F1F"/>
              </a:highlight>
              <a:latin typeface="Consolas" panose="020B0609020204030204" pitchFamily="49" charset="0"/>
            </a:endParaRPr>
          </a:p>
          <a:p>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clock</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Clk</a:t>
            </a:r>
            <a:r>
              <a:rPr lang="it-IT" sz="1100" b="0" noProof="1">
                <a:solidFill>
                  <a:srgbClr val="CCCCCC"/>
                </a:solidFill>
                <a:effectLst/>
                <a:highlight>
                  <a:srgbClr val="1F1F1F"/>
                </a:highlight>
                <a:latin typeface="Consolas" panose="020B0609020204030204" pitchFamily="49" charset="0"/>
              </a:rPr>
              <a:t>( .Out( Cp ) );</a:t>
            </a:r>
          </a:p>
          <a:p>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a:t>
            </a:r>
            <a:r>
              <a:rPr lang="it-IT" sz="1100" b="0" noProof="1">
                <a:solidFill>
                  <a:srgbClr val="CCCCCC"/>
                </a:solidFill>
                <a:effectLst/>
                <a:highlight>
                  <a:srgbClr val="1F1F1F"/>
                </a:highlight>
                <a:latin typeface="Consolas" panose="020B0609020204030204" pitchFamily="49" charset="0"/>
              </a:rPr>
              <a:t> </a:t>
            </a:r>
            <a:r>
              <a:rPr lang="it-IT" sz="1100" b="0" noProof="1">
                <a:solidFill>
                  <a:srgbClr val="569CD6"/>
                </a:solidFill>
                <a:effectLst/>
                <a:highlight>
                  <a:srgbClr val="1F1F1F"/>
                </a:highlight>
                <a:latin typeface="Consolas" panose="020B0609020204030204" pitchFamily="49" charset="0"/>
              </a:rPr>
              <a:t>counter_1</a:t>
            </a:r>
            <a:r>
              <a:rPr lang="it-IT" sz="1100" b="0" noProof="1">
                <a:solidFill>
                  <a:srgbClr val="CCCCCC"/>
                </a:solidFill>
                <a:effectLst/>
                <a:highlight>
                  <a:srgbClr val="1F1F1F"/>
                </a:highlight>
                <a:latin typeface="Consolas" panose="020B0609020204030204" pitchFamily="49" charset="0"/>
              </a:rPr>
              <a:t> ( </a:t>
            </a:r>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.Clk( Cp ), </a:t>
            </a:r>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.Rst( Reset ), </a:t>
            </a:r>
            <a:br>
              <a:rPr lang="it-IT" sz="1100" b="0" noProof="1">
                <a:solidFill>
                  <a:srgbClr val="CCCCCC"/>
                </a:solidFill>
                <a:effectLst/>
                <a:highlight>
                  <a:srgbClr val="1F1F1F"/>
                </a:highlight>
                <a:latin typeface="Consolas" panose="020B0609020204030204" pitchFamily="49" charset="0"/>
              </a:rPr>
            </a:br>
            <a:r>
              <a:rPr lang="it-IT" sz="1100" b="0" noProof="1">
                <a:solidFill>
                  <a:srgbClr val="CCCCCC"/>
                </a:solidFill>
                <a:effectLst/>
                <a:highlight>
                  <a:srgbClr val="1F1F1F"/>
                </a:highlight>
                <a:latin typeface="Consolas" panose="020B0609020204030204" pitchFamily="49" charset="0"/>
              </a:rPr>
              <a:t>    .G( Mode ) </a:t>
            </a:r>
          </a:p>
          <a:p>
            <a:r>
              <a:rPr lang="it-IT" sz="1100" noProof="1">
                <a:solidFill>
                  <a:srgbClr val="CCCCCC"/>
                </a:solidFill>
                <a:highlight>
                  <a:srgbClr val="1F1F1F"/>
                </a:highlight>
                <a:latin typeface="Consolas" panose="020B0609020204030204" pitchFamily="49" charset="0"/>
              </a:rPr>
              <a:t>  </a:t>
            </a:r>
            <a:r>
              <a:rPr lang="it-IT" sz="1100" b="0" noProof="1">
                <a:solidFill>
                  <a:srgbClr val="CCCCCC"/>
                </a:solidFill>
                <a:effectLst/>
                <a:highlight>
                  <a:srgbClr val="1F1F1F"/>
                </a:highlight>
                <a:latin typeface="Consolas" panose="020B0609020204030204" pitchFamily="49" charset="0"/>
              </a:rPr>
              <a:t>);</a:t>
            </a:r>
          </a:p>
          <a:p>
            <a:r>
              <a:rPr lang="it-IT" sz="1100" b="0" noProof="1">
                <a:solidFill>
                  <a:srgbClr val="569CD6"/>
                </a:solidFill>
                <a:effectLst/>
                <a:highlight>
                  <a:srgbClr val="1F1F1F"/>
                </a:highlight>
                <a:latin typeface="Consolas" panose="020B0609020204030204" pitchFamily="49" charset="0"/>
              </a:rPr>
              <a:t>endmodule</a:t>
            </a:r>
            <a:endParaRPr lang="it-IT" sz="1100" b="0" noProof="1">
              <a:solidFill>
                <a:srgbClr val="CCCCCC"/>
              </a:solidFill>
              <a:effectLst/>
              <a:highlight>
                <a:srgbClr val="1F1F1F"/>
              </a:highlight>
              <a:latin typeface="Consolas" panose="020B0609020204030204" pitchFamily="49" charset="0"/>
            </a:endParaRPr>
          </a:p>
        </p:txBody>
      </p:sp>
      <p:sp>
        <p:nvSpPr>
          <p:cNvPr id="7" name="Segnaposto contenuto 2">
            <a:extLst>
              <a:ext uri="{FF2B5EF4-FFF2-40B4-BE49-F238E27FC236}">
                <a16:creationId xmlns:a16="http://schemas.microsoft.com/office/drawing/2014/main" id="{3E2A2ACF-C01B-C4AF-DDAD-9C91BDB37999}"/>
              </a:ext>
            </a:extLst>
          </p:cNvPr>
          <p:cNvSpPr txBox="1">
            <a:spLocks/>
          </p:cNvSpPr>
          <p:nvPr/>
        </p:nvSpPr>
        <p:spPr>
          <a:xfrm>
            <a:off x="1141412" y="1630010"/>
            <a:ext cx="8360397" cy="31309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endParaRPr lang="it-IT" dirty="0"/>
          </a:p>
        </p:txBody>
      </p:sp>
      <p:sp>
        <p:nvSpPr>
          <p:cNvPr id="8" name="Segnaposto contenuto 2">
            <a:extLst>
              <a:ext uri="{FF2B5EF4-FFF2-40B4-BE49-F238E27FC236}">
                <a16:creationId xmlns:a16="http://schemas.microsoft.com/office/drawing/2014/main" id="{8BF9D7B6-D36E-D2AA-C426-C1A4B60DDFBE}"/>
              </a:ext>
            </a:extLst>
          </p:cNvPr>
          <p:cNvSpPr txBox="1">
            <a:spLocks/>
          </p:cNvSpPr>
          <p:nvPr/>
        </p:nvSpPr>
        <p:spPr>
          <a:xfrm>
            <a:off x="1141412" y="1399430"/>
            <a:ext cx="8360397" cy="336148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it-IT" dirty="0"/>
              <a:t>Una volta aggiornate le test </a:t>
            </a:r>
            <a:r>
              <a:rPr lang="it-IT" dirty="0" err="1"/>
              <a:t>fixture</a:t>
            </a:r>
            <a:r>
              <a:rPr lang="it-IT" dirty="0"/>
              <a:t> per supportare il nuovo ingresso di Reset, è possibile eseguire la simulazione per verificare il corretto funzionamento del contatore. Come si può vedere nei diagrammi sottostanti, l’impulso </a:t>
            </a:r>
            <a:r>
              <a:rPr lang="it-IT" dirty="0" err="1"/>
              <a:t>Rst</a:t>
            </a:r>
            <a:r>
              <a:rPr lang="it-IT" dirty="0"/>
              <a:t> azzera inizialmente il registro che partiva con un valore indefinito (xxx). Quando il </a:t>
            </a:r>
            <a:r>
              <a:rPr lang="it-IT" dirty="0" err="1"/>
              <a:t>Rst</a:t>
            </a:r>
            <a:r>
              <a:rPr lang="it-IT" dirty="0"/>
              <a:t> è rilasciato, i successivi impulsi di clock (</a:t>
            </a:r>
            <a:r>
              <a:rPr lang="it-IT" dirty="0" err="1"/>
              <a:t>Clk</a:t>
            </a:r>
            <a:r>
              <a:rPr lang="it-IT" dirty="0"/>
              <a:t>) fanno avanzare il conteggio. Un livello di </a:t>
            </a:r>
            <a:r>
              <a:rPr lang="it-IT" dirty="0" err="1"/>
              <a:t>Rst</a:t>
            </a:r>
            <a:r>
              <a:rPr lang="it-IT" dirty="0"/>
              <a:t> a 1 per un tempo abbastanza lungo da superare il </a:t>
            </a:r>
            <a:r>
              <a:rPr lang="it-IT" dirty="0" err="1"/>
              <a:t>perodio</a:t>
            </a:r>
            <a:r>
              <a:rPr lang="it-IT" dirty="0"/>
              <a:t> di qualche ciclo di clock, dimostra che l’ingresso </a:t>
            </a:r>
            <a:r>
              <a:rPr lang="it-IT" dirty="0" err="1"/>
              <a:t>Rst</a:t>
            </a:r>
            <a:r>
              <a:rPr lang="it-IT" dirty="0"/>
              <a:t> è prioritario, alla stregua di un reset asincrono applicato direttamente ai registri.</a:t>
            </a:r>
          </a:p>
          <a:p>
            <a:pPr marL="0" indent="0">
              <a:buNone/>
            </a:pPr>
            <a:r>
              <a:rPr lang="it-IT" dirty="0"/>
              <a:t>In ultimo, si può vedere che una variazione da zero ad uno dell’ingresso G, modifica il criterio di conteggio passando da Binario a codice Gray.</a:t>
            </a:r>
          </a:p>
        </p:txBody>
      </p:sp>
    </p:spTree>
    <p:extLst>
      <p:ext uri="{BB962C8B-B14F-4D97-AF65-F5344CB8AC3E}">
        <p14:creationId xmlns:p14="http://schemas.microsoft.com/office/powerpoint/2010/main" val="35411588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3C8D35-A45B-D04F-47A8-763D13558492}"/>
              </a:ext>
            </a:extLst>
          </p:cNvPr>
          <p:cNvSpPr>
            <a:spLocks noGrp="1"/>
          </p:cNvSpPr>
          <p:nvPr>
            <p:ph type="title"/>
          </p:nvPr>
        </p:nvSpPr>
        <p:spPr/>
        <p:txBody>
          <a:bodyPr/>
          <a:lstStyle/>
          <a:p>
            <a:r>
              <a:rPr lang="it-IT" dirty="0"/>
              <a:t>Q&amp;A</a:t>
            </a:r>
          </a:p>
        </p:txBody>
      </p:sp>
      <p:sp>
        <p:nvSpPr>
          <p:cNvPr id="3" name="Segnaposto contenuto 2">
            <a:extLst>
              <a:ext uri="{FF2B5EF4-FFF2-40B4-BE49-F238E27FC236}">
                <a16:creationId xmlns:a16="http://schemas.microsoft.com/office/drawing/2014/main" id="{A881C381-A9FB-3960-9BBF-7CB175779715}"/>
              </a:ext>
            </a:extLst>
          </p:cNvPr>
          <p:cNvSpPr>
            <a:spLocks noGrp="1"/>
          </p:cNvSpPr>
          <p:nvPr>
            <p:ph idx="1"/>
          </p:nvPr>
        </p:nvSpPr>
        <p:spPr>
          <a:xfrm>
            <a:off x="1141412" y="2249487"/>
            <a:ext cx="9905999" cy="1757970"/>
          </a:xfrm>
        </p:spPr>
        <p:txBody>
          <a:bodyPr/>
          <a:lstStyle/>
          <a:p>
            <a:r>
              <a:rPr lang="it-IT" dirty="0"/>
              <a:t>Relatori: </a:t>
            </a:r>
          </a:p>
          <a:p>
            <a:pPr marL="457200" lvl="1" indent="0">
              <a:buNone/>
            </a:pPr>
            <a:r>
              <a:rPr lang="it-IT" dirty="0"/>
              <a:t>Emanuel Conti (</a:t>
            </a:r>
            <a:r>
              <a:rPr lang="it-IT" dirty="0">
                <a:hlinkClick r:id="rId2"/>
              </a:rPr>
              <a:t>e.conti@embedded.sm</a:t>
            </a:r>
            <a:r>
              <a:rPr lang="it-IT" dirty="0"/>
              <a:t>)</a:t>
            </a:r>
          </a:p>
          <a:p>
            <a:pPr marL="457200" lvl="1" indent="0">
              <a:buNone/>
            </a:pPr>
            <a:r>
              <a:rPr lang="it-IT" dirty="0"/>
              <a:t>Giuliano Cardinali (</a:t>
            </a:r>
            <a:r>
              <a:rPr lang="it-IT" dirty="0">
                <a:hlinkClick r:id="rId3"/>
              </a:rPr>
              <a:t>giulicard@gmail.com</a:t>
            </a:r>
            <a:r>
              <a:rPr lang="it-IT" dirty="0"/>
              <a:t>)</a:t>
            </a:r>
          </a:p>
          <a:p>
            <a:pPr marL="0" indent="0">
              <a:buNone/>
            </a:pPr>
            <a:endParaRPr lang="it-IT" dirty="0"/>
          </a:p>
          <a:p>
            <a:endParaRPr lang="it-IT" dirty="0"/>
          </a:p>
        </p:txBody>
      </p:sp>
    </p:spTree>
    <p:extLst>
      <p:ext uri="{BB962C8B-B14F-4D97-AF65-F5344CB8AC3E}">
        <p14:creationId xmlns:p14="http://schemas.microsoft.com/office/powerpoint/2010/main" val="29201334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B154E0-9859-0454-03C4-417DCB9FA068}"/>
              </a:ext>
            </a:extLst>
          </p:cNvPr>
          <p:cNvSpPr>
            <a:spLocks noGrp="1"/>
          </p:cNvSpPr>
          <p:nvPr>
            <p:ph type="title"/>
          </p:nvPr>
        </p:nvSpPr>
        <p:spPr/>
        <p:txBody>
          <a:bodyPr/>
          <a:lstStyle/>
          <a:p>
            <a:r>
              <a:rPr lang="it-IT" dirty="0"/>
              <a:t>RIFERIMENTI BIBLIOGRAFICI</a:t>
            </a:r>
          </a:p>
        </p:txBody>
      </p:sp>
      <p:sp>
        <p:nvSpPr>
          <p:cNvPr id="3" name="Segnaposto contenuto 2">
            <a:extLst>
              <a:ext uri="{FF2B5EF4-FFF2-40B4-BE49-F238E27FC236}">
                <a16:creationId xmlns:a16="http://schemas.microsoft.com/office/drawing/2014/main" id="{DB7C34A2-264D-6F9E-5F92-456FC95F2490}"/>
              </a:ext>
            </a:extLst>
          </p:cNvPr>
          <p:cNvSpPr>
            <a:spLocks noGrp="1"/>
          </p:cNvSpPr>
          <p:nvPr>
            <p:ph idx="1"/>
          </p:nvPr>
        </p:nvSpPr>
        <p:spPr>
          <a:xfrm>
            <a:off x="1141412" y="2027584"/>
            <a:ext cx="9905999" cy="4420924"/>
          </a:xfrm>
        </p:spPr>
        <p:txBody>
          <a:bodyPr>
            <a:normAutofit fontScale="85000" lnSpcReduction="10000"/>
          </a:bodyPr>
          <a:lstStyle/>
          <a:p>
            <a:r>
              <a:rPr lang="it-IT" sz="1800" dirty="0"/>
              <a:t>Reti logiche e calcolatori </a:t>
            </a:r>
            <a:br>
              <a:rPr lang="it-IT" sz="1800" dirty="0"/>
            </a:br>
            <a:r>
              <a:rPr lang="it-IT" sz="1800" dirty="0"/>
              <a:t>F. Luccio, L. </a:t>
            </a:r>
            <a:r>
              <a:rPr lang="it-IT" sz="1800" dirty="0" err="1"/>
              <a:t>Pagli</a:t>
            </a:r>
            <a:r>
              <a:rPr lang="it-IT" sz="1800" dirty="0"/>
              <a:t> – ISBN: 978-8833954870</a:t>
            </a:r>
          </a:p>
          <a:p>
            <a:r>
              <a:rPr lang="it-IT" sz="1800" dirty="0" err="1"/>
              <a:t>FPGAs</a:t>
            </a:r>
            <a:r>
              <a:rPr lang="it-IT" sz="1800" dirty="0"/>
              <a:t>: Instant Access</a:t>
            </a:r>
            <a:br>
              <a:rPr lang="it-IT" sz="1800" dirty="0"/>
            </a:br>
            <a:r>
              <a:rPr lang="it-IT" sz="1800" dirty="0"/>
              <a:t>Clive </a:t>
            </a:r>
            <a:r>
              <a:rPr lang="it-IT" sz="1800" dirty="0" err="1"/>
              <a:t>Maxfield</a:t>
            </a:r>
            <a:r>
              <a:rPr lang="it-IT" sz="1800" dirty="0"/>
              <a:t> - ISBN: 978-0750689748</a:t>
            </a:r>
          </a:p>
          <a:p>
            <a:r>
              <a:rPr lang="it-IT" sz="1800" dirty="0"/>
              <a:t>Bebop to the </a:t>
            </a:r>
            <a:r>
              <a:rPr lang="it-IT" sz="1800" dirty="0" err="1"/>
              <a:t>Boolean</a:t>
            </a:r>
            <a:r>
              <a:rPr lang="it-IT" sz="1800" dirty="0"/>
              <a:t> Boogie: An </a:t>
            </a:r>
            <a:r>
              <a:rPr lang="it-IT" sz="1800" dirty="0" err="1"/>
              <a:t>Unconventional</a:t>
            </a:r>
            <a:r>
              <a:rPr lang="it-IT" sz="1800" dirty="0"/>
              <a:t> Guide to Electronics</a:t>
            </a:r>
            <a:br>
              <a:rPr lang="it-IT" sz="1800" dirty="0"/>
            </a:br>
            <a:r>
              <a:rPr lang="it-IT" sz="1800" dirty="0"/>
              <a:t>Clive </a:t>
            </a:r>
            <a:r>
              <a:rPr lang="it-IT" sz="1800" dirty="0" err="1"/>
              <a:t>Maxfield</a:t>
            </a:r>
            <a:r>
              <a:rPr lang="it-IT" sz="1800" dirty="0"/>
              <a:t> - ISBN: 978-1856175074</a:t>
            </a:r>
          </a:p>
          <a:p>
            <a:r>
              <a:rPr lang="it-IT" sz="1800" dirty="0" err="1"/>
              <a:t>Logic</a:t>
            </a:r>
            <a:r>
              <a:rPr lang="it-IT" sz="1800" dirty="0"/>
              <a:t> Circuit Design: </a:t>
            </a:r>
            <a:r>
              <a:rPr lang="it-IT" sz="1800" dirty="0" err="1"/>
              <a:t>Selected</a:t>
            </a:r>
            <a:r>
              <a:rPr lang="it-IT" sz="1800" dirty="0"/>
              <a:t> </a:t>
            </a:r>
            <a:r>
              <a:rPr lang="it-IT" sz="1800" dirty="0" err="1"/>
              <a:t>Topics</a:t>
            </a:r>
            <a:r>
              <a:rPr lang="it-IT" sz="1800" dirty="0"/>
              <a:t> and Methods, Second Ed. </a:t>
            </a:r>
            <a:br>
              <a:rPr lang="it-IT" sz="1800" dirty="0"/>
            </a:br>
            <a:r>
              <a:rPr lang="it-IT" sz="1800" dirty="0"/>
              <a:t>Shimon P. </a:t>
            </a:r>
            <a:r>
              <a:rPr lang="it-IT" sz="1800" dirty="0" err="1"/>
              <a:t>Vingron</a:t>
            </a:r>
            <a:r>
              <a:rPr lang="it-IT" sz="1800" dirty="0"/>
              <a:t> - ISBN: 978-3031406720</a:t>
            </a:r>
          </a:p>
          <a:p>
            <a:r>
              <a:rPr lang="it-IT" sz="1800" dirty="0"/>
              <a:t>The </a:t>
            </a:r>
            <a:r>
              <a:rPr lang="it-IT" sz="1800" dirty="0" err="1"/>
              <a:t>Verilog</a:t>
            </a:r>
            <a:r>
              <a:rPr lang="it-IT" sz="1800" dirty="0"/>
              <a:t>® Hardware </a:t>
            </a:r>
            <a:r>
              <a:rPr lang="it-IT" sz="1800" dirty="0" err="1"/>
              <a:t>Description</a:t>
            </a:r>
            <a:r>
              <a:rPr lang="it-IT" sz="1800" dirty="0"/>
              <a:t> Language, 5th Ed.</a:t>
            </a:r>
            <a:br>
              <a:rPr lang="it-IT" sz="1800" dirty="0"/>
            </a:br>
            <a:r>
              <a:rPr lang="it-IT" sz="1800" dirty="0"/>
              <a:t>Donald E. Thomas, Philip R. </a:t>
            </a:r>
            <a:r>
              <a:rPr lang="it-IT" sz="1800" dirty="0" err="1"/>
              <a:t>Moorby</a:t>
            </a:r>
            <a:r>
              <a:rPr lang="it-IT" sz="1800" dirty="0"/>
              <a:t> - ISBN: 978-1402070896</a:t>
            </a:r>
          </a:p>
          <a:p>
            <a:r>
              <a:rPr lang="it-IT" sz="1800" dirty="0"/>
              <a:t>Digital design : with an </a:t>
            </a:r>
            <a:r>
              <a:rPr lang="it-IT" sz="1800" dirty="0" err="1"/>
              <a:t>introduction</a:t>
            </a:r>
            <a:r>
              <a:rPr lang="it-IT" sz="1800" dirty="0"/>
              <a:t> to the </a:t>
            </a:r>
            <a:r>
              <a:rPr lang="it-IT" sz="1800" dirty="0" err="1"/>
              <a:t>verilog</a:t>
            </a:r>
            <a:r>
              <a:rPr lang="it-IT" sz="1800" dirty="0"/>
              <a:t> </a:t>
            </a:r>
            <a:r>
              <a:rPr lang="it-IT" sz="1800" dirty="0" err="1"/>
              <a:t>hdl</a:t>
            </a:r>
            <a:br>
              <a:rPr lang="it-IT" sz="1800" dirty="0"/>
            </a:br>
            <a:r>
              <a:rPr lang="it-IT" sz="1800" dirty="0"/>
              <a:t>M. Morris Mano, Michael D. Ciletti.—5th ed. - ISBN-13: 978-0132774208</a:t>
            </a:r>
          </a:p>
          <a:p>
            <a:r>
              <a:rPr lang="it-IT" sz="1800" dirty="0"/>
              <a:t>Digital Design </a:t>
            </a:r>
            <a:r>
              <a:rPr lang="it-IT" sz="1800" dirty="0" err="1"/>
              <a:t>Principles</a:t>
            </a:r>
            <a:r>
              <a:rPr lang="it-IT" sz="1800" dirty="0"/>
              <a:t> and Practices</a:t>
            </a:r>
            <a:br>
              <a:rPr lang="it-IT" sz="1800" dirty="0"/>
            </a:br>
            <a:r>
              <a:rPr lang="it-IT" sz="1800" dirty="0"/>
              <a:t>John F. </a:t>
            </a:r>
            <a:r>
              <a:rPr lang="it-IT" sz="1800" dirty="0" err="1"/>
              <a:t>Wakerly</a:t>
            </a:r>
            <a:r>
              <a:rPr lang="it-IT" sz="1800" dirty="0"/>
              <a:t> - ISBN: 978-0134460093</a:t>
            </a:r>
          </a:p>
        </p:txBody>
      </p:sp>
    </p:spTree>
    <p:extLst>
      <p:ext uri="{BB962C8B-B14F-4D97-AF65-F5344CB8AC3E}">
        <p14:creationId xmlns:p14="http://schemas.microsoft.com/office/powerpoint/2010/main" val="38239804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1_Circuito">
  <a:themeElements>
    <a:clrScheme name="Circuito">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TM04033919[[fn=Circuito]]</Template>
  <TotalTime>29027</TotalTime>
  <Words>17577</Words>
  <Application>Microsoft Office PowerPoint</Application>
  <PresentationFormat>Widescreen</PresentationFormat>
  <Paragraphs>1309</Paragraphs>
  <Slides>131</Slides>
  <Notes>2</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131</vt:i4>
      </vt:variant>
    </vt:vector>
  </HeadingPairs>
  <TitlesOfParts>
    <vt:vector size="140" baseType="lpstr">
      <vt:lpstr>-apple-system</vt:lpstr>
      <vt:lpstr>Arial</vt:lpstr>
      <vt:lpstr>Calibri</vt:lpstr>
      <vt:lpstr>Cambria Math</vt:lpstr>
      <vt:lpstr>Consolas</vt:lpstr>
      <vt:lpstr>Courier New</vt:lpstr>
      <vt:lpstr>Tw Cen MT</vt:lpstr>
      <vt:lpstr>Circuito</vt:lpstr>
      <vt:lpstr>1_Circuito</vt:lpstr>
      <vt:lpstr>Incontro informativo sui linguaggi di descrizione dell'hardware (HDL)</vt:lpstr>
      <vt:lpstr>PARTE PRIMA RETI LOGICHE</vt:lpstr>
      <vt:lpstr>CENNI STORICI</vt:lpstr>
      <vt:lpstr>LE Reti logiche</vt:lpstr>
      <vt:lpstr>SEGNALI NEL CONTESTO DELLE RETI LOGICHE</vt:lpstr>
      <vt:lpstr>SEGNALI REALI E RETI LOGICHE </vt:lpstr>
      <vt:lpstr>INTEGRITÀ DEI SEGNALI: POSSONO DEGRADARE A CAUSA DI…</vt:lpstr>
      <vt:lpstr>INTERPRETAZIONE DEI SEGNALI NELLE RETI LOGICHE</vt:lpstr>
      <vt:lpstr>LE Reti logiche come blackbox</vt:lpstr>
      <vt:lpstr>IL PROGETTO LOGICO (1)</vt:lpstr>
      <vt:lpstr>IL PROGETTO LOGICO (2)</vt:lpstr>
      <vt:lpstr>LE Reti logiche: OPERATORI FONDAMENTALI (1)</vt:lpstr>
      <vt:lpstr>LE Reti logiche: OPERATORI FONDAMENTALI (2)</vt:lpstr>
      <vt:lpstr>CENNi SULLE PROPRIETÀ ALGEBRICHE (1) </vt:lpstr>
      <vt:lpstr>CENNi SULLE PROPRIETÀ ALGEBRICHE (2) </vt:lpstr>
      <vt:lpstr>ENUMERAZIONE DI FUNZIONI (1)</vt:lpstr>
      <vt:lpstr>ENUMERAZIONE DI FUNZIONI (2)</vt:lpstr>
      <vt:lpstr>ENUMERAZIONE DI FUNZIONI (3)</vt:lpstr>
      <vt:lpstr>ENUMERAZIONE DI FUNZIONI (4)</vt:lpstr>
      <vt:lpstr>ENUMERAZIONE DI FUNZIONI (5)</vt:lpstr>
      <vt:lpstr>ENUMERAZIONE DI FUNZIONI (6)</vt:lpstr>
      <vt:lpstr>STRUTTURA DELLE RETI LOGICHE</vt:lpstr>
      <vt:lpstr>METODI MANUALI PER LA SINTESI DI RETI COMBINATORIE (1)</vt:lpstr>
      <vt:lpstr>METODI MANUALI PER LA SINTESI DI RETI COMBINATORIE (2)</vt:lpstr>
      <vt:lpstr>SINTESI E MINIMIZZAZIONE Di RETI COMBINATORIE</vt:lpstr>
      <vt:lpstr>Dalle equazioni ai circuiti </vt:lpstr>
      <vt:lpstr>CATEGORIE DI LOGICHE COMBINATORIE</vt:lpstr>
      <vt:lpstr>RETI LOGICHE COMBINATORIE (FORME canoniche)</vt:lpstr>
      <vt:lpstr>ESEMPIO DI PROGETTO </vt:lpstr>
      <vt:lpstr>Implementazione con porte logiche</vt:lpstr>
      <vt:lpstr>MINIMIZZAZIONE CON metodo GRAFICO (1)</vt:lpstr>
      <vt:lpstr>MINIMIZZAZIONE CON METODo GRAFICO (2)</vt:lpstr>
      <vt:lpstr>Minimizzazione con il software ESPRESSO (1)</vt:lpstr>
      <vt:lpstr>Minimizzazione con il software ESPRESSO (2)</vt:lpstr>
      <vt:lpstr>Minimizzazione con il software ESPRESSO (3)</vt:lpstr>
      <vt:lpstr>Minimizzazione con il software ESPRESSO (4)</vt:lpstr>
      <vt:lpstr>perché ESPRESSO?</vt:lpstr>
      <vt:lpstr>GLI ASIC (1)</vt:lpstr>
      <vt:lpstr>GLI ASIC (2)</vt:lpstr>
      <vt:lpstr>LE LOGICHE PROGRAMMABILI (PLD)</vt:lpstr>
      <vt:lpstr>TASSONOMIA DELLE LOGICHe PROGRAMMABILI (1)</vt:lpstr>
      <vt:lpstr>FIELD PROGRAMMABLE LOGIC (1)</vt:lpstr>
      <vt:lpstr>FIELD PROGRAMMABLE LOGIC (2)</vt:lpstr>
      <vt:lpstr>DISPOSITIVI CLASSICI CHE IMPLAMENTANO LE FORME CANONICHE SP (SSI)</vt:lpstr>
      <vt:lpstr>ESEMPIO CON PAL16L8 (SSI)</vt:lpstr>
      <vt:lpstr>Presentazione standard di PowerPoint</vt:lpstr>
      <vt:lpstr>Programmazione delle SPLD OTP</vt:lpstr>
      <vt:lpstr>Presentazione standard di PowerPoint</vt:lpstr>
      <vt:lpstr>Presentazione standard di PowerPoint</vt:lpstr>
      <vt:lpstr>Presentazione standard di PowerPoint</vt:lpstr>
      <vt:lpstr>Presentazione standard di PowerPoint</vt:lpstr>
      <vt:lpstr>Presentazione standard di PowerPoint</vt:lpstr>
      <vt:lpstr>RETI LOGICHE COMBINATORIE MULTILIVELLO</vt:lpstr>
      <vt:lpstr>Alee (HAZARDS)</vt:lpstr>
      <vt:lpstr>Alee Statiche (STATIC HAZARDS)</vt:lpstr>
      <vt:lpstr>Alee DINAMiche (DYNAMIC HAZARDS)</vt:lpstr>
      <vt:lpstr>GLI ELEMENTI DI MEMORIA </vt:lpstr>
      <vt:lpstr>LOGICA TERNARIA o trivalente (3VL)</vt:lpstr>
      <vt:lpstr>OPERATORI NOT, OR E AND In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SIMULAZIONE LATCH S-R CON LOGICA TRIVALENTE</vt:lpstr>
      <vt:lpstr>RETI LOGICHE SEQUENZIALI (1)</vt:lpstr>
      <vt:lpstr>RETI LOGICHE SEQUENZIALI (2)</vt:lpstr>
      <vt:lpstr>MODELLO RETI LOGICHE SEQUENZIALI ASINCRONE</vt:lpstr>
      <vt:lpstr>LE RETi SEQUENZIALI SINCRONE (1)</vt:lpstr>
      <vt:lpstr>LE RETi SEQUENZIALI SINCRONE (2)</vt:lpstr>
      <vt:lpstr>Le RETI SEQUENZIALI SINCRONE (3)</vt:lpstr>
      <vt:lpstr>ESEMPIODI RETE SEQUENZIALE SINCRONA (1)</vt:lpstr>
      <vt:lpstr>ESEMPIODI RETE SEQUENZIALE SINCRONA (2)</vt:lpstr>
      <vt:lpstr>AUMENTO DELLA COMPLESSITÀ CIRCUITALE</vt:lpstr>
      <vt:lpstr>CPLD</vt:lpstr>
      <vt:lpstr>FPGA</vt:lpstr>
      <vt:lpstr>GESTIONE DELLA COMPLESSITÀ CIRCUITALE</vt:lpstr>
      <vt:lpstr>PARTE SECONDA HARDWARE  DESCRIPTION LANGUAGES</vt:lpstr>
      <vt:lpstr>il progetto automatizzato</vt:lpstr>
      <vt:lpstr>EDA – Electronic Design automation (1)</vt:lpstr>
      <vt:lpstr>EDA – Electronic Design automation (2)</vt:lpstr>
      <vt:lpstr>PARTE SECONDA Il LINGUAGGIO VERILOG®</vt:lpstr>
      <vt:lpstr>BREVE STORIA DEL LINGUAGGIO VERILOG</vt:lpstr>
      <vt:lpstr>VERILOG E LINGUAGGI PER COMPUTER</vt:lpstr>
      <vt:lpstr>Introduzione al linguaggio VERILOG</vt:lpstr>
      <vt:lpstr>LIVELLI DI ASTRAZIONE</vt:lpstr>
      <vt:lpstr>FLUSSO DI SVILUPPO ASIC CON HDL (1)</vt:lpstr>
      <vt:lpstr>FLUSSO DI SVILUPPO ASIC CON HDL (2)</vt:lpstr>
      <vt:lpstr>TUTORIAL INTRODUTTIVo (1)</vt:lpstr>
      <vt:lpstr>TUTORIAL INTRODUTTIVo (2)</vt:lpstr>
      <vt:lpstr>TUTORIAL INTRODUTTIVo (3)</vt:lpstr>
      <vt:lpstr>TUTORIAL INTRODUTTIVo (4/1)</vt:lpstr>
      <vt:lpstr>TUTORIAL INTRODUTTIVo (4/2)</vt:lpstr>
      <vt:lpstr>TUTORIAL INTRODUTTIVo (5/1)</vt:lpstr>
      <vt:lpstr>TUTORIAL INTRODUTTIVo (5/2)</vt:lpstr>
      <vt:lpstr>TUTORIAL INTRODUTTIVo (5/3)</vt:lpstr>
      <vt:lpstr>TUTORIAL INTRODUTTIVo (6/1)</vt:lpstr>
      <vt:lpstr>TUTORIAL INTRODUTTIVo (6/2)</vt:lpstr>
      <vt:lpstr>TUTORIAL INTRODUTTIVo (7/1)</vt:lpstr>
      <vt:lpstr>TUTORIAL INTRODUTTIVo (7/2)</vt:lpstr>
      <vt:lpstr>TUTORIAL INTRODUTTIVo (7/3)</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TUTORIAL INTRODUTTIVo (10)</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TUTORIAL INTRODUTTIVo (16/1) </vt:lpstr>
      <vt:lpstr>TUTORIAL INTRODUTTIVo (16/2) </vt:lpstr>
      <vt:lpstr>TUTORIAL INTRODUTTIVo (16/3) </vt:lpstr>
      <vt:lpstr>TUTORIAL INTRODUTTIVo (16/4) </vt:lpstr>
      <vt:lpstr>TUTORIAL INTRODUTTIVo (17)</vt:lpstr>
      <vt:lpstr>Q&amp;A</vt:lpstr>
      <vt:lpstr>RIFERIMENTI BIBLIOGRAFICI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Giuliano Cardinali</dc:creator>
  <cp:lastModifiedBy>Giuliano Cardinali</cp:lastModifiedBy>
  <cp:revision>250</cp:revision>
  <dcterms:created xsi:type="dcterms:W3CDTF">2023-12-26T17:10:44Z</dcterms:created>
  <dcterms:modified xsi:type="dcterms:W3CDTF">2024-05-09T19:44:54Z</dcterms:modified>
</cp:coreProperties>
</file>