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88" r:id="rId7"/>
    <p:sldId id="275" r:id="rId8"/>
    <p:sldId id="262" r:id="rId9"/>
    <p:sldId id="264" r:id="rId10"/>
    <p:sldId id="265" r:id="rId11"/>
    <p:sldId id="266" r:id="rId12"/>
    <p:sldId id="267" r:id="rId13"/>
    <p:sldId id="280" r:id="rId14"/>
    <p:sldId id="289" r:id="rId15"/>
    <p:sldId id="271" r:id="rId16"/>
    <p:sldId id="276" r:id="rId17"/>
    <p:sldId id="277" r:id="rId18"/>
    <p:sldId id="278" r:id="rId19"/>
    <p:sldId id="307" r:id="rId20"/>
    <p:sldId id="291" r:id="rId21"/>
    <p:sldId id="308" r:id="rId22"/>
    <p:sldId id="292" r:id="rId23"/>
    <p:sldId id="294" r:id="rId24"/>
    <p:sldId id="293" r:id="rId25"/>
    <p:sldId id="295" r:id="rId26"/>
    <p:sldId id="310" r:id="rId27"/>
    <p:sldId id="296" r:id="rId28"/>
    <p:sldId id="270" r:id="rId29"/>
    <p:sldId id="282" r:id="rId30"/>
    <p:sldId id="272" r:id="rId31"/>
    <p:sldId id="297" r:id="rId32"/>
    <p:sldId id="309" r:id="rId33"/>
    <p:sldId id="274" r:id="rId34"/>
    <p:sldId id="281" r:id="rId35"/>
    <p:sldId id="311" r:id="rId36"/>
    <p:sldId id="298" r:id="rId37"/>
    <p:sldId id="299" r:id="rId38"/>
    <p:sldId id="300" r:id="rId39"/>
    <p:sldId id="302" r:id="rId40"/>
    <p:sldId id="303" r:id="rId41"/>
    <p:sldId id="304" r:id="rId42"/>
    <p:sldId id="284" r:id="rId43"/>
    <p:sldId id="285" r:id="rId44"/>
    <p:sldId id="305" r:id="rId45"/>
    <p:sldId id="306" r:id="rId46"/>
  </p:sldIdLst>
  <p:sldSz cx="12192000" cy="6858000"/>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09" autoAdjust="0"/>
  </p:normalViewPr>
  <p:slideViewPr>
    <p:cSldViewPr snapToGrid="0">
      <p:cViewPr varScale="1">
        <p:scale>
          <a:sx n="120" d="100"/>
          <a:sy n="120" d="100"/>
        </p:scale>
        <p:origin x="120" y="9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nchor="ctr"/>
          <a:lstStyle>
            <a:lvl1pPr>
              <a:defRPr cap="none" baseline="0"/>
            </a:lvl1pPr>
            <a:lvl2pPr>
              <a:defRPr cap="none" baseline="0"/>
            </a:lvl2pPr>
            <a:lvl3pPr>
              <a:defRPr cap="none" baseline="0"/>
            </a:lvl3pPr>
            <a:lvl4pPr>
              <a:defRPr cap="none" baseline="0"/>
            </a:lvl4pPr>
            <a:lvl5pPr>
              <a:defRPr cap="none" baseline="0"/>
            </a:lvl5p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B61BEF0D-F0BB-DE4B-95CE-6DB70DBA9567}" type="datetimeFigureOut">
              <a:rPr lang="en-US" dirty="0"/>
              <a:pPr/>
              <a:t>5/23/2024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5/23/2024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5/23/2024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5/23/2024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5/23/2024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it-IT"/>
              <a:t>Fare clic per modificare lo stile del titolo dello schema</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B61BEF0D-F0BB-DE4B-95CE-6DB70DBA9567}" type="datetimeFigureOut">
              <a:rPr lang="en-US" dirty="0"/>
              <a:pPr/>
              <a:t>5/23/2024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it-IT"/>
              <a:t>Fare clic per modificare lo stile del titolo dello schema</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a:xfrm>
            <a:off x="6399212" y="5883275"/>
            <a:ext cx="914400" cy="365125"/>
          </a:xfrm>
        </p:spPr>
        <p:txBody>
          <a:bodyPr/>
          <a:lstStyle/>
          <a:p>
            <a:fld id="{B61BEF0D-F0BB-DE4B-95CE-6DB70DBA9567}" type="datetimeFigureOut">
              <a:rPr lang="en-US" dirty="0"/>
              <a:pPr/>
              <a:t>5/23/2024</a:t>
            </a:fld>
            <a:endParaRPr lang="en-US" dirty="0"/>
          </a:p>
        </p:txBody>
      </p:sp>
      <p:sp>
        <p:nvSpPr>
          <p:cNvPr id="6" name="Footer Placeholder 5"/>
          <p:cNvSpPr>
            <a:spLocks noGrp="1"/>
          </p:cNvSpPr>
          <p:nvPr>
            <p:ph type="ftr" sz="quarter" idx="11"/>
          </p:nvPr>
        </p:nvSpPr>
        <p:spPr>
          <a:xfrm>
            <a:off x="1141412" y="5883275"/>
            <a:ext cx="5105400" cy="365125"/>
          </a:xfrm>
        </p:spPr>
        <p:txBody>
          <a:bodyPr/>
          <a:lstStyle/>
          <a:p>
            <a:endParaRPr lang="en-US" dirty="0"/>
          </a:p>
        </p:txBody>
      </p:sp>
      <p:sp>
        <p:nvSpPr>
          <p:cNvPr id="7" name="Slide Number Placeholder 6"/>
          <p:cNvSpPr>
            <a:spLocks noGrp="1"/>
          </p:cNvSpPr>
          <p:nvPr>
            <p:ph type="sldNum" sz="quarter" idx="12"/>
          </p:nvPr>
        </p:nvSpPr>
        <p:spPr>
          <a:xfrm>
            <a:off x="10742612" y="5883275"/>
            <a:ext cx="3225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B61BEF0D-F0BB-DE4B-95CE-6DB70DBA9567}" type="datetimeFigureOut">
              <a:rPr lang="en-US" dirty="0"/>
              <a:pPr/>
              <a:t>5/23/2024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B61BEF0D-F0BB-DE4B-95CE-6DB70DBA9567}" type="datetimeFigureOut">
              <a:rPr lang="en-US" dirty="0"/>
              <a:pPr/>
              <a:t>5/23/2024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it-IT"/>
              <a:t>Fare clic per modificare lo stile del titolo dello schema</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Fare clic per modificare gli stili del testo dello schema</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it-IT"/>
              <a:t>Fare clic per modificare gli stili del testo dello schema</a:t>
            </a:r>
          </a:p>
        </p:txBody>
      </p:sp>
      <p:sp>
        <p:nvSpPr>
          <p:cNvPr id="4" name="Date Placeholder 3"/>
          <p:cNvSpPr>
            <a:spLocks noGrp="1"/>
          </p:cNvSpPr>
          <p:nvPr>
            <p:ph type="dt" sz="half" idx="10"/>
          </p:nvPr>
        </p:nvSpPr>
        <p:spPr/>
        <p:txBody>
          <a:bodyPr/>
          <a:lstStyle/>
          <a:p>
            <a:fld id="{B61BEF0D-F0BB-DE4B-95CE-6DB70DBA9567}" type="datetimeFigureOut">
              <a:rPr lang="en-US" dirty="0"/>
              <a:pPr/>
              <a:t>5/23/2024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it-IT"/>
              <a:t>Fare clic per modificare gli stili del testo dello schema</a:t>
            </a:r>
          </a:p>
        </p:txBody>
      </p:sp>
      <p:sp>
        <p:nvSpPr>
          <p:cNvPr id="4" name="Date Placeholder 3"/>
          <p:cNvSpPr>
            <a:spLocks noGrp="1"/>
          </p:cNvSpPr>
          <p:nvPr>
            <p:ph type="dt" sz="half" idx="10"/>
          </p:nvPr>
        </p:nvSpPr>
        <p:spPr/>
        <p:txBody>
          <a:bodyPr/>
          <a:lstStyle/>
          <a:p>
            <a:fld id="{B61BEF0D-F0BB-DE4B-95CE-6DB70DBA9567}" type="datetimeFigureOut">
              <a:rPr lang="en-US" dirty="0"/>
              <a:pPr/>
              <a:t>5/23/2024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cheda nome citazione">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it-IT"/>
              <a:t>Fare clic per modificare lo stile del titolo dello schema</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it-IT"/>
              <a:t>Fare clic per modificare gli stili del testo dello schema</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B61BEF0D-F0BB-DE4B-95CE-6DB70DBA9567}" type="datetimeFigureOut">
              <a:rPr lang="en-US" dirty="0"/>
              <a:pPr/>
              <a:t>5/23/2024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o o falso">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it-IT"/>
              <a:t>Fare clic per modificare lo stile del titolo dello schema</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it-IT"/>
              <a:t>Fare clic per modificare gli stili del testo dello schema</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B61BEF0D-F0BB-DE4B-95CE-6DB70DBA9567}" type="datetimeFigureOut">
              <a:rPr lang="en-US" dirty="0"/>
              <a:pPr/>
              <a:t>5/23/2024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duotone>
              <a:schemeClr val="bg2">
                <a:shade val="28000"/>
                <a:satMod val="94000"/>
                <a:lumMod val="20000"/>
              </a:schemeClr>
              <a:schemeClr val="bg2">
                <a:tint val="94000"/>
                <a:shade val="84000"/>
                <a:satMod val="148000"/>
                <a:lumMod val="114000"/>
              </a:schemeClr>
            </a:duotone>
            <a:extLst>
              <a:ext uri="{BEBA8EAE-BF5A-486C-A8C5-ECC9F3942E4B}">
                <a14:imgProps xmlns:a14="http://schemas.microsoft.com/office/drawing/2010/main">
                  <a14:imgLayer r:embed="rId20">
                    <a14:imgEffect>
                      <a14:brightnessContrast bright="25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B61BEF0D-F0BB-DE4B-95CE-6DB70DBA9567}" type="datetimeFigureOut">
              <a:rPr lang="en-US" dirty="0"/>
              <a:pPr/>
              <a:t>5/23/2024</a:t>
            </a:fld>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D57F1E4F-1CFF-5643-939E-217C01CDF565}" type="slidenum">
              <a:rPr lang="en-US" dirty="0"/>
              <a:pPr/>
              <a:t>‹N›</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1"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YosysHQ/oss-cad-suite-build" TargetMode="External"/><Relationship Id="rId2" Type="http://schemas.openxmlformats.org/officeDocument/2006/relationships/hyperlink" Target="https://learn.lushaylabs.com/vscode-extension/"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23.svg"/></Relationships>
</file>

<file path=ppt/slides/_rels/slide1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svg"/></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38.svg"/></Relationships>
</file>

<file path=ppt/slides/_rels/slide22.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svg"/></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9.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jpeg"/><Relationship Id="rId1" Type="http://schemas.openxmlformats.org/officeDocument/2006/relationships/slideLayout" Target="../slideLayouts/slideLayout2.xml"/><Relationship Id="rId4" Type="http://schemas.openxmlformats.org/officeDocument/2006/relationships/image" Target="../media/image58.svg"/></Relationships>
</file>

<file path=ppt/slides/_rels/slide3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hyperlink" Target="https://www.fpga4fun.com/files/LFSRTestbench.zip" TargetMode="External"/><Relationship Id="rId1" Type="http://schemas.openxmlformats.org/officeDocument/2006/relationships/slideLayout" Target="../slideLayouts/slideLayout2.xml"/><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6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8.sv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image" Target="../media/image69.png"/><Relationship Id="rId1" Type="http://schemas.openxmlformats.org/officeDocument/2006/relationships/slideLayout" Target="../slideLayouts/slideLayout2.xml"/><Relationship Id="rId5" Type="http://schemas.openxmlformats.org/officeDocument/2006/relationships/image" Target="../media/image72.svg"/><Relationship Id="rId4" Type="http://schemas.openxmlformats.org/officeDocument/2006/relationships/image" Target="../media/image71.png"/></Relationships>
</file>

<file path=ppt/slides/_rels/slide43.xml.rels><?xml version="1.0" encoding="UTF-8" standalone="yes"?>
<Relationships xmlns="http://schemas.openxmlformats.org/package/2006/relationships"><Relationship Id="rId3" Type="http://schemas.openxmlformats.org/officeDocument/2006/relationships/image" Target="../media/image74.svg"/><Relationship Id="rId2" Type="http://schemas.openxmlformats.org/officeDocument/2006/relationships/image" Target="../media/image73.png"/><Relationship Id="rId1" Type="http://schemas.openxmlformats.org/officeDocument/2006/relationships/slideLayout" Target="../slideLayouts/slideLayout2.xml"/><Relationship Id="rId5" Type="http://schemas.openxmlformats.org/officeDocument/2006/relationships/image" Target="../media/image76.svg"/><Relationship Id="rId4" Type="http://schemas.openxmlformats.org/officeDocument/2006/relationships/image" Target="../media/image75.png"/></Relationships>
</file>

<file path=ppt/slides/_rels/slide44.xml.rels><?xml version="1.0" encoding="UTF-8" standalone="yes"?>
<Relationships xmlns="http://schemas.openxmlformats.org/package/2006/relationships"><Relationship Id="rId3" Type="http://schemas.openxmlformats.org/officeDocument/2006/relationships/hyperlink" Target="mailto:giulicard@gmail.com" TargetMode="External"/><Relationship Id="rId2" Type="http://schemas.openxmlformats.org/officeDocument/2006/relationships/hyperlink" Target="mailto:e.conti@embedded.sm" TargetMode="External"/><Relationship Id="rId1" Type="http://schemas.openxmlformats.org/officeDocument/2006/relationships/slideLayout" Target="../slideLayouts/slideLayout2.xml"/><Relationship Id="rId6" Type="http://schemas.openxmlformats.org/officeDocument/2006/relationships/image" Target="../media/image78.svg"/><Relationship Id="rId5" Type="http://schemas.openxmlformats.org/officeDocument/2006/relationships/image" Target="../media/image77.png"/><Relationship Id="rId4" Type="http://schemas.openxmlformats.org/officeDocument/2006/relationships/hyperlink" Target="https://tinyurl.com/HDLParte2Code"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64C57AA-0EC8-68D7-2FC5-C4A702E45B29}"/>
              </a:ext>
            </a:extLst>
          </p:cNvPr>
          <p:cNvSpPr>
            <a:spLocks noGrp="1"/>
          </p:cNvSpPr>
          <p:nvPr>
            <p:ph type="ctrTitle"/>
          </p:nvPr>
        </p:nvSpPr>
        <p:spPr>
          <a:xfrm>
            <a:off x="1751012" y="741460"/>
            <a:ext cx="8676222" cy="2707419"/>
          </a:xfrm>
        </p:spPr>
        <p:txBody>
          <a:bodyPr>
            <a:normAutofit fontScale="90000"/>
          </a:bodyPr>
          <a:lstStyle/>
          <a:p>
            <a:r>
              <a:rPr lang="it-IT" dirty="0"/>
              <a:t>Incontro informativo sui linguaggi di descrizione dell'hardware (HDL)</a:t>
            </a:r>
          </a:p>
        </p:txBody>
      </p:sp>
      <p:sp>
        <p:nvSpPr>
          <p:cNvPr id="3" name="Sottotitolo 2">
            <a:extLst>
              <a:ext uri="{FF2B5EF4-FFF2-40B4-BE49-F238E27FC236}">
                <a16:creationId xmlns:a16="http://schemas.microsoft.com/office/drawing/2014/main" id="{D9E7C2AB-EC01-6300-4AB7-35621CC9E703}"/>
              </a:ext>
            </a:extLst>
          </p:cNvPr>
          <p:cNvSpPr>
            <a:spLocks noGrp="1"/>
          </p:cNvSpPr>
          <p:nvPr>
            <p:ph type="subTitle" idx="1"/>
          </p:nvPr>
        </p:nvSpPr>
        <p:spPr>
          <a:xfrm>
            <a:off x="1751012" y="3886200"/>
            <a:ext cx="8676222" cy="2077278"/>
          </a:xfrm>
        </p:spPr>
        <p:txBody>
          <a:bodyPr>
            <a:normAutofit fontScale="85000" lnSpcReduction="20000"/>
          </a:bodyPr>
          <a:lstStyle/>
          <a:p>
            <a:pPr algn="l"/>
            <a:r>
              <a:rPr lang="it-IT" dirty="0"/>
              <a:t>RELATORI:</a:t>
            </a:r>
          </a:p>
          <a:p>
            <a:pPr lvl="1" algn="l"/>
            <a:r>
              <a:rPr lang="it-IT" dirty="0"/>
              <a:t>Giuliano Cardinali</a:t>
            </a:r>
          </a:p>
          <a:p>
            <a:pPr lvl="1" algn="l"/>
            <a:r>
              <a:rPr lang="it-IT" dirty="0"/>
              <a:t>Emanuel Conti</a:t>
            </a:r>
            <a:br>
              <a:rPr lang="it-IT" dirty="0"/>
            </a:br>
            <a:endParaRPr lang="it-IT" dirty="0"/>
          </a:p>
          <a:p>
            <a:pPr algn="l"/>
            <a:r>
              <a:rPr lang="it-IT" cap="none" dirty="0"/>
              <a:t>A CURA DI:</a:t>
            </a:r>
          </a:p>
          <a:p>
            <a:pPr lvl="1" algn="l"/>
            <a:r>
              <a:rPr lang="it-IT" cap="none" dirty="0"/>
              <a:t>https://www.pidrsm.sm https://www.facebook.com/professionistiperinnovazionedigitale</a:t>
            </a:r>
          </a:p>
          <a:p>
            <a:endParaRPr lang="it-IT" dirty="0"/>
          </a:p>
        </p:txBody>
      </p:sp>
      <p:pic>
        <p:nvPicPr>
          <p:cNvPr id="4" name="Elemento grafico 3">
            <a:extLst>
              <a:ext uri="{FF2B5EF4-FFF2-40B4-BE49-F238E27FC236}">
                <a16:creationId xmlns:a16="http://schemas.microsoft.com/office/drawing/2014/main" id="{ADFBE4A1-4F23-171D-6E69-3B1DD9D4F03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47193" y="3787532"/>
            <a:ext cx="5120806" cy="1365548"/>
          </a:xfrm>
          <a:prstGeom prst="rect">
            <a:avLst/>
          </a:prstGeom>
        </p:spPr>
      </p:pic>
    </p:spTree>
    <p:extLst>
      <p:ext uri="{BB962C8B-B14F-4D97-AF65-F5344CB8AC3E}">
        <p14:creationId xmlns:p14="http://schemas.microsoft.com/office/powerpoint/2010/main" val="3707784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olo 1">
            <a:extLst>
              <a:ext uri="{FF2B5EF4-FFF2-40B4-BE49-F238E27FC236}">
                <a16:creationId xmlns:a16="http://schemas.microsoft.com/office/drawing/2014/main" id="{301D572A-0390-0D8E-E90C-BE7148AC9BCC}"/>
              </a:ext>
            </a:extLst>
          </p:cNvPr>
          <p:cNvSpPr>
            <a:spLocks noGrp="1"/>
          </p:cNvSpPr>
          <p:nvPr>
            <p:ph type="title"/>
          </p:nvPr>
        </p:nvSpPr>
        <p:spPr>
          <a:xfrm>
            <a:off x="1141413" y="618518"/>
            <a:ext cx="9905998" cy="5710720"/>
          </a:xfrm>
        </p:spPr>
        <p:txBody>
          <a:bodyPr>
            <a:normAutofit/>
          </a:bodyPr>
          <a:lstStyle/>
          <a:p>
            <a:pPr algn="ctr"/>
            <a:r>
              <a:rPr lang="it-IT" sz="8000" dirty="0"/>
              <a:t>HDL in pratica: progetto, sintesi e simulazione</a:t>
            </a:r>
          </a:p>
        </p:txBody>
      </p:sp>
    </p:spTree>
    <p:extLst>
      <p:ext uri="{BB962C8B-B14F-4D97-AF65-F5344CB8AC3E}">
        <p14:creationId xmlns:p14="http://schemas.microsoft.com/office/powerpoint/2010/main" val="4047415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7016D72-09FD-5FA2-B40D-5D81A0C38CAF}"/>
              </a:ext>
            </a:extLst>
          </p:cNvPr>
          <p:cNvSpPr>
            <a:spLocks noGrp="1"/>
          </p:cNvSpPr>
          <p:nvPr>
            <p:ph type="title"/>
          </p:nvPr>
        </p:nvSpPr>
        <p:spPr/>
        <p:txBody>
          <a:bodyPr/>
          <a:lstStyle/>
          <a:p>
            <a:r>
              <a:rPr lang="it-IT" dirty="0"/>
              <a:t>PRESENTAZIONE DEL KIT DI SVILUPPO</a:t>
            </a:r>
          </a:p>
        </p:txBody>
      </p:sp>
      <p:sp>
        <p:nvSpPr>
          <p:cNvPr id="3" name="Segnaposto contenuto 2">
            <a:extLst>
              <a:ext uri="{FF2B5EF4-FFF2-40B4-BE49-F238E27FC236}">
                <a16:creationId xmlns:a16="http://schemas.microsoft.com/office/drawing/2014/main" id="{95AAC9FE-AC80-80BD-BD4B-4D1F068A648A}"/>
              </a:ext>
            </a:extLst>
          </p:cNvPr>
          <p:cNvSpPr>
            <a:spLocks noGrp="1"/>
          </p:cNvSpPr>
          <p:nvPr>
            <p:ph idx="1"/>
          </p:nvPr>
        </p:nvSpPr>
        <p:spPr>
          <a:xfrm>
            <a:off x="1141413" y="2666999"/>
            <a:ext cx="9775728" cy="3124201"/>
          </a:xfrm>
        </p:spPr>
        <p:txBody>
          <a:bodyPr>
            <a:normAutofit/>
          </a:bodyPr>
          <a:lstStyle/>
          <a:p>
            <a:pPr marL="0" indent="0">
              <a:buNone/>
            </a:pPr>
            <a:r>
              <a:rPr lang="it-IT" cap="none" dirty="0"/>
              <a:t>Per questa presentazione si è scelto </a:t>
            </a:r>
            <a:br>
              <a:rPr lang="it-IT" cap="none" dirty="0"/>
            </a:br>
            <a:r>
              <a:rPr lang="it-IT" cap="none" dirty="0"/>
              <a:t>di utilizzare un kit di sviluppo facilmente </a:t>
            </a:r>
            <a:br>
              <a:rPr lang="it-IT" cap="none" dirty="0"/>
            </a:br>
            <a:r>
              <a:rPr lang="it-IT" cap="none" dirty="0"/>
              <a:t>reperibile e a basso costo. </a:t>
            </a:r>
            <a:br>
              <a:rPr lang="it-IT" dirty="0"/>
            </a:br>
            <a:r>
              <a:rPr lang="it-IT" cap="none" dirty="0"/>
              <a:t>Nello specifico si userà il kit di SiPeed </a:t>
            </a:r>
            <a:br>
              <a:rPr lang="it-IT" cap="none" dirty="0"/>
            </a:br>
            <a:r>
              <a:rPr lang="it-IT" cap="none" dirty="0"/>
              <a:t>modello Tang Nano 9K. </a:t>
            </a:r>
          </a:p>
          <a:p>
            <a:pPr marL="0" indent="0">
              <a:buNone/>
            </a:pPr>
            <a:r>
              <a:rPr lang="it-IT" cap="none" dirty="0"/>
              <a:t>Tang Nano 9K</a:t>
            </a:r>
            <a:r>
              <a:rPr lang="it-IT" dirty="0"/>
              <a:t> utilizza una FPGA non volatile</a:t>
            </a:r>
            <a:br>
              <a:rPr lang="it-IT" dirty="0"/>
            </a:br>
            <a:r>
              <a:rPr lang="it-IT" dirty="0"/>
              <a:t>basata su Flash, di marca GOWIN e appartenente alla famiglia </a:t>
            </a:r>
            <a:r>
              <a:rPr lang="it-IT"/>
              <a:t>LittleBee®, </a:t>
            </a:r>
            <a:r>
              <a:rPr lang="it-IT" dirty="0"/>
              <a:t>dotata di RAM integrata (GW1NR). Dispone di poco meno di 9000 LUT/CLB</a:t>
            </a:r>
            <a:br>
              <a:rPr lang="it-IT" dirty="0"/>
            </a:br>
            <a:r>
              <a:rPr lang="it-IT" dirty="0"/>
              <a:t>a 4 ingressi, funzioni DSP e diversi moduli tra cui due PLL.</a:t>
            </a:r>
            <a:endParaRPr lang="it-IT" cap="none" dirty="0"/>
          </a:p>
        </p:txBody>
      </p:sp>
      <p:pic>
        <p:nvPicPr>
          <p:cNvPr id="6" name="Immagine 5">
            <a:extLst>
              <a:ext uri="{FF2B5EF4-FFF2-40B4-BE49-F238E27FC236}">
                <a16:creationId xmlns:a16="http://schemas.microsoft.com/office/drawing/2014/main" id="{32A89C9F-E8A2-9603-CC6A-C1BD89959EB5}"/>
              </a:ext>
            </a:extLst>
          </p:cNvPr>
          <p:cNvPicPr>
            <a:picLocks noChangeAspect="1"/>
          </p:cNvPicPr>
          <p:nvPr/>
        </p:nvPicPr>
        <p:blipFill>
          <a:blip r:embed="rId2"/>
          <a:stretch>
            <a:fillRect/>
          </a:stretch>
        </p:blipFill>
        <p:spPr>
          <a:xfrm rot="1048996">
            <a:off x="6527023" y="1752931"/>
            <a:ext cx="4536291" cy="3150823"/>
          </a:xfrm>
          <a:prstGeom prst="rect">
            <a:avLst/>
          </a:prstGeom>
        </p:spPr>
      </p:pic>
    </p:spTree>
    <p:extLst>
      <p:ext uri="{BB962C8B-B14F-4D97-AF65-F5344CB8AC3E}">
        <p14:creationId xmlns:p14="http://schemas.microsoft.com/office/powerpoint/2010/main" val="906516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B57E51-C5CA-F73C-B987-ECDFDCA482FC}"/>
              </a:ext>
            </a:extLst>
          </p:cNvPr>
          <p:cNvSpPr>
            <a:spLocks noGrp="1"/>
          </p:cNvSpPr>
          <p:nvPr>
            <p:ph type="title"/>
          </p:nvPr>
        </p:nvSpPr>
        <p:spPr>
          <a:xfrm>
            <a:off x="1141413" y="283595"/>
            <a:ext cx="9905998" cy="1905000"/>
          </a:xfrm>
        </p:spPr>
        <p:txBody>
          <a:bodyPr/>
          <a:lstStyle/>
          <a:p>
            <a:r>
              <a:rPr lang="it-IT" dirty="0"/>
              <a:t>TANG NANO 9K di Sipeed (FPGA GOWIN GW1NR)</a:t>
            </a:r>
          </a:p>
        </p:txBody>
      </p:sp>
      <p:sp>
        <p:nvSpPr>
          <p:cNvPr id="3" name="Segnaposto contenuto 2">
            <a:extLst>
              <a:ext uri="{FF2B5EF4-FFF2-40B4-BE49-F238E27FC236}">
                <a16:creationId xmlns:a16="http://schemas.microsoft.com/office/drawing/2014/main" id="{24008320-E74B-54C9-AA7B-CF9823BD5405}"/>
              </a:ext>
            </a:extLst>
          </p:cNvPr>
          <p:cNvSpPr>
            <a:spLocks noGrp="1"/>
          </p:cNvSpPr>
          <p:nvPr>
            <p:ph idx="1"/>
          </p:nvPr>
        </p:nvSpPr>
        <p:spPr>
          <a:xfrm>
            <a:off x="1141413" y="1729143"/>
            <a:ext cx="9905998" cy="537377"/>
          </a:xfrm>
        </p:spPr>
        <p:txBody>
          <a:bodyPr/>
          <a:lstStyle/>
          <a:p>
            <a:pPr marL="0" indent="0" algn="ctr">
              <a:buNone/>
            </a:pPr>
            <a:r>
              <a:rPr lang="it-IT" dirty="0"/>
              <a:t>Caratteristiche tecniche</a:t>
            </a:r>
          </a:p>
        </p:txBody>
      </p:sp>
      <p:graphicFrame>
        <p:nvGraphicFramePr>
          <p:cNvPr id="8" name="Tabella 7">
            <a:extLst>
              <a:ext uri="{FF2B5EF4-FFF2-40B4-BE49-F238E27FC236}">
                <a16:creationId xmlns:a16="http://schemas.microsoft.com/office/drawing/2014/main" id="{B2E934E8-1794-4EAC-C5EE-C215DB01F5C1}"/>
              </a:ext>
            </a:extLst>
          </p:cNvPr>
          <p:cNvGraphicFramePr>
            <a:graphicFrameLocks noGrp="1"/>
          </p:cNvGraphicFramePr>
          <p:nvPr>
            <p:extLst>
              <p:ext uri="{D42A27DB-BD31-4B8C-83A1-F6EECF244321}">
                <p14:modId xmlns:p14="http://schemas.microsoft.com/office/powerpoint/2010/main" val="1951038765"/>
              </p:ext>
            </p:extLst>
          </p:nvPr>
        </p:nvGraphicFramePr>
        <p:xfrm>
          <a:off x="877380" y="2415110"/>
          <a:ext cx="6306565" cy="3914439"/>
        </p:xfrm>
        <a:graphic>
          <a:graphicData uri="http://schemas.openxmlformats.org/drawingml/2006/table">
            <a:tbl>
              <a:tblPr/>
              <a:tblGrid>
                <a:gridCol w="1988687">
                  <a:extLst>
                    <a:ext uri="{9D8B030D-6E8A-4147-A177-3AD203B41FA5}">
                      <a16:colId xmlns:a16="http://schemas.microsoft.com/office/drawing/2014/main" val="1313840945"/>
                    </a:ext>
                  </a:extLst>
                </a:gridCol>
                <a:gridCol w="4317878">
                  <a:extLst>
                    <a:ext uri="{9D8B030D-6E8A-4147-A177-3AD203B41FA5}">
                      <a16:colId xmlns:a16="http://schemas.microsoft.com/office/drawing/2014/main" val="1465052977"/>
                    </a:ext>
                  </a:extLst>
                </a:gridCol>
              </a:tblGrid>
              <a:tr h="217469">
                <a:tc>
                  <a:txBody>
                    <a:bodyPr/>
                    <a:lstStyle/>
                    <a:p>
                      <a:pPr algn="l" fontAlgn="ctr"/>
                      <a:r>
                        <a:rPr lang="it-IT" sz="1300" b="0" i="0" u="none" strike="noStrike">
                          <a:solidFill>
                            <a:srgbClr val="000000"/>
                          </a:solidFill>
                          <a:effectLst/>
                          <a:highlight>
                            <a:srgbClr val="FFFFFF"/>
                          </a:highlight>
                          <a:latin typeface="Calibri" panose="020F0502020204030204" pitchFamily="34" charset="0"/>
                        </a:rPr>
                        <a:t>Logic Units (LUT4)</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it-IT" sz="1300" b="0" i="0" u="none" strike="noStrike">
                          <a:solidFill>
                            <a:srgbClr val="000000"/>
                          </a:solidFill>
                          <a:effectLst/>
                          <a:highlight>
                            <a:srgbClr val="FFFFFF"/>
                          </a:highlight>
                          <a:latin typeface="Calibri" panose="020F0502020204030204" pitchFamily="34" charset="0"/>
                        </a:rPr>
                        <a:t>8640</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534079296"/>
                  </a:ext>
                </a:extLst>
              </a:tr>
              <a:tr h="217469">
                <a:tc>
                  <a:txBody>
                    <a:bodyPr/>
                    <a:lstStyle/>
                    <a:p>
                      <a:pPr algn="l" fontAlgn="ctr"/>
                      <a:r>
                        <a:rPr lang="it-IT" sz="1300" b="0" i="0" u="none" strike="noStrike">
                          <a:solidFill>
                            <a:srgbClr val="000000"/>
                          </a:solidFill>
                          <a:effectLst/>
                          <a:highlight>
                            <a:srgbClr val="F8CBAD"/>
                          </a:highlight>
                          <a:latin typeface="Calibri" panose="020F0502020204030204" pitchFamily="34" charset="0"/>
                        </a:rPr>
                        <a:t>Crystal oscillator</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tc>
                  <a:txBody>
                    <a:bodyPr/>
                    <a:lstStyle/>
                    <a:p>
                      <a:pPr algn="l" fontAlgn="ctr"/>
                      <a:r>
                        <a:rPr lang="it-IT" sz="1300" b="0" i="0" u="none" strike="noStrike" dirty="0">
                          <a:solidFill>
                            <a:srgbClr val="000000"/>
                          </a:solidFill>
                          <a:effectLst/>
                          <a:highlight>
                            <a:srgbClr val="F8CBAD"/>
                          </a:highlight>
                          <a:latin typeface="Calibri" panose="020F0502020204030204" pitchFamily="34" charset="0"/>
                        </a:rPr>
                        <a:t>27 MHz</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extLst>
                  <a:ext uri="{0D108BD9-81ED-4DB2-BD59-A6C34878D82A}">
                    <a16:rowId xmlns:a16="http://schemas.microsoft.com/office/drawing/2014/main" val="2581360241"/>
                  </a:ext>
                </a:extLst>
              </a:tr>
              <a:tr h="217469">
                <a:tc>
                  <a:txBody>
                    <a:bodyPr/>
                    <a:lstStyle/>
                    <a:p>
                      <a:pPr algn="l" fontAlgn="ctr"/>
                      <a:r>
                        <a:rPr lang="it-IT" sz="1300" b="0" i="0" u="none" strike="noStrike" dirty="0">
                          <a:solidFill>
                            <a:srgbClr val="000000"/>
                          </a:solidFill>
                          <a:effectLst/>
                          <a:highlight>
                            <a:srgbClr val="FFFFFF"/>
                          </a:highlight>
                          <a:latin typeface="Calibri" panose="020F0502020204030204" pitchFamily="34" charset="0"/>
                        </a:rPr>
                        <a:t>SPI FLASH (bits)</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r>
                        <a:rPr lang="it-IT" sz="1300" b="0" i="0" u="none" strike="noStrike" dirty="0">
                          <a:solidFill>
                            <a:srgbClr val="000000"/>
                          </a:solidFill>
                          <a:effectLst/>
                          <a:highlight>
                            <a:srgbClr val="FFFFFF"/>
                          </a:highlight>
                          <a:latin typeface="Calibri" panose="020F0502020204030204" pitchFamily="34" charset="0"/>
                        </a:rPr>
                        <a:t>32 M SPI flash (</a:t>
                      </a:r>
                      <a:r>
                        <a:rPr lang="it-IT" sz="1300" b="0" i="0" u="none" strike="noStrike" dirty="0" err="1">
                          <a:solidFill>
                            <a:srgbClr val="000000"/>
                          </a:solidFill>
                          <a:effectLst/>
                          <a:highlight>
                            <a:srgbClr val="FFFFFF"/>
                          </a:highlight>
                          <a:latin typeface="Calibri" panose="020F0502020204030204" pitchFamily="34" charset="0"/>
                        </a:rPr>
                        <a:t>Onboard</a:t>
                      </a:r>
                      <a:r>
                        <a:rPr lang="it-IT" sz="1300" b="0" i="0" u="none" strike="noStrike" dirty="0">
                          <a:solidFill>
                            <a:srgbClr val="000000"/>
                          </a:solidFill>
                          <a:effectLst/>
                          <a:highlight>
                            <a:srgbClr val="FFFFFF"/>
                          </a:highlight>
                          <a:latin typeface="Calibri" panose="020F0502020204030204" pitchFamily="34" charset="0"/>
                        </a:rPr>
                        <a:t>)</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720238792"/>
                  </a:ext>
                </a:extLst>
              </a:tr>
              <a:tr h="217469">
                <a:tc>
                  <a:txBody>
                    <a:bodyPr/>
                    <a:lstStyle/>
                    <a:p>
                      <a:pPr algn="l" fontAlgn="ctr"/>
                      <a:r>
                        <a:rPr lang="it-IT" sz="1300" b="0" i="0" u="none" strike="noStrike">
                          <a:solidFill>
                            <a:srgbClr val="000000"/>
                          </a:solidFill>
                          <a:effectLst/>
                          <a:highlight>
                            <a:srgbClr val="F8CBAD"/>
                          </a:highlight>
                          <a:latin typeface="Calibri" panose="020F0502020204030204" pitchFamily="34" charset="0"/>
                        </a:rPr>
                        <a:t>Registers (Flip Flops)</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tc>
                  <a:txBody>
                    <a:bodyPr/>
                    <a:lstStyle/>
                    <a:p>
                      <a:pPr algn="l" fontAlgn="ctr"/>
                      <a:r>
                        <a:rPr lang="it-IT" sz="1300" b="0" i="0" u="none" strike="noStrike">
                          <a:solidFill>
                            <a:srgbClr val="000000"/>
                          </a:solidFill>
                          <a:effectLst/>
                          <a:highlight>
                            <a:srgbClr val="F8CBAD"/>
                          </a:highlight>
                          <a:latin typeface="Calibri" panose="020F0502020204030204" pitchFamily="34" charset="0"/>
                        </a:rPr>
                        <a:t>6480</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extLst>
                  <a:ext uri="{0D108BD9-81ED-4DB2-BD59-A6C34878D82A}">
                    <a16:rowId xmlns:a16="http://schemas.microsoft.com/office/drawing/2014/main" val="2121240141"/>
                  </a:ext>
                </a:extLst>
              </a:tr>
              <a:tr h="217469">
                <a:tc>
                  <a:txBody>
                    <a:bodyPr/>
                    <a:lstStyle/>
                    <a:p>
                      <a:pPr algn="l" fontAlgn="ctr"/>
                      <a:r>
                        <a:rPr lang="it-IT" sz="1300" b="0" i="0" u="none" strike="noStrike" dirty="0">
                          <a:solidFill>
                            <a:srgbClr val="000000"/>
                          </a:solidFill>
                          <a:effectLst/>
                          <a:highlight>
                            <a:srgbClr val="FFFFFF"/>
                          </a:highlight>
                          <a:latin typeface="Calibri" panose="020F0502020204030204" pitchFamily="34" charset="0"/>
                        </a:rPr>
                        <a:t>Shadow SRAM SSRAM (bits)</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r>
                        <a:rPr lang="it-IT" sz="1300" b="0" i="0" u="none" strike="noStrike" dirty="0">
                          <a:solidFill>
                            <a:srgbClr val="000000"/>
                          </a:solidFill>
                          <a:effectLst/>
                          <a:highlight>
                            <a:srgbClr val="FFFFFF"/>
                          </a:highlight>
                          <a:latin typeface="Calibri" panose="020F0502020204030204" pitchFamily="34" charset="0"/>
                        </a:rPr>
                        <a:t>17280</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867310842"/>
                  </a:ext>
                </a:extLst>
              </a:tr>
              <a:tr h="217469">
                <a:tc>
                  <a:txBody>
                    <a:bodyPr/>
                    <a:lstStyle/>
                    <a:p>
                      <a:pPr algn="l" fontAlgn="ctr"/>
                      <a:r>
                        <a:rPr lang="it-IT" sz="1300" b="0" i="0" u="none" strike="noStrike" dirty="0">
                          <a:solidFill>
                            <a:srgbClr val="000000"/>
                          </a:solidFill>
                          <a:effectLst/>
                          <a:highlight>
                            <a:srgbClr val="F8CBAD"/>
                          </a:highlight>
                          <a:latin typeface="Calibri" panose="020F0502020204030204" pitchFamily="34" charset="0"/>
                        </a:rPr>
                        <a:t>Block SRAM B-SRAM (bits)</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tc>
                  <a:txBody>
                    <a:bodyPr/>
                    <a:lstStyle/>
                    <a:p>
                      <a:pPr algn="l" fontAlgn="ctr"/>
                      <a:r>
                        <a:rPr lang="it-IT" sz="1300" b="0" i="0" u="none" strike="noStrike" dirty="0">
                          <a:solidFill>
                            <a:srgbClr val="000000"/>
                          </a:solidFill>
                          <a:effectLst/>
                          <a:highlight>
                            <a:srgbClr val="F8CBAD"/>
                          </a:highlight>
                          <a:latin typeface="Calibri" panose="020F0502020204030204" pitchFamily="34" charset="0"/>
                        </a:rPr>
                        <a:t>468 K (26 x 18K)</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extLst>
                  <a:ext uri="{0D108BD9-81ED-4DB2-BD59-A6C34878D82A}">
                    <a16:rowId xmlns:a16="http://schemas.microsoft.com/office/drawing/2014/main" val="2963447582"/>
                  </a:ext>
                </a:extLst>
              </a:tr>
              <a:tr h="217469">
                <a:tc>
                  <a:txBody>
                    <a:bodyPr/>
                    <a:lstStyle/>
                    <a:p>
                      <a:pPr algn="l" fontAlgn="ctr"/>
                      <a:r>
                        <a:rPr lang="it-IT" sz="1300" b="0" i="0" u="none" strike="noStrike">
                          <a:solidFill>
                            <a:srgbClr val="000000"/>
                          </a:solidFill>
                          <a:effectLst/>
                          <a:highlight>
                            <a:srgbClr val="FFFFFF"/>
                          </a:highlight>
                          <a:latin typeface="Calibri" panose="020F0502020204030204" pitchFamily="34" charset="0"/>
                        </a:rPr>
                        <a:t>Number of B-SRAM</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r>
                        <a:rPr lang="it-IT" sz="1300" b="0" i="0" u="none" strike="noStrike">
                          <a:solidFill>
                            <a:srgbClr val="000000"/>
                          </a:solidFill>
                          <a:effectLst/>
                          <a:highlight>
                            <a:srgbClr val="FFFFFF"/>
                          </a:highlight>
                          <a:latin typeface="Calibri" panose="020F0502020204030204" pitchFamily="34" charset="0"/>
                        </a:rPr>
                        <a:t>26</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196674119"/>
                  </a:ext>
                </a:extLst>
              </a:tr>
              <a:tr h="217469">
                <a:tc>
                  <a:txBody>
                    <a:bodyPr/>
                    <a:lstStyle/>
                    <a:p>
                      <a:pPr algn="l" fontAlgn="ctr"/>
                      <a:r>
                        <a:rPr lang="it-IT" sz="1300" b="0" i="0" u="none" strike="noStrike" dirty="0">
                          <a:solidFill>
                            <a:srgbClr val="000000"/>
                          </a:solidFill>
                          <a:effectLst/>
                          <a:highlight>
                            <a:srgbClr val="F8CBAD"/>
                          </a:highlight>
                          <a:latin typeface="Calibri" panose="020F0502020204030204" pitchFamily="34" charset="0"/>
                        </a:rPr>
                        <a:t>User flash (bits)</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tc>
                  <a:txBody>
                    <a:bodyPr/>
                    <a:lstStyle/>
                    <a:p>
                      <a:pPr algn="l" fontAlgn="ctr"/>
                      <a:r>
                        <a:rPr lang="it-IT" sz="1300" b="0" i="0" u="none" strike="noStrike" dirty="0">
                          <a:solidFill>
                            <a:srgbClr val="000000"/>
                          </a:solidFill>
                          <a:effectLst/>
                          <a:highlight>
                            <a:srgbClr val="F8CBAD"/>
                          </a:highlight>
                          <a:latin typeface="Calibri" panose="020F0502020204030204" pitchFamily="34" charset="0"/>
                        </a:rPr>
                        <a:t>608 K</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extLst>
                  <a:ext uri="{0D108BD9-81ED-4DB2-BD59-A6C34878D82A}">
                    <a16:rowId xmlns:a16="http://schemas.microsoft.com/office/drawing/2014/main" val="3399424269"/>
                  </a:ext>
                </a:extLst>
              </a:tr>
              <a:tr h="217469">
                <a:tc>
                  <a:txBody>
                    <a:bodyPr/>
                    <a:lstStyle/>
                    <a:p>
                      <a:pPr algn="l" fontAlgn="ctr"/>
                      <a:r>
                        <a:rPr lang="it-IT" sz="1300" b="0" i="0" u="none" strike="noStrike" dirty="0">
                          <a:solidFill>
                            <a:srgbClr val="000000"/>
                          </a:solidFill>
                          <a:effectLst/>
                          <a:highlight>
                            <a:srgbClr val="FFFFFF"/>
                          </a:highlight>
                          <a:latin typeface="Calibri" panose="020F0502020204030204" pitchFamily="34" charset="0"/>
                        </a:rPr>
                        <a:t>SDR SDRAM (bits)</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r>
                        <a:rPr lang="it-IT" sz="1300" b="0" i="0" u="none" strike="noStrike" dirty="0">
                          <a:solidFill>
                            <a:srgbClr val="000000"/>
                          </a:solidFill>
                          <a:effectLst/>
                          <a:highlight>
                            <a:srgbClr val="FFFFFF"/>
                          </a:highlight>
                          <a:latin typeface="Calibri" panose="020F0502020204030204" pitchFamily="34" charset="0"/>
                        </a:rPr>
                        <a:t>64 M</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431026209"/>
                  </a:ext>
                </a:extLst>
              </a:tr>
              <a:tr h="217469">
                <a:tc>
                  <a:txBody>
                    <a:bodyPr/>
                    <a:lstStyle/>
                    <a:p>
                      <a:pPr algn="l" fontAlgn="ctr"/>
                      <a:r>
                        <a:rPr lang="it-IT" sz="1300" b="0" i="0" u="none" strike="noStrike">
                          <a:solidFill>
                            <a:srgbClr val="000000"/>
                          </a:solidFill>
                          <a:effectLst/>
                          <a:highlight>
                            <a:srgbClr val="F8CBAD"/>
                          </a:highlight>
                          <a:latin typeface="Calibri" panose="020F0502020204030204" pitchFamily="34" charset="0"/>
                        </a:rPr>
                        <a:t>18 x 18 Multiplier</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tc>
                  <a:txBody>
                    <a:bodyPr/>
                    <a:lstStyle/>
                    <a:p>
                      <a:pPr algn="l" fontAlgn="ctr"/>
                      <a:r>
                        <a:rPr lang="it-IT" sz="1300" b="0" i="0" u="none" strike="noStrike">
                          <a:solidFill>
                            <a:srgbClr val="000000"/>
                          </a:solidFill>
                          <a:effectLst/>
                          <a:highlight>
                            <a:srgbClr val="F8CBAD"/>
                          </a:highlight>
                          <a:latin typeface="Calibri" panose="020F0502020204030204" pitchFamily="34" charset="0"/>
                        </a:rPr>
                        <a:t>20</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extLst>
                  <a:ext uri="{0D108BD9-81ED-4DB2-BD59-A6C34878D82A}">
                    <a16:rowId xmlns:a16="http://schemas.microsoft.com/office/drawing/2014/main" val="3287776857"/>
                  </a:ext>
                </a:extLst>
              </a:tr>
              <a:tr h="217469">
                <a:tc>
                  <a:txBody>
                    <a:bodyPr/>
                    <a:lstStyle/>
                    <a:p>
                      <a:pPr algn="l" fontAlgn="ctr"/>
                      <a:r>
                        <a:rPr lang="it-IT" sz="1300" b="0" i="0" u="none" strike="noStrike">
                          <a:solidFill>
                            <a:srgbClr val="000000"/>
                          </a:solidFill>
                          <a:effectLst/>
                          <a:highlight>
                            <a:srgbClr val="FFFFFF"/>
                          </a:highlight>
                          <a:latin typeface="Calibri" panose="020F0502020204030204" pitchFamily="34" charset="0"/>
                        </a:rPr>
                        <a:t>Number of PLL</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r>
                        <a:rPr lang="it-IT" sz="1300" b="0" i="0" u="none" strike="noStrike">
                          <a:solidFill>
                            <a:srgbClr val="000000"/>
                          </a:solidFill>
                          <a:effectLst/>
                          <a:highlight>
                            <a:srgbClr val="FFFFFF"/>
                          </a:highlight>
                          <a:latin typeface="Calibri" panose="020F0502020204030204" pitchFamily="34" charset="0"/>
                        </a:rPr>
                        <a:t>2</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34939256"/>
                  </a:ext>
                </a:extLst>
              </a:tr>
              <a:tr h="217469">
                <a:tc>
                  <a:txBody>
                    <a:bodyPr/>
                    <a:lstStyle/>
                    <a:p>
                      <a:pPr algn="l" fontAlgn="ctr"/>
                      <a:r>
                        <a:rPr lang="it-IT" sz="1300" b="0" i="0" u="none" strike="noStrike">
                          <a:solidFill>
                            <a:srgbClr val="000000"/>
                          </a:solidFill>
                          <a:effectLst/>
                          <a:highlight>
                            <a:srgbClr val="F8CBAD"/>
                          </a:highlight>
                          <a:latin typeface="Calibri" panose="020F0502020204030204" pitchFamily="34" charset="0"/>
                        </a:rPr>
                        <a:t>Display interface</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tc>
                  <a:txBody>
                    <a:bodyPr/>
                    <a:lstStyle/>
                    <a:p>
                      <a:pPr algn="l" fontAlgn="ctr"/>
                      <a:r>
                        <a:rPr lang="it-IT" sz="1300" b="0" i="0" u="none" strike="noStrike">
                          <a:solidFill>
                            <a:srgbClr val="000000"/>
                          </a:solidFill>
                          <a:effectLst/>
                          <a:highlight>
                            <a:srgbClr val="F8CBAD"/>
                          </a:highlight>
                          <a:latin typeface="Calibri" panose="020F0502020204030204" pitchFamily="34" charset="0"/>
                        </a:rPr>
                        <a:t>HDMI interface, SPI screen interface and RGB screen interface</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extLst>
                  <a:ext uri="{0D108BD9-81ED-4DB2-BD59-A6C34878D82A}">
                    <a16:rowId xmlns:a16="http://schemas.microsoft.com/office/drawing/2014/main" val="2618881449"/>
                  </a:ext>
                </a:extLst>
              </a:tr>
              <a:tr h="217469">
                <a:tc>
                  <a:txBody>
                    <a:bodyPr/>
                    <a:lstStyle/>
                    <a:p>
                      <a:pPr algn="l" fontAlgn="ctr"/>
                      <a:r>
                        <a:rPr lang="it-IT" sz="1300" b="0" i="0" u="none" strike="noStrike">
                          <a:solidFill>
                            <a:srgbClr val="000000"/>
                          </a:solidFill>
                          <a:effectLst/>
                          <a:highlight>
                            <a:srgbClr val="FFFFFF"/>
                          </a:highlight>
                          <a:latin typeface="Calibri" panose="020F0502020204030204" pitchFamily="34" charset="0"/>
                        </a:rPr>
                        <a:t>Debugger</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r>
                        <a:rPr lang="en-US" sz="1300" b="0" i="0" u="none" strike="noStrike">
                          <a:solidFill>
                            <a:srgbClr val="000000"/>
                          </a:solidFill>
                          <a:effectLst/>
                          <a:highlight>
                            <a:srgbClr val="FFFFFF"/>
                          </a:highlight>
                          <a:latin typeface="Calibri" panose="020F0502020204030204" pitchFamily="34" charset="0"/>
                        </a:rPr>
                        <a:t>Onboard BL702 chip with USB-JTAG and USB-UART</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150178689"/>
                  </a:ext>
                </a:extLst>
              </a:tr>
              <a:tr h="434935">
                <a:tc>
                  <a:txBody>
                    <a:bodyPr/>
                    <a:lstStyle/>
                    <a:p>
                      <a:pPr algn="l" fontAlgn="ctr"/>
                      <a:r>
                        <a:rPr lang="it-IT" sz="1300" b="0" i="0" u="none" strike="noStrike">
                          <a:solidFill>
                            <a:srgbClr val="000000"/>
                          </a:solidFill>
                          <a:effectLst/>
                          <a:highlight>
                            <a:srgbClr val="F8CBAD"/>
                          </a:highlight>
                          <a:latin typeface="Calibri" panose="020F0502020204030204" pitchFamily="34" charset="0"/>
                        </a:rPr>
                        <a:t>I/O</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tc>
                  <a:txBody>
                    <a:bodyPr/>
                    <a:lstStyle/>
                    <a:p>
                      <a:pPr algn="l" fontAlgn="ctr"/>
                      <a:r>
                        <a:rPr lang="en-US" sz="1300" b="0" i="0" u="none" strike="noStrike">
                          <a:solidFill>
                            <a:srgbClr val="000000"/>
                          </a:solidFill>
                          <a:effectLst/>
                          <a:highlight>
                            <a:srgbClr val="F8CBAD"/>
                          </a:highlight>
                          <a:latin typeface="Calibri" panose="020F0502020204030204" pitchFamily="34" charset="0"/>
                        </a:rPr>
                        <a:t>4-24 mA, Bus Keeper, pull-up/pull-down resistors, Open Drain output options for each I/O</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extLst>
                  <a:ext uri="{0D108BD9-81ED-4DB2-BD59-A6C34878D82A}">
                    <a16:rowId xmlns:a16="http://schemas.microsoft.com/office/drawing/2014/main" val="3166790554"/>
                  </a:ext>
                </a:extLst>
              </a:tr>
              <a:tr h="217469">
                <a:tc>
                  <a:txBody>
                    <a:bodyPr/>
                    <a:lstStyle/>
                    <a:p>
                      <a:pPr algn="l" fontAlgn="ctr"/>
                      <a:r>
                        <a:rPr lang="it-IT" sz="1300" b="0" i="0" u="none" strike="noStrike">
                          <a:solidFill>
                            <a:srgbClr val="000000"/>
                          </a:solidFill>
                          <a:effectLst/>
                          <a:highlight>
                            <a:srgbClr val="FFFFFF"/>
                          </a:highlight>
                          <a:latin typeface="Calibri" panose="020F0502020204030204" pitchFamily="34" charset="0"/>
                        </a:rPr>
                        <a:t>Connector</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r>
                        <a:rPr lang="en-US" sz="1300" b="0" i="0" u="none" strike="noStrike" dirty="0">
                          <a:solidFill>
                            <a:srgbClr val="000000"/>
                          </a:solidFill>
                          <a:effectLst/>
                          <a:highlight>
                            <a:srgbClr val="FFFFFF"/>
                          </a:highlight>
                          <a:latin typeface="Calibri" panose="020F0502020204030204" pitchFamily="34" charset="0"/>
                        </a:rPr>
                        <a:t>TF card slot, 2x24 P 2.54 mm Header pads</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702560100"/>
                  </a:ext>
                </a:extLst>
              </a:tr>
              <a:tr h="217469">
                <a:tc>
                  <a:txBody>
                    <a:bodyPr/>
                    <a:lstStyle/>
                    <a:p>
                      <a:pPr algn="l" fontAlgn="ctr"/>
                      <a:r>
                        <a:rPr lang="it-IT" sz="1300" b="0" i="0" u="none" strike="noStrike">
                          <a:solidFill>
                            <a:srgbClr val="000000"/>
                          </a:solidFill>
                          <a:effectLst/>
                          <a:highlight>
                            <a:srgbClr val="F8CBAD"/>
                          </a:highlight>
                          <a:latin typeface="Calibri" panose="020F0502020204030204" pitchFamily="34" charset="0"/>
                        </a:rPr>
                        <a:t>Button</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tc>
                  <a:txBody>
                    <a:bodyPr/>
                    <a:lstStyle/>
                    <a:p>
                      <a:pPr algn="l" fontAlgn="ctr"/>
                      <a:r>
                        <a:rPr lang="it-IT" sz="1300" b="0" i="0" u="none" strike="noStrike">
                          <a:solidFill>
                            <a:srgbClr val="000000"/>
                          </a:solidFill>
                          <a:effectLst/>
                          <a:highlight>
                            <a:srgbClr val="F8CBAD"/>
                          </a:highlight>
                          <a:latin typeface="Calibri" panose="020F0502020204030204" pitchFamily="34" charset="0"/>
                        </a:rPr>
                        <a:t>2 programmable buttons for users</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extLst>
                  <a:ext uri="{0D108BD9-81ED-4DB2-BD59-A6C34878D82A}">
                    <a16:rowId xmlns:a16="http://schemas.microsoft.com/office/drawing/2014/main" val="2085067989"/>
                  </a:ext>
                </a:extLst>
              </a:tr>
              <a:tr h="217469">
                <a:tc>
                  <a:txBody>
                    <a:bodyPr/>
                    <a:lstStyle/>
                    <a:p>
                      <a:pPr algn="l" fontAlgn="ctr"/>
                      <a:r>
                        <a:rPr lang="it-IT" sz="1300" b="0" i="0" u="none" strike="noStrike">
                          <a:solidFill>
                            <a:srgbClr val="000000"/>
                          </a:solidFill>
                          <a:effectLst/>
                          <a:highlight>
                            <a:srgbClr val="FFFFFF"/>
                          </a:highlight>
                          <a:latin typeface="Calibri" panose="020F0502020204030204" pitchFamily="34" charset="0"/>
                        </a:rPr>
                        <a:t>LED</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it-IT" sz="1300" b="0" i="0" u="none" strike="noStrike" dirty="0" err="1">
                          <a:solidFill>
                            <a:srgbClr val="000000"/>
                          </a:solidFill>
                          <a:effectLst/>
                          <a:highlight>
                            <a:srgbClr val="FFFFFF"/>
                          </a:highlight>
                          <a:latin typeface="Calibri" panose="020F0502020204030204" pitchFamily="34" charset="0"/>
                        </a:rPr>
                        <a:t>Onboard</a:t>
                      </a:r>
                      <a:r>
                        <a:rPr lang="it-IT" sz="1300" b="0" i="0" u="none" strike="noStrike" dirty="0">
                          <a:solidFill>
                            <a:srgbClr val="000000"/>
                          </a:solidFill>
                          <a:effectLst/>
                          <a:highlight>
                            <a:srgbClr val="FFFFFF"/>
                          </a:highlight>
                          <a:latin typeface="Calibri" panose="020F0502020204030204" pitchFamily="34" charset="0"/>
                        </a:rPr>
                        <a:t> 6 </a:t>
                      </a:r>
                      <a:r>
                        <a:rPr lang="it-IT" sz="1300" b="0" i="0" u="none" strike="noStrike" dirty="0" err="1">
                          <a:solidFill>
                            <a:srgbClr val="000000"/>
                          </a:solidFill>
                          <a:effectLst/>
                          <a:highlight>
                            <a:srgbClr val="FFFFFF"/>
                          </a:highlight>
                          <a:latin typeface="Calibri" panose="020F0502020204030204" pitchFamily="34" charset="0"/>
                        </a:rPr>
                        <a:t>programmable</a:t>
                      </a:r>
                      <a:r>
                        <a:rPr lang="it-IT" sz="1300" b="0" i="0" u="none" strike="noStrike" dirty="0">
                          <a:solidFill>
                            <a:srgbClr val="000000"/>
                          </a:solidFill>
                          <a:effectLst/>
                          <a:highlight>
                            <a:srgbClr val="FFFFFF"/>
                          </a:highlight>
                          <a:latin typeface="Calibri" panose="020F0502020204030204" pitchFamily="34" charset="0"/>
                        </a:rPr>
                        <a:t> </a:t>
                      </a:r>
                      <a:r>
                        <a:rPr lang="it-IT" sz="1300" b="0" i="0" u="none" strike="noStrike" dirty="0" err="1">
                          <a:solidFill>
                            <a:srgbClr val="000000"/>
                          </a:solidFill>
                          <a:effectLst/>
                          <a:highlight>
                            <a:srgbClr val="FFFFFF"/>
                          </a:highlight>
                          <a:latin typeface="Calibri" panose="020F0502020204030204" pitchFamily="34" charset="0"/>
                        </a:rPr>
                        <a:t>LEDs</a:t>
                      </a:r>
                      <a:endParaRPr lang="it-IT" sz="1300" b="0" i="0" u="none" strike="noStrike" dirty="0">
                        <a:solidFill>
                          <a:srgbClr val="000000"/>
                        </a:solidFill>
                        <a:effectLst/>
                        <a:highlight>
                          <a:srgbClr val="FFFFFF"/>
                        </a:highlight>
                        <a:latin typeface="Calibri" panose="020F0502020204030204" pitchFamily="34" charset="0"/>
                      </a:endParaRP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746198929"/>
                  </a:ext>
                </a:extLst>
              </a:tr>
            </a:tbl>
          </a:graphicData>
        </a:graphic>
      </p:graphicFrame>
      <p:pic>
        <p:nvPicPr>
          <p:cNvPr id="10" name="Immagine 9">
            <a:extLst>
              <a:ext uri="{FF2B5EF4-FFF2-40B4-BE49-F238E27FC236}">
                <a16:creationId xmlns:a16="http://schemas.microsoft.com/office/drawing/2014/main" id="{501DAE30-D2FC-507A-0A2C-4C8C72B911D2}"/>
              </a:ext>
            </a:extLst>
          </p:cNvPr>
          <p:cNvPicPr>
            <a:picLocks noChangeAspect="1"/>
          </p:cNvPicPr>
          <p:nvPr/>
        </p:nvPicPr>
        <p:blipFill>
          <a:blip r:embed="rId2"/>
          <a:stretch>
            <a:fillRect/>
          </a:stretch>
        </p:blipFill>
        <p:spPr>
          <a:xfrm>
            <a:off x="7411360" y="3484350"/>
            <a:ext cx="4133850" cy="1476375"/>
          </a:xfrm>
          <a:prstGeom prst="rect">
            <a:avLst/>
          </a:prstGeom>
        </p:spPr>
      </p:pic>
      <p:sp>
        <p:nvSpPr>
          <p:cNvPr id="4" name="Rettangolo 3">
            <a:extLst>
              <a:ext uri="{FF2B5EF4-FFF2-40B4-BE49-F238E27FC236}">
                <a16:creationId xmlns:a16="http://schemas.microsoft.com/office/drawing/2014/main" id="{728B62EC-DCA8-F7CA-7671-1A2715B4EA84}"/>
              </a:ext>
            </a:extLst>
          </p:cNvPr>
          <p:cNvSpPr/>
          <p:nvPr/>
        </p:nvSpPr>
        <p:spPr>
          <a:xfrm>
            <a:off x="8680422" y="3935007"/>
            <a:ext cx="622604" cy="613139"/>
          </a:xfrm>
          <a:prstGeom prst="rect">
            <a:avLst/>
          </a:prstGeom>
          <a:solidFill>
            <a:srgbClr val="FFFF00">
              <a:alpha val="20000"/>
            </a:srgbClr>
          </a:solid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056397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DFCE542-AC98-07E4-A009-3CF30E4E369C}"/>
              </a:ext>
            </a:extLst>
          </p:cNvPr>
          <p:cNvSpPr>
            <a:spLocks noGrp="1"/>
          </p:cNvSpPr>
          <p:nvPr>
            <p:ph type="title"/>
          </p:nvPr>
        </p:nvSpPr>
        <p:spPr/>
        <p:txBody>
          <a:bodyPr/>
          <a:lstStyle/>
          <a:p>
            <a:r>
              <a:rPr lang="it-IT" dirty="0"/>
              <a:t>Sistemi di Sviluppo (IDE)</a:t>
            </a:r>
          </a:p>
        </p:txBody>
      </p:sp>
      <p:sp>
        <p:nvSpPr>
          <p:cNvPr id="3" name="Segnaposto contenuto 2">
            <a:extLst>
              <a:ext uri="{FF2B5EF4-FFF2-40B4-BE49-F238E27FC236}">
                <a16:creationId xmlns:a16="http://schemas.microsoft.com/office/drawing/2014/main" id="{710EF320-80EE-8823-F739-77BD20CCB9F3}"/>
              </a:ext>
            </a:extLst>
          </p:cNvPr>
          <p:cNvSpPr>
            <a:spLocks noGrp="1"/>
          </p:cNvSpPr>
          <p:nvPr>
            <p:ph idx="1"/>
          </p:nvPr>
        </p:nvSpPr>
        <p:spPr>
          <a:xfrm>
            <a:off x="1141413" y="2083242"/>
            <a:ext cx="9905998" cy="4325509"/>
          </a:xfrm>
        </p:spPr>
        <p:txBody>
          <a:bodyPr>
            <a:normAutofit fontScale="92500" lnSpcReduction="20000"/>
          </a:bodyPr>
          <a:lstStyle/>
          <a:p>
            <a:pPr marL="0" indent="0">
              <a:buNone/>
            </a:pPr>
            <a:r>
              <a:rPr lang="it-IT" dirty="0"/>
              <a:t>Esistono due sistemi di sviluppo (</a:t>
            </a:r>
            <a:r>
              <a:rPr lang="it-IT" dirty="0" err="1"/>
              <a:t>toolchain</a:t>
            </a:r>
            <a:r>
              <a:rPr lang="it-IT" dirty="0"/>
              <a:t>) utilizzabili con </a:t>
            </a:r>
            <a:r>
              <a:rPr lang="it-IT" dirty="0" err="1"/>
              <a:t>TangNano</a:t>
            </a:r>
            <a:r>
              <a:rPr lang="it-IT" dirty="0"/>
              <a:t> 9K:</a:t>
            </a:r>
          </a:p>
          <a:p>
            <a:pPr>
              <a:buFont typeface="Arial" panose="020B0604020202020204" pitchFamily="34" charset="0"/>
              <a:buChar char="•"/>
            </a:pPr>
            <a:r>
              <a:rPr lang="it-IT" dirty="0"/>
              <a:t>IDE/</a:t>
            </a:r>
            <a:r>
              <a:rPr lang="it-IT" dirty="0" err="1"/>
              <a:t>Toolchain</a:t>
            </a:r>
            <a:r>
              <a:rPr lang="it-IT" dirty="0"/>
              <a:t> del produttore: GoWin FPGA Designer. Supporta tutte le famiglie di FPGA di GoWin e offre una ottima integrazione di tutti i moduli (hard/soft IP) disponibili. È privo di un simulatore integrato ma può sfruttare un simulatore esterno o una risorsa Cloud accessibile dall’IDE.</a:t>
            </a:r>
          </a:p>
          <a:p>
            <a:pPr>
              <a:buFont typeface="Arial" panose="020B0604020202020204" pitchFamily="34" charset="0"/>
              <a:buChar char="•"/>
            </a:pPr>
            <a:r>
              <a:rPr lang="it-IT" dirty="0"/>
              <a:t>VS Code + plugin </a:t>
            </a:r>
            <a:r>
              <a:rPr lang="it-IT" dirty="0" err="1"/>
              <a:t>Lushay</a:t>
            </a:r>
            <a:r>
              <a:rPr lang="it-IT" dirty="0"/>
              <a:t> Code di </a:t>
            </a:r>
            <a:r>
              <a:rPr lang="it-IT" dirty="0" err="1"/>
              <a:t>Lushay</a:t>
            </a:r>
            <a:r>
              <a:rPr lang="it-IT" dirty="0"/>
              <a:t> Labs:</a:t>
            </a:r>
            <a:br>
              <a:rPr lang="it-IT" dirty="0"/>
            </a:br>
            <a:br>
              <a:rPr lang="it-IT" dirty="0"/>
            </a:br>
            <a:r>
              <a:rPr lang="it-IT" dirty="0">
                <a:hlinkClick r:id="rId2"/>
              </a:rPr>
              <a:t>https://learn.lushaylabs.com/vscode-extension/</a:t>
            </a:r>
            <a:r>
              <a:rPr lang="it-IT" dirty="0"/>
              <a:t> </a:t>
            </a:r>
            <a:br>
              <a:rPr lang="it-IT" dirty="0"/>
            </a:br>
            <a:br>
              <a:rPr lang="it-IT" dirty="0"/>
            </a:br>
            <a:r>
              <a:rPr lang="it-IT" dirty="0" err="1"/>
              <a:t>Lushay</a:t>
            </a:r>
            <a:r>
              <a:rPr lang="it-IT" dirty="0"/>
              <a:t> Code sfrutta la </a:t>
            </a:r>
            <a:r>
              <a:rPr lang="it-IT" dirty="0" err="1"/>
              <a:t>toolchain</a:t>
            </a:r>
            <a:r>
              <a:rPr lang="it-IT" dirty="0"/>
              <a:t> OSS-</a:t>
            </a:r>
            <a:r>
              <a:rPr lang="it-IT" dirty="0" err="1"/>
              <a:t>Cad</a:t>
            </a:r>
            <a:r>
              <a:rPr lang="it-IT" dirty="0"/>
              <a:t>-Suite (</a:t>
            </a:r>
            <a:r>
              <a:rPr lang="it-IT" dirty="0" err="1"/>
              <a:t>Yosys</a:t>
            </a:r>
            <a:r>
              <a:rPr lang="it-IT" dirty="0"/>
              <a:t>, </a:t>
            </a:r>
            <a:r>
              <a:rPr lang="it-IT" dirty="0" err="1"/>
              <a:t>Apicula-nextpnr</a:t>
            </a:r>
            <a:r>
              <a:rPr lang="it-IT" dirty="0"/>
              <a:t>, </a:t>
            </a:r>
            <a:r>
              <a:rPr lang="it-IT" dirty="0" err="1"/>
              <a:t>openFPGALoader</a:t>
            </a:r>
            <a:r>
              <a:rPr lang="it-IT" dirty="0"/>
              <a:t>, </a:t>
            </a:r>
            <a:r>
              <a:rPr lang="it-IT" dirty="0" err="1"/>
              <a:t>iverilog</a:t>
            </a:r>
            <a:r>
              <a:rPr lang="it-IT" dirty="0"/>
              <a:t>, etc.).</a:t>
            </a:r>
            <a:br>
              <a:rPr lang="it-IT" dirty="0"/>
            </a:br>
            <a:br>
              <a:rPr lang="it-IT" dirty="0"/>
            </a:br>
            <a:r>
              <a:rPr lang="it-IT" dirty="0">
                <a:hlinkClick r:id="rId3"/>
              </a:rPr>
              <a:t>https://github.com/YosysHQ/oss-cad-suite-build</a:t>
            </a:r>
            <a:endParaRPr lang="it-IT" dirty="0"/>
          </a:p>
          <a:p>
            <a:pPr>
              <a:buFont typeface="Arial" panose="020B0604020202020204" pitchFamily="34" charset="0"/>
              <a:buChar char="•"/>
            </a:pPr>
            <a:br>
              <a:rPr lang="it-IT" dirty="0"/>
            </a:br>
            <a:r>
              <a:rPr lang="it-IT" dirty="0"/>
              <a:t>Non copre tutte le funzionalità (hard IP) specifiche della tecnologia di GoWin e permette l’utilizzo solo di un numero limitato di dispositivi. </a:t>
            </a:r>
          </a:p>
        </p:txBody>
      </p:sp>
    </p:spTree>
    <p:extLst>
      <p:ext uri="{BB962C8B-B14F-4D97-AF65-F5344CB8AC3E}">
        <p14:creationId xmlns:p14="http://schemas.microsoft.com/office/powerpoint/2010/main" val="1454386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olo 1">
            <a:extLst>
              <a:ext uri="{FF2B5EF4-FFF2-40B4-BE49-F238E27FC236}">
                <a16:creationId xmlns:a16="http://schemas.microsoft.com/office/drawing/2014/main" id="{301D572A-0390-0D8E-E90C-BE7148AC9BCC}"/>
              </a:ext>
            </a:extLst>
          </p:cNvPr>
          <p:cNvSpPr>
            <a:spLocks noGrp="1"/>
          </p:cNvSpPr>
          <p:nvPr>
            <p:ph type="title"/>
          </p:nvPr>
        </p:nvSpPr>
        <p:spPr>
          <a:xfrm>
            <a:off x="1141413" y="618518"/>
            <a:ext cx="9905998" cy="5710720"/>
          </a:xfrm>
        </p:spPr>
        <p:txBody>
          <a:bodyPr>
            <a:normAutofit/>
          </a:bodyPr>
          <a:lstStyle/>
          <a:p>
            <a:pPr algn="ctr"/>
            <a:r>
              <a:rPr lang="it-IT" sz="6000" dirty="0"/>
              <a:t>HDL in pratica: </a:t>
            </a:r>
            <a:br>
              <a:rPr lang="it-IT" sz="6000" dirty="0"/>
            </a:br>
            <a:r>
              <a:rPr lang="it-IT" sz="6000" dirty="0"/>
              <a:t>PROGETTO</a:t>
            </a:r>
          </a:p>
        </p:txBody>
      </p:sp>
    </p:spTree>
    <p:extLst>
      <p:ext uri="{BB962C8B-B14F-4D97-AF65-F5344CB8AC3E}">
        <p14:creationId xmlns:p14="http://schemas.microsoft.com/office/powerpoint/2010/main" val="3597215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0F417DF-1A96-27DC-30A7-055B6C7EBE6C}"/>
              </a:ext>
            </a:extLst>
          </p:cNvPr>
          <p:cNvSpPr>
            <a:spLocks noGrp="1"/>
          </p:cNvSpPr>
          <p:nvPr>
            <p:ph type="title"/>
          </p:nvPr>
        </p:nvSpPr>
        <p:spPr/>
        <p:txBody>
          <a:bodyPr/>
          <a:lstStyle/>
          <a:p>
            <a:r>
              <a:rPr lang="it-IT" dirty="0"/>
              <a:t>REGISTRI A SCORRIMENTO (SHIFT REGISTERS)</a:t>
            </a:r>
          </a:p>
        </p:txBody>
      </p:sp>
      <p:sp>
        <p:nvSpPr>
          <p:cNvPr id="3" name="Segnaposto contenuto 2">
            <a:extLst>
              <a:ext uri="{FF2B5EF4-FFF2-40B4-BE49-F238E27FC236}">
                <a16:creationId xmlns:a16="http://schemas.microsoft.com/office/drawing/2014/main" id="{7EBD5F8F-092D-E460-0DD7-8C9FB8D0272A}"/>
              </a:ext>
            </a:extLst>
          </p:cNvPr>
          <p:cNvSpPr>
            <a:spLocks noGrp="1"/>
          </p:cNvSpPr>
          <p:nvPr>
            <p:ph idx="1"/>
          </p:nvPr>
        </p:nvSpPr>
        <p:spPr>
          <a:xfrm>
            <a:off x="1141413" y="1908313"/>
            <a:ext cx="9905998" cy="4340087"/>
          </a:xfrm>
        </p:spPr>
        <p:txBody>
          <a:bodyPr>
            <a:normAutofit fontScale="92500" lnSpcReduction="10000"/>
          </a:bodyPr>
          <a:lstStyle/>
          <a:p>
            <a:r>
              <a:rPr lang="it-IT" dirty="0"/>
              <a:t>I registri a scorrimento (Shift </a:t>
            </a:r>
            <a:r>
              <a:rPr lang="it-IT" dirty="0" err="1"/>
              <a:t>Register</a:t>
            </a:r>
            <a:r>
              <a:rPr lang="it-IT" dirty="0"/>
              <a:t>) possono essere usati per la conversione di dati da parallelo a seriale (</a:t>
            </a:r>
            <a:r>
              <a:rPr lang="it-IT" dirty="0" err="1"/>
              <a:t>serializzatore</a:t>
            </a:r>
            <a:r>
              <a:rPr lang="it-IT" dirty="0"/>
              <a:t>) o da seriale a parallelo (</a:t>
            </a:r>
            <a:r>
              <a:rPr lang="it-IT" dirty="0" err="1"/>
              <a:t>deserializzatore</a:t>
            </a:r>
            <a:r>
              <a:rPr lang="it-IT" dirty="0"/>
              <a:t>). Sono costituiti da Flip-Flop di tipo D in cascata (l’uscita di un Flip-Flop entra nel successivo). Gli ingressi di clock dei Flip-Flop sono collegati tutti assieme, così come un eventuale reset sincrono o asincrono. </a:t>
            </a:r>
          </a:p>
          <a:p>
            <a:r>
              <a:rPr lang="it-IT" dirty="0"/>
              <a:t>Se gli stati dei Flip-Flop possono essere assegnati simultaneamente in un singolo ciclo di clock (</a:t>
            </a:r>
            <a:r>
              <a:rPr lang="it-IT" dirty="0" err="1"/>
              <a:t>Parallel</a:t>
            </a:r>
            <a:r>
              <a:rPr lang="it-IT" dirty="0"/>
              <a:t> Load), uno Shift </a:t>
            </a:r>
            <a:r>
              <a:rPr lang="it-IT" dirty="0" err="1"/>
              <a:t>Register</a:t>
            </a:r>
            <a:r>
              <a:rPr lang="it-IT" dirty="0"/>
              <a:t> può essere usato come </a:t>
            </a:r>
            <a:r>
              <a:rPr lang="it-IT" dirty="0" err="1"/>
              <a:t>serializzatore</a:t>
            </a:r>
            <a:r>
              <a:rPr lang="it-IT" dirty="0"/>
              <a:t> (PISO, </a:t>
            </a:r>
            <a:r>
              <a:rPr lang="it-IT" dirty="0" err="1"/>
              <a:t>Parallel</a:t>
            </a:r>
            <a:r>
              <a:rPr lang="it-IT" dirty="0"/>
              <a:t> In Serial Out) prelevando l’uscita dell’ultimo Flip-Flop.</a:t>
            </a:r>
          </a:p>
          <a:p>
            <a:r>
              <a:rPr lang="it-IT" dirty="0"/>
              <a:t>Uno Shift </a:t>
            </a:r>
            <a:r>
              <a:rPr lang="it-IT" dirty="0" err="1"/>
              <a:t>Register</a:t>
            </a:r>
            <a:r>
              <a:rPr lang="it-IT" dirty="0"/>
              <a:t> che </a:t>
            </a:r>
            <a:br>
              <a:rPr lang="it-IT" dirty="0"/>
            </a:br>
            <a:r>
              <a:rPr lang="it-IT" dirty="0"/>
              <a:t>espone tutte le uscite </a:t>
            </a:r>
            <a:br>
              <a:rPr lang="it-IT" dirty="0"/>
            </a:br>
            <a:r>
              <a:rPr lang="it-IT" dirty="0"/>
              <a:t>dei propri Flip-Flop può </a:t>
            </a:r>
            <a:br>
              <a:rPr lang="it-IT" dirty="0"/>
            </a:br>
            <a:r>
              <a:rPr lang="it-IT" dirty="0"/>
              <a:t>essere usato come </a:t>
            </a:r>
            <a:br>
              <a:rPr lang="it-IT" dirty="0"/>
            </a:br>
            <a:r>
              <a:rPr lang="it-IT" dirty="0" err="1"/>
              <a:t>deserializzatore</a:t>
            </a:r>
            <a:r>
              <a:rPr lang="it-IT" dirty="0"/>
              <a:t> (SIPO, </a:t>
            </a:r>
            <a:br>
              <a:rPr lang="it-IT" dirty="0"/>
            </a:br>
            <a:r>
              <a:rPr lang="it-IT" dirty="0"/>
              <a:t>Serial In </a:t>
            </a:r>
            <a:r>
              <a:rPr lang="it-IT" dirty="0" err="1"/>
              <a:t>Parallel</a:t>
            </a:r>
            <a:r>
              <a:rPr lang="it-IT" dirty="0"/>
              <a:t> Out).</a:t>
            </a:r>
          </a:p>
        </p:txBody>
      </p:sp>
      <p:pic>
        <p:nvPicPr>
          <p:cNvPr id="5" name="Elemento grafico 4">
            <a:extLst>
              <a:ext uri="{FF2B5EF4-FFF2-40B4-BE49-F238E27FC236}">
                <a16:creationId xmlns:a16="http://schemas.microsoft.com/office/drawing/2014/main" id="{F7D544A8-4ED5-2632-B59C-9E65B71C77C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95797" y="4510044"/>
            <a:ext cx="6858000" cy="1714500"/>
          </a:xfrm>
          <a:prstGeom prst="rect">
            <a:avLst/>
          </a:prstGeom>
        </p:spPr>
      </p:pic>
    </p:spTree>
    <p:extLst>
      <p:ext uri="{BB962C8B-B14F-4D97-AF65-F5344CB8AC3E}">
        <p14:creationId xmlns:p14="http://schemas.microsoft.com/office/powerpoint/2010/main" val="2982189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45075A4-F4AF-4690-54A3-9937BB4FB763}"/>
              </a:ext>
            </a:extLst>
          </p:cNvPr>
          <p:cNvSpPr>
            <a:spLocks noGrp="1"/>
          </p:cNvSpPr>
          <p:nvPr>
            <p:ph type="title"/>
          </p:nvPr>
        </p:nvSpPr>
        <p:spPr/>
        <p:txBody>
          <a:bodyPr/>
          <a:lstStyle/>
          <a:p>
            <a:r>
              <a:rPr lang="it-IT" dirty="0"/>
              <a:t>UN ESEMPIO PRATICO COL KIT Di SVILUPPO (1)</a:t>
            </a:r>
          </a:p>
        </p:txBody>
      </p:sp>
      <p:sp>
        <p:nvSpPr>
          <p:cNvPr id="3" name="Segnaposto contenuto 2">
            <a:extLst>
              <a:ext uri="{FF2B5EF4-FFF2-40B4-BE49-F238E27FC236}">
                <a16:creationId xmlns:a16="http://schemas.microsoft.com/office/drawing/2014/main" id="{DE70D2AE-20B9-67F4-A162-29822387C107}"/>
              </a:ext>
            </a:extLst>
          </p:cNvPr>
          <p:cNvSpPr>
            <a:spLocks noGrp="1"/>
          </p:cNvSpPr>
          <p:nvPr>
            <p:ph idx="1"/>
          </p:nvPr>
        </p:nvSpPr>
        <p:spPr>
          <a:xfrm>
            <a:off x="1141412" y="1956021"/>
            <a:ext cx="10490819" cy="4292377"/>
          </a:xfrm>
        </p:spPr>
        <p:txBody>
          <a:bodyPr>
            <a:normAutofit/>
          </a:bodyPr>
          <a:lstStyle/>
          <a:p>
            <a:pPr marL="0" indent="0">
              <a:buNone/>
            </a:pPr>
            <a:r>
              <a:rPr lang="it-IT" dirty="0"/>
              <a:t>Al fine di mostrare la meccanica di utilizzo dell’IDE, sfruttando le risorse presenti sul Kit di sviluppo, mostreremo un piccolo progetto che comprende una rete sequenziale sincrona.</a:t>
            </a:r>
          </a:p>
          <a:p>
            <a:pPr marL="0" indent="0">
              <a:buNone/>
            </a:pPr>
            <a:r>
              <a:rPr lang="it-IT" dirty="0"/>
              <a:t>Si tratterà di un registro </a:t>
            </a:r>
            <a:br>
              <a:rPr lang="it-IT" dirty="0"/>
            </a:br>
            <a:r>
              <a:rPr lang="it-IT" dirty="0"/>
              <a:t>a scorrimento (shift </a:t>
            </a:r>
            <a:r>
              <a:rPr lang="it-IT" dirty="0" err="1"/>
              <a:t>register</a:t>
            </a:r>
            <a:r>
              <a:rPr lang="it-IT" dirty="0"/>
              <a:t>) </a:t>
            </a:r>
            <a:br>
              <a:rPr lang="it-IT" dirty="0"/>
            </a:br>
            <a:r>
              <a:rPr lang="it-IT" dirty="0"/>
              <a:t>a 6 bit il cui ingresso seriale </a:t>
            </a:r>
            <a:br>
              <a:rPr lang="it-IT" dirty="0"/>
            </a:br>
            <a:r>
              <a:rPr lang="it-IT" dirty="0"/>
              <a:t>è pilotato da uno dei due </a:t>
            </a:r>
            <a:br>
              <a:rPr lang="it-IT" dirty="0"/>
            </a:br>
            <a:r>
              <a:rPr lang="it-IT" dirty="0"/>
              <a:t>pulsanti della scheda di sviluppo. </a:t>
            </a:r>
            <a:br>
              <a:rPr lang="it-IT" dirty="0"/>
            </a:br>
            <a:r>
              <a:rPr lang="it-IT" dirty="0"/>
              <a:t>L’uscita parallela dello Shift </a:t>
            </a:r>
            <a:br>
              <a:rPr lang="it-IT" dirty="0"/>
            </a:br>
            <a:r>
              <a:rPr lang="it-IT" dirty="0" err="1"/>
              <a:t>Register</a:t>
            </a:r>
            <a:r>
              <a:rPr lang="it-IT" dirty="0"/>
              <a:t> verrà riportata sui led </a:t>
            </a:r>
            <a:br>
              <a:rPr lang="it-IT" dirty="0"/>
            </a:br>
            <a:r>
              <a:rPr lang="it-IT" dirty="0"/>
              <a:t>della Tang Nano 9K.</a:t>
            </a:r>
          </a:p>
        </p:txBody>
      </p:sp>
      <p:pic>
        <p:nvPicPr>
          <p:cNvPr id="7" name="Elemento grafico 6">
            <a:extLst>
              <a:ext uri="{FF2B5EF4-FFF2-40B4-BE49-F238E27FC236}">
                <a16:creationId xmlns:a16="http://schemas.microsoft.com/office/drawing/2014/main" id="{44933E07-503E-4ACE-B0DD-DD7751A3DD7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10252" y="3131729"/>
            <a:ext cx="6000750" cy="3476625"/>
          </a:xfrm>
          <a:prstGeom prst="rect">
            <a:avLst/>
          </a:prstGeom>
        </p:spPr>
      </p:pic>
    </p:spTree>
    <p:extLst>
      <p:ext uri="{BB962C8B-B14F-4D97-AF65-F5344CB8AC3E}">
        <p14:creationId xmlns:p14="http://schemas.microsoft.com/office/powerpoint/2010/main" val="2747035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45075A4-F4AF-4690-54A3-9937BB4FB763}"/>
              </a:ext>
            </a:extLst>
          </p:cNvPr>
          <p:cNvSpPr>
            <a:spLocks noGrp="1"/>
          </p:cNvSpPr>
          <p:nvPr>
            <p:ph type="title"/>
          </p:nvPr>
        </p:nvSpPr>
        <p:spPr>
          <a:xfrm>
            <a:off x="1141413" y="609600"/>
            <a:ext cx="9905998" cy="898689"/>
          </a:xfrm>
        </p:spPr>
        <p:txBody>
          <a:bodyPr/>
          <a:lstStyle/>
          <a:p>
            <a:r>
              <a:rPr lang="it-IT" dirty="0"/>
              <a:t>UN ESEMPIO PRATICO COL KIT Di SVILUPPO (2)</a:t>
            </a:r>
          </a:p>
        </p:txBody>
      </p:sp>
      <p:pic>
        <p:nvPicPr>
          <p:cNvPr id="5" name="Immagine 4">
            <a:extLst>
              <a:ext uri="{FF2B5EF4-FFF2-40B4-BE49-F238E27FC236}">
                <a16:creationId xmlns:a16="http://schemas.microsoft.com/office/drawing/2014/main" id="{53BD4339-DF17-0AA7-CDA3-8BE422900A36}"/>
              </a:ext>
            </a:extLst>
          </p:cNvPr>
          <p:cNvPicPr>
            <a:picLocks noChangeAspect="1"/>
          </p:cNvPicPr>
          <p:nvPr/>
        </p:nvPicPr>
        <p:blipFill>
          <a:blip r:embed="rId2"/>
          <a:stretch>
            <a:fillRect/>
          </a:stretch>
        </p:blipFill>
        <p:spPr>
          <a:xfrm>
            <a:off x="2124267" y="4401050"/>
            <a:ext cx="5508897" cy="1967463"/>
          </a:xfrm>
          <a:prstGeom prst="rect">
            <a:avLst/>
          </a:prstGeom>
        </p:spPr>
      </p:pic>
      <p:sp>
        <p:nvSpPr>
          <p:cNvPr id="7" name="Rettangolo 6">
            <a:extLst>
              <a:ext uri="{FF2B5EF4-FFF2-40B4-BE49-F238E27FC236}">
                <a16:creationId xmlns:a16="http://schemas.microsoft.com/office/drawing/2014/main" id="{80F1DB34-6125-FAA4-BC06-11C91B6F7529}"/>
              </a:ext>
            </a:extLst>
          </p:cNvPr>
          <p:cNvSpPr/>
          <p:nvPr/>
        </p:nvSpPr>
        <p:spPr>
          <a:xfrm>
            <a:off x="4776331" y="5295570"/>
            <a:ext cx="437322" cy="338136"/>
          </a:xfrm>
          <a:prstGeom prst="rect">
            <a:avLst/>
          </a:prstGeom>
          <a:solidFill>
            <a:srgbClr val="FFFF00">
              <a:alpha val="20000"/>
            </a:srgbClr>
          </a:solid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 name="Segnaposto contenuto 2">
            <a:extLst>
              <a:ext uri="{FF2B5EF4-FFF2-40B4-BE49-F238E27FC236}">
                <a16:creationId xmlns:a16="http://schemas.microsoft.com/office/drawing/2014/main" id="{484DDE47-B976-5114-B5B4-EB0DD1C9DD59}"/>
              </a:ext>
            </a:extLst>
          </p:cNvPr>
          <p:cNvSpPr>
            <a:spLocks noGrp="1"/>
          </p:cNvSpPr>
          <p:nvPr>
            <p:ph idx="1"/>
          </p:nvPr>
        </p:nvSpPr>
        <p:spPr>
          <a:xfrm>
            <a:off x="1141413" y="1591781"/>
            <a:ext cx="8066197" cy="2809269"/>
          </a:xfrm>
        </p:spPr>
        <p:txBody>
          <a:bodyPr>
            <a:normAutofit fontScale="85000" lnSpcReduction="20000"/>
          </a:bodyPr>
          <a:lstStyle/>
          <a:p>
            <a:pPr marL="0" indent="0">
              <a:buNone/>
            </a:pPr>
            <a:r>
              <a:rPr lang="it-IT" dirty="0" err="1"/>
              <a:t>TangNano</a:t>
            </a:r>
            <a:r>
              <a:rPr lang="it-IT" dirty="0"/>
              <a:t> 9K dispone di un </a:t>
            </a:r>
            <a:r>
              <a:rPr lang="it-IT" dirty="0">
                <a:solidFill>
                  <a:srgbClr val="FFFF00"/>
                </a:solidFill>
              </a:rPr>
              <a:t>XO (Cristal </a:t>
            </a:r>
            <a:r>
              <a:rPr lang="it-IT" dirty="0" err="1">
                <a:solidFill>
                  <a:srgbClr val="FFFF00"/>
                </a:solidFill>
              </a:rPr>
              <a:t>Oscillator</a:t>
            </a:r>
            <a:r>
              <a:rPr lang="it-IT" dirty="0">
                <a:solidFill>
                  <a:srgbClr val="FFFF00"/>
                </a:solidFill>
              </a:rPr>
              <a:t>)</a:t>
            </a:r>
            <a:r>
              <a:rPr lang="it-IT" dirty="0"/>
              <a:t> che ha una buona stabilità in frequenza, ed è in grado di generare un segnale a 27 MHz. </a:t>
            </a:r>
          </a:p>
          <a:p>
            <a:pPr marL="0" indent="0">
              <a:buNone/>
            </a:pPr>
            <a:r>
              <a:rPr lang="it-IT" dirty="0"/>
              <a:t>Per XO si un modulo oscillatore controllato da un </a:t>
            </a:r>
            <a:r>
              <a:rPr lang="it-IT" u="sng" dirty="0"/>
              <a:t>cristallo di quarzo</a:t>
            </a:r>
            <a:r>
              <a:rPr lang="it-IT" dirty="0"/>
              <a:t>. </a:t>
            </a:r>
            <a:br>
              <a:rPr lang="it-IT" dirty="0"/>
            </a:br>
            <a:r>
              <a:rPr lang="it-IT" dirty="0"/>
              <a:t>Tale dispositivo ottiene la sua stabilità in frequenza dalla quella intrinseca del cristallo che è </a:t>
            </a:r>
            <a:r>
              <a:rPr lang="it-IT" u="sng" dirty="0"/>
              <a:t>modestamente sensibile alle variazioni di temperatura</a:t>
            </a:r>
            <a:r>
              <a:rPr lang="it-IT" dirty="0"/>
              <a:t>. Questa caratteristica è generalmente specificata in decine di parti per milione (ppm). La precisione iniziale a temperatura ambiente (+25 °C) è data principalmente dalla calibrazione del cristallo da parte del produttore del modulo.</a:t>
            </a:r>
          </a:p>
          <a:p>
            <a:pPr marL="0" indent="0">
              <a:buNone/>
            </a:pPr>
            <a:r>
              <a:rPr lang="it-IT" dirty="0"/>
              <a:t>Useremo questo riferimento di tempo, opportunamente trattato, per fornire una cadenza (un clock) alla rete logica che definiremo.</a:t>
            </a:r>
          </a:p>
        </p:txBody>
      </p:sp>
      <p:pic>
        <p:nvPicPr>
          <p:cNvPr id="10" name="Elemento grafico 9">
            <a:extLst>
              <a:ext uri="{FF2B5EF4-FFF2-40B4-BE49-F238E27FC236}">
                <a16:creationId xmlns:a16="http://schemas.microsoft.com/office/drawing/2014/main" id="{0CBE23DA-1E67-AB55-C6D9-D49797CF270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17882" y="4401050"/>
            <a:ext cx="3482304" cy="2146858"/>
          </a:xfrm>
          <a:prstGeom prst="rect">
            <a:avLst/>
          </a:prstGeom>
        </p:spPr>
      </p:pic>
      <p:pic>
        <p:nvPicPr>
          <p:cNvPr id="16" name="Elemento grafico 15">
            <a:extLst>
              <a:ext uri="{FF2B5EF4-FFF2-40B4-BE49-F238E27FC236}">
                <a16:creationId xmlns:a16="http://schemas.microsoft.com/office/drawing/2014/main" id="{25D8ADF6-11A1-0CF5-F048-58E70397015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82085" y="1383521"/>
            <a:ext cx="1729725" cy="2936510"/>
          </a:xfrm>
          <a:prstGeom prst="rect">
            <a:avLst/>
          </a:prstGeom>
        </p:spPr>
      </p:pic>
    </p:spTree>
    <p:extLst>
      <p:ext uri="{BB962C8B-B14F-4D97-AF65-F5344CB8AC3E}">
        <p14:creationId xmlns:p14="http://schemas.microsoft.com/office/powerpoint/2010/main" val="3645352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45075A4-F4AF-4690-54A3-9937BB4FB763}"/>
              </a:ext>
            </a:extLst>
          </p:cNvPr>
          <p:cNvSpPr>
            <a:spLocks noGrp="1"/>
          </p:cNvSpPr>
          <p:nvPr>
            <p:ph type="title"/>
          </p:nvPr>
        </p:nvSpPr>
        <p:spPr>
          <a:xfrm>
            <a:off x="1141413" y="609600"/>
            <a:ext cx="9905998" cy="898689"/>
          </a:xfrm>
        </p:spPr>
        <p:txBody>
          <a:bodyPr/>
          <a:lstStyle/>
          <a:p>
            <a:r>
              <a:rPr lang="it-IT" dirty="0"/>
              <a:t>UN ESEMPIO PRATICO COL KIT Di SVILUPPO (3)</a:t>
            </a:r>
          </a:p>
        </p:txBody>
      </p:sp>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A958D0B9-6425-6A1E-E86C-649F52E10C46}"/>
                  </a:ext>
                </a:extLst>
              </p:cNvPr>
              <p:cNvSpPr>
                <a:spLocks noGrp="1"/>
              </p:cNvSpPr>
              <p:nvPr>
                <p:ph idx="1"/>
              </p:nvPr>
            </p:nvSpPr>
            <p:spPr>
              <a:xfrm>
                <a:off x="1141413" y="1598212"/>
                <a:ext cx="9905998" cy="5057030"/>
              </a:xfrm>
            </p:spPr>
            <p:txBody>
              <a:bodyPr>
                <a:normAutofit fontScale="77500" lnSpcReduction="20000"/>
              </a:bodyPr>
              <a:lstStyle/>
              <a:p>
                <a:pPr marL="0" indent="0">
                  <a:buNone/>
                </a:pPr>
                <a:r>
                  <a:rPr lang="it-IT" dirty="0"/>
                  <a:t>L’uscita a 27 MHz ha una velocità eccessiva ai fini del nostro esperimento, in quanto vorremmo poter apprezzare l’effetto dello scorrimento dello Shift </a:t>
                </a:r>
                <a:r>
                  <a:rPr lang="it-IT" dirty="0" err="1"/>
                  <a:t>Register</a:t>
                </a:r>
                <a:r>
                  <a:rPr lang="it-IT" dirty="0"/>
                  <a:t> direttamente sui Led presenti sulla Tang Nano 9K.</a:t>
                </a:r>
              </a:p>
              <a:p>
                <a:pPr marL="0" indent="0">
                  <a:buNone/>
                </a:pPr>
                <a:r>
                  <a:rPr lang="it-IT" dirty="0"/>
                  <a:t>Per portare la velocità ad un valore adeguato (circa 3.2 Hz) dobbiamo «dividere» la frequenza dell’XO per 8.388.608: non si tratta di un valore casuale, bensì corrisponde al numero ottenuto calcolando </a:t>
                </a:r>
                <a14:m>
                  <m:oMath xmlns:m="http://schemas.openxmlformats.org/officeDocument/2006/math">
                    <m:sSup>
                      <m:sSupPr>
                        <m:ctrlPr>
                          <a:rPr lang="it-IT" i="1" smtClean="0">
                            <a:latin typeface="Cambria Math" panose="02040503050406030204" pitchFamily="18" charset="0"/>
                          </a:rPr>
                        </m:ctrlPr>
                      </m:sSupPr>
                      <m:e>
                        <m:r>
                          <a:rPr lang="it-IT" b="0" i="1" smtClean="0">
                            <a:latin typeface="Cambria Math" panose="02040503050406030204" pitchFamily="18" charset="0"/>
                          </a:rPr>
                          <m:t>2</m:t>
                        </m:r>
                      </m:e>
                      <m:sup>
                        <m:r>
                          <a:rPr lang="it-IT" b="0" i="1" smtClean="0">
                            <a:latin typeface="Cambria Math" panose="02040503050406030204" pitchFamily="18" charset="0"/>
                          </a:rPr>
                          <m:t>23</m:t>
                        </m:r>
                      </m:sup>
                    </m:sSup>
                  </m:oMath>
                </a14:m>
                <a:r>
                  <a:rPr lang="it-IT" dirty="0"/>
                  <a:t>. </a:t>
                </a:r>
              </a:p>
              <a:p>
                <a:pPr marL="0" indent="0">
                  <a:buNone/>
                </a:pPr>
                <a:r>
                  <a:rPr lang="it-IT" dirty="0"/>
                  <a:t>Realizzare un contatore sincrono con 8.388.608 di stati per dividere la frequenza, richiede che la rete combinatoria per il calcolo del valore successivo sia di complessità non trascurabile, nonché di dimensioni ragguardevoli. Inoltre parliamo di una rete logica (un addizionatore) con molti livelli (fino a 23).</a:t>
                </a:r>
              </a:p>
              <a:p>
                <a:pPr marL="0" indent="0">
                  <a:buNone/>
                </a:pPr>
                <a:r>
                  <a:rPr lang="it-IT" dirty="0"/>
                  <a:t>Siccome non interessa lo stato intero del contatore ma solo lo stato del bit più significativo e che in questa applicazione abbiamo un solo clock, si può optare per un cosiddetto </a:t>
                </a:r>
                <a:r>
                  <a:rPr lang="it-IT" dirty="0">
                    <a:solidFill>
                      <a:srgbClr val="FFFF00"/>
                    </a:solidFill>
                  </a:rPr>
                  <a:t>«</a:t>
                </a:r>
                <a:r>
                  <a:rPr lang="it-IT" dirty="0" err="1">
                    <a:solidFill>
                      <a:srgbClr val="FFFF00"/>
                    </a:solidFill>
                  </a:rPr>
                  <a:t>Ripple</a:t>
                </a:r>
                <a:r>
                  <a:rPr lang="it-IT" dirty="0">
                    <a:solidFill>
                      <a:srgbClr val="FFFF00"/>
                    </a:solidFill>
                  </a:rPr>
                  <a:t> Counter»</a:t>
                </a:r>
                <a:r>
                  <a:rPr lang="it-IT" dirty="0"/>
                  <a:t>. Oltre ad essere molto veloce è anche poco costoso in termini di risorse. </a:t>
                </a:r>
                <a:br>
                  <a:rPr lang="it-IT" dirty="0"/>
                </a:br>
                <a:r>
                  <a:rPr lang="it-IT" dirty="0"/>
                  <a:t>Di contro c’ha che le uscite non commutano in modo </a:t>
                </a:r>
                <a:br>
                  <a:rPr lang="it-IT" dirty="0"/>
                </a:br>
                <a:r>
                  <a:rPr lang="it-IT" dirty="0"/>
                  <a:t>sincrono fra loro (non simultaneamente), ma per la </a:t>
                </a:r>
                <a:br>
                  <a:rPr lang="it-IT" dirty="0"/>
                </a:br>
                <a:r>
                  <a:rPr lang="it-IT" dirty="0"/>
                  <a:t>nostra applicazione sappiamo che questo non è un </a:t>
                </a:r>
                <a:br>
                  <a:rPr lang="it-IT" dirty="0"/>
                </a:br>
                <a:r>
                  <a:rPr lang="it-IT" dirty="0"/>
                  <a:t>problema.</a:t>
                </a:r>
              </a:p>
              <a:p>
                <a:pPr marL="0" indent="0">
                  <a:buNone/>
                </a:pPr>
                <a:r>
                  <a:rPr lang="it-IT" dirty="0"/>
                  <a:t>La struttura classica prevede che l’uscita negata di un </a:t>
                </a:r>
                <a:br>
                  <a:rPr lang="it-IT" dirty="0"/>
                </a:br>
                <a:r>
                  <a:rPr lang="it-IT" dirty="0"/>
                  <a:t>Flip-Flop di tipo T (T sta per «</a:t>
                </a:r>
                <a:r>
                  <a:rPr lang="it-IT" dirty="0" err="1"/>
                  <a:t>toggle</a:t>
                </a:r>
                <a:r>
                  <a:rPr lang="it-IT" dirty="0"/>
                  <a:t>», cioè che inverte le </a:t>
                </a:r>
                <a:br>
                  <a:rPr lang="it-IT" dirty="0"/>
                </a:br>
                <a:r>
                  <a:rPr lang="it-IT" dirty="0"/>
                  <a:t>uscite quando l’ingresso T è ad 1) funga da sorgente </a:t>
                </a:r>
                <a:br>
                  <a:rPr lang="it-IT" dirty="0"/>
                </a:br>
                <a:r>
                  <a:rPr lang="it-IT" dirty="0"/>
                  <a:t>di clock per il flip flop successivo. Dopo diverse e successive divisioni per due (fino ad arrivare alla   cifra di 8.388.608) della frequenza iniziale di 27 MHz, otteniamo infine una cadenza di 3,218… Hz.</a:t>
                </a:r>
              </a:p>
            </p:txBody>
          </p:sp>
        </mc:Choice>
        <mc:Fallback>
          <p:sp>
            <p:nvSpPr>
              <p:cNvPr id="3" name="Segnaposto contenuto 2">
                <a:extLst>
                  <a:ext uri="{FF2B5EF4-FFF2-40B4-BE49-F238E27FC236}">
                    <a16:creationId xmlns:a16="http://schemas.microsoft.com/office/drawing/2014/main" id="{A958D0B9-6425-6A1E-E86C-649F52E10C46}"/>
                  </a:ext>
                </a:extLst>
              </p:cNvPr>
              <p:cNvSpPr>
                <a:spLocks noGrp="1" noRot="1" noChangeAspect="1" noMove="1" noResize="1" noEditPoints="1" noAdjustHandles="1" noChangeArrowheads="1" noChangeShapeType="1" noTextEdit="1"/>
              </p:cNvSpPr>
              <p:nvPr>
                <p:ph idx="1"/>
              </p:nvPr>
            </p:nvSpPr>
            <p:spPr>
              <a:xfrm>
                <a:off x="1141413" y="1598212"/>
                <a:ext cx="9905998" cy="5057030"/>
              </a:xfrm>
              <a:blipFill>
                <a:blip r:embed="rId2"/>
                <a:stretch>
                  <a:fillRect/>
                </a:stretch>
              </a:blipFill>
            </p:spPr>
            <p:txBody>
              <a:bodyPr/>
              <a:lstStyle/>
              <a:p>
                <a:r>
                  <a:rPr lang="it-IT">
                    <a:noFill/>
                  </a:rPr>
                  <a:t> </a:t>
                </a:r>
              </a:p>
            </p:txBody>
          </p:sp>
        </mc:Fallback>
      </mc:AlternateContent>
      <p:pic>
        <p:nvPicPr>
          <p:cNvPr id="9" name="Elemento grafico 8">
            <a:extLst>
              <a:ext uri="{FF2B5EF4-FFF2-40B4-BE49-F238E27FC236}">
                <a16:creationId xmlns:a16="http://schemas.microsoft.com/office/drawing/2014/main" id="{E25373EF-BF14-001A-9F1C-6271DEA3485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89149" y="4516795"/>
            <a:ext cx="4984764" cy="1442333"/>
          </a:xfrm>
          <a:prstGeom prst="rect">
            <a:avLst/>
          </a:prstGeom>
        </p:spPr>
      </p:pic>
    </p:spTree>
    <p:extLst>
      <p:ext uri="{BB962C8B-B14F-4D97-AF65-F5344CB8AC3E}">
        <p14:creationId xmlns:p14="http://schemas.microsoft.com/office/powerpoint/2010/main" val="3635813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45075A4-F4AF-4690-54A3-9937BB4FB763}"/>
              </a:ext>
            </a:extLst>
          </p:cNvPr>
          <p:cNvSpPr>
            <a:spLocks noGrp="1"/>
          </p:cNvSpPr>
          <p:nvPr>
            <p:ph type="title"/>
          </p:nvPr>
        </p:nvSpPr>
        <p:spPr>
          <a:xfrm>
            <a:off x="1141413" y="609600"/>
            <a:ext cx="9905998" cy="898689"/>
          </a:xfrm>
        </p:spPr>
        <p:txBody>
          <a:bodyPr/>
          <a:lstStyle/>
          <a:p>
            <a:r>
              <a:rPr lang="it-IT" dirty="0"/>
              <a:t>UN ESEMPIO PRATICO COL KIT Di SVILUPPO (4/1)</a:t>
            </a:r>
          </a:p>
        </p:txBody>
      </p:sp>
      <p:sp>
        <p:nvSpPr>
          <p:cNvPr id="3" name="Segnaposto contenuto 2">
            <a:extLst>
              <a:ext uri="{FF2B5EF4-FFF2-40B4-BE49-F238E27FC236}">
                <a16:creationId xmlns:a16="http://schemas.microsoft.com/office/drawing/2014/main" id="{A958D0B9-6425-6A1E-E86C-649F52E10C46}"/>
              </a:ext>
            </a:extLst>
          </p:cNvPr>
          <p:cNvSpPr>
            <a:spLocks noGrp="1"/>
          </p:cNvSpPr>
          <p:nvPr>
            <p:ph idx="1"/>
          </p:nvPr>
        </p:nvSpPr>
        <p:spPr>
          <a:xfrm>
            <a:off x="1141413" y="1892410"/>
            <a:ext cx="9905998" cy="1319917"/>
          </a:xfrm>
        </p:spPr>
        <p:txBody>
          <a:bodyPr>
            <a:normAutofit fontScale="92500" lnSpcReduction="20000"/>
          </a:bodyPr>
          <a:lstStyle/>
          <a:p>
            <a:pPr marL="0" indent="0">
              <a:buNone/>
            </a:pPr>
            <a:r>
              <a:rPr lang="it-IT" dirty="0"/>
              <a:t>Il clock che esce dal </a:t>
            </a:r>
            <a:r>
              <a:rPr lang="it-IT" dirty="0" err="1"/>
              <a:t>Ripple</a:t>
            </a:r>
            <a:r>
              <a:rPr lang="it-IT" dirty="0"/>
              <a:t> Counter è collegato all’ingresso del clock di uno </a:t>
            </a:r>
            <a:r>
              <a:rPr lang="it-IT" dirty="0" err="1">
                <a:solidFill>
                  <a:srgbClr val="FFFF00"/>
                </a:solidFill>
              </a:rPr>
              <a:t>Shitf</a:t>
            </a:r>
            <a:r>
              <a:rPr lang="it-IT" dirty="0">
                <a:solidFill>
                  <a:srgbClr val="FFFF00"/>
                </a:solidFill>
              </a:rPr>
              <a:t> </a:t>
            </a:r>
            <a:r>
              <a:rPr lang="it-IT" dirty="0" err="1">
                <a:solidFill>
                  <a:srgbClr val="FFFF00"/>
                </a:solidFill>
              </a:rPr>
              <a:t>Register</a:t>
            </a:r>
            <a:r>
              <a:rPr lang="it-IT" dirty="0">
                <a:solidFill>
                  <a:srgbClr val="FFFF00"/>
                </a:solidFill>
              </a:rPr>
              <a:t> a sei bit</a:t>
            </a:r>
            <a:r>
              <a:rPr lang="it-IT" dirty="0"/>
              <a:t>. Per semplicità nella figura è stato omesso il </a:t>
            </a:r>
            <a:r>
              <a:rPr lang="it-IT" u="sng" dirty="0"/>
              <a:t>reset asincrono</a:t>
            </a:r>
            <a:r>
              <a:rPr lang="it-IT" dirty="0"/>
              <a:t> collegato in parallelo a tutti i Flip-Flop. Suddetto reset proviene da </a:t>
            </a:r>
            <a:r>
              <a:rPr lang="it-IT" dirty="0">
                <a:solidFill>
                  <a:schemeClr val="tx1"/>
                </a:solidFill>
              </a:rPr>
              <a:t>uno dei </a:t>
            </a:r>
            <a:r>
              <a:rPr lang="it-IT" dirty="0">
                <a:solidFill>
                  <a:srgbClr val="FFFF00"/>
                </a:solidFill>
              </a:rPr>
              <a:t>due pulsanti </a:t>
            </a:r>
            <a:r>
              <a:rPr lang="it-IT" dirty="0"/>
              <a:t>della </a:t>
            </a:r>
            <a:r>
              <a:rPr lang="it-IT" dirty="0" err="1"/>
              <a:t>TangNano</a:t>
            </a:r>
            <a:r>
              <a:rPr lang="it-IT" dirty="0"/>
              <a:t> 9K, opportunamente invertito perché è normalmente attivo basso (da zero quando premuto).</a:t>
            </a:r>
          </a:p>
        </p:txBody>
      </p:sp>
      <p:pic>
        <p:nvPicPr>
          <p:cNvPr id="11" name="Immagine 10">
            <a:extLst>
              <a:ext uri="{FF2B5EF4-FFF2-40B4-BE49-F238E27FC236}">
                <a16:creationId xmlns:a16="http://schemas.microsoft.com/office/drawing/2014/main" id="{31F75D5B-E39D-307B-82D2-FC9433E0D843}"/>
              </a:ext>
            </a:extLst>
          </p:cNvPr>
          <p:cNvPicPr>
            <a:picLocks noChangeAspect="1"/>
          </p:cNvPicPr>
          <p:nvPr/>
        </p:nvPicPr>
        <p:blipFill>
          <a:blip r:embed="rId2"/>
          <a:stretch>
            <a:fillRect/>
          </a:stretch>
        </p:blipFill>
        <p:spPr>
          <a:xfrm>
            <a:off x="1141413" y="4859929"/>
            <a:ext cx="4133850" cy="1476375"/>
          </a:xfrm>
          <a:prstGeom prst="rect">
            <a:avLst/>
          </a:prstGeom>
        </p:spPr>
      </p:pic>
      <p:sp>
        <p:nvSpPr>
          <p:cNvPr id="12" name="Rettangolo 11">
            <a:extLst>
              <a:ext uri="{FF2B5EF4-FFF2-40B4-BE49-F238E27FC236}">
                <a16:creationId xmlns:a16="http://schemas.microsoft.com/office/drawing/2014/main" id="{10809880-C7CD-329E-80B4-A5CEB97344C9}"/>
              </a:ext>
            </a:extLst>
          </p:cNvPr>
          <p:cNvSpPr/>
          <p:nvPr/>
        </p:nvSpPr>
        <p:spPr>
          <a:xfrm>
            <a:off x="1220927" y="5883963"/>
            <a:ext cx="464750" cy="302149"/>
          </a:xfrm>
          <a:prstGeom prst="rect">
            <a:avLst/>
          </a:prstGeom>
          <a:solidFill>
            <a:srgbClr val="FFFF00">
              <a:alpha val="20000"/>
            </a:srgbClr>
          </a:solid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8" name="Elemento grafico 17">
            <a:extLst>
              <a:ext uri="{FF2B5EF4-FFF2-40B4-BE49-F238E27FC236}">
                <a16:creationId xmlns:a16="http://schemas.microsoft.com/office/drawing/2014/main" id="{61A239DF-AF26-70FE-08B5-C53618B9DAB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1413" y="3201225"/>
            <a:ext cx="2889898" cy="1537180"/>
          </a:xfrm>
          <a:prstGeom prst="rect">
            <a:avLst/>
          </a:prstGeom>
        </p:spPr>
      </p:pic>
      <p:sp>
        <p:nvSpPr>
          <p:cNvPr id="20" name="Rettangolo 19">
            <a:extLst>
              <a:ext uri="{FF2B5EF4-FFF2-40B4-BE49-F238E27FC236}">
                <a16:creationId xmlns:a16="http://schemas.microsoft.com/office/drawing/2014/main" id="{E0DE9E66-0CFC-39D5-6D75-0C807252A119}"/>
              </a:ext>
            </a:extLst>
          </p:cNvPr>
          <p:cNvSpPr/>
          <p:nvPr/>
        </p:nvSpPr>
        <p:spPr>
          <a:xfrm>
            <a:off x="1220929" y="5025224"/>
            <a:ext cx="464750" cy="302149"/>
          </a:xfrm>
          <a:prstGeom prst="rect">
            <a:avLst/>
          </a:prstGeom>
          <a:solidFill>
            <a:srgbClr val="FFFF00">
              <a:alpha val="20000"/>
            </a:srgbClr>
          </a:solid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6" name="Elemento grafico 5">
            <a:extLst>
              <a:ext uri="{FF2B5EF4-FFF2-40B4-BE49-F238E27FC236}">
                <a16:creationId xmlns:a16="http://schemas.microsoft.com/office/drawing/2014/main" id="{503FEE53-5482-65EC-DDF9-FC3E55A0108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07832" y="4101714"/>
            <a:ext cx="6220375" cy="2409161"/>
          </a:xfrm>
          <a:prstGeom prst="rect">
            <a:avLst/>
          </a:prstGeom>
        </p:spPr>
      </p:pic>
    </p:spTree>
    <p:extLst>
      <p:ext uri="{BB962C8B-B14F-4D97-AF65-F5344CB8AC3E}">
        <p14:creationId xmlns:p14="http://schemas.microsoft.com/office/powerpoint/2010/main" val="2227456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45075A4-F4AF-4690-54A3-9937BB4FB763}"/>
              </a:ext>
            </a:extLst>
          </p:cNvPr>
          <p:cNvSpPr>
            <a:spLocks noGrp="1"/>
          </p:cNvSpPr>
          <p:nvPr>
            <p:ph type="title"/>
          </p:nvPr>
        </p:nvSpPr>
        <p:spPr>
          <a:xfrm>
            <a:off x="1141413" y="609600"/>
            <a:ext cx="9905998" cy="898689"/>
          </a:xfrm>
        </p:spPr>
        <p:txBody>
          <a:bodyPr/>
          <a:lstStyle/>
          <a:p>
            <a:r>
              <a:rPr lang="it-IT" dirty="0"/>
              <a:t>UN ESEMPIO PRATICO COL KIT Di SVILUPPO (4/2)</a:t>
            </a:r>
          </a:p>
        </p:txBody>
      </p:sp>
      <p:pic>
        <p:nvPicPr>
          <p:cNvPr id="7" name="Immagine 6">
            <a:extLst>
              <a:ext uri="{FF2B5EF4-FFF2-40B4-BE49-F238E27FC236}">
                <a16:creationId xmlns:a16="http://schemas.microsoft.com/office/drawing/2014/main" id="{79C81327-392D-C928-FFC6-FFA5CF14BD15}"/>
              </a:ext>
            </a:extLst>
          </p:cNvPr>
          <p:cNvPicPr>
            <a:picLocks noChangeAspect="1"/>
          </p:cNvPicPr>
          <p:nvPr/>
        </p:nvPicPr>
        <p:blipFill>
          <a:blip r:embed="rId2"/>
          <a:stretch>
            <a:fillRect/>
          </a:stretch>
        </p:blipFill>
        <p:spPr>
          <a:xfrm>
            <a:off x="1141413" y="4859929"/>
            <a:ext cx="4133850" cy="1476375"/>
          </a:xfrm>
          <a:prstGeom prst="rect">
            <a:avLst/>
          </a:prstGeom>
        </p:spPr>
      </p:pic>
      <p:sp>
        <p:nvSpPr>
          <p:cNvPr id="8" name="Rettangolo 7">
            <a:extLst>
              <a:ext uri="{FF2B5EF4-FFF2-40B4-BE49-F238E27FC236}">
                <a16:creationId xmlns:a16="http://schemas.microsoft.com/office/drawing/2014/main" id="{B74B8C1A-46BF-74A7-7403-93762363144C}"/>
              </a:ext>
            </a:extLst>
          </p:cNvPr>
          <p:cNvSpPr/>
          <p:nvPr/>
        </p:nvSpPr>
        <p:spPr>
          <a:xfrm>
            <a:off x="1220929" y="5025224"/>
            <a:ext cx="464750" cy="302149"/>
          </a:xfrm>
          <a:prstGeom prst="rect">
            <a:avLst/>
          </a:prstGeom>
          <a:solidFill>
            <a:srgbClr val="FFFF00">
              <a:alpha val="20000"/>
            </a:srgbClr>
          </a:solid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5" name="Elemento grafico 4">
            <a:extLst>
              <a:ext uri="{FF2B5EF4-FFF2-40B4-BE49-F238E27FC236}">
                <a16:creationId xmlns:a16="http://schemas.microsoft.com/office/drawing/2014/main" id="{14203A67-8A0D-5018-DD85-57AAF152BD6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07834" y="4085812"/>
            <a:ext cx="6220372" cy="2409160"/>
          </a:xfrm>
          <a:prstGeom prst="rect">
            <a:avLst/>
          </a:prstGeom>
        </p:spPr>
      </p:pic>
      <p:sp>
        <p:nvSpPr>
          <p:cNvPr id="3" name="Segnaposto contenuto 2">
            <a:extLst>
              <a:ext uri="{FF2B5EF4-FFF2-40B4-BE49-F238E27FC236}">
                <a16:creationId xmlns:a16="http://schemas.microsoft.com/office/drawing/2014/main" id="{D45C7E92-1112-9006-04FD-A9ED63BEFECD}"/>
              </a:ext>
            </a:extLst>
          </p:cNvPr>
          <p:cNvSpPr txBox="1">
            <a:spLocks/>
          </p:cNvSpPr>
          <p:nvPr/>
        </p:nvSpPr>
        <p:spPr>
          <a:xfrm>
            <a:off x="1141413" y="1901169"/>
            <a:ext cx="9905998" cy="2958365"/>
          </a:xfrm>
          <a:prstGeom prst="rect">
            <a:avLst/>
          </a:prstGeom>
        </p:spPr>
        <p:txBody>
          <a:bodyPr vert="horz" lIns="91440" tIns="45720" rIns="91440" bIns="45720" rtlCol="0" anchor="ctr">
            <a:normAutofit fontScale="92500" lnSpcReduction="20000"/>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None/>
            </a:pPr>
            <a:r>
              <a:rPr lang="it-IT" dirty="0">
                <a:effectLst>
                  <a:glow rad="38100">
                    <a:schemeClr val="bg1">
                      <a:lumMod val="50000"/>
                      <a:lumOff val="50000"/>
                      <a:alpha val="20000"/>
                    </a:schemeClr>
                  </a:glow>
                  <a:outerShdw blurRad="38100" dist="38100" dir="2700000" algn="tl">
                    <a:srgbClr val="000000">
                      <a:alpha val="43137"/>
                    </a:srgbClr>
                  </a:outerShdw>
                </a:effectLst>
              </a:rPr>
              <a:t>Il clock che esce dal </a:t>
            </a:r>
            <a:r>
              <a:rPr lang="it-IT" dirty="0" err="1">
                <a:effectLst>
                  <a:glow rad="38100">
                    <a:schemeClr val="bg1">
                      <a:lumMod val="50000"/>
                      <a:lumOff val="50000"/>
                      <a:alpha val="20000"/>
                    </a:schemeClr>
                  </a:glow>
                  <a:outerShdw blurRad="38100" dist="38100" dir="2700000" algn="tl">
                    <a:srgbClr val="000000">
                      <a:alpha val="43137"/>
                    </a:srgbClr>
                  </a:outerShdw>
                </a:effectLst>
              </a:rPr>
              <a:t>Ripple</a:t>
            </a:r>
            <a:r>
              <a:rPr lang="it-IT" dirty="0">
                <a:effectLst>
                  <a:glow rad="38100">
                    <a:schemeClr val="bg1">
                      <a:lumMod val="50000"/>
                      <a:lumOff val="50000"/>
                      <a:alpha val="20000"/>
                    </a:schemeClr>
                  </a:glow>
                  <a:outerShdw blurRad="38100" dist="38100" dir="2700000" algn="tl">
                    <a:srgbClr val="000000">
                      <a:alpha val="43137"/>
                    </a:srgbClr>
                  </a:outerShdw>
                </a:effectLst>
              </a:rPr>
              <a:t> Counter è collegato all’ingresso del clock di uno </a:t>
            </a:r>
            <a:r>
              <a:rPr lang="it-IT" dirty="0" err="1">
                <a:solidFill>
                  <a:schemeClr val="tx1"/>
                </a:solidFill>
                <a:effectLst>
                  <a:glow rad="38100">
                    <a:schemeClr val="bg1">
                      <a:lumMod val="50000"/>
                      <a:lumOff val="50000"/>
                      <a:alpha val="20000"/>
                    </a:schemeClr>
                  </a:glow>
                  <a:outerShdw blurRad="38100" dist="38100" dir="2700000" algn="tl">
                    <a:srgbClr val="000000">
                      <a:alpha val="43137"/>
                    </a:srgbClr>
                  </a:outerShdw>
                </a:effectLst>
              </a:rPr>
              <a:t>Shitf</a:t>
            </a:r>
            <a:r>
              <a:rPr lang="it-IT" dirty="0">
                <a:solidFill>
                  <a:schemeClr val="tx1"/>
                </a:solidFill>
                <a:effectLst>
                  <a:glow rad="38100">
                    <a:schemeClr val="bg1">
                      <a:lumMod val="50000"/>
                      <a:lumOff val="50000"/>
                      <a:alpha val="20000"/>
                    </a:schemeClr>
                  </a:glow>
                  <a:outerShdw blurRad="38100" dist="38100" dir="2700000" algn="tl">
                    <a:srgbClr val="000000">
                      <a:alpha val="43137"/>
                    </a:srgbClr>
                  </a:outerShdw>
                </a:effectLst>
              </a:rPr>
              <a:t> </a:t>
            </a:r>
            <a:r>
              <a:rPr lang="it-IT" dirty="0" err="1">
                <a:solidFill>
                  <a:schemeClr val="tx1"/>
                </a:solidFill>
                <a:effectLst>
                  <a:glow rad="38100">
                    <a:schemeClr val="bg1">
                      <a:lumMod val="50000"/>
                      <a:lumOff val="50000"/>
                      <a:alpha val="20000"/>
                    </a:schemeClr>
                  </a:glow>
                  <a:outerShdw blurRad="38100" dist="38100" dir="2700000" algn="tl">
                    <a:srgbClr val="000000">
                      <a:alpha val="43137"/>
                    </a:srgbClr>
                  </a:outerShdw>
                </a:effectLst>
              </a:rPr>
              <a:t>Register</a:t>
            </a:r>
            <a:r>
              <a:rPr lang="it-IT" dirty="0">
                <a:solidFill>
                  <a:schemeClr val="tx1"/>
                </a:solidFill>
                <a:effectLst>
                  <a:glow rad="38100">
                    <a:schemeClr val="bg1">
                      <a:lumMod val="50000"/>
                      <a:lumOff val="50000"/>
                      <a:alpha val="20000"/>
                    </a:schemeClr>
                  </a:glow>
                  <a:outerShdw blurRad="38100" dist="38100" dir="2700000" algn="tl">
                    <a:srgbClr val="000000">
                      <a:alpha val="43137"/>
                    </a:srgbClr>
                  </a:outerShdw>
                </a:effectLst>
              </a:rPr>
              <a:t> a sei bit. Per semplicità nella figura è stato omesso il </a:t>
            </a:r>
            <a:r>
              <a:rPr lang="it-IT" u="sng" dirty="0">
                <a:solidFill>
                  <a:schemeClr val="tx1"/>
                </a:solidFill>
                <a:effectLst>
                  <a:glow rad="38100">
                    <a:schemeClr val="bg1">
                      <a:lumMod val="50000"/>
                      <a:lumOff val="50000"/>
                      <a:alpha val="20000"/>
                    </a:schemeClr>
                  </a:glow>
                  <a:outerShdw blurRad="38100" dist="38100" dir="2700000" algn="tl">
                    <a:srgbClr val="000000">
                      <a:alpha val="43137"/>
                    </a:srgbClr>
                  </a:outerShdw>
                </a:effectLst>
              </a:rPr>
              <a:t>reset asincrono</a:t>
            </a:r>
            <a:r>
              <a:rPr lang="it-IT" dirty="0">
                <a:solidFill>
                  <a:schemeClr val="tx1"/>
                </a:solidFill>
                <a:effectLst>
                  <a:glow rad="38100">
                    <a:schemeClr val="bg1">
                      <a:lumMod val="50000"/>
                      <a:lumOff val="50000"/>
                      <a:alpha val="20000"/>
                    </a:schemeClr>
                  </a:glow>
                  <a:outerShdw blurRad="38100" dist="38100" dir="2700000" algn="tl">
                    <a:srgbClr val="000000">
                      <a:alpha val="43137"/>
                    </a:srgbClr>
                  </a:outerShdw>
                </a:effectLst>
              </a:rPr>
              <a:t> collegato in parallelo a tutti i Flip-Flop. Suddetto reset proviene da uno dei due pulsanti della </a:t>
            </a:r>
            <a:r>
              <a:rPr lang="it-IT" dirty="0" err="1">
                <a:solidFill>
                  <a:schemeClr val="tx1"/>
                </a:solidFill>
                <a:effectLst>
                  <a:glow rad="38100">
                    <a:schemeClr val="bg1">
                      <a:lumMod val="50000"/>
                      <a:lumOff val="50000"/>
                      <a:alpha val="20000"/>
                    </a:schemeClr>
                  </a:glow>
                  <a:outerShdw blurRad="38100" dist="38100" dir="2700000" algn="tl">
                    <a:srgbClr val="000000">
                      <a:alpha val="43137"/>
                    </a:srgbClr>
                  </a:outerShdw>
                </a:effectLst>
              </a:rPr>
              <a:t>TangNano</a:t>
            </a:r>
            <a:r>
              <a:rPr lang="it-IT" dirty="0">
                <a:solidFill>
                  <a:schemeClr val="tx1"/>
                </a:solidFill>
                <a:effectLst>
                  <a:glow rad="38100">
                    <a:schemeClr val="bg1">
                      <a:lumMod val="50000"/>
                      <a:lumOff val="50000"/>
                      <a:alpha val="20000"/>
                    </a:schemeClr>
                  </a:glow>
                  <a:outerShdw blurRad="38100" dist="38100" dir="2700000" algn="tl">
                    <a:srgbClr val="000000">
                      <a:alpha val="43137"/>
                    </a:srgbClr>
                  </a:outerShdw>
                </a:effectLst>
              </a:rPr>
              <a:t> 9K, opportunamente invertito perché è normalmente attivo basso (da zero quando premuto).</a:t>
            </a:r>
          </a:p>
          <a:p>
            <a:pPr marL="0" indent="0">
              <a:buFont typeface="Arial"/>
              <a:buNone/>
            </a:pPr>
            <a:r>
              <a:rPr lang="it-IT" dirty="0"/>
              <a:t>L’ingresso seriale del registro a scorrimento è collegato al </a:t>
            </a:r>
            <a:r>
              <a:rPr lang="it-IT" dirty="0">
                <a:solidFill>
                  <a:srgbClr val="FFFF00"/>
                </a:solidFill>
              </a:rPr>
              <a:t>secondo pulsante, </a:t>
            </a:r>
            <a:r>
              <a:rPr lang="it-IT" dirty="0"/>
              <a:t>presente sulla scheda,</a:t>
            </a:r>
            <a:r>
              <a:rPr lang="it-IT" dirty="0">
                <a:solidFill>
                  <a:schemeClr val="tx1"/>
                </a:solidFill>
              </a:rPr>
              <a:t> anch’esso invertito</a:t>
            </a:r>
            <a:r>
              <a:rPr lang="it-IT" dirty="0"/>
              <a:t>.</a:t>
            </a:r>
          </a:p>
          <a:p>
            <a:pPr marL="0" indent="0">
              <a:buFont typeface="Arial"/>
              <a:buNone/>
            </a:pPr>
            <a:r>
              <a:rPr lang="it-IT" dirty="0"/>
              <a:t>Ad ogni fronte di salita del clock, </a:t>
            </a:r>
            <a:br>
              <a:rPr lang="it-IT" dirty="0"/>
            </a:br>
            <a:r>
              <a:rPr lang="it-IT" dirty="0"/>
              <a:t>lo </a:t>
            </a:r>
            <a:r>
              <a:rPr lang="it-IT" dirty="0" err="1"/>
              <a:t>Shit</a:t>
            </a:r>
            <a:r>
              <a:rPr lang="it-IT" dirty="0"/>
              <a:t> </a:t>
            </a:r>
            <a:r>
              <a:rPr lang="it-IT" dirty="0" err="1"/>
              <a:t>Register</a:t>
            </a:r>
            <a:r>
              <a:rPr lang="it-IT" dirty="0"/>
              <a:t> copia lo stato </a:t>
            </a:r>
            <a:br>
              <a:rPr lang="it-IT" dirty="0"/>
            </a:br>
            <a:r>
              <a:rPr lang="it-IT" dirty="0"/>
              <a:t>del pulsante collegato al suo </a:t>
            </a:r>
            <a:br>
              <a:rPr lang="it-IT" dirty="0"/>
            </a:br>
            <a:r>
              <a:rPr lang="it-IT" dirty="0"/>
              <a:t>ingresso e lo trasferisce alle uscite.</a:t>
            </a:r>
          </a:p>
        </p:txBody>
      </p:sp>
    </p:spTree>
    <p:extLst>
      <p:ext uri="{BB962C8B-B14F-4D97-AF65-F5344CB8AC3E}">
        <p14:creationId xmlns:p14="http://schemas.microsoft.com/office/powerpoint/2010/main" val="33734979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45075A4-F4AF-4690-54A3-9937BB4FB763}"/>
              </a:ext>
            </a:extLst>
          </p:cNvPr>
          <p:cNvSpPr>
            <a:spLocks noGrp="1"/>
          </p:cNvSpPr>
          <p:nvPr>
            <p:ph type="title"/>
          </p:nvPr>
        </p:nvSpPr>
        <p:spPr>
          <a:xfrm>
            <a:off x="1141413" y="609600"/>
            <a:ext cx="9905998" cy="898689"/>
          </a:xfrm>
        </p:spPr>
        <p:txBody>
          <a:bodyPr/>
          <a:lstStyle/>
          <a:p>
            <a:r>
              <a:rPr lang="it-IT" dirty="0"/>
              <a:t>UN ESEMPIO PRATICO COL KIT Di SVILUPPO (5)</a:t>
            </a:r>
          </a:p>
        </p:txBody>
      </p:sp>
      <p:sp>
        <p:nvSpPr>
          <p:cNvPr id="3" name="Segnaposto contenuto 2">
            <a:extLst>
              <a:ext uri="{FF2B5EF4-FFF2-40B4-BE49-F238E27FC236}">
                <a16:creationId xmlns:a16="http://schemas.microsoft.com/office/drawing/2014/main" id="{A958D0B9-6425-6A1E-E86C-649F52E10C46}"/>
              </a:ext>
            </a:extLst>
          </p:cNvPr>
          <p:cNvSpPr>
            <a:spLocks noGrp="1"/>
          </p:cNvSpPr>
          <p:nvPr>
            <p:ph idx="1"/>
          </p:nvPr>
        </p:nvSpPr>
        <p:spPr>
          <a:xfrm>
            <a:off x="1141413" y="1884469"/>
            <a:ext cx="8193418" cy="2623924"/>
          </a:xfrm>
        </p:spPr>
        <p:txBody>
          <a:bodyPr>
            <a:normAutofit fontScale="85000" lnSpcReduction="20000"/>
          </a:bodyPr>
          <a:lstStyle/>
          <a:p>
            <a:pPr marL="0" indent="0">
              <a:buNone/>
            </a:pPr>
            <a:r>
              <a:rPr lang="it-IT" dirty="0"/>
              <a:t>Alle uscite dello Shift </a:t>
            </a:r>
            <a:r>
              <a:rPr lang="it-IT" dirty="0" err="1"/>
              <a:t>Register</a:t>
            </a:r>
            <a:r>
              <a:rPr lang="it-IT" dirty="0"/>
              <a:t> a sei bit sono collegati i </a:t>
            </a:r>
            <a:r>
              <a:rPr lang="it-IT" dirty="0">
                <a:solidFill>
                  <a:srgbClr val="FFFF00"/>
                </a:solidFill>
              </a:rPr>
              <a:t>led presenti sulla scheda</a:t>
            </a:r>
            <a:r>
              <a:rPr lang="it-IT" dirty="0"/>
              <a:t>.</a:t>
            </a:r>
          </a:p>
          <a:p>
            <a:pPr marL="0" indent="0">
              <a:buNone/>
            </a:pPr>
            <a:r>
              <a:rPr lang="it-IT" dirty="0"/>
              <a:t>Si può notare che i segnali per accendere i led sono prelevati dalle uscite negate dei Flip-Flop dello Shift </a:t>
            </a:r>
            <a:r>
              <a:rPr lang="it-IT" dirty="0" err="1"/>
              <a:t>Register</a:t>
            </a:r>
            <a:r>
              <a:rPr lang="it-IT" dirty="0"/>
              <a:t>. Ciò è reso necessario per il fatto che, sulla scheda Tang Nano 9K, i led sono tutti «ancorati» al positivo dal lato dell’anodo (i led incorporano anche una resistenza di limitazione della corrente).</a:t>
            </a:r>
          </a:p>
          <a:p>
            <a:pPr marL="0" indent="0">
              <a:buNone/>
            </a:pPr>
            <a:r>
              <a:rPr lang="it-IT" dirty="0"/>
              <a:t>Ciò significa che per accendere un led bisogna portare a massa il rispettivo catodo, il che equivale a emettere </a:t>
            </a:r>
            <a:br>
              <a:rPr lang="it-IT" dirty="0"/>
            </a:br>
            <a:r>
              <a:rPr lang="it-IT" dirty="0"/>
              <a:t>uno livello zero sull’uscita.</a:t>
            </a:r>
          </a:p>
        </p:txBody>
      </p:sp>
      <p:pic>
        <p:nvPicPr>
          <p:cNvPr id="5" name="Elemento grafico 4">
            <a:extLst>
              <a:ext uri="{FF2B5EF4-FFF2-40B4-BE49-F238E27FC236}">
                <a16:creationId xmlns:a16="http://schemas.microsoft.com/office/drawing/2014/main" id="{6B081076-CAAE-DB21-7829-C7893718654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334831" y="2083247"/>
            <a:ext cx="2313912" cy="1814594"/>
          </a:xfrm>
          <a:prstGeom prst="rect">
            <a:avLst/>
          </a:prstGeom>
        </p:spPr>
      </p:pic>
      <p:pic>
        <p:nvPicPr>
          <p:cNvPr id="4" name="Immagine 3">
            <a:extLst>
              <a:ext uri="{FF2B5EF4-FFF2-40B4-BE49-F238E27FC236}">
                <a16:creationId xmlns:a16="http://schemas.microsoft.com/office/drawing/2014/main" id="{50CDDEB7-2A88-7385-EB05-798EA820D157}"/>
              </a:ext>
            </a:extLst>
          </p:cNvPr>
          <p:cNvPicPr>
            <a:picLocks noChangeAspect="1"/>
          </p:cNvPicPr>
          <p:nvPr/>
        </p:nvPicPr>
        <p:blipFill>
          <a:blip r:embed="rId4"/>
          <a:stretch>
            <a:fillRect/>
          </a:stretch>
        </p:blipFill>
        <p:spPr>
          <a:xfrm>
            <a:off x="1141413" y="4859929"/>
            <a:ext cx="4133850" cy="1476375"/>
          </a:xfrm>
          <a:prstGeom prst="rect">
            <a:avLst/>
          </a:prstGeom>
        </p:spPr>
      </p:pic>
      <p:sp>
        <p:nvSpPr>
          <p:cNvPr id="6" name="Rettangolo 5">
            <a:extLst>
              <a:ext uri="{FF2B5EF4-FFF2-40B4-BE49-F238E27FC236}">
                <a16:creationId xmlns:a16="http://schemas.microsoft.com/office/drawing/2014/main" id="{D956673D-D8F0-D891-69A7-9C81FFEFBB57}"/>
              </a:ext>
            </a:extLst>
          </p:cNvPr>
          <p:cNvSpPr/>
          <p:nvPr/>
        </p:nvSpPr>
        <p:spPr>
          <a:xfrm>
            <a:off x="2160351" y="5375479"/>
            <a:ext cx="240943" cy="532342"/>
          </a:xfrm>
          <a:prstGeom prst="rect">
            <a:avLst/>
          </a:prstGeom>
          <a:solidFill>
            <a:srgbClr val="FFFF00">
              <a:alpha val="20000"/>
            </a:srgbClr>
          </a:solid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9" name="Elemento grafico 8">
            <a:extLst>
              <a:ext uri="{FF2B5EF4-FFF2-40B4-BE49-F238E27FC236}">
                <a16:creationId xmlns:a16="http://schemas.microsoft.com/office/drawing/2014/main" id="{71598D93-6534-9050-E8E2-74845B2863F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07833" y="4079019"/>
            <a:ext cx="6240909" cy="2417114"/>
          </a:xfrm>
          <a:prstGeom prst="rect">
            <a:avLst/>
          </a:prstGeom>
        </p:spPr>
      </p:pic>
    </p:spTree>
    <p:extLst>
      <p:ext uri="{BB962C8B-B14F-4D97-AF65-F5344CB8AC3E}">
        <p14:creationId xmlns:p14="http://schemas.microsoft.com/office/powerpoint/2010/main" val="1808348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1">
            <a:extLst>
              <a:ext uri="{FF2B5EF4-FFF2-40B4-BE49-F238E27FC236}">
                <a16:creationId xmlns:a16="http://schemas.microsoft.com/office/drawing/2014/main" id="{280F8197-366A-AAC9-0591-28563627628E}"/>
              </a:ext>
            </a:extLst>
          </p:cNvPr>
          <p:cNvSpPr txBox="1">
            <a:spLocks/>
          </p:cNvSpPr>
          <p:nvPr/>
        </p:nvSpPr>
        <p:spPr>
          <a:xfrm>
            <a:off x="1141413" y="618518"/>
            <a:ext cx="9905998" cy="571072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it-IT" sz="8000" dirty="0"/>
              <a:t>HDL in pratica:</a:t>
            </a:r>
          </a:p>
          <a:p>
            <a:pPr algn="ctr"/>
            <a:r>
              <a:rPr lang="it-IT" sz="8000" dirty="0"/>
              <a:t>Un ESEMPIO DI TRASMISSIONE DATI</a:t>
            </a:r>
          </a:p>
        </p:txBody>
      </p:sp>
    </p:spTree>
    <p:extLst>
      <p:ext uri="{BB962C8B-B14F-4D97-AF65-F5344CB8AC3E}">
        <p14:creationId xmlns:p14="http://schemas.microsoft.com/office/powerpoint/2010/main" val="3074327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40E7D58-5EC2-6357-F111-0DC5C6FA3597}"/>
              </a:ext>
            </a:extLst>
          </p:cNvPr>
          <p:cNvSpPr>
            <a:spLocks noGrp="1"/>
          </p:cNvSpPr>
          <p:nvPr>
            <p:ph type="title"/>
          </p:nvPr>
        </p:nvSpPr>
        <p:spPr>
          <a:xfrm>
            <a:off x="1141413" y="609600"/>
            <a:ext cx="9905998" cy="1417940"/>
          </a:xfrm>
        </p:spPr>
        <p:txBody>
          <a:bodyPr>
            <a:normAutofit/>
          </a:bodyPr>
          <a:lstStyle/>
          <a:p>
            <a:r>
              <a:rPr lang="it-IT" dirty="0"/>
              <a:t>La TRASMISSIONE DEI DATI</a:t>
            </a:r>
          </a:p>
        </p:txBody>
      </p:sp>
      <p:sp>
        <p:nvSpPr>
          <p:cNvPr id="3" name="Segnaposto contenuto 2">
            <a:extLst>
              <a:ext uri="{FF2B5EF4-FFF2-40B4-BE49-F238E27FC236}">
                <a16:creationId xmlns:a16="http://schemas.microsoft.com/office/drawing/2014/main" id="{B6334C6B-9655-8E16-CE38-6E12AF0D115E}"/>
              </a:ext>
            </a:extLst>
          </p:cNvPr>
          <p:cNvSpPr>
            <a:spLocks noGrp="1"/>
          </p:cNvSpPr>
          <p:nvPr>
            <p:ph idx="1"/>
          </p:nvPr>
        </p:nvSpPr>
        <p:spPr>
          <a:xfrm>
            <a:off x="1141412" y="1842259"/>
            <a:ext cx="7223359" cy="4406141"/>
          </a:xfrm>
        </p:spPr>
        <p:txBody>
          <a:bodyPr>
            <a:normAutofit lnSpcReduction="10000"/>
          </a:bodyPr>
          <a:lstStyle/>
          <a:p>
            <a:pPr marL="0" indent="0">
              <a:buNone/>
            </a:pPr>
            <a:r>
              <a:rPr lang="it-IT" b="1" dirty="0"/>
              <a:t>Trasmissione dati Parallela:</a:t>
            </a:r>
          </a:p>
          <a:p>
            <a:pPr marL="457200" lvl="1" indent="0">
              <a:buNone/>
            </a:pPr>
            <a:r>
              <a:rPr lang="it-IT" dirty="0"/>
              <a:t>In generale è sincrona con la cadenza dettata da un clock. Usa </a:t>
            </a:r>
            <a:r>
              <a:rPr lang="it-IT" i="1" dirty="0"/>
              <a:t>n</a:t>
            </a:r>
            <a:r>
              <a:rPr lang="it-IT" dirty="0"/>
              <a:t> fili per inviare i bit di una parola tutti  quanti contemporaneamente. Ogni bit ha il proprio filo e tutti i bit sono trasmessi in un singolo colpo clock. Ulteriori collega-menti potrebbero essere presenti per gestire il flusso (cioè il </a:t>
            </a:r>
            <a:r>
              <a:rPr lang="it-IT" dirty="0" err="1"/>
              <a:t>cosiddeto</a:t>
            </a:r>
            <a:r>
              <a:rPr lang="it-IT" dirty="0"/>
              <a:t> </a:t>
            </a:r>
            <a:r>
              <a:rPr lang="it-IT" dirty="0" err="1"/>
              <a:t>handshake</a:t>
            </a:r>
            <a:r>
              <a:rPr lang="it-IT" dirty="0"/>
              <a:t>) fra trasmettitore e ricevitore.</a:t>
            </a:r>
          </a:p>
          <a:p>
            <a:pPr marL="0" indent="0">
              <a:buNone/>
            </a:pPr>
            <a:r>
              <a:rPr lang="it-IT" b="1" dirty="0"/>
              <a:t>Trasmissione dati Seriale:</a:t>
            </a:r>
          </a:p>
          <a:p>
            <a:pPr marL="457200" lvl="1" indent="0">
              <a:buNone/>
            </a:pPr>
            <a:r>
              <a:rPr lang="it-IT" dirty="0"/>
              <a:t>Nella trasmissione seriale un bit segue temporalmente l'altro. Quindi serve un solo filo per trasmettere i dati. </a:t>
            </a:r>
            <a:br>
              <a:rPr lang="it-IT" dirty="0"/>
            </a:br>
            <a:r>
              <a:rPr lang="it-IT" dirty="0"/>
              <a:t>Altri collegamenti aggiuntivi possono essere richiesti </a:t>
            </a:r>
            <a:br>
              <a:rPr lang="it-IT" dirty="0"/>
            </a:br>
            <a:r>
              <a:rPr lang="it-IT" dirty="0"/>
              <a:t>per gestire il flusso (</a:t>
            </a:r>
            <a:r>
              <a:rPr lang="it-IT" dirty="0" err="1"/>
              <a:t>handshake</a:t>
            </a:r>
            <a:r>
              <a:rPr lang="it-IT" dirty="0"/>
              <a:t>), ma non sempre presenti.</a:t>
            </a:r>
            <a:br>
              <a:rPr lang="it-IT" dirty="0"/>
            </a:br>
            <a:br>
              <a:rPr lang="it-IT" dirty="0"/>
            </a:br>
            <a:r>
              <a:rPr lang="it-IT" dirty="0"/>
              <a:t>La trasmissione seriale dei dati può essere suddivisa in tre macro-categorie: sincrona, asincrona e isocrona.</a:t>
            </a:r>
          </a:p>
        </p:txBody>
      </p:sp>
      <p:pic>
        <p:nvPicPr>
          <p:cNvPr id="7" name="Elemento grafico 6">
            <a:extLst>
              <a:ext uri="{FF2B5EF4-FFF2-40B4-BE49-F238E27FC236}">
                <a16:creationId xmlns:a16="http://schemas.microsoft.com/office/drawing/2014/main" id="{3BAA5E94-F48A-18DF-8E6B-1D3F21DB8C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26974" y="1842259"/>
            <a:ext cx="3257550" cy="4048125"/>
          </a:xfrm>
          <a:prstGeom prst="rect">
            <a:avLst/>
          </a:prstGeom>
        </p:spPr>
      </p:pic>
    </p:spTree>
    <p:extLst>
      <p:ext uri="{BB962C8B-B14F-4D97-AF65-F5344CB8AC3E}">
        <p14:creationId xmlns:p14="http://schemas.microsoft.com/office/powerpoint/2010/main" val="28993464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B6334C6B-9655-8E16-CE38-6E12AF0D115E}"/>
              </a:ext>
            </a:extLst>
          </p:cNvPr>
          <p:cNvSpPr>
            <a:spLocks noGrp="1"/>
          </p:cNvSpPr>
          <p:nvPr>
            <p:ph idx="1"/>
          </p:nvPr>
        </p:nvSpPr>
        <p:spPr>
          <a:xfrm>
            <a:off x="1141412" y="1852619"/>
            <a:ext cx="7285561" cy="4627694"/>
          </a:xfrm>
        </p:spPr>
        <p:txBody>
          <a:bodyPr>
            <a:normAutofit fontScale="85000" lnSpcReduction="10000"/>
          </a:bodyPr>
          <a:lstStyle/>
          <a:p>
            <a:pPr marL="0" indent="0">
              <a:buNone/>
            </a:pPr>
            <a:r>
              <a:rPr lang="it-IT" b="1" dirty="0"/>
              <a:t>Trasmissione sincrona:</a:t>
            </a:r>
          </a:p>
          <a:p>
            <a:pPr marL="457200" lvl="1" indent="0">
              <a:buNone/>
            </a:pPr>
            <a:r>
              <a:rPr lang="it-IT" dirty="0"/>
              <a:t>Nella trasmissione sincrona, il flusso di bit viene combinato in strutture più lunghe che possono contenere più parole (ad esempio parole da otto bit, cioè i byte). Ogni parola è inviata senza intervalli tra una e la successiva. Il ricevitore dovrà decodificare il flusso di bit e riconoscere e l’inizio e la fine delle parole. Vale a dire che, dal momento che i dati sono trasmessi come una sequenza ininterrotta di 1 e di 0, sarà il ricevitore a ricomporre le informazioni partendo da quella stringa di bit.</a:t>
            </a:r>
          </a:p>
          <a:p>
            <a:pPr marL="457200" lvl="1" indent="0">
              <a:buNone/>
            </a:pPr>
            <a:r>
              <a:rPr lang="it-IT" dirty="0"/>
              <a:t>Si chiama trasmissione sincrona perché le informazioni sono sempre accompagnate da una cadenza precisa (clock), che può arrivare con  un collegamento aggiuntivo o che è incorporata nel flusso dei dati con l’aiuto di particolari codifiche. Le interfacce hardware quali SPI o I2C hanno un clock dedicato su un filo separato. Protocolli come il Manchester, richiedendo però il doppio della banda necessaria, possono incorporare la cadenza direttamente nel segnale, richiedendo così solo un unico collegamento.</a:t>
            </a:r>
          </a:p>
          <a:p>
            <a:pPr marL="457200" lvl="1" indent="0">
              <a:buNone/>
            </a:pPr>
            <a:r>
              <a:rPr lang="it-IT" dirty="0"/>
              <a:t>La trasmissione seriale sincrona permette di ottenere velocità di trasferimento solitamente anche molto elevate.</a:t>
            </a:r>
          </a:p>
          <a:p>
            <a:pPr marL="457200" lvl="1" indent="0">
              <a:buNone/>
            </a:pPr>
            <a:endParaRPr lang="it-IT" dirty="0"/>
          </a:p>
          <a:p>
            <a:pPr marL="457200" lvl="1" indent="0">
              <a:buNone/>
            </a:pPr>
            <a:endParaRPr lang="it-IT" dirty="0"/>
          </a:p>
        </p:txBody>
      </p:sp>
      <p:pic>
        <p:nvPicPr>
          <p:cNvPr id="8" name="Elemento grafico 7">
            <a:extLst>
              <a:ext uri="{FF2B5EF4-FFF2-40B4-BE49-F238E27FC236}">
                <a16:creationId xmlns:a16="http://schemas.microsoft.com/office/drawing/2014/main" id="{990C6399-6116-3DEF-A9EE-6654946ABF7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26974" y="1842258"/>
            <a:ext cx="3257550" cy="4048125"/>
          </a:xfrm>
          <a:prstGeom prst="rect">
            <a:avLst/>
          </a:prstGeom>
        </p:spPr>
      </p:pic>
      <p:sp>
        <p:nvSpPr>
          <p:cNvPr id="11" name="Titolo 1">
            <a:extLst>
              <a:ext uri="{FF2B5EF4-FFF2-40B4-BE49-F238E27FC236}">
                <a16:creationId xmlns:a16="http://schemas.microsoft.com/office/drawing/2014/main" id="{F84870FE-BCDC-7941-94C7-34C6F0EDD7A5}"/>
              </a:ext>
            </a:extLst>
          </p:cNvPr>
          <p:cNvSpPr txBox="1">
            <a:spLocks/>
          </p:cNvSpPr>
          <p:nvPr/>
        </p:nvSpPr>
        <p:spPr>
          <a:xfrm>
            <a:off x="1141413" y="609600"/>
            <a:ext cx="9905998" cy="861392"/>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it-IT" dirty="0"/>
              <a:t>MODI Di TRASMISSIONE DATI SERIALI (1)</a:t>
            </a:r>
          </a:p>
        </p:txBody>
      </p:sp>
    </p:spTree>
    <p:extLst>
      <p:ext uri="{BB962C8B-B14F-4D97-AF65-F5344CB8AC3E}">
        <p14:creationId xmlns:p14="http://schemas.microsoft.com/office/powerpoint/2010/main" val="30706352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40E7D58-5EC2-6357-F111-0DC5C6FA3597}"/>
              </a:ext>
            </a:extLst>
          </p:cNvPr>
          <p:cNvSpPr>
            <a:spLocks noGrp="1"/>
          </p:cNvSpPr>
          <p:nvPr>
            <p:ph type="title"/>
          </p:nvPr>
        </p:nvSpPr>
        <p:spPr>
          <a:xfrm>
            <a:off x="1141413" y="609600"/>
            <a:ext cx="9905998" cy="861392"/>
          </a:xfrm>
        </p:spPr>
        <p:txBody>
          <a:bodyPr>
            <a:normAutofit/>
          </a:bodyPr>
          <a:lstStyle/>
          <a:p>
            <a:r>
              <a:rPr lang="it-IT" dirty="0"/>
              <a:t>MODI Di TRASMISSIONE DATI SERIALI (2)</a:t>
            </a:r>
          </a:p>
        </p:txBody>
      </p:sp>
      <p:sp>
        <p:nvSpPr>
          <p:cNvPr id="3" name="Segnaposto contenuto 2">
            <a:extLst>
              <a:ext uri="{FF2B5EF4-FFF2-40B4-BE49-F238E27FC236}">
                <a16:creationId xmlns:a16="http://schemas.microsoft.com/office/drawing/2014/main" id="{B6334C6B-9655-8E16-CE38-6E12AF0D115E}"/>
              </a:ext>
            </a:extLst>
          </p:cNvPr>
          <p:cNvSpPr>
            <a:spLocks noGrp="1"/>
          </p:cNvSpPr>
          <p:nvPr>
            <p:ph idx="1"/>
          </p:nvPr>
        </p:nvSpPr>
        <p:spPr>
          <a:xfrm>
            <a:off x="1141412" y="1470992"/>
            <a:ext cx="7285561" cy="4898003"/>
          </a:xfrm>
        </p:spPr>
        <p:txBody>
          <a:bodyPr>
            <a:normAutofit fontScale="85000" lnSpcReduction="10000"/>
          </a:bodyPr>
          <a:lstStyle/>
          <a:p>
            <a:pPr marL="0" indent="0">
              <a:buNone/>
            </a:pPr>
            <a:r>
              <a:rPr lang="it-IT" b="1" dirty="0"/>
              <a:t>Trasmissione asincrona:</a:t>
            </a:r>
          </a:p>
          <a:p>
            <a:pPr marL="457200" lvl="1" indent="0">
              <a:buNone/>
            </a:pPr>
            <a:r>
              <a:rPr lang="it-IT" dirty="0"/>
              <a:t>La trasmissione asincrona è così chiamata perché le informazioni sono trasmesse secondo un protocollo concordato senza un preciso riferimento di tempo (clock).</a:t>
            </a:r>
          </a:p>
          <a:p>
            <a:pPr marL="457200" lvl="1" indent="0">
              <a:buNone/>
            </a:pPr>
            <a:r>
              <a:rPr lang="it-IT" dirty="0"/>
              <a:t>Di solito i bit in sequenza sono raggruppati per formare le parole (byte). Ogni parola è inviata come gruppo di bit a lunghezza fissa e ogni gruppo è gestito in modo indipendente ed inviato solo quando è completamente disponibile. Senza una sincronizzazione, il ricevente non può basarsi su istanti di tempo precisi per prevedere quando arriverà il gruppo successivo. </a:t>
            </a:r>
          </a:p>
          <a:p>
            <a:pPr marL="457200" lvl="1" indent="0">
              <a:buNone/>
            </a:pPr>
            <a:r>
              <a:rPr lang="it-IT" dirty="0"/>
              <a:t>Per avvisare il ricevente dell'arrivo di un nuovo gruppo, viene aggiunto un bit in più all'inizio di ogni parola (byte). Questo bit, solitamente uno 0, è chiamato bit di start. Per far sapere al ricevitore che la parola è finita, sono aggiunti uno o più bit posti ad 1 alla fine della parola stessa. Questi bit sono chiamati bit di stop. Con questo metodo, la dimensione di ciascuna parola viene aumentata di almeno due bit, cioè da quello di start e dai bit di stop. Inoltre, la trasmissione di una parola può essere seguita da un intervallo di durata variabile (gap). </a:t>
            </a:r>
          </a:p>
          <a:p>
            <a:pPr marL="457200" lvl="1" indent="0">
              <a:buNone/>
            </a:pPr>
            <a:r>
              <a:rPr lang="it-IT" dirty="0"/>
              <a:t>La trasmissione asincrona, per sua natura, limita la velocità a qualche centinaio di KB al secondo.</a:t>
            </a:r>
          </a:p>
        </p:txBody>
      </p:sp>
      <p:pic>
        <p:nvPicPr>
          <p:cNvPr id="6" name="Elemento grafico 5">
            <a:extLst>
              <a:ext uri="{FF2B5EF4-FFF2-40B4-BE49-F238E27FC236}">
                <a16:creationId xmlns:a16="http://schemas.microsoft.com/office/drawing/2014/main" id="{36B8DEC1-C3CB-9098-F8E6-DFE28054A52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26974" y="1842259"/>
            <a:ext cx="3257550" cy="4048125"/>
          </a:xfrm>
          <a:prstGeom prst="rect">
            <a:avLst/>
          </a:prstGeom>
        </p:spPr>
      </p:pic>
    </p:spTree>
    <p:extLst>
      <p:ext uri="{BB962C8B-B14F-4D97-AF65-F5344CB8AC3E}">
        <p14:creationId xmlns:p14="http://schemas.microsoft.com/office/powerpoint/2010/main" val="274787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B6334C6B-9655-8E16-CE38-6E12AF0D115E}"/>
              </a:ext>
            </a:extLst>
          </p:cNvPr>
          <p:cNvSpPr>
            <a:spLocks noGrp="1"/>
          </p:cNvSpPr>
          <p:nvPr>
            <p:ph idx="1"/>
          </p:nvPr>
        </p:nvSpPr>
        <p:spPr>
          <a:xfrm>
            <a:off x="1141413" y="2027541"/>
            <a:ext cx="7119992" cy="3991596"/>
          </a:xfrm>
        </p:spPr>
        <p:txBody>
          <a:bodyPr>
            <a:normAutofit fontScale="70000" lnSpcReduction="20000"/>
          </a:bodyPr>
          <a:lstStyle/>
          <a:p>
            <a:pPr marL="0" indent="0">
              <a:buNone/>
            </a:pPr>
            <a:r>
              <a:rPr lang="it-IT" b="1" dirty="0"/>
              <a:t>Trasmissione isocrona:</a:t>
            </a:r>
          </a:p>
          <a:p>
            <a:pPr marL="0" indent="0">
              <a:buNone/>
            </a:pPr>
            <a:r>
              <a:rPr lang="it-IT" dirty="0"/>
              <a:t>Nella trasmissione isocrona è importante che le informazioni siano ricevute poco tempo dopo che queste sono state trasmesse (bassa latenza), e che il trasporto delle informazioni avvenga su canali che supportino velocità di base medio-alte; in genere la velocità del canale deve essere diverse volte più alta dell'informazione effettiva da trasmettere.</a:t>
            </a:r>
          </a:p>
          <a:p>
            <a:pPr marL="0" indent="0">
              <a:buNone/>
            </a:pPr>
            <a:r>
              <a:rPr lang="it-IT" dirty="0"/>
              <a:t>Le applicazioni tipiche della trasmissione isocrona sono le comunicazioni in tempo reale, quali audio, video, dati provenienti da sensori che li generano con cadenza regolare e precisa o per il trasporto dei dati che provengono da </a:t>
            </a:r>
            <a:r>
              <a:rPr lang="it-IT" dirty="0" err="1"/>
              <a:t>edge</a:t>
            </a:r>
            <a:r>
              <a:rPr lang="it-IT" dirty="0"/>
              <a:t>-computing.</a:t>
            </a:r>
          </a:p>
          <a:p>
            <a:pPr marL="0" indent="0">
              <a:buNone/>
            </a:pPr>
            <a:r>
              <a:rPr lang="it-IT" dirty="0"/>
              <a:t>Come accennato, la banda del canale di trasporto deve essere </a:t>
            </a:r>
            <a:r>
              <a:rPr lang="it-IT" i="1" dirty="0"/>
              <a:t>n</a:t>
            </a:r>
            <a:r>
              <a:rPr lang="it-IT" dirty="0"/>
              <a:t> volte (di solito da 4 volte in su) maggiore della banda richiesta dalle informazioni vere e proprie. Le informazioni possono essere anche accumulate temporaneamente (buffering) purché questo non comporti eccessiva latenza. I dati sono poi trasferiti alla velocità più alta possibile al ricevitore.</a:t>
            </a:r>
          </a:p>
          <a:p>
            <a:pPr marL="0" indent="0">
              <a:buNone/>
            </a:pPr>
            <a:r>
              <a:rPr lang="it-IT" dirty="0"/>
              <a:t>Dopo la ricezione e la decodifica, la cadenza della informazioni può essere ricostruita com'era in origine se necessario. Infatti, nelle applicazioni multimediali, per questioni di intellegibilità o di interpretazione, è importante che il flusso esca dal ricevitore alla stessa velocità di com'è entrato nel trasmettitore, seppur con un po' di accettabile ritardo.</a:t>
            </a:r>
          </a:p>
        </p:txBody>
      </p:sp>
      <p:pic>
        <p:nvPicPr>
          <p:cNvPr id="6" name="Elemento grafico 5">
            <a:extLst>
              <a:ext uri="{FF2B5EF4-FFF2-40B4-BE49-F238E27FC236}">
                <a16:creationId xmlns:a16="http://schemas.microsoft.com/office/drawing/2014/main" id="{3A2BE0D7-967E-1B96-5354-32D283E03C9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26974" y="1842259"/>
            <a:ext cx="3257550" cy="4048125"/>
          </a:xfrm>
          <a:prstGeom prst="rect">
            <a:avLst/>
          </a:prstGeom>
        </p:spPr>
      </p:pic>
      <p:sp>
        <p:nvSpPr>
          <p:cNvPr id="7" name="Titolo 1">
            <a:extLst>
              <a:ext uri="{FF2B5EF4-FFF2-40B4-BE49-F238E27FC236}">
                <a16:creationId xmlns:a16="http://schemas.microsoft.com/office/drawing/2014/main" id="{4D02D52F-F73B-2020-2F01-AC204BB029EE}"/>
              </a:ext>
            </a:extLst>
          </p:cNvPr>
          <p:cNvSpPr txBox="1">
            <a:spLocks/>
          </p:cNvSpPr>
          <p:nvPr/>
        </p:nvSpPr>
        <p:spPr>
          <a:xfrm>
            <a:off x="1141413" y="609600"/>
            <a:ext cx="9905998" cy="861392"/>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it-IT" dirty="0"/>
              <a:t>MODI Di TRASMISSIONE DATI SERIALI (3)</a:t>
            </a:r>
          </a:p>
        </p:txBody>
      </p:sp>
    </p:spTree>
    <p:extLst>
      <p:ext uri="{BB962C8B-B14F-4D97-AF65-F5344CB8AC3E}">
        <p14:creationId xmlns:p14="http://schemas.microsoft.com/office/powerpoint/2010/main" val="25969930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1">
            <a:extLst>
              <a:ext uri="{FF2B5EF4-FFF2-40B4-BE49-F238E27FC236}">
                <a16:creationId xmlns:a16="http://schemas.microsoft.com/office/drawing/2014/main" id="{280F8197-366A-AAC9-0591-28563627628E}"/>
              </a:ext>
            </a:extLst>
          </p:cNvPr>
          <p:cNvSpPr txBox="1">
            <a:spLocks/>
          </p:cNvSpPr>
          <p:nvPr/>
        </p:nvSpPr>
        <p:spPr>
          <a:xfrm>
            <a:off x="1141413" y="618518"/>
            <a:ext cx="9905998" cy="571072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it-IT" sz="8000" dirty="0"/>
              <a:t>HDL in pratica:</a:t>
            </a:r>
          </a:p>
          <a:p>
            <a:pPr algn="ctr"/>
            <a:r>
              <a:rPr lang="it-IT" sz="8000" dirty="0" err="1"/>
              <a:t>AFFIDABILItà</a:t>
            </a:r>
            <a:r>
              <a:rPr lang="it-IT" sz="8000" dirty="0"/>
              <a:t> DELLE RETI LOGICHE</a:t>
            </a:r>
          </a:p>
        </p:txBody>
      </p:sp>
    </p:spTree>
    <p:extLst>
      <p:ext uri="{BB962C8B-B14F-4D97-AF65-F5344CB8AC3E}">
        <p14:creationId xmlns:p14="http://schemas.microsoft.com/office/powerpoint/2010/main" val="33153763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23CB538-F320-9276-A98C-E8EE04C8CB17}"/>
              </a:ext>
            </a:extLst>
          </p:cNvPr>
          <p:cNvSpPr>
            <a:spLocks noGrp="1"/>
          </p:cNvSpPr>
          <p:nvPr>
            <p:ph type="title"/>
          </p:nvPr>
        </p:nvSpPr>
        <p:spPr>
          <a:xfrm>
            <a:off x="1141413" y="609600"/>
            <a:ext cx="9905998" cy="1219199"/>
          </a:xfrm>
        </p:spPr>
        <p:txBody>
          <a:bodyPr/>
          <a:lstStyle/>
          <a:p>
            <a:r>
              <a:rPr lang="it-IT" dirty="0"/>
              <a:t>EVENTI ESTERNI ASINCRONI (1)</a:t>
            </a:r>
          </a:p>
        </p:txBody>
      </p:sp>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4AE8FA03-EEA3-C6C8-6F57-4889C854A388}"/>
                  </a:ext>
                </a:extLst>
              </p:cNvPr>
              <p:cNvSpPr>
                <a:spLocks noGrp="1"/>
              </p:cNvSpPr>
              <p:nvPr>
                <p:ph idx="1"/>
              </p:nvPr>
            </p:nvSpPr>
            <p:spPr>
              <a:xfrm>
                <a:off x="842839" y="1828799"/>
                <a:ext cx="7521934" cy="4365266"/>
              </a:xfrm>
            </p:spPr>
            <p:txBody>
              <a:bodyPr>
                <a:normAutofit fontScale="92500" lnSpcReduction="10000"/>
              </a:bodyPr>
              <a:lstStyle/>
              <a:p>
                <a:pPr marL="0" indent="0">
                  <a:buNone/>
                </a:pPr>
                <a:r>
                  <a:rPr lang="it-IT" dirty="0"/>
                  <a:t>Consideriamo il disegno a fianco: un circuito con un ingresso proveniente da un pulsante collegato all’ingresso D di un Flip-Flop. Quando il pulsante non è premuto, il flip-flop riceve un valore stabile in ingresso. Se invece si preme il tasto, l'ingresso del flip-flop cambia casualmente rispetto al clock.</a:t>
                </a:r>
              </a:p>
              <a:p>
                <a:pPr marL="0" indent="0">
                  <a:buNone/>
                </a:pPr>
                <a:r>
                  <a:rPr lang="it-IT" dirty="0"/>
                  <a:t>Qualcuno potrebbe premere il pulsante proprio mentre il clock sale. Ciò può portare a un fenomeno chiamato «</a:t>
                </a:r>
                <a:r>
                  <a:rPr lang="it-IT" dirty="0" err="1"/>
                  <a:t>metastabilità</a:t>
                </a:r>
                <a:r>
                  <a:rPr lang="it-IT" dirty="0"/>
                  <a:t>», in cui il flip-flop cattura in ingresso un valore a metà strada tra 0 e 1 che può richiedere una quantità illimitata di tempo per risolversi in un valore logico stabile in uscita. </a:t>
                </a:r>
              </a:p>
              <a:p>
                <a:pPr marL="0" indent="0">
                  <a:buNone/>
                </a:pPr>
                <a:r>
                  <a:rPr lang="it-IT" dirty="0"/>
                  <a:t>Quando il clock sale e D è stabile, l'uscita può iniziare a cambiare dopo il ritardo (detto di contaminazione) clock-to-Q, </a:t>
                </a:r>
                <a14:m>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𝑐𝑐𝑞</m:t>
                        </m:r>
                      </m:sub>
                    </m:sSub>
                  </m:oMath>
                </a14:m>
                <a:r>
                  <a:rPr lang="it-IT" dirty="0"/>
                  <a:t>, e deve definitivamente assestarsi sul valore finale entro il ritardo di propagazione clock-to-Q, </a:t>
                </a:r>
                <a14:m>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𝑝𝑐𝑞</m:t>
                        </m:r>
                      </m:sub>
                    </m:sSub>
                  </m:oMath>
                </a14:m>
                <a:r>
                  <a:rPr lang="it-IT" dirty="0"/>
                  <a:t>.</a:t>
                </a:r>
              </a:p>
            </p:txBody>
          </p:sp>
        </mc:Choice>
        <mc:Fallback>
          <p:sp>
            <p:nvSpPr>
              <p:cNvPr id="3" name="Segnaposto contenuto 2">
                <a:extLst>
                  <a:ext uri="{FF2B5EF4-FFF2-40B4-BE49-F238E27FC236}">
                    <a16:creationId xmlns:a16="http://schemas.microsoft.com/office/drawing/2014/main" id="{4AE8FA03-EEA3-C6C8-6F57-4889C854A388}"/>
                  </a:ext>
                </a:extLst>
              </p:cNvPr>
              <p:cNvSpPr>
                <a:spLocks noGrp="1" noRot="1" noChangeAspect="1" noMove="1" noResize="1" noEditPoints="1" noAdjustHandles="1" noChangeArrowheads="1" noChangeShapeType="1" noTextEdit="1"/>
              </p:cNvSpPr>
              <p:nvPr>
                <p:ph idx="1"/>
              </p:nvPr>
            </p:nvSpPr>
            <p:spPr>
              <a:xfrm>
                <a:off x="842839" y="1828799"/>
                <a:ext cx="7521934" cy="4365266"/>
              </a:xfrm>
              <a:blipFill>
                <a:blip r:embed="rId2"/>
                <a:stretch>
                  <a:fillRect/>
                </a:stretch>
              </a:blipFill>
            </p:spPr>
            <p:txBody>
              <a:bodyPr/>
              <a:lstStyle/>
              <a:p>
                <a:r>
                  <a:rPr lang="it-IT">
                    <a:noFill/>
                  </a:rPr>
                  <a:t> </a:t>
                </a:r>
              </a:p>
            </p:txBody>
          </p:sp>
        </mc:Fallback>
      </mc:AlternateContent>
      <p:pic>
        <p:nvPicPr>
          <p:cNvPr id="7" name="Elemento grafico 6">
            <a:extLst>
              <a:ext uri="{FF2B5EF4-FFF2-40B4-BE49-F238E27FC236}">
                <a16:creationId xmlns:a16="http://schemas.microsoft.com/office/drawing/2014/main" id="{7C03F0AE-BF9E-5E64-B191-9C40CA70225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81067" y="1828799"/>
            <a:ext cx="2932422" cy="4196243"/>
          </a:xfrm>
          <a:prstGeom prst="rect">
            <a:avLst/>
          </a:prstGeom>
        </p:spPr>
      </p:pic>
    </p:spTree>
    <p:extLst>
      <p:ext uri="{BB962C8B-B14F-4D97-AF65-F5344CB8AC3E}">
        <p14:creationId xmlns:p14="http://schemas.microsoft.com/office/powerpoint/2010/main" val="3882408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23CB538-F320-9276-A98C-E8EE04C8CB17}"/>
              </a:ext>
            </a:extLst>
          </p:cNvPr>
          <p:cNvSpPr>
            <a:spLocks noGrp="1"/>
          </p:cNvSpPr>
          <p:nvPr>
            <p:ph type="title"/>
          </p:nvPr>
        </p:nvSpPr>
        <p:spPr>
          <a:xfrm>
            <a:off x="1141413" y="609600"/>
            <a:ext cx="9905998" cy="1219199"/>
          </a:xfrm>
        </p:spPr>
        <p:txBody>
          <a:bodyPr/>
          <a:lstStyle/>
          <a:p>
            <a:r>
              <a:rPr lang="it-IT" dirty="0"/>
              <a:t>EVENTI ESTERNI ASINCRONI (2)</a:t>
            </a:r>
          </a:p>
        </p:txBody>
      </p:sp>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4AE8FA03-EEA3-C6C8-6F57-4889C854A388}"/>
                  </a:ext>
                </a:extLst>
              </p:cNvPr>
              <p:cNvSpPr>
                <a:spLocks noGrp="1"/>
              </p:cNvSpPr>
              <p:nvPr>
                <p:ph idx="1"/>
              </p:nvPr>
            </p:nvSpPr>
            <p:spPr>
              <a:xfrm>
                <a:off x="842839" y="1828799"/>
                <a:ext cx="7498080" cy="4540196"/>
              </a:xfrm>
            </p:spPr>
            <p:txBody>
              <a:bodyPr>
                <a:normAutofit fontScale="92500"/>
              </a:bodyPr>
              <a:lstStyle/>
              <a:p>
                <a:pPr marL="0" indent="0">
                  <a:buNone/>
                </a:pPr>
                <a:r>
                  <a:rPr lang="it-IT" dirty="0"/>
                  <a:t>Il flip-flop ha due parametri fondamentali, </a:t>
                </a:r>
                <a14:m>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𝑠𝑒𝑡𝑢𝑝</m:t>
                        </m:r>
                      </m:sub>
                    </m:sSub>
                  </m:oMath>
                </a14:m>
                <a:r>
                  <a:rPr lang="it-IT" dirty="0"/>
                  <a:t> e </a:t>
                </a:r>
                <a14:m>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h𝑜𝑙𝑑</m:t>
                        </m:r>
                      </m:sub>
                    </m:sSub>
                  </m:oMath>
                </a14:m>
                <a:r>
                  <a:rPr lang="it-IT" dirty="0"/>
                  <a:t>: sono due tempi per i quali è richiesta stabilità dell’ingresso rispetto al fronte del clock su cui lavora il flip-flop. La somma dei tempi di </a:t>
                </a:r>
                <a14:m>
                  <m:oMath xmlns:m="http://schemas.openxmlformats.org/officeDocument/2006/math">
                    <m:sSub>
                      <m:sSubPr>
                        <m:ctrlPr>
                          <a:rPr lang="it-IT" i="1">
                            <a:latin typeface="Cambria Math" panose="02040503050406030204" pitchFamily="18" charset="0"/>
                          </a:rPr>
                        </m:ctrlPr>
                      </m:sSubPr>
                      <m:e>
                        <m:r>
                          <a:rPr lang="it-IT" i="1">
                            <a:latin typeface="Cambria Math" panose="02040503050406030204" pitchFamily="18" charset="0"/>
                          </a:rPr>
                          <m:t>𝑡</m:t>
                        </m:r>
                      </m:e>
                      <m:sub>
                        <m:r>
                          <a:rPr lang="it-IT" i="1">
                            <a:latin typeface="Cambria Math" panose="02040503050406030204" pitchFamily="18" charset="0"/>
                          </a:rPr>
                          <m:t>𝑠𝑒𝑡𝑢𝑝</m:t>
                        </m:r>
                      </m:sub>
                    </m:sSub>
                  </m:oMath>
                </a14:m>
                <a:r>
                  <a:rPr lang="it-IT" dirty="0"/>
                  <a:t> e </a:t>
                </a:r>
                <a14:m>
                  <m:oMath xmlns:m="http://schemas.openxmlformats.org/officeDocument/2006/math">
                    <m:sSub>
                      <m:sSubPr>
                        <m:ctrlPr>
                          <a:rPr lang="it-IT" i="1">
                            <a:latin typeface="Cambria Math" panose="02040503050406030204" pitchFamily="18" charset="0"/>
                          </a:rPr>
                        </m:ctrlPr>
                      </m:sSubPr>
                      <m:e>
                        <m:r>
                          <a:rPr lang="it-IT" i="1">
                            <a:latin typeface="Cambria Math" panose="02040503050406030204" pitchFamily="18" charset="0"/>
                          </a:rPr>
                          <m:t>𝑡</m:t>
                        </m:r>
                      </m:e>
                      <m:sub>
                        <m:r>
                          <a:rPr lang="it-IT" i="1">
                            <a:latin typeface="Cambria Math" panose="02040503050406030204" pitchFamily="18" charset="0"/>
                          </a:rPr>
                          <m:t>h𝑜𝑙𝑑</m:t>
                        </m:r>
                      </m:sub>
                    </m:sSub>
                    <m:r>
                      <a:rPr lang="it-IT" i="1">
                        <a:latin typeface="Cambria Math" panose="02040503050406030204" pitchFamily="18" charset="0"/>
                      </a:rPr>
                      <m:t> </m:t>
                    </m:r>
                  </m:oMath>
                </a14:m>
                <a:r>
                  <a:rPr lang="it-IT" dirty="0"/>
                  <a:t>è chiamata tempo di apertura. </a:t>
                </a:r>
              </a:p>
              <a:p>
                <a:pPr marL="0" indent="0">
                  <a:buNone/>
                </a:pPr>
                <a:r>
                  <a:rPr lang="it-IT" dirty="0"/>
                  <a:t>La violazione di uno di questi due tempi porta alla condizione metastabile sull’uscita del flip-flop. Quando questi diventa metastabile non v’è modo di sapere con ragionevole precisione entro quanto tempo uscirà da quello stato e che valore finale prenderà Q.</a:t>
                </a:r>
              </a:p>
              <a:p>
                <a:pPr marL="0" indent="0">
                  <a:buNone/>
                </a:pPr>
                <a:r>
                  <a:rPr lang="it-IT" dirty="0"/>
                  <a:t>Questa condizione di asincronismo dei dati rispetto al clock la si trova ogni qualvolta non c’è correlazione fra D e il clock: gli ingressi esterni che provengono da contatti, sensori o segnali di altre apparecchiature, sono generalmente asincroni e quindi potenzialmente causa di </a:t>
                </a:r>
                <a:r>
                  <a:rPr lang="it-IT" dirty="0" err="1"/>
                  <a:t>metastabilità</a:t>
                </a:r>
                <a:r>
                  <a:rPr lang="it-IT" dirty="0"/>
                  <a:t>.</a:t>
                </a:r>
              </a:p>
            </p:txBody>
          </p:sp>
        </mc:Choice>
        <mc:Fallback>
          <p:sp>
            <p:nvSpPr>
              <p:cNvPr id="3" name="Segnaposto contenuto 2">
                <a:extLst>
                  <a:ext uri="{FF2B5EF4-FFF2-40B4-BE49-F238E27FC236}">
                    <a16:creationId xmlns:a16="http://schemas.microsoft.com/office/drawing/2014/main" id="{4AE8FA03-EEA3-C6C8-6F57-4889C854A388}"/>
                  </a:ext>
                </a:extLst>
              </p:cNvPr>
              <p:cNvSpPr>
                <a:spLocks noGrp="1" noRot="1" noChangeAspect="1" noMove="1" noResize="1" noEditPoints="1" noAdjustHandles="1" noChangeArrowheads="1" noChangeShapeType="1" noTextEdit="1"/>
              </p:cNvSpPr>
              <p:nvPr>
                <p:ph idx="1"/>
              </p:nvPr>
            </p:nvSpPr>
            <p:spPr>
              <a:xfrm>
                <a:off x="842839" y="1828799"/>
                <a:ext cx="7498080" cy="4540196"/>
              </a:xfrm>
              <a:blipFill>
                <a:blip r:embed="rId2"/>
                <a:stretch>
                  <a:fillRect/>
                </a:stretch>
              </a:blipFill>
            </p:spPr>
            <p:txBody>
              <a:bodyPr/>
              <a:lstStyle/>
              <a:p>
                <a:r>
                  <a:rPr lang="it-IT">
                    <a:noFill/>
                  </a:rPr>
                  <a:t> </a:t>
                </a:r>
              </a:p>
            </p:txBody>
          </p:sp>
        </mc:Fallback>
      </mc:AlternateContent>
      <p:pic>
        <p:nvPicPr>
          <p:cNvPr id="7" name="Elemento grafico 6">
            <a:extLst>
              <a:ext uri="{FF2B5EF4-FFF2-40B4-BE49-F238E27FC236}">
                <a16:creationId xmlns:a16="http://schemas.microsoft.com/office/drawing/2014/main" id="{7C03F0AE-BF9E-5E64-B191-9C40CA70225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81067" y="1828799"/>
            <a:ext cx="2932422" cy="4196243"/>
          </a:xfrm>
          <a:prstGeom prst="rect">
            <a:avLst/>
          </a:prstGeom>
        </p:spPr>
      </p:pic>
    </p:spTree>
    <p:extLst>
      <p:ext uri="{BB962C8B-B14F-4D97-AF65-F5344CB8AC3E}">
        <p14:creationId xmlns:p14="http://schemas.microsoft.com/office/powerpoint/2010/main" val="14855127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23CB538-F320-9276-A98C-E8EE04C8CB17}"/>
              </a:ext>
            </a:extLst>
          </p:cNvPr>
          <p:cNvSpPr>
            <a:spLocks noGrp="1"/>
          </p:cNvSpPr>
          <p:nvPr>
            <p:ph type="title"/>
          </p:nvPr>
        </p:nvSpPr>
        <p:spPr>
          <a:xfrm>
            <a:off x="1141413" y="609600"/>
            <a:ext cx="9905998" cy="1195346"/>
          </a:xfrm>
        </p:spPr>
        <p:txBody>
          <a:bodyPr/>
          <a:lstStyle/>
          <a:p>
            <a:r>
              <a:rPr lang="it-IT" dirty="0"/>
              <a:t>CLOCK SKEW</a:t>
            </a:r>
          </a:p>
        </p:txBody>
      </p:sp>
      <p:sp>
        <p:nvSpPr>
          <p:cNvPr id="3" name="Segnaposto contenuto 2">
            <a:extLst>
              <a:ext uri="{FF2B5EF4-FFF2-40B4-BE49-F238E27FC236}">
                <a16:creationId xmlns:a16="http://schemas.microsoft.com/office/drawing/2014/main" id="{4AE8FA03-EEA3-C6C8-6F57-4889C854A388}"/>
              </a:ext>
            </a:extLst>
          </p:cNvPr>
          <p:cNvSpPr>
            <a:spLocks noGrp="1"/>
          </p:cNvSpPr>
          <p:nvPr>
            <p:ph idx="1"/>
          </p:nvPr>
        </p:nvSpPr>
        <p:spPr>
          <a:xfrm>
            <a:off x="1141413" y="1733384"/>
            <a:ext cx="7223359" cy="4818491"/>
          </a:xfrm>
        </p:spPr>
        <p:txBody>
          <a:bodyPr>
            <a:normAutofit fontScale="85000" lnSpcReduction="10000"/>
          </a:bodyPr>
          <a:lstStyle/>
          <a:p>
            <a:pPr marL="0" indent="0">
              <a:buNone/>
            </a:pPr>
            <a:r>
              <a:rPr lang="it-IT" dirty="0"/>
              <a:t>Nei sistemi reali, il clock potrebbe non raggiunge tutti flip-flop contemporaneamente. Questa variazione nel tempo è chiamata «clock </a:t>
            </a:r>
            <a:r>
              <a:rPr lang="it-IT" dirty="0" err="1"/>
              <a:t>skew</a:t>
            </a:r>
            <a:r>
              <a:rPr lang="it-IT" dirty="0"/>
              <a:t>». I fili che dalla sorgente di clock arrivano ai registri, o il rumore sul clock stesso, possono generare ritardi differenti per ogni filo. Anche i componenti inseriti nel percorso di clock (per ottenere il cosiddetto clock </a:t>
            </a:r>
            <a:r>
              <a:rPr lang="it-IT" dirty="0" err="1"/>
              <a:t>gating</a:t>
            </a:r>
            <a:r>
              <a:rPr lang="it-IT" dirty="0"/>
              <a:t>), possono provocare clock </a:t>
            </a:r>
            <a:r>
              <a:rPr lang="it-IT" dirty="0" err="1"/>
              <a:t>skew</a:t>
            </a:r>
            <a:r>
              <a:rPr lang="it-IT" dirty="0"/>
              <a:t>. </a:t>
            </a:r>
          </a:p>
          <a:p>
            <a:pPr marL="0" indent="0">
              <a:buNone/>
            </a:pPr>
            <a:r>
              <a:rPr lang="it-IT" dirty="0"/>
              <a:t>Anche se sulla carta ci siamo assicurati che un dominio di clock sia sincronizzato con tutti i segnali ad esso correlati, la differenza dei tempi di propagazione del clock agli ingressi dei diversi flip-flop di una rete sincrona, possono creare condizioni di </a:t>
            </a:r>
            <a:r>
              <a:rPr lang="it-IT" dirty="0" err="1"/>
              <a:t>metastabilità</a:t>
            </a:r>
            <a:r>
              <a:rPr lang="it-IT" dirty="0"/>
              <a:t>. Questo vale anche pe </a:t>
            </a:r>
            <a:r>
              <a:rPr lang="it-IT" dirty="0" err="1"/>
              <a:t>ril</a:t>
            </a:r>
            <a:r>
              <a:rPr lang="it-IT" dirty="0"/>
              <a:t> ritardo dei dati rispetto al clock.</a:t>
            </a:r>
          </a:p>
          <a:p>
            <a:pPr marL="0" indent="0">
              <a:buNone/>
            </a:pPr>
            <a:r>
              <a:rPr lang="it-IT" dirty="0"/>
              <a:t>Nei dispositivi logici programmabili moderni, esistono percorsi prioritari per i segnali di clock per cui la distribuzione ai vari flip-flop e dispositivi è altamente uniforme. Questi segnali hanno una struttura tale da fargli esibire anche un alto fan-out. Il fan-out di una uscita digitale condiziona il numero di ingressi che possono essere collegati ad esso (il carico) senza che il segnale degradi eccessivamente.</a:t>
            </a:r>
          </a:p>
        </p:txBody>
      </p:sp>
      <p:pic>
        <p:nvPicPr>
          <p:cNvPr id="8" name="Elemento grafico 7">
            <a:extLst>
              <a:ext uri="{FF2B5EF4-FFF2-40B4-BE49-F238E27FC236}">
                <a16:creationId xmlns:a16="http://schemas.microsoft.com/office/drawing/2014/main" id="{C941AB5F-B985-88D7-3DFD-C2099A75F68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504397" y="1489544"/>
            <a:ext cx="3310509" cy="4758856"/>
          </a:xfrm>
          <a:prstGeom prst="rect">
            <a:avLst/>
          </a:prstGeom>
        </p:spPr>
      </p:pic>
    </p:spTree>
    <p:extLst>
      <p:ext uri="{BB962C8B-B14F-4D97-AF65-F5344CB8AC3E}">
        <p14:creationId xmlns:p14="http://schemas.microsoft.com/office/powerpoint/2010/main" val="18578015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6535E3C-E241-BDFA-511A-62EC9F53E80D}"/>
              </a:ext>
            </a:extLst>
          </p:cNvPr>
          <p:cNvSpPr>
            <a:spLocks noGrp="1"/>
          </p:cNvSpPr>
          <p:nvPr>
            <p:ph type="title"/>
          </p:nvPr>
        </p:nvSpPr>
        <p:spPr/>
        <p:txBody>
          <a:bodyPr/>
          <a:lstStyle/>
          <a:p>
            <a:r>
              <a:rPr lang="it-IT" dirty="0"/>
              <a:t>CONDIZIONE METASTABILE</a:t>
            </a:r>
          </a:p>
        </p:txBody>
      </p:sp>
      <p:sp>
        <p:nvSpPr>
          <p:cNvPr id="3" name="Segnaposto contenuto 2">
            <a:extLst>
              <a:ext uri="{FF2B5EF4-FFF2-40B4-BE49-F238E27FC236}">
                <a16:creationId xmlns:a16="http://schemas.microsoft.com/office/drawing/2014/main" id="{80AF5044-A5F6-B350-003B-35811FBBA53C}"/>
              </a:ext>
            </a:extLst>
          </p:cNvPr>
          <p:cNvSpPr>
            <a:spLocks noGrp="1"/>
          </p:cNvSpPr>
          <p:nvPr>
            <p:ph idx="1"/>
          </p:nvPr>
        </p:nvSpPr>
        <p:spPr>
          <a:xfrm>
            <a:off x="1141413" y="2250219"/>
            <a:ext cx="9905998" cy="4094922"/>
          </a:xfrm>
        </p:spPr>
        <p:txBody>
          <a:bodyPr>
            <a:normAutofit fontScale="77500" lnSpcReduction="20000"/>
          </a:bodyPr>
          <a:lstStyle/>
          <a:p>
            <a:pPr marL="0" indent="0">
              <a:buNone/>
            </a:pPr>
            <a:r>
              <a:rPr lang="it-IT" dirty="0"/>
              <a:t>In situazioni reali, quando un flip-flop campiona un ingresso che cambia durante il suo tempo di apertura, l'uscita Q può momentaneamente assumere una tensione compresa tra 0 e VDD (1 logico) che si trova nella «zona proibita». Questa è la cosiddetta condizione metastabile. Alla fine, il flip-flop risolverà l'output in uno stato stabile (0 o 1). Tuttavia, il tempo di risoluzione necessario per raggiungere lo stato stabile può essere infinito o comunque non determinato.</a:t>
            </a:r>
          </a:p>
          <a:p>
            <a:pPr marL="0" indent="0">
              <a:buNone/>
            </a:pPr>
            <a:r>
              <a:rPr lang="it-IT" dirty="0"/>
              <a:t>Lo stato metastabile di un flip-flop è analogo a quello di </a:t>
            </a:r>
            <a:br>
              <a:rPr lang="it-IT" dirty="0"/>
            </a:br>
            <a:r>
              <a:rPr lang="it-IT" dirty="0"/>
              <a:t>una palla sulla sommità di una collina tra due vallate, </a:t>
            </a:r>
            <a:br>
              <a:rPr lang="it-IT" dirty="0"/>
            </a:br>
            <a:r>
              <a:rPr lang="it-IT" dirty="0"/>
              <a:t>come mostrato a lato.</a:t>
            </a:r>
          </a:p>
          <a:p>
            <a:pPr marL="0" indent="0">
              <a:buNone/>
            </a:pPr>
            <a:r>
              <a:rPr lang="it-IT" dirty="0"/>
              <a:t>Le due vallate sono gli stati stabili, perché una palla nella </a:t>
            </a:r>
            <a:br>
              <a:rPr lang="it-IT" dirty="0"/>
            </a:br>
            <a:r>
              <a:rPr lang="it-IT" dirty="0"/>
              <a:t>valle rimarrà lì finché non viene sollecitata. La cima della </a:t>
            </a:r>
            <a:br>
              <a:rPr lang="it-IT" dirty="0"/>
            </a:br>
            <a:r>
              <a:rPr lang="it-IT" dirty="0"/>
              <a:t>collina è chiamata zona metastabile perché la palla </a:t>
            </a:r>
            <a:br>
              <a:rPr lang="it-IT" dirty="0"/>
            </a:br>
            <a:r>
              <a:rPr lang="it-IT" dirty="0"/>
              <a:t>potrebbe rimanere lì se sottoposta ad un perfetto </a:t>
            </a:r>
            <a:r>
              <a:rPr lang="it-IT" dirty="0" err="1"/>
              <a:t>bilan</a:t>
            </a:r>
            <a:r>
              <a:rPr lang="it-IT" dirty="0"/>
              <a:t>-</a:t>
            </a:r>
            <a:br>
              <a:rPr lang="it-IT" dirty="0"/>
            </a:br>
            <a:r>
              <a:rPr lang="it-IT" dirty="0" err="1"/>
              <a:t>ciamento</a:t>
            </a:r>
            <a:r>
              <a:rPr lang="it-IT" dirty="0"/>
              <a:t> di forze. Ma prima o poi, magari a causa di una</a:t>
            </a:r>
            <a:br>
              <a:rPr lang="it-IT" dirty="0"/>
            </a:br>
            <a:r>
              <a:rPr lang="it-IT" dirty="0"/>
              <a:t>lieve brezza, la palla rotolerà da una parte o dall'altra. </a:t>
            </a:r>
            <a:br>
              <a:rPr lang="it-IT" dirty="0"/>
            </a:br>
            <a:r>
              <a:rPr lang="it-IT" dirty="0"/>
              <a:t>Il tempo necessario affinché si verifichi questo cambiamento </a:t>
            </a:r>
            <a:br>
              <a:rPr lang="it-IT" dirty="0"/>
            </a:br>
            <a:r>
              <a:rPr lang="it-IT" dirty="0"/>
              <a:t>dipende da quanto era il bilanciamento di forze, da quanto </a:t>
            </a:r>
            <a:br>
              <a:rPr lang="it-IT" dirty="0"/>
            </a:br>
            <a:r>
              <a:rPr lang="it-IT" dirty="0"/>
              <a:t>è stretta la collina e da fattori disturbanti (rumore).</a:t>
            </a:r>
          </a:p>
          <a:p>
            <a:pPr marL="0" indent="0">
              <a:buNone/>
            </a:pPr>
            <a:r>
              <a:rPr lang="it-IT" dirty="0"/>
              <a:t>Ogni </a:t>
            </a:r>
            <a:r>
              <a:rPr lang="it-IT" u="sng" dirty="0"/>
              <a:t>dispositivo bistabile</a:t>
            </a:r>
            <a:r>
              <a:rPr lang="it-IT" dirty="0"/>
              <a:t> ha sempre uno stato metastabile tra i due stati stabili.</a:t>
            </a:r>
          </a:p>
          <a:p>
            <a:endParaRPr lang="it-IT" dirty="0"/>
          </a:p>
          <a:p>
            <a:endParaRPr lang="it-IT" dirty="0"/>
          </a:p>
        </p:txBody>
      </p:sp>
      <p:pic>
        <p:nvPicPr>
          <p:cNvPr id="7" name="Elemento grafico 6">
            <a:extLst>
              <a:ext uri="{FF2B5EF4-FFF2-40B4-BE49-F238E27FC236}">
                <a16:creationId xmlns:a16="http://schemas.microsoft.com/office/drawing/2014/main" id="{5CD4F3F3-1694-DFD9-B7B9-99CDED7DAD5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11275" y="3189964"/>
            <a:ext cx="4284177" cy="2056405"/>
          </a:xfrm>
          <a:prstGeom prst="rect">
            <a:avLst/>
          </a:prstGeom>
        </p:spPr>
      </p:pic>
    </p:spTree>
    <p:extLst>
      <p:ext uri="{BB962C8B-B14F-4D97-AF65-F5344CB8AC3E}">
        <p14:creationId xmlns:p14="http://schemas.microsoft.com/office/powerpoint/2010/main" val="19549998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6535E3C-E241-BDFA-511A-62EC9F53E80D}"/>
              </a:ext>
            </a:extLst>
          </p:cNvPr>
          <p:cNvSpPr>
            <a:spLocks noGrp="1"/>
          </p:cNvSpPr>
          <p:nvPr>
            <p:ph type="title"/>
          </p:nvPr>
        </p:nvSpPr>
        <p:spPr/>
        <p:txBody>
          <a:bodyPr/>
          <a:lstStyle/>
          <a:p>
            <a:r>
              <a:rPr lang="it-IT" dirty="0"/>
              <a:t>SINCRONIZZATORI (1)</a:t>
            </a:r>
          </a:p>
        </p:txBody>
      </p:sp>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80AF5044-A5F6-B350-003B-35811FBBA53C}"/>
                  </a:ext>
                </a:extLst>
              </p:cNvPr>
              <p:cNvSpPr>
                <a:spLocks noGrp="1"/>
              </p:cNvSpPr>
              <p:nvPr>
                <p:ph idx="1"/>
              </p:nvPr>
            </p:nvSpPr>
            <p:spPr>
              <a:xfrm>
                <a:off x="1141413" y="2154803"/>
                <a:ext cx="9905998" cy="3816628"/>
              </a:xfrm>
            </p:spPr>
            <p:txBody>
              <a:bodyPr>
                <a:normAutofit fontScale="85000" lnSpcReduction="20000"/>
              </a:bodyPr>
              <a:lstStyle/>
              <a:p>
                <a:pPr marL="0" indent="0">
                  <a:buNone/>
                </a:pPr>
                <a:r>
                  <a:rPr lang="it-IT" dirty="0"/>
                  <a:t>Si consideri un circuito con un ingresso proveniente una sorgente asincrona che si muove, talvolta violando i tempi </a:t>
                </a:r>
                <a14:m>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𝑠𝑒𝑡𝑢𝑝</m:t>
                        </m:r>
                      </m:sub>
                    </m:sSub>
                  </m:oMath>
                </a14:m>
                <a:r>
                  <a:rPr lang="it-IT" dirty="0"/>
                  <a:t> e </a:t>
                </a:r>
                <a14:m>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h𝑜𝑙𝑑</m:t>
                        </m:r>
                      </m:sub>
                    </m:sSub>
                  </m:oMath>
                </a14:m>
                <a:r>
                  <a:rPr lang="it-IT" dirty="0"/>
                  <a:t> e creando quindi, se gestiti con noncuranza, situazioni di </a:t>
                </a:r>
                <a:r>
                  <a:rPr lang="it-IT" dirty="0" err="1"/>
                  <a:t>metastabilità</a:t>
                </a:r>
                <a:r>
                  <a:rPr lang="it-IT" dirty="0"/>
                  <a:t>, cioè causando guasti irregolari del sistema che sono estremamente difficili da rintracciare e correggere. L'obiettivo di un progettista di sistemi digitali dovrebbe essere quello di garantire che, dati gli ingressi asincroni, la probabilità di incontrare una condizione metastabile sia sufficientemente piccola.</a:t>
                </a:r>
              </a:p>
              <a:p>
                <a:pPr marL="0" indent="0">
                  <a:buNone/>
                </a:pPr>
                <a:r>
                  <a:rPr lang="it-IT" dirty="0"/>
                  <a:t>Il concetto di probabilità sufficientemente piccola, dipende dal contesto dell’applicazione: per un personal computer forse un errore ogni 10 anni è accettabile, perché basta riavviare il PC se questi si blocca. Per un dispositivo medico o il controllo di un missile balistico, un fallimento al massimo in tutta la vita dell’Universo (</a:t>
                </a:r>
                <a14:m>
                  <m:oMath xmlns:m="http://schemas.openxmlformats.org/officeDocument/2006/math">
                    <m:sSup>
                      <m:sSupPr>
                        <m:ctrlPr>
                          <a:rPr lang="it-IT" i="1" smtClean="0">
                            <a:latin typeface="Cambria Math" panose="02040503050406030204" pitchFamily="18" charset="0"/>
                          </a:rPr>
                        </m:ctrlPr>
                      </m:sSupPr>
                      <m:e>
                        <m:r>
                          <a:rPr lang="it-IT" b="0" i="1" smtClean="0">
                            <a:latin typeface="Cambria Math" panose="02040503050406030204" pitchFamily="18" charset="0"/>
                          </a:rPr>
                          <m:t>10</m:t>
                        </m:r>
                      </m:e>
                      <m:sup>
                        <m:r>
                          <a:rPr lang="it-IT" b="0" i="1" smtClean="0">
                            <a:latin typeface="Cambria Math" panose="02040503050406030204" pitchFamily="18" charset="0"/>
                          </a:rPr>
                          <m:t>10</m:t>
                        </m:r>
                      </m:sup>
                    </m:sSup>
                  </m:oMath>
                </a14:m>
                <a:r>
                  <a:rPr lang="it-IT" dirty="0"/>
                  <a:t>anni) è meglio. </a:t>
                </a:r>
              </a:p>
              <a:p>
                <a:pPr marL="0" indent="0">
                  <a:buNone/>
                </a:pPr>
                <a:r>
                  <a:rPr lang="it-IT" dirty="0"/>
                  <a:t>La soluzione a tali input asincroni consiste nel farli passare attraverso </a:t>
                </a:r>
                <a:br>
                  <a:rPr lang="it-IT" dirty="0"/>
                </a:br>
                <a:r>
                  <a:rPr lang="it-IT" dirty="0"/>
                  <a:t>i sincronizzatori, che mettono in correlazione il segnale asincrono </a:t>
                </a:r>
                <a:br>
                  <a:rPr lang="it-IT" dirty="0"/>
                </a:br>
                <a:r>
                  <a:rPr lang="it-IT" dirty="0"/>
                  <a:t>in ingresso col clock del sistema digitale e hanno una probabilità </a:t>
                </a:r>
                <a:br>
                  <a:rPr lang="it-IT" dirty="0"/>
                </a:br>
                <a:r>
                  <a:rPr lang="it-IT" dirty="0"/>
                  <a:t>molto piccola (ma sempre maggiore di zero) di produrre un valore </a:t>
                </a:r>
                <a:br>
                  <a:rPr lang="it-IT" dirty="0"/>
                </a:br>
                <a:r>
                  <a:rPr lang="it-IT" dirty="0"/>
                  <a:t>logico non valido.</a:t>
                </a:r>
              </a:p>
            </p:txBody>
          </p:sp>
        </mc:Choice>
        <mc:Fallback>
          <p:sp>
            <p:nvSpPr>
              <p:cNvPr id="3" name="Segnaposto contenuto 2">
                <a:extLst>
                  <a:ext uri="{FF2B5EF4-FFF2-40B4-BE49-F238E27FC236}">
                    <a16:creationId xmlns:a16="http://schemas.microsoft.com/office/drawing/2014/main" id="{80AF5044-A5F6-B350-003B-35811FBBA53C}"/>
                  </a:ext>
                </a:extLst>
              </p:cNvPr>
              <p:cNvSpPr>
                <a:spLocks noGrp="1" noRot="1" noChangeAspect="1" noMove="1" noResize="1" noEditPoints="1" noAdjustHandles="1" noChangeArrowheads="1" noChangeShapeType="1" noTextEdit="1"/>
              </p:cNvSpPr>
              <p:nvPr>
                <p:ph idx="1"/>
              </p:nvPr>
            </p:nvSpPr>
            <p:spPr>
              <a:xfrm>
                <a:off x="1141413" y="2154803"/>
                <a:ext cx="9905998" cy="3816628"/>
              </a:xfrm>
              <a:blipFill>
                <a:blip r:embed="rId2"/>
                <a:stretch>
                  <a:fillRect/>
                </a:stretch>
              </a:blipFill>
            </p:spPr>
            <p:txBody>
              <a:bodyPr/>
              <a:lstStyle/>
              <a:p>
                <a:r>
                  <a:rPr lang="it-IT">
                    <a:noFill/>
                  </a:rPr>
                  <a:t> </a:t>
                </a:r>
              </a:p>
            </p:txBody>
          </p:sp>
        </mc:Fallback>
      </mc:AlternateContent>
      <p:pic>
        <p:nvPicPr>
          <p:cNvPr id="5" name="Elemento grafico 4">
            <a:extLst>
              <a:ext uri="{FF2B5EF4-FFF2-40B4-BE49-F238E27FC236}">
                <a16:creationId xmlns:a16="http://schemas.microsoft.com/office/drawing/2014/main" id="{EF7E8712-6D32-965F-1893-FE51AA326C0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15930" y="4546515"/>
            <a:ext cx="2556892" cy="1599844"/>
          </a:xfrm>
          <a:prstGeom prst="rect">
            <a:avLst/>
          </a:prstGeom>
        </p:spPr>
      </p:pic>
    </p:spTree>
    <p:extLst>
      <p:ext uri="{BB962C8B-B14F-4D97-AF65-F5344CB8AC3E}">
        <p14:creationId xmlns:p14="http://schemas.microsoft.com/office/powerpoint/2010/main" val="18170956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6535E3C-E241-BDFA-511A-62EC9F53E80D}"/>
              </a:ext>
            </a:extLst>
          </p:cNvPr>
          <p:cNvSpPr>
            <a:spLocks noGrp="1"/>
          </p:cNvSpPr>
          <p:nvPr>
            <p:ph type="title"/>
          </p:nvPr>
        </p:nvSpPr>
        <p:spPr>
          <a:xfrm>
            <a:off x="1141413" y="609600"/>
            <a:ext cx="9905998" cy="1476598"/>
          </a:xfrm>
        </p:spPr>
        <p:txBody>
          <a:bodyPr/>
          <a:lstStyle/>
          <a:p>
            <a:r>
              <a:rPr lang="it-IT" dirty="0"/>
              <a:t>SINCRONIZZATORI (2)</a:t>
            </a:r>
          </a:p>
        </p:txBody>
      </p:sp>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80AF5044-A5F6-B350-003B-35811FBBA53C}"/>
                  </a:ext>
                </a:extLst>
              </p:cNvPr>
              <p:cNvSpPr>
                <a:spLocks noGrp="1"/>
              </p:cNvSpPr>
              <p:nvPr>
                <p:ph idx="1"/>
              </p:nvPr>
            </p:nvSpPr>
            <p:spPr>
              <a:xfrm>
                <a:off x="1141413" y="1956032"/>
                <a:ext cx="9905998" cy="4444767"/>
              </a:xfrm>
            </p:spPr>
            <p:txBody>
              <a:bodyPr>
                <a:normAutofit fontScale="70000" lnSpcReduction="20000"/>
              </a:bodyPr>
              <a:lstStyle/>
              <a:p>
                <a:pPr marL="0" indent="0">
                  <a:buNone/>
                </a:pPr>
                <a:r>
                  <a:rPr lang="it-IT" dirty="0"/>
                  <a:t>Un sincronizzatore, mostrato a lato, è un dispositivo che riceve un input asincrono (in) e un </a:t>
                </a:r>
                <a:br>
                  <a:rPr lang="it-IT" dirty="0"/>
                </a:br>
                <a:r>
                  <a:rPr lang="it-IT" dirty="0"/>
                  <a:t>clock (</a:t>
                </a:r>
                <a:r>
                  <a:rPr lang="it-IT" dirty="0" err="1"/>
                  <a:t>clk</a:t>
                </a:r>
                <a:r>
                  <a:rPr lang="it-IT" dirty="0"/>
                  <a:t>). Produce un output (out) che, entro un periodo di tempo limitato, deve avere </a:t>
                </a:r>
                <a:br>
                  <a:rPr lang="it-IT" dirty="0"/>
                </a:br>
                <a:r>
                  <a:rPr lang="it-IT" dirty="0"/>
                  <a:t>il livello logico giusto e valido con una probabilità estremamente elevata. </a:t>
                </a:r>
              </a:p>
              <a:p>
                <a:pPr marL="0" indent="0">
                  <a:buNone/>
                </a:pPr>
                <a:r>
                  <a:rPr lang="it-IT" dirty="0"/>
                  <a:t>Diciamo che un sincronizzatore fallisce se Q, diventa metastabile. Solitamente un </a:t>
                </a:r>
                <a:br>
                  <a:rPr lang="it-IT" dirty="0"/>
                </a:br>
                <a:r>
                  <a:rPr lang="it-IT" dirty="0"/>
                  <a:t>sincronizzatore è realizzato con un flip-flop tipo D di ottima fattura.</a:t>
                </a:r>
              </a:p>
              <a:p>
                <a:pPr marL="0" indent="0">
                  <a:buNone/>
                </a:pPr>
                <a:r>
                  <a:rPr lang="it-IT" dirty="0"/>
                  <a:t>Se l’ingresso D è stabile durante l'apertura, Q dovrebbe assumere lo stesso valore di D. </a:t>
                </a:r>
                <a:br>
                  <a:rPr lang="it-IT" dirty="0"/>
                </a:br>
                <a:r>
                  <a:rPr lang="it-IT" dirty="0"/>
                  <a:t>Se D cambia durante l'apertura, Q può assumere il valore 1 o 0, </a:t>
                </a:r>
                <a:r>
                  <a:rPr lang="it-IT" u="sng" dirty="0"/>
                  <a:t>ma non dovrebbe essere </a:t>
                </a:r>
                <a:br>
                  <a:rPr lang="it-IT" u="sng" dirty="0"/>
                </a:br>
                <a:r>
                  <a:rPr lang="it-IT" u="sng" dirty="0"/>
                  <a:t>frequentemente metastabile</a:t>
                </a:r>
                <a:r>
                  <a:rPr lang="it-IT" dirty="0"/>
                  <a:t>, o se lo diventa non dovrebbe rimanere a lungo in quella condizione.</a:t>
                </a:r>
              </a:p>
              <a:p>
                <a:pPr marL="0" indent="0">
                  <a:buNone/>
                </a:pPr>
                <a:r>
                  <a:rPr lang="it-IT" dirty="0"/>
                  <a:t>L'affidabilità del sistema viene solitamente misurata in MTBF (Mean Time </a:t>
                </a:r>
                <a:r>
                  <a:rPr lang="it-IT" dirty="0" err="1"/>
                  <a:t>Between</a:t>
                </a:r>
                <a:r>
                  <a:rPr lang="it-IT" dirty="0"/>
                  <a:t> </a:t>
                </a:r>
                <a:r>
                  <a:rPr lang="it-IT" dirty="0" err="1"/>
                  <a:t>Failures</a:t>
                </a:r>
                <a:r>
                  <a:rPr lang="it-IT" dirty="0"/>
                  <a:t>) che è il </a:t>
                </a:r>
                <a:r>
                  <a:rPr lang="it-IT" u="sng" dirty="0"/>
                  <a:t>tempo medio che intercorre tra i guasti</a:t>
                </a:r>
                <a:r>
                  <a:rPr lang="it-IT" dirty="0"/>
                  <a:t> del sistema stesso. È calcolato come il reciproco della probabilità che il sistema fallisca in un dato secondo:</a:t>
                </a:r>
              </a:p>
              <a:p>
                <a:pPr marL="0" indent="0">
                  <a:buNone/>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𝑀𝑇𝐵𝐹</m:t>
                      </m:r>
                      <m:r>
                        <a:rPr lang="it-IT" b="0" i="1" smtClean="0">
                          <a:latin typeface="Cambria Math" panose="02040503050406030204" pitchFamily="18" charset="0"/>
                        </a:rPr>
                        <m:t>=</m:t>
                      </m:r>
                      <m:f>
                        <m:fPr>
                          <m:ctrlPr>
                            <a:rPr lang="it-IT" b="0" i="1" smtClean="0">
                              <a:latin typeface="Cambria Math" panose="02040503050406030204" pitchFamily="18" charset="0"/>
                            </a:rPr>
                          </m:ctrlPr>
                        </m:fPr>
                        <m:num>
                          <m:r>
                            <a:rPr lang="it-IT" b="0" i="1" smtClean="0">
                              <a:latin typeface="Cambria Math" panose="02040503050406030204" pitchFamily="18" charset="0"/>
                            </a:rPr>
                            <m:t>1</m:t>
                          </m:r>
                        </m:num>
                        <m:den>
                          <m:r>
                            <a:rPr lang="it-IT" b="0" i="1" smtClean="0">
                              <a:latin typeface="Cambria Math" panose="02040503050406030204" pitchFamily="18" charset="0"/>
                            </a:rPr>
                            <m:t>𝑃</m:t>
                          </m:r>
                          <m:r>
                            <a:rPr lang="it-IT" b="0" i="1" smtClean="0">
                              <a:latin typeface="Cambria Math" panose="02040503050406030204" pitchFamily="18" charset="0"/>
                            </a:rPr>
                            <m:t>(</m:t>
                          </m:r>
                          <m:r>
                            <a:rPr lang="it-IT" b="0" i="1" smtClean="0">
                              <a:latin typeface="Cambria Math" panose="02040503050406030204" pitchFamily="18" charset="0"/>
                            </a:rPr>
                            <m:t>𝐹𝑎𝑙𝑙𝑖𝑚𝑒𝑛𝑡𝑖</m:t>
                          </m:r>
                          <m:r>
                            <a:rPr lang="it-IT" b="0" i="1" smtClean="0">
                              <a:latin typeface="Cambria Math" panose="02040503050406030204" pitchFamily="18" charset="0"/>
                            </a:rPr>
                            <m:t>)/</m:t>
                          </m:r>
                          <m:r>
                            <a:rPr lang="it-IT" b="0" i="1" smtClean="0">
                              <a:latin typeface="Cambria Math" panose="02040503050406030204" pitchFamily="18" charset="0"/>
                            </a:rPr>
                            <m:t>𝑠𝑒𝑐</m:t>
                          </m:r>
                        </m:den>
                      </m:f>
                    </m:oMath>
                  </m:oMathPara>
                </a14:m>
                <a:endParaRPr lang="it-IT" dirty="0"/>
              </a:p>
              <a:p>
                <a:pPr marL="0" indent="0">
                  <a:buNone/>
                </a:pPr>
                <a:r>
                  <a:rPr lang="it-IT" dirty="0"/>
                  <a:t>Una tipica equazione per calcolare l’MTBF è:</a:t>
                </a:r>
              </a:p>
              <a:p>
                <a:pPr marL="0" indent="0">
                  <a:buNone/>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𝑀𝑇𝐵𝐹</m:t>
                      </m:r>
                      <m:r>
                        <a:rPr lang="it-IT" b="0" i="1" smtClean="0">
                          <a:latin typeface="Cambria Math" panose="02040503050406030204" pitchFamily="18" charset="0"/>
                        </a:rPr>
                        <m:t>=</m:t>
                      </m:r>
                      <m:f>
                        <m:fPr>
                          <m:ctrlPr>
                            <a:rPr lang="it-IT" b="0" i="1" smtClean="0">
                              <a:latin typeface="Cambria Math" panose="02040503050406030204" pitchFamily="18" charset="0"/>
                            </a:rPr>
                          </m:ctrlPr>
                        </m:fPr>
                        <m:num>
                          <m:sSup>
                            <m:sSupPr>
                              <m:ctrlPr>
                                <a:rPr lang="it-IT" b="0" i="1" smtClean="0">
                                  <a:latin typeface="Cambria Math" panose="02040503050406030204" pitchFamily="18" charset="0"/>
                                </a:rPr>
                              </m:ctrlPr>
                            </m:sSupPr>
                            <m:e>
                              <m:r>
                                <a:rPr lang="it-IT" b="0" i="1" smtClean="0">
                                  <a:latin typeface="Cambria Math" panose="02040503050406030204" pitchFamily="18" charset="0"/>
                                </a:rPr>
                                <m:t>𝑒</m:t>
                              </m:r>
                            </m:e>
                            <m:sup>
                              <m:f>
                                <m:fPr>
                                  <m:type m:val="skw"/>
                                  <m:ctrlPr>
                                    <a:rPr lang="it-IT" b="0" i="1" smtClean="0">
                                      <a:latin typeface="Cambria Math" panose="02040503050406030204" pitchFamily="18" charset="0"/>
                                    </a:rPr>
                                  </m:ctrlPr>
                                </m:fPr>
                                <m:num>
                                  <m:r>
                                    <a:rPr lang="it-IT" b="0" i="1" smtClean="0">
                                      <a:latin typeface="Cambria Math" panose="02040503050406030204" pitchFamily="18" charset="0"/>
                                    </a:rPr>
                                    <m:t>𝑆</m:t>
                                  </m:r>
                                </m:num>
                                <m:den>
                                  <m:r>
                                    <a:rPr lang="it-IT" b="0" i="1" smtClean="0">
                                      <a:latin typeface="Cambria Math" panose="02040503050406030204" pitchFamily="18" charset="0"/>
                                      <a:ea typeface="Cambria Math" panose="02040503050406030204" pitchFamily="18" charset="0"/>
                                    </a:rPr>
                                    <m:t>𝜏</m:t>
                                  </m:r>
                                </m:den>
                              </m:f>
                            </m:sup>
                          </m:sSup>
                        </m:num>
                        <m:den>
                          <m:sSub>
                            <m:sSubPr>
                              <m:ctrlPr>
                                <a:rPr lang="it-IT" b="0" i="1" smtClean="0">
                                  <a:latin typeface="Cambria Math" panose="02040503050406030204" pitchFamily="18" charset="0"/>
                                </a:rPr>
                              </m:ctrlPr>
                            </m:sSubPr>
                            <m:e>
                              <m:r>
                                <a:rPr lang="it-IT" b="0" i="1" smtClean="0">
                                  <a:latin typeface="Cambria Math" panose="02040503050406030204" pitchFamily="18" charset="0"/>
                                </a:rPr>
                                <m:t>𝑇</m:t>
                              </m:r>
                            </m:e>
                            <m:sub>
                              <m:r>
                                <a:rPr lang="it-IT" b="0" i="1" smtClean="0">
                                  <a:latin typeface="Cambria Math" panose="02040503050406030204" pitchFamily="18" charset="0"/>
                                </a:rPr>
                                <m:t>𝑤</m:t>
                              </m:r>
                            </m:sub>
                          </m:sSub>
                          <m:sSub>
                            <m:sSubPr>
                              <m:ctrlPr>
                                <a:rPr lang="it-IT" b="0" i="1" smtClean="0">
                                  <a:latin typeface="Cambria Math" panose="02040503050406030204" pitchFamily="18" charset="0"/>
                                </a:rPr>
                              </m:ctrlPr>
                            </m:sSubPr>
                            <m:e>
                              <m:r>
                                <a:rPr lang="it-IT" b="0" i="1" smtClean="0">
                                  <a:latin typeface="Cambria Math" panose="02040503050406030204" pitchFamily="18" charset="0"/>
                                </a:rPr>
                                <m:t>𝐹</m:t>
                              </m:r>
                            </m:e>
                            <m:sub>
                              <m:r>
                                <a:rPr lang="it-IT" b="0" i="1" smtClean="0">
                                  <a:latin typeface="Cambria Math" panose="02040503050406030204" pitchFamily="18" charset="0"/>
                                </a:rPr>
                                <m:t>𝑐</m:t>
                              </m:r>
                            </m:sub>
                          </m:sSub>
                          <m:sSub>
                            <m:sSubPr>
                              <m:ctrlPr>
                                <a:rPr lang="it-IT" b="0" i="1" smtClean="0">
                                  <a:latin typeface="Cambria Math" panose="02040503050406030204" pitchFamily="18" charset="0"/>
                                </a:rPr>
                              </m:ctrlPr>
                            </m:sSubPr>
                            <m:e>
                              <m:r>
                                <a:rPr lang="it-IT" b="0" i="1" smtClean="0">
                                  <a:latin typeface="Cambria Math" panose="02040503050406030204" pitchFamily="18" charset="0"/>
                                </a:rPr>
                                <m:t>𝐹</m:t>
                              </m:r>
                            </m:e>
                            <m:sub>
                              <m:r>
                                <a:rPr lang="it-IT" b="0" i="1" smtClean="0">
                                  <a:latin typeface="Cambria Math" panose="02040503050406030204" pitchFamily="18" charset="0"/>
                                </a:rPr>
                                <m:t>𝐷</m:t>
                              </m:r>
                            </m:sub>
                          </m:sSub>
                        </m:den>
                      </m:f>
                    </m:oMath>
                  </m:oMathPara>
                </a14:m>
                <a:endParaRPr lang="it-IT" dirty="0"/>
              </a:p>
              <a:p>
                <a:pPr marL="0" indent="0">
                  <a:buNone/>
                </a:pPr>
                <a:r>
                  <a:rPr lang="it-IT" dirty="0"/>
                  <a:t>Dove </a:t>
                </a:r>
                <a14:m>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𝑇</m:t>
                        </m:r>
                      </m:e>
                      <m:sub>
                        <m:r>
                          <a:rPr lang="it-IT" b="0" i="1" smtClean="0">
                            <a:latin typeface="Cambria Math" panose="02040503050406030204" pitchFamily="18" charset="0"/>
                          </a:rPr>
                          <m:t>𝑤</m:t>
                        </m:r>
                      </m:sub>
                    </m:sSub>
                  </m:oMath>
                </a14:m>
                <a:r>
                  <a:rPr lang="it-IT" dirty="0"/>
                  <a:t> è la somma di </a:t>
                </a:r>
                <a14:m>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𝑠𝑒𝑡𝑢𝑝</m:t>
                        </m:r>
                      </m:sub>
                    </m:sSub>
                  </m:oMath>
                </a14:m>
                <a:r>
                  <a:rPr lang="it-IT" dirty="0"/>
                  <a:t> e </a:t>
                </a:r>
                <a14:m>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h𝑜𝑙𝑑</m:t>
                        </m:r>
                      </m:sub>
                    </m:sSub>
                  </m:oMath>
                </a14:m>
                <a:r>
                  <a:rPr lang="it-IT" dirty="0"/>
                  <a:t>, </a:t>
                </a:r>
                <a14:m>
                  <m:oMath xmlns:m="http://schemas.openxmlformats.org/officeDocument/2006/math">
                    <m:sSub>
                      <m:sSubPr>
                        <m:ctrlPr>
                          <a:rPr lang="it-IT" i="1">
                            <a:latin typeface="Cambria Math" panose="02040503050406030204" pitchFamily="18" charset="0"/>
                          </a:rPr>
                        </m:ctrlPr>
                      </m:sSubPr>
                      <m:e>
                        <m:r>
                          <a:rPr lang="it-IT" i="1">
                            <a:latin typeface="Cambria Math" panose="02040503050406030204" pitchFamily="18" charset="0"/>
                          </a:rPr>
                          <m:t>𝐹</m:t>
                        </m:r>
                      </m:e>
                      <m:sub>
                        <m:r>
                          <a:rPr lang="it-IT" i="1">
                            <a:latin typeface="Cambria Math" panose="02040503050406030204" pitchFamily="18" charset="0"/>
                          </a:rPr>
                          <m:t>𝑐</m:t>
                        </m:r>
                      </m:sub>
                    </m:sSub>
                  </m:oMath>
                </a14:m>
                <a:r>
                  <a:rPr lang="it-IT" dirty="0"/>
                  <a:t> è la frequenza del clock, </a:t>
                </a:r>
                <a14:m>
                  <m:oMath xmlns:m="http://schemas.openxmlformats.org/officeDocument/2006/math">
                    <m:sSub>
                      <m:sSubPr>
                        <m:ctrlPr>
                          <a:rPr lang="it-IT" i="1">
                            <a:latin typeface="Cambria Math" panose="02040503050406030204" pitchFamily="18" charset="0"/>
                          </a:rPr>
                        </m:ctrlPr>
                      </m:sSubPr>
                      <m:e>
                        <m:r>
                          <a:rPr lang="it-IT" i="1">
                            <a:latin typeface="Cambria Math" panose="02040503050406030204" pitchFamily="18" charset="0"/>
                          </a:rPr>
                          <m:t>𝐹</m:t>
                        </m:r>
                      </m:e>
                      <m:sub>
                        <m:r>
                          <a:rPr lang="it-IT" i="1">
                            <a:latin typeface="Cambria Math" panose="02040503050406030204" pitchFamily="18" charset="0"/>
                          </a:rPr>
                          <m:t>𝐷</m:t>
                        </m:r>
                      </m:sub>
                    </m:sSub>
                  </m:oMath>
                </a14:m>
                <a:r>
                  <a:rPr lang="it-IT" dirty="0"/>
                  <a:t> è il numero di transizioni al secondo all’ingresso D, </a:t>
                </a:r>
                <a14:m>
                  <m:oMath xmlns:m="http://schemas.openxmlformats.org/officeDocument/2006/math">
                    <m:r>
                      <a:rPr lang="it-IT" b="0" i="1" smtClean="0">
                        <a:latin typeface="Cambria Math" panose="02040503050406030204" pitchFamily="18" charset="0"/>
                      </a:rPr>
                      <m:t>𝑆</m:t>
                    </m:r>
                  </m:oMath>
                </a14:m>
                <a:r>
                  <a:rPr lang="it-IT" dirty="0"/>
                  <a:t> è il tempo in cui è stimato che si risolva l’evento metastabile (di solito un ciclo di clock) e </a:t>
                </a:r>
                <a14:m>
                  <m:oMath xmlns:m="http://schemas.openxmlformats.org/officeDocument/2006/math">
                    <m:r>
                      <a:rPr lang="it-IT" i="1">
                        <a:latin typeface="Cambria Math" panose="02040503050406030204" pitchFamily="18" charset="0"/>
                        <a:ea typeface="Cambria Math" panose="02040503050406030204" pitchFamily="18" charset="0"/>
                      </a:rPr>
                      <m:t>𝜏</m:t>
                    </m:r>
                  </m:oMath>
                </a14:m>
                <a:r>
                  <a:rPr lang="it-IT" dirty="0"/>
                  <a:t> è un parametro legato alla tecnologia del dispositivo (tipicamente un gate delay).</a:t>
                </a:r>
              </a:p>
            </p:txBody>
          </p:sp>
        </mc:Choice>
        <mc:Fallback>
          <p:sp>
            <p:nvSpPr>
              <p:cNvPr id="3" name="Segnaposto contenuto 2">
                <a:extLst>
                  <a:ext uri="{FF2B5EF4-FFF2-40B4-BE49-F238E27FC236}">
                    <a16:creationId xmlns:a16="http://schemas.microsoft.com/office/drawing/2014/main" id="{80AF5044-A5F6-B350-003B-35811FBBA53C}"/>
                  </a:ext>
                </a:extLst>
              </p:cNvPr>
              <p:cNvSpPr>
                <a:spLocks noGrp="1" noRot="1" noChangeAspect="1" noMove="1" noResize="1" noEditPoints="1" noAdjustHandles="1" noChangeArrowheads="1" noChangeShapeType="1" noTextEdit="1"/>
              </p:cNvSpPr>
              <p:nvPr>
                <p:ph idx="1"/>
              </p:nvPr>
            </p:nvSpPr>
            <p:spPr>
              <a:xfrm>
                <a:off x="1141413" y="1956032"/>
                <a:ext cx="9905998" cy="4444767"/>
              </a:xfrm>
              <a:blipFill>
                <a:blip r:embed="rId2"/>
                <a:stretch>
                  <a:fillRect/>
                </a:stretch>
              </a:blipFill>
            </p:spPr>
            <p:txBody>
              <a:bodyPr/>
              <a:lstStyle/>
              <a:p>
                <a:r>
                  <a:rPr lang="it-IT">
                    <a:noFill/>
                  </a:rPr>
                  <a:t> </a:t>
                </a:r>
              </a:p>
            </p:txBody>
          </p:sp>
        </mc:Fallback>
      </mc:AlternateContent>
      <p:pic>
        <p:nvPicPr>
          <p:cNvPr id="6" name="Elemento grafico 5">
            <a:extLst>
              <a:ext uri="{FF2B5EF4-FFF2-40B4-BE49-F238E27FC236}">
                <a16:creationId xmlns:a16="http://schemas.microsoft.com/office/drawing/2014/main" id="{E1875396-2724-9C53-FF7B-FFF83F33BB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92831" y="4186370"/>
            <a:ext cx="2103137" cy="1315929"/>
          </a:xfrm>
          <a:prstGeom prst="rect">
            <a:avLst/>
          </a:prstGeom>
        </p:spPr>
      </p:pic>
      <p:pic>
        <p:nvPicPr>
          <p:cNvPr id="4" name="Elemento grafico 3">
            <a:extLst>
              <a:ext uri="{FF2B5EF4-FFF2-40B4-BE49-F238E27FC236}">
                <a16:creationId xmlns:a16="http://schemas.microsoft.com/office/drawing/2014/main" id="{CE13EA39-84A2-D62B-0601-26803F28B74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92833" y="2049463"/>
            <a:ext cx="2103135" cy="1315929"/>
          </a:xfrm>
          <a:prstGeom prst="rect">
            <a:avLst/>
          </a:prstGeom>
        </p:spPr>
      </p:pic>
    </p:spTree>
    <p:extLst>
      <p:ext uri="{BB962C8B-B14F-4D97-AF65-F5344CB8AC3E}">
        <p14:creationId xmlns:p14="http://schemas.microsoft.com/office/powerpoint/2010/main" val="31065021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1">
            <a:extLst>
              <a:ext uri="{FF2B5EF4-FFF2-40B4-BE49-F238E27FC236}">
                <a16:creationId xmlns:a16="http://schemas.microsoft.com/office/drawing/2014/main" id="{280F8197-366A-AAC9-0591-28563627628E}"/>
              </a:ext>
            </a:extLst>
          </p:cNvPr>
          <p:cNvSpPr txBox="1">
            <a:spLocks/>
          </p:cNvSpPr>
          <p:nvPr/>
        </p:nvSpPr>
        <p:spPr>
          <a:xfrm>
            <a:off x="1141413" y="618518"/>
            <a:ext cx="9905998" cy="571072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it-IT" sz="8000" dirty="0"/>
              <a:t>HDL in pratica:</a:t>
            </a:r>
          </a:p>
          <a:p>
            <a:pPr algn="ctr"/>
            <a:r>
              <a:rPr lang="it-IT" sz="8000" dirty="0"/>
              <a:t>LA CODIFICA «MANCHESTER»</a:t>
            </a:r>
          </a:p>
        </p:txBody>
      </p:sp>
    </p:spTree>
    <p:extLst>
      <p:ext uri="{BB962C8B-B14F-4D97-AF65-F5344CB8AC3E}">
        <p14:creationId xmlns:p14="http://schemas.microsoft.com/office/powerpoint/2010/main" val="28682086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582F8D9-F12A-3021-D7CD-2E4C9B284BB8}"/>
              </a:ext>
            </a:extLst>
          </p:cNvPr>
          <p:cNvSpPr>
            <a:spLocks noGrp="1"/>
          </p:cNvSpPr>
          <p:nvPr>
            <p:ph type="title"/>
          </p:nvPr>
        </p:nvSpPr>
        <p:spPr/>
        <p:txBody>
          <a:bodyPr/>
          <a:lstStyle/>
          <a:p>
            <a:r>
              <a:rPr lang="it-IT" dirty="0"/>
              <a:t>LA CODIFICA MANCHESTER</a:t>
            </a:r>
          </a:p>
        </p:txBody>
      </p:sp>
      <p:sp>
        <p:nvSpPr>
          <p:cNvPr id="3" name="Segnaposto contenuto 2">
            <a:extLst>
              <a:ext uri="{FF2B5EF4-FFF2-40B4-BE49-F238E27FC236}">
                <a16:creationId xmlns:a16="http://schemas.microsoft.com/office/drawing/2014/main" id="{9DB89291-5906-A950-9E59-BE67F8A4F0E1}"/>
              </a:ext>
            </a:extLst>
          </p:cNvPr>
          <p:cNvSpPr>
            <a:spLocks noGrp="1"/>
          </p:cNvSpPr>
          <p:nvPr>
            <p:ph idx="1"/>
          </p:nvPr>
        </p:nvSpPr>
        <p:spPr>
          <a:xfrm>
            <a:off x="1141413" y="2441051"/>
            <a:ext cx="9664410" cy="3681454"/>
          </a:xfrm>
        </p:spPr>
        <p:txBody>
          <a:bodyPr>
            <a:normAutofit fontScale="85000" lnSpcReduction="20000"/>
          </a:bodyPr>
          <a:lstStyle/>
          <a:p>
            <a:pPr marL="0" indent="0">
              <a:buNone/>
            </a:pPr>
            <a:r>
              <a:rPr lang="it-IT" dirty="0"/>
              <a:t>La codifica Manchester (dal nome dell’università dove è stata sviluppata) è una codifica binaria (o se vogliamo una modulazione) a scostamento di fase (2-BPSK).</a:t>
            </a:r>
          </a:p>
          <a:p>
            <a:pPr marL="0" indent="0">
              <a:buNone/>
            </a:pPr>
            <a:r>
              <a:rPr lang="it-IT" dirty="0"/>
              <a:t>Tale codifica garantisce frequenti transizioni di potenziale sulla linea di trasmissione, che sono direttamente proporzionali alla frequenza del clock, agevolando quindi il recupero (sincronizzazione) di quest'ultimo sul ricevitore. Il codice Manchester ha sempre una transizione a metà di ciascun bit. </a:t>
            </a:r>
          </a:p>
          <a:p>
            <a:pPr marL="0" indent="0">
              <a:buNone/>
            </a:pPr>
            <a:r>
              <a:rPr lang="it-IT" dirty="0"/>
              <a:t>Solitamente il segnale viene privato della componente continua che, al fine della interpretazione dei dati, non è rilevante. Normalmente, dal punto di vista elettrico, si opta per una trasmissione differenziale. </a:t>
            </a:r>
          </a:p>
          <a:p>
            <a:pPr marL="0" indent="0">
              <a:buNone/>
            </a:pPr>
            <a:r>
              <a:rPr lang="it-IT" dirty="0"/>
              <a:t>La linea di trasmissione necessita di una banda almeno doppia rispetto a quella delle informazioni.</a:t>
            </a:r>
          </a:p>
          <a:p>
            <a:pPr marL="0" indent="0">
              <a:buNone/>
            </a:pPr>
            <a:r>
              <a:rPr lang="it-IT" dirty="0"/>
              <a:t>Portando anche l’informazione di cadenza (clock) assieme ai dati, è considerata una </a:t>
            </a:r>
            <a:r>
              <a:rPr lang="it-IT" u="sng" dirty="0"/>
              <a:t>trasmissione sincrona</a:t>
            </a:r>
            <a:r>
              <a:rPr lang="it-IT" dirty="0"/>
              <a:t>, anche se non utilizza una linea separata per il clock come fanno altri tipi di interfacce sincrone.</a:t>
            </a:r>
          </a:p>
          <a:p>
            <a:pPr marL="0" indent="0">
              <a:buNone/>
            </a:pPr>
            <a:endParaRPr lang="it-IT" dirty="0"/>
          </a:p>
        </p:txBody>
      </p:sp>
    </p:spTree>
    <p:extLst>
      <p:ext uri="{BB962C8B-B14F-4D97-AF65-F5344CB8AC3E}">
        <p14:creationId xmlns:p14="http://schemas.microsoft.com/office/powerpoint/2010/main" val="4972339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84F432B-60D0-5F91-C330-D44534C7C24F}"/>
              </a:ext>
            </a:extLst>
          </p:cNvPr>
          <p:cNvSpPr>
            <a:spLocks noGrp="1"/>
          </p:cNvSpPr>
          <p:nvPr>
            <p:ph type="title"/>
          </p:nvPr>
        </p:nvSpPr>
        <p:spPr>
          <a:xfrm>
            <a:off x="1141413" y="609600"/>
            <a:ext cx="9905998" cy="1171492"/>
          </a:xfrm>
        </p:spPr>
        <p:txBody>
          <a:bodyPr/>
          <a:lstStyle/>
          <a:p>
            <a:r>
              <a:rPr lang="it-IT" dirty="0"/>
              <a:t>CODIFICATORE MANCHESTER (1)</a:t>
            </a:r>
          </a:p>
        </p:txBody>
      </p:sp>
      <p:sp>
        <p:nvSpPr>
          <p:cNvPr id="3" name="Segnaposto contenuto 2">
            <a:extLst>
              <a:ext uri="{FF2B5EF4-FFF2-40B4-BE49-F238E27FC236}">
                <a16:creationId xmlns:a16="http://schemas.microsoft.com/office/drawing/2014/main" id="{C1F5545B-CBA0-086D-1093-6FF2E1E27AF9}"/>
              </a:ext>
            </a:extLst>
          </p:cNvPr>
          <p:cNvSpPr>
            <a:spLocks noGrp="1"/>
          </p:cNvSpPr>
          <p:nvPr>
            <p:ph idx="1"/>
          </p:nvPr>
        </p:nvSpPr>
        <p:spPr>
          <a:xfrm>
            <a:off x="1141413" y="1781092"/>
            <a:ext cx="9905998" cy="2451877"/>
          </a:xfrm>
        </p:spPr>
        <p:txBody>
          <a:bodyPr>
            <a:normAutofit fontScale="85000" lnSpcReduction="10000"/>
          </a:bodyPr>
          <a:lstStyle/>
          <a:p>
            <a:pPr marL="0" indent="0">
              <a:buNone/>
            </a:pPr>
            <a:r>
              <a:rPr lang="it-IT" dirty="0"/>
              <a:t>Per realizzare un Codificatore Manchester nella sua forma più semplice, basterebbe operare uno XOR fra il clock (</a:t>
            </a:r>
            <a:r>
              <a:rPr lang="it-IT" dirty="0" err="1"/>
              <a:t>clk</a:t>
            </a:r>
            <a:r>
              <a:rPr lang="it-IT" dirty="0"/>
              <a:t>) e i dati (convenzione di </a:t>
            </a:r>
            <a:r>
              <a:rPr lang="it-IT" dirty="0" err="1"/>
              <a:t>Stallings</a:t>
            </a:r>
            <a:r>
              <a:rPr lang="it-IT" dirty="0"/>
              <a:t>, standard IEEE 802.x).</a:t>
            </a:r>
          </a:p>
          <a:p>
            <a:pPr marL="0" indent="0">
              <a:buNone/>
            </a:pPr>
            <a:r>
              <a:rPr lang="it-IT" dirty="0"/>
              <a:t>Per migliorare l’</a:t>
            </a:r>
            <a:r>
              <a:rPr lang="it-IT" dirty="0" err="1"/>
              <a:t>affidabilià</a:t>
            </a:r>
            <a:r>
              <a:rPr lang="it-IT" dirty="0"/>
              <a:t> dell’encoder è stato aggiunto un sincronizzatore (flip-flop) all’ingresso dei dati. </a:t>
            </a:r>
          </a:p>
          <a:p>
            <a:pPr marL="0" indent="0">
              <a:buNone/>
            </a:pPr>
            <a:r>
              <a:rPr lang="it-IT" dirty="0"/>
              <a:t>Sebbene aggiunga del ritardo al segnale d’uscita dell’encoder, un secondo flip-flop è stato aggiunto allo scopo di eliminare eventuali alee statiche generate dalla porta XOR. Infatti, a seconda della tecnologia e dell’architettura relativa all’implementazione della porta XOR, dal momento che la funzione è costituita da due </a:t>
            </a:r>
            <a:r>
              <a:rPr lang="it-IT" dirty="0" err="1"/>
              <a:t>minterm</a:t>
            </a:r>
            <a:r>
              <a:rPr lang="it-IT" dirty="0"/>
              <a:t> disgiunti, esiste la probabilità che si possano generare alee statiche.</a:t>
            </a:r>
          </a:p>
        </p:txBody>
      </p:sp>
      <p:pic>
        <p:nvPicPr>
          <p:cNvPr id="7" name="Elemento grafico 6">
            <a:extLst>
              <a:ext uri="{FF2B5EF4-FFF2-40B4-BE49-F238E27FC236}">
                <a16:creationId xmlns:a16="http://schemas.microsoft.com/office/drawing/2014/main" id="{796B6686-B5A5-F87D-1D84-53D74CA32B1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91765" y="4320430"/>
            <a:ext cx="7405293" cy="2178658"/>
          </a:xfrm>
          <a:prstGeom prst="rect">
            <a:avLst/>
          </a:prstGeom>
        </p:spPr>
      </p:pic>
    </p:spTree>
    <p:extLst>
      <p:ext uri="{BB962C8B-B14F-4D97-AF65-F5344CB8AC3E}">
        <p14:creationId xmlns:p14="http://schemas.microsoft.com/office/powerpoint/2010/main" val="41897021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84F432B-60D0-5F91-C330-D44534C7C24F}"/>
              </a:ext>
            </a:extLst>
          </p:cNvPr>
          <p:cNvSpPr>
            <a:spLocks noGrp="1"/>
          </p:cNvSpPr>
          <p:nvPr>
            <p:ph type="title"/>
          </p:nvPr>
        </p:nvSpPr>
        <p:spPr/>
        <p:txBody>
          <a:bodyPr/>
          <a:lstStyle/>
          <a:p>
            <a:r>
              <a:rPr lang="it-IT" dirty="0"/>
              <a:t>CODIFICATORE MANCHESTER (2)</a:t>
            </a:r>
          </a:p>
        </p:txBody>
      </p:sp>
      <p:sp>
        <p:nvSpPr>
          <p:cNvPr id="3" name="Segnaposto contenuto 2">
            <a:extLst>
              <a:ext uri="{FF2B5EF4-FFF2-40B4-BE49-F238E27FC236}">
                <a16:creationId xmlns:a16="http://schemas.microsoft.com/office/drawing/2014/main" id="{C1F5545B-CBA0-086D-1093-6FF2E1E27AF9}"/>
              </a:ext>
            </a:extLst>
          </p:cNvPr>
          <p:cNvSpPr>
            <a:spLocks noGrp="1"/>
          </p:cNvSpPr>
          <p:nvPr>
            <p:ph idx="1"/>
          </p:nvPr>
        </p:nvSpPr>
        <p:spPr>
          <a:xfrm>
            <a:off x="1141413" y="2666999"/>
            <a:ext cx="6627011" cy="3124201"/>
          </a:xfrm>
        </p:spPr>
        <p:txBody>
          <a:bodyPr>
            <a:normAutofit/>
          </a:bodyPr>
          <a:lstStyle/>
          <a:p>
            <a:r>
              <a:rPr lang="it-IT" dirty="0"/>
              <a:t>Una struttura alternativa per il codificatore Manchester vede l’utilizzo di una macchina a stati per la generazione del segnale.</a:t>
            </a:r>
          </a:p>
          <a:p>
            <a:r>
              <a:rPr lang="it-IT" dirty="0"/>
              <a:t>Il vantaggio portato da questa architettura risiede nel fatto che è sufficiente solo un clock per il suo funzionamento e che è del tutto annullata la probabilità di avere alee statiche in uscita.</a:t>
            </a:r>
          </a:p>
          <a:p>
            <a:r>
              <a:rPr lang="it-IT" dirty="0"/>
              <a:t>Di contro utilizza più parti per realizzare la funzione.</a:t>
            </a:r>
          </a:p>
        </p:txBody>
      </p:sp>
      <p:pic>
        <p:nvPicPr>
          <p:cNvPr id="5" name="Elemento grafico 4">
            <a:extLst>
              <a:ext uri="{FF2B5EF4-FFF2-40B4-BE49-F238E27FC236}">
                <a16:creationId xmlns:a16="http://schemas.microsoft.com/office/drawing/2014/main" id="{5962FC00-0A25-A91C-3970-FDC9C24778F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14791" y="1184868"/>
            <a:ext cx="3552825" cy="5172075"/>
          </a:xfrm>
          <a:prstGeom prst="rect">
            <a:avLst/>
          </a:prstGeom>
        </p:spPr>
      </p:pic>
    </p:spTree>
    <p:extLst>
      <p:ext uri="{BB962C8B-B14F-4D97-AF65-F5344CB8AC3E}">
        <p14:creationId xmlns:p14="http://schemas.microsoft.com/office/powerpoint/2010/main" val="21377912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66CC979-2340-389B-40D2-88B4BE424F9E}"/>
              </a:ext>
            </a:extLst>
          </p:cNvPr>
          <p:cNvSpPr>
            <a:spLocks noGrp="1"/>
          </p:cNvSpPr>
          <p:nvPr>
            <p:ph type="title"/>
          </p:nvPr>
        </p:nvSpPr>
        <p:spPr>
          <a:xfrm>
            <a:off x="1141413" y="609600"/>
            <a:ext cx="9905998" cy="1091979"/>
          </a:xfrm>
        </p:spPr>
        <p:txBody>
          <a:bodyPr/>
          <a:lstStyle/>
          <a:p>
            <a:r>
              <a:rPr lang="it-IT" dirty="0"/>
              <a:t>Decodificatore </a:t>
            </a:r>
            <a:r>
              <a:rPr lang="it-IT" dirty="0" err="1"/>
              <a:t>manchester</a:t>
            </a:r>
            <a:endParaRPr lang="it-IT" dirty="0"/>
          </a:p>
        </p:txBody>
      </p:sp>
      <p:sp>
        <p:nvSpPr>
          <p:cNvPr id="3" name="Segnaposto contenuto 2">
            <a:extLst>
              <a:ext uri="{FF2B5EF4-FFF2-40B4-BE49-F238E27FC236}">
                <a16:creationId xmlns:a16="http://schemas.microsoft.com/office/drawing/2014/main" id="{09A58836-5753-89A6-A21D-F358DCB02E73}"/>
              </a:ext>
            </a:extLst>
          </p:cNvPr>
          <p:cNvSpPr>
            <a:spLocks noGrp="1"/>
          </p:cNvSpPr>
          <p:nvPr>
            <p:ph idx="1"/>
          </p:nvPr>
        </p:nvSpPr>
        <p:spPr>
          <a:xfrm>
            <a:off x="1141413" y="1796995"/>
            <a:ext cx="9905998" cy="4451405"/>
          </a:xfrm>
        </p:spPr>
        <p:txBody>
          <a:bodyPr>
            <a:normAutofit fontScale="92500" lnSpcReduction="10000"/>
          </a:bodyPr>
          <a:lstStyle/>
          <a:p>
            <a:r>
              <a:rPr lang="it-IT" dirty="0"/>
              <a:t>La decodifica di un segnale Manchester, prevede il recupero della cadenza (clock) assieme all’informazione vera e propria (i dati).</a:t>
            </a:r>
          </a:p>
          <a:p>
            <a:r>
              <a:rPr lang="it-IT" dirty="0"/>
              <a:t>Nella pratica, per i segnali provenienti da canali ad altissima velocità, il recupero del clock è fatto mediante particolari circuiti (PLL, </a:t>
            </a:r>
            <a:r>
              <a:rPr lang="it-IT" dirty="0" err="1"/>
              <a:t>Phase</a:t>
            </a:r>
            <a:r>
              <a:rPr lang="it-IT" dirty="0"/>
              <a:t> </a:t>
            </a:r>
            <a:r>
              <a:rPr lang="it-IT" dirty="0" err="1"/>
              <a:t>Locked</a:t>
            </a:r>
            <a:r>
              <a:rPr lang="it-IT" dirty="0"/>
              <a:t> Loop, cioè «circuito ad anello ad aggancio di fase») in grado di sincronizzarsi su una frequenza o un multiplo di essa. Tali dispositivi, dopo un esiguo numero di cicli del segnale, generano un clock perfettamente sincronizzato con quello in esso  contenuto. Questo clock può essere utilizzato per recuperare le informazioni originali dal segnale stesso.</a:t>
            </a:r>
          </a:p>
          <a:p>
            <a:r>
              <a:rPr lang="it-IT" dirty="0"/>
              <a:t>Se la comunicazione è costituita da un segnale non particolarmente veloce, si possono usare tecniche alternative che non richiedono l’utilizzo di parti analogiche come i PLL. Le architetture di questo tipo si basano sulla rilevazione dei cambiamenti del segnale accompagnate a campionamenti ritardati, entrambi ottenibili con circuiti logici. In questa presentazione utilizzeremo questo secondo approccio.</a:t>
            </a:r>
          </a:p>
          <a:p>
            <a:endParaRPr lang="it-IT" dirty="0"/>
          </a:p>
        </p:txBody>
      </p:sp>
    </p:spTree>
    <p:extLst>
      <p:ext uri="{BB962C8B-B14F-4D97-AF65-F5344CB8AC3E}">
        <p14:creationId xmlns:p14="http://schemas.microsoft.com/office/powerpoint/2010/main" val="35995813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66CC979-2340-389B-40D2-88B4BE424F9E}"/>
              </a:ext>
            </a:extLst>
          </p:cNvPr>
          <p:cNvSpPr>
            <a:spLocks noGrp="1"/>
          </p:cNvSpPr>
          <p:nvPr>
            <p:ph type="title"/>
          </p:nvPr>
        </p:nvSpPr>
        <p:spPr>
          <a:xfrm>
            <a:off x="1141413" y="609600"/>
            <a:ext cx="9905998" cy="1091979"/>
          </a:xfrm>
        </p:spPr>
        <p:txBody>
          <a:bodyPr/>
          <a:lstStyle/>
          <a:p>
            <a:r>
              <a:rPr lang="it-IT" dirty="0"/>
              <a:t>Decodificatore </a:t>
            </a:r>
            <a:r>
              <a:rPr lang="it-IT" dirty="0" err="1"/>
              <a:t>manchester</a:t>
            </a:r>
            <a:endParaRPr lang="it-IT" dirty="0"/>
          </a:p>
        </p:txBody>
      </p:sp>
      <p:sp>
        <p:nvSpPr>
          <p:cNvPr id="3" name="Segnaposto contenuto 2">
            <a:extLst>
              <a:ext uri="{FF2B5EF4-FFF2-40B4-BE49-F238E27FC236}">
                <a16:creationId xmlns:a16="http://schemas.microsoft.com/office/drawing/2014/main" id="{09A58836-5753-89A6-A21D-F358DCB02E73}"/>
              </a:ext>
            </a:extLst>
          </p:cNvPr>
          <p:cNvSpPr>
            <a:spLocks noGrp="1"/>
          </p:cNvSpPr>
          <p:nvPr>
            <p:ph idx="1"/>
          </p:nvPr>
        </p:nvSpPr>
        <p:spPr>
          <a:xfrm>
            <a:off x="1141413" y="2003729"/>
            <a:ext cx="5418413" cy="4126727"/>
          </a:xfrm>
        </p:spPr>
        <p:txBody>
          <a:bodyPr>
            <a:normAutofit fontScale="85000" lnSpcReduction="10000"/>
          </a:bodyPr>
          <a:lstStyle/>
          <a:p>
            <a:pPr marL="0" indent="0">
              <a:buNone/>
            </a:pPr>
            <a:r>
              <a:rPr lang="it-IT" dirty="0" err="1"/>
              <a:t>Il·decodificatore</a:t>
            </a:r>
            <a:r>
              <a:rPr lang="it-IT" dirty="0"/>
              <a:t> estrae il clock (data clock) e i dati (data out) dal segnale (s-</a:t>
            </a:r>
            <a:r>
              <a:rPr lang="it-IT" dirty="0" err="1"/>
              <a:t>manc</a:t>
            </a:r>
            <a:r>
              <a:rPr lang="it-IT" dirty="0"/>
              <a:t>).</a:t>
            </a:r>
          </a:p>
          <a:p>
            <a:pPr marL="0" indent="0">
              <a:buNone/>
            </a:pPr>
            <a:r>
              <a:rPr lang="it-IT" dirty="0"/>
              <a:t>Facendo lo XOR fra il segnale (s-</a:t>
            </a:r>
            <a:r>
              <a:rPr lang="it-IT" dirty="0" err="1"/>
              <a:t>manc</a:t>
            </a:r>
            <a:r>
              <a:rPr lang="it-IT" dirty="0"/>
              <a:t>) e una sua copia ritardata (</a:t>
            </a:r>
            <a:r>
              <a:rPr lang="it-IT" dirty="0" err="1"/>
              <a:t>delayed</a:t>
            </a:r>
            <a:r>
              <a:rPr lang="it-IT" dirty="0"/>
              <a:t>) otteniamo il segnale </a:t>
            </a:r>
            <a:r>
              <a:rPr lang="it-IT" i="1" dirty="0" err="1"/>
              <a:t>edge</a:t>
            </a:r>
            <a:r>
              <a:rPr lang="it-IT" dirty="0"/>
              <a:t>. </a:t>
            </a:r>
          </a:p>
          <a:p>
            <a:pPr marL="0" indent="0">
              <a:buNone/>
            </a:pPr>
            <a:r>
              <a:rPr lang="it-IT" dirty="0"/>
              <a:t>Il segnale </a:t>
            </a:r>
            <a:r>
              <a:rPr lang="it-IT" i="1" dirty="0" err="1"/>
              <a:t>edge</a:t>
            </a:r>
            <a:r>
              <a:rPr lang="it-IT" dirty="0"/>
              <a:t> alimenta un ingresso di una macchina a stati (counter/</a:t>
            </a:r>
            <a:r>
              <a:rPr lang="it-IT" dirty="0" err="1"/>
              <a:t>sequencer</a:t>
            </a:r>
            <a:r>
              <a:rPr lang="it-IT" dirty="0"/>
              <a:t>). Se quest’ultima è in attesa di uno stimolo e se </a:t>
            </a:r>
            <a:r>
              <a:rPr lang="it-IT" i="1" dirty="0" err="1"/>
              <a:t>edge</a:t>
            </a:r>
            <a:r>
              <a:rPr lang="it-IT" dirty="0"/>
              <a:t> è a uno, la macchina a stati, nel nostro caso partendo da 5, innesca un conteggio a ritroso che, arrivato a zero, determina il momento nel quale il decoder campiona il valore del dato contenuto nel segnale di ingresso (s-</a:t>
            </a:r>
            <a:r>
              <a:rPr lang="it-IT" dirty="0" err="1"/>
              <a:t>manc</a:t>
            </a:r>
            <a:r>
              <a:rPr lang="it-IT" dirty="0"/>
              <a:t>).</a:t>
            </a:r>
          </a:p>
          <a:p>
            <a:pPr marL="0" indent="0">
              <a:buNone/>
            </a:pPr>
            <a:r>
              <a:rPr lang="it-IT" dirty="0"/>
              <a:t>Durante il conteggio, l’ingresso </a:t>
            </a:r>
            <a:r>
              <a:rPr lang="it-IT" i="1" dirty="0" err="1"/>
              <a:t>edge</a:t>
            </a:r>
            <a:r>
              <a:rPr lang="it-IT" dirty="0"/>
              <a:t> è ignorato.</a:t>
            </a:r>
          </a:p>
        </p:txBody>
      </p:sp>
      <p:pic>
        <p:nvPicPr>
          <p:cNvPr id="12" name="Elemento grafico 11">
            <a:extLst>
              <a:ext uri="{FF2B5EF4-FFF2-40B4-BE49-F238E27FC236}">
                <a16:creationId xmlns:a16="http://schemas.microsoft.com/office/drawing/2014/main" id="{E7E21155-A773-9292-C98B-24E722C19C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89368" y="1701578"/>
            <a:ext cx="5059510" cy="4890053"/>
          </a:xfrm>
          <a:prstGeom prst="rect">
            <a:avLst/>
          </a:prstGeom>
        </p:spPr>
      </p:pic>
    </p:spTree>
    <p:extLst>
      <p:ext uri="{BB962C8B-B14F-4D97-AF65-F5344CB8AC3E}">
        <p14:creationId xmlns:p14="http://schemas.microsoft.com/office/powerpoint/2010/main" val="26453365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1">
            <a:extLst>
              <a:ext uri="{FF2B5EF4-FFF2-40B4-BE49-F238E27FC236}">
                <a16:creationId xmlns:a16="http://schemas.microsoft.com/office/drawing/2014/main" id="{280F8197-366A-AAC9-0591-28563627628E}"/>
              </a:ext>
            </a:extLst>
          </p:cNvPr>
          <p:cNvSpPr txBox="1">
            <a:spLocks/>
          </p:cNvSpPr>
          <p:nvPr/>
        </p:nvSpPr>
        <p:spPr>
          <a:xfrm>
            <a:off x="1141413" y="618518"/>
            <a:ext cx="9905998" cy="571072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it-IT" sz="8000" dirty="0"/>
              <a:t>HDL in pratica:</a:t>
            </a:r>
          </a:p>
          <a:p>
            <a:pPr algn="ctr"/>
            <a:r>
              <a:rPr lang="it-IT" sz="8000" dirty="0"/>
              <a:t>(UTILE INTERMEZZO)</a:t>
            </a:r>
            <a:br>
              <a:rPr lang="it-IT" sz="8000" dirty="0"/>
            </a:br>
            <a:r>
              <a:rPr lang="it-IT" sz="8000" dirty="0"/>
              <a:t>GLI LFSR</a:t>
            </a:r>
          </a:p>
        </p:txBody>
      </p:sp>
    </p:spTree>
    <p:extLst>
      <p:ext uri="{BB962C8B-B14F-4D97-AF65-F5344CB8AC3E}">
        <p14:creationId xmlns:p14="http://schemas.microsoft.com/office/powerpoint/2010/main" val="27594812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9BA5067-C86D-021E-72EF-1709C782A9FA}"/>
              </a:ext>
            </a:extLst>
          </p:cNvPr>
          <p:cNvSpPr>
            <a:spLocks noGrp="1"/>
          </p:cNvSpPr>
          <p:nvPr>
            <p:ph type="title"/>
          </p:nvPr>
        </p:nvSpPr>
        <p:spPr/>
        <p:txBody>
          <a:bodyPr/>
          <a:lstStyle/>
          <a:p>
            <a:r>
              <a:rPr lang="it-IT" dirty="0"/>
              <a:t>LFSR (</a:t>
            </a:r>
            <a:r>
              <a:rPr lang="it-IT" dirty="0" err="1"/>
              <a:t>Linead</a:t>
            </a:r>
            <a:r>
              <a:rPr lang="it-IT" dirty="0"/>
              <a:t> feedback shift </a:t>
            </a:r>
            <a:r>
              <a:rPr lang="it-IT" dirty="0" err="1"/>
              <a:t>register</a:t>
            </a:r>
            <a:r>
              <a:rPr lang="it-IT" dirty="0"/>
              <a:t>)</a:t>
            </a:r>
          </a:p>
        </p:txBody>
      </p:sp>
      <p:sp>
        <p:nvSpPr>
          <p:cNvPr id="3" name="Segnaposto contenuto 2">
            <a:extLst>
              <a:ext uri="{FF2B5EF4-FFF2-40B4-BE49-F238E27FC236}">
                <a16:creationId xmlns:a16="http://schemas.microsoft.com/office/drawing/2014/main" id="{766978A6-5037-BA23-B2E6-02FD8E42B8A2}"/>
              </a:ext>
            </a:extLst>
          </p:cNvPr>
          <p:cNvSpPr>
            <a:spLocks noGrp="1"/>
          </p:cNvSpPr>
          <p:nvPr>
            <p:ph idx="1"/>
          </p:nvPr>
        </p:nvSpPr>
        <p:spPr>
          <a:xfrm>
            <a:off x="1141413" y="2218414"/>
            <a:ext cx="8606458" cy="4166483"/>
          </a:xfrm>
        </p:spPr>
        <p:txBody>
          <a:bodyPr>
            <a:normAutofit fontScale="92500" lnSpcReduction="10000"/>
          </a:bodyPr>
          <a:lstStyle/>
          <a:p>
            <a:pPr marL="0" indent="0">
              <a:buNone/>
            </a:pPr>
            <a:r>
              <a:rPr lang="it-IT" dirty="0"/>
              <a:t>LFSR: è una sorta di </a:t>
            </a:r>
            <a:r>
              <a:rPr lang="it-IT" i="1" dirty="0" err="1"/>
              <a:t>Uroboro</a:t>
            </a:r>
            <a:r>
              <a:rPr lang="it-IT" dirty="0"/>
              <a:t> (il serpente che si mangia la coda) dell’elettronica digitale, in cui l'output di uno Shift </a:t>
            </a:r>
            <a:r>
              <a:rPr lang="it-IT" dirty="0" err="1"/>
              <a:t>Register</a:t>
            </a:r>
            <a:r>
              <a:rPr lang="it-IT" dirty="0"/>
              <a:t> è manipolato e reimmesso nel suo ingresso in modo tale da far sì che la funzione cicli all'infinito attraverso una sequenza di numeri tutti diversi (pattern previsto).</a:t>
            </a:r>
          </a:p>
          <a:p>
            <a:pPr marL="0" indent="0">
              <a:buNone/>
            </a:pPr>
            <a:r>
              <a:rPr lang="it-IT" dirty="0"/>
              <a:t>Gli LFSR sono molto veloci, semplici da </a:t>
            </a:r>
            <a:br>
              <a:rPr lang="it-IT" dirty="0"/>
            </a:br>
            <a:r>
              <a:rPr lang="it-IT" dirty="0"/>
              <a:t>realizzare e sono molto utili per un'ampia </a:t>
            </a:r>
            <a:br>
              <a:rPr lang="it-IT" dirty="0"/>
            </a:br>
            <a:r>
              <a:rPr lang="it-IT" dirty="0"/>
              <a:t>varietà di applicazioni.</a:t>
            </a:r>
          </a:p>
          <a:p>
            <a:pPr marL="0" indent="0">
              <a:buNone/>
            </a:pPr>
            <a:r>
              <a:rPr lang="it-IT" dirty="0"/>
              <a:t>Una delle forme più comuni di LFSR </a:t>
            </a:r>
            <a:br>
              <a:rPr lang="it-IT" dirty="0"/>
            </a:br>
            <a:r>
              <a:rPr lang="it-IT" dirty="0"/>
              <a:t>è formata da un semplice Shift </a:t>
            </a:r>
            <a:r>
              <a:rPr lang="it-IT" dirty="0" err="1"/>
              <a:t>Register</a:t>
            </a:r>
            <a:r>
              <a:rPr lang="it-IT" dirty="0"/>
              <a:t> </a:t>
            </a:r>
            <a:br>
              <a:rPr lang="it-IT" dirty="0"/>
            </a:br>
            <a:r>
              <a:rPr lang="it-IT" dirty="0"/>
              <a:t>con feedback che partono da due </a:t>
            </a:r>
            <a:br>
              <a:rPr lang="it-IT" dirty="0"/>
            </a:br>
            <a:r>
              <a:rPr lang="it-IT" dirty="0"/>
              <a:t>o più punti (detti </a:t>
            </a:r>
            <a:r>
              <a:rPr lang="it-IT" i="1" dirty="0" err="1"/>
              <a:t>tap</a:t>
            </a:r>
            <a:r>
              <a:rPr lang="it-IT" dirty="0"/>
              <a:t>) presi nella catena </a:t>
            </a:r>
            <a:br>
              <a:rPr lang="it-IT" dirty="0"/>
            </a:br>
            <a:r>
              <a:rPr lang="it-IT" dirty="0"/>
              <a:t>dei registri. A lato un esempio di LFSR </a:t>
            </a:r>
            <a:br>
              <a:rPr lang="it-IT" dirty="0"/>
            </a:br>
            <a:r>
              <a:rPr lang="it-IT" dirty="0"/>
              <a:t>a tre bit con due </a:t>
            </a:r>
            <a:r>
              <a:rPr lang="it-IT" dirty="0" err="1"/>
              <a:t>tap</a:t>
            </a:r>
            <a:r>
              <a:rPr lang="it-IT" dirty="0"/>
              <a:t>.</a:t>
            </a:r>
          </a:p>
        </p:txBody>
      </p:sp>
      <p:pic>
        <p:nvPicPr>
          <p:cNvPr id="1026" name="Picture 2">
            <a:extLst>
              <a:ext uri="{FF2B5EF4-FFF2-40B4-BE49-F238E27FC236}">
                <a16:creationId xmlns:a16="http://schemas.microsoft.com/office/drawing/2014/main" id="{700B73C0-8BC5-4842-709A-B9AD820390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47871" y="2127741"/>
            <a:ext cx="1563026" cy="1555921"/>
          </a:xfrm>
          <a:prstGeom prst="rect">
            <a:avLst/>
          </a:prstGeom>
          <a:noFill/>
          <a:extLst>
            <a:ext uri="{909E8E84-426E-40DD-AFC4-6F175D3DCCD1}">
              <a14:hiddenFill xmlns:a14="http://schemas.microsoft.com/office/drawing/2010/main">
                <a:solidFill>
                  <a:srgbClr val="FFFFFF"/>
                </a:solidFill>
              </a14:hiddenFill>
            </a:ext>
          </a:extLst>
        </p:spPr>
      </p:pic>
      <p:pic>
        <p:nvPicPr>
          <p:cNvPr id="9" name="Elemento grafico 8">
            <a:extLst>
              <a:ext uri="{FF2B5EF4-FFF2-40B4-BE49-F238E27FC236}">
                <a16:creationId xmlns:a16="http://schemas.microsoft.com/office/drawing/2014/main" id="{8F1424BD-BCFE-1819-A894-2DB664F0B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23937" y="3852629"/>
            <a:ext cx="4991100" cy="2295525"/>
          </a:xfrm>
          <a:prstGeom prst="rect">
            <a:avLst/>
          </a:prstGeom>
        </p:spPr>
      </p:pic>
    </p:spTree>
    <p:extLst>
      <p:ext uri="{BB962C8B-B14F-4D97-AF65-F5344CB8AC3E}">
        <p14:creationId xmlns:p14="http://schemas.microsoft.com/office/powerpoint/2010/main" val="32818898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9BA5067-C86D-021E-72EF-1709C782A9FA}"/>
              </a:ext>
            </a:extLst>
          </p:cNvPr>
          <p:cNvSpPr>
            <a:spLocks noGrp="1"/>
          </p:cNvSpPr>
          <p:nvPr>
            <p:ph type="title"/>
          </p:nvPr>
        </p:nvSpPr>
        <p:spPr/>
        <p:txBody>
          <a:bodyPr/>
          <a:lstStyle/>
          <a:p>
            <a:r>
              <a:rPr lang="it-IT" dirty="0"/>
              <a:t>LFSR TESTBENCH</a:t>
            </a:r>
          </a:p>
        </p:txBody>
      </p:sp>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766978A6-5037-BA23-B2E6-02FD8E42B8A2}"/>
                  </a:ext>
                </a:extLst>
              </p:cNvPr>
              <p:cNvSpPr>
                <a:spLocks noGrp="1"/>
              </p:cNvSpPr>
              <p:nvPr>
                <p:ph idx="1"/>
              </p:nvPr>
            </p:nvSpPr>
            <p:spPr>
              <a:xfrm>
                <a:off x="723569" y="2027583"/>
                <a:ext cx="5600367" cy="4357313"/>
              </a:xfrm>
            </p:spPr>
            <p:txBody>
              <a:bodyPr>
                <a:normAutofit fontScale="85000" lnSpcReduction="10000"/>
              </a:bodyPr>
              <a:lstStyle/>
              <a:p>
                <a:pPr marL="0" indent="0">
                  <a:buNone/>
                </a:pPr>
                <a:r>
                  <a:rPr lang="it-IT" dirty="0"/>
                  <a:t>Per sintetizzare un LFSR si può usare uno strumento </a:t>
                </a:r>
                <a:r>
                  <a:rPr lang="it-IT" i="1" dirty="0"/>
                  <a:t>open source</a:t>
                </a:r>
                <a:r>
                  <a:rPr lang="it-IT" dirty="0"/>
                  <a:t> chiamato </a:t>
                </a:r>
                <a:r>
                  <a:rPr lang="it-IT" u="sng" dirty="0"/>
                  <a:t>LFSR </a:t>
                </a:r>
                <a:r>
                  <a:rPr lang="it-IT" u="sng" dirty="0" err="1"/>
                  <a:t>testbench</a:t>
                </a:r>
                <a:r>
                  <a:rPr lang="it-IT" dirty="0"/>
                  <a:t>, scaricabile a questo URL:</a:t>
                </a:r>
              </a:p>
              <a:p>
                <a:pPr marL="0" indent="0">
                  <a:buNone/>
                </a:pPr>
                <a:r>
                  <a:rPr lang="it-IT" dirty="0">
                    <a:hlinkClick r:id="rId2"/>
                  </a:rPr>
                  <a:t>https://www.fpga4fun.com/files/LFSRTestbench.zip</a:t>
                </a:r>
                <a:endParaRPr lang="it-IT" dirty="0"/>
              </a:p>
              <a:p>
                <a:pPr marL="0" indent="0">
                  <a:buNone/>
                </a:pPr>
                <a:r>
                  <a:rPr lang="it-IT" dirty="0"/>
                  <a:t>Normalmente, nella configurazione più semplice, il numero dei codici prodotti (lunghezza della sequenza) è minore di </a:t>
                </a:r>
                <a14:m>
                  <m:oMath xmlns:m="http://schemas.openxmlformats.org/officeDocument/2006/math">
                    <m:sSup>
                      <m:sSupPr>
                        <m:ctrlPr>
                          <a:rPr lang="it-IT" i="1" smtClean="0">
                            <a:latin typeface="Cambria Math" panose="02040503050406030204" pitchFamily="18" charset="0"/>
                          </a:rPr>
                        </m:ctrlPr>
                      </m:sSupPr>
                      <m:e>
                        <m:r>
                          <a:rPr lang="it-IT" b="0" i="1" smtClean="0">
                            <a:latin typeface="Cambria Math" panose="02040503050406030204" pitchFamily="18" charset="0"/>
                          </a:rPr>
                          <m:t>2</m:t>
                        </m:r>
                      </m:e>
                      <m:sup>
                        <m:r>
                          <a:rPr lang="it-IT" b="0" i="1" smtClean="0">
                            <a:latin typeface="Cambria Math" panose="02040503050406030204" pitchFamily="18" charset="0"/>
                          </a:rPr>
                          <m:t>𝑛</m:t>
                        </m:r>
                      </m:sup>
                    </m:sSup>
                  </m:oMath>
                </a14:m>
                <a:r>
                  <a:rPr lang="it-IT" dirty="0"/>
                  <a:t> dove </a:t>
                </a:r>
                <a14:m>
                  <m:oMath xmlns:m="http://schemas.openxmlformats.org/officeDocument/2006/math">
                    <m:r>
                      <a:rPr lang="it-IT" b="0" i="1" smtClean="0">
                        <a:latin typeface="Cambria Math" panose="02040503050406030204" pitchFamily="18" charset="0"/>
                      </a:rPr>
                      <m:t>𝑛</m:t>
                    </m:r>
                  </m:oMath>
                </a14:m>
                <a:r>
                  <a:rPr lang="it-IT" dirty="0"/>
                  <a:t> è la cosiddetta «lunghezza» in termini di bit dello LFSR.</a:t>
                </a:r>
                <a:br>
                  <a:rPr lang="it-IT" dirty="0"/>
                </a:br>
                <a:r>
                  <a:rPr lang="it-IT" dirty="0"/>
                  <a:t>Aggiungendo alcune porte è possibile avere generatori LFSR con lunghezza della sequenza pari a </a:t>
                </a:r>
                <a14:m>
                  <m:oMath xmlns:m="http://schemas.openxmlformats.org/officeDocument/2006/math">
                    <m:sSup>
                      <m:sSupPr>
                        <m:ctrlPr>
                          <a:rPr lang="it-IT" i="1" smtClean="0">
                            <a:latin typeface="Cambria Math" panose="02040503050406030204" pitchFamily="18" charset="0"/>
                          </a:rPr>
                        </m:ctrlPr>
                      </m:sSupPr>
                      <m:e>
                        <m:r>
                          <a:rPr lang="it-IT" b="0" i="1" smtClean="0">
                            <a:latin typeface="Cambria Math" panose="02040503050406030204" pitchFamily="18" charset="0"/>
                          </a:rPr>
                          <m:t>2</m:t>
                        </m:r>
                      </m:e>
                      <m:sup>
                        <m:r>
                          <a:rPr lang="it-IT" b="0" i="1" smtClean="0">
                            <a:latin typeface="Cambria Math" panose="02040503050406030204" pitchFamily="18" charset="0"/>
                          </a:rPr>
                          <m:t>𝑛</m:t>
                        </m:r>
                      </m:sup>
                    </m:sSup>
                  </m:oMath>
                </a14:m>
                <a:r>
                  <a:rPr lang="it-IT" dirty="0"/>
                  <a:t>.</a:t>
                </a:r>
              </a:p>
              <a:p>
                <a:pPr marL="0" indent="0">
                  <a:buNone/>
                </a:pPr>
                <a:r>
                  <a:rPr lang="it-IT" dirty="0"/>
                  <a:t>Tale software permette di specificare diversi parametri dello LFSR e fornisce il risultato sotto forma di schema elettrico, sequenza prodotta, codice </a:t>
                </a:r>
                <a:r>
                  <a:rPr lang="it-IT" dirty="0" err="1"/>
                  <a:t>Verilog</a:t>
                </a:r>
                <a:r>
                  <a:rPr lang="it-IT" dirty="0"/>
                  <a:t> o codice VHDL.</a:t>
                </a:r>
              </a:p>
              <a:p>
                <a:pPr marL="0" indent="0">
                  <a:buNone/>
                </a:pPr>
                <a:endParaRPr lang="it-IT" dirty="0"/>
              </a:p>
            </p:txBody>
          </p:sp>
        </mc:Choice>
        <mc:Fallback>
          <p:sp>
            <p:nvSpPr>
              <p:cNvPr id="3" name="Segnaposto contenuto 2">
                <a:extLst>
                  <a:ext uri="{FF2B5EF4-FFF2-40B4-BE49-F238E27FC236}">
                    <a16:creationId xmlns:a16="http://schemas.microsoft.com/office/drawing/2014/main" id="{766978A6-5037-BA23-B2E6-02FD8E42B8A2}"/>
                  </a:ext>
                </a:extLst>
              </p:cNvPr>
              <p:cNvSpPr>
                <a:spLocks noGrp="1" noRot="1" noChangeAspect="1" noMove="1" noResize="1" noEditPoints="1" noAdjustHandles="1" noChangeArrowheads="1" noChangeShapeType="1" noTextEdit="1"/>
              </p:cNvSpPr>
              <p:nvPr>
                <p:ph idx="1"/>
              </p:nvPr>
            </p:nvSpPr>
            <p:spPr>
              <a:xfrm>
                <a:off x="723569" y="2027583"/>
                <a:ext cx="5600367" cy="4357313"/>
              </a:xfrm>
              <a:blipFill>
                <a:blip r:embed="rId3"/>
                <a:stretch>
                  <a:fillRect l="-1416"/>
                </a:stretch>
              </a:blipFill>
            </p:spPr>
            <p:txBody>
              <a:bodyPr/>
              <a:lstStyle/>
              <a:p>
                <a:r>
                  <a:rPr lang="it-IT">
                    <a:noFill/>
                  </a:rPr>
                  <a:t> </a:t>
                </a:r>
              </a:p>
            </p:txBody>
          </p:sp>
        </mc:Fallback>
      </mc:AlternateContent>
      <p:pic>
        <p:nvPicPr>
          <p:cNvPr id="5" name="Immagine 4">
            <a:extLst>
              <a:ext uri="{FF2B5EF4-FFF2-40B4-BE49-F238E27FC236}">
                <a16:creationId xmlns:a16="http://schemas.microsoft.com/office/drawing/2014/main" id="{F09DDA13-F8A6-0B6C-6E0C-CBA9A69452CE}"/>
              </a:ext>
            </a:extLst>
          </p:cNvPr>
          <p:cNvPicPr>
            <a:picLocks noChangeAspect="1"/>
          </p:cNvPicPr>
          <p:nvPr/>
        </p:nvPicPr>
        <p:blipFill>
          <a:blip r:embed="rId4"/>
          <a:stretch>
            <a:fillRect/>
          </a:stretch>
        </p:blipFill>
        <p:spPr>
          <a:xfrm>
            <a:off x="6323936" y="473104"/>
            <a:ext cx="4924947" cy="3266620"/>
          </a:xfrm>
          <a:prstGeom prst="rect">
            <a:avLst/>
          </a:prstGeom>
        </p:spPr>
      </p:pic>
      <p:pic>
        <p:nvPicPr>
          <p:cNvPr id="8" name="Elemento grafico 7">
            <a:extLst>
              <a:ext uri="{FF2B5EF4-FFF2-40B4-BE49-F238E27FC236}">
                <a16:creationId xmlns:a16="http://schemas.microsoft.com/office/drawing/2014/main" id="{A58B399F-E93D-E392-4987-CC8FAA276CC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23937" y="3852629"/>
            <a:ext cx="4991100" cy="2295525"/>
          </a:xfrm>
          <a:prstGeom prst="rect">
            <a:avLst/>
          </a:prstGeom>
        </p:spPr>
      </p:pic>
    </p:spTree>
    <p:extLst>
      <p:ext uri="{BB962C8B-B14F-4D97-AF65-F5344CB8AC3E}">
        <p14:creationId xmlns:p14="http://schemas.microsoft.com/office/powerpoint/2010/main" val="14845139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1">
            <a:extLst>
              <a:ext uri="{FF2B5EF4-FFF2-40B4-BE49-F238E27FC236}">
                <a16:creationId xmlns:a16="http://schemas.microsoft.com/office/drawing/2014/main" id="{280F8197-366A-AAC9-0591-28563627628E}"/>
              </a:ext>
            </a:extLst>
          </p:cNvPr>
          <p:cNvSpPr txBox="1">
            <a:spLocks/>
          </p:cNvSpPr>
          <p:nvPr/>
        </p:nvSpPr>
        <p:spPr>
          <a:xfrm>
            <a:off x="1141413" y="618518"/>
            <a:ext cx="9905998" cy="571072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it-IT" sz="8000" dirty="0"/>
              <a:t>HDL in pratica:</a:t>
            </a:r>
          </a:p>
          <a:p>
            <a:pPr algn="ctr"/>
            <a:r>
              <a:rPr lang="it-IT" sz="8000" dirty="0"/>
              <a:t>ESPERIMENTO CON LA CODIFICA MANCHESTER</a:t>
            </a:r>
          </a:p>
        </p:txBody>
      </p:sp>
    </p:spTree>
    <p:extLst>
      <p:ext uri="{BB962C8B-B14F-4D97-AF65-F5344CB8AC3E}">
        <p14:creationId xmlns:p14="http://schemas.microsoft.com/office/powerpoint/2010/main" val="38748898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8E29A64-9CBD-D946-FBCB-F82F686EB094}"/>
              </a:ext>
            </a:extLst>
          </p:cNvPr>
          <p:cNvSpPr>
            <a:spLocks noGrp="1"/>
          </p:cNvSpPr>
          <p:nvPr>
            <p:ph type="title"/>
          </p:nvPr>
        </p:nvSpPr>
        <p:spPr>
          <a:xfrm>
            <a:off x="1141413" y="609601"/>
            <a:ext cx="9905998" cy="912410"/>
          </a:xfrm>
        </p:spPr>
        <p:txBody>
          <a:bodyPr/>
          <a:lstStyle/>
          <a:p>
            <a:r>
              <a:rPr lang="it-IT" dirty="0"/>
              <a:t>ESEMPIO: UN TRANSCEIVER MANCESTER (1)</a:t>
            </a:r>
          </a:p>
        </p:txBody>
      </p:sp>
      <p:sp>
        <p:nvSpPr>
          <p:cNvPr id="5" name="Segnaposto contenuto 2">
            <a:extLst>
              <a:ext uri="{FF2B5EF4-FFF2-40B4-BE49-F238E27FC236}">
                <a16:creationId xmlns:a16="http://schemas.microsoft.com/office/drawing/2014/main" id="{110781C1-2218-12C9-EEA4-AD4790CAC742}"/>
              </a:ext>
            </a:extLst>
          </p:cNvPr>
          <p:cNvSpPr txBox="1">
            <a:spLocks/>
          </p:cNvSpPr>
          <p:nvPr/>
        </p:nvSpPr>
        <p:spPr>
          <a:xfrm>
            <a:off x="1141414" y="1900372"/>
            <a:ext cx="5267338" cy="1025718"/>
          </a:xfrm>
          <a:prstGeom prst="rect">
            <a:avLst/>
          </a:prstGeom>
        </p:spPr>
        <p:txBody>
          <a:bodyPr vert="horz" lIns="91440" tIns="45720" rIns="91440" bIns="45720" rtlCol="0" anchor="ctr">
            <a:normAutofit fontScale="92500"/>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r>
              <a:rPr lang="it-IT" dirty="0"/>
              <a:t>Il nostro esperimento, la cui struttura è mostrata a lato, è interamente realizzato su una Tang Nano 9K di SiPeed.</a:t>
            </a:r>
          </a:p>
        </p:txBody>
      </p:sp>
      <p:pic>
        <p:nvPicPr>
          <p:cNvPr id="12" name="Elemento grafico 11">
            <a:extLst>
              <a:ext uri="{FF2B5EF4-FFF2-40B4-BE49-F238E27FC236}">
                <a16:creationId xmlns:a16="http://schemas.microsoft.com/office/drawing/2014/main" id="{93F061E4-029C-468F-C37B-CA6D03EFA5F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25370" y="1522011"/>
            <a:ext cx="5110743" cy="4828734"/>
          </a:xfrm>
          <a:prstGeom prst="rect">
            <a:avLst/>
          </a:prstGeom>
        </p:spPr>
      </p:pic>
    </p:spTree>
    <p:extLst>
      <p:ext uri="{BB962C8B-B14F-4D97-AF65-F5344CB8AC3E}">
        <p14:creationId xmlns:p14="http://schemas.microsoft.com/office/powerpoint/2010/main" val="37577288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Elemento grafico 9">
            <a:extLst>
              <a:ext uri="{FF2B5EF4-FFF2-40B4-BE49-F238E27FC236}">
                <a16:creationId xmlns:a16="http://schemas.microsoft.com/office/drawing/2014/main" id="{54DA9852-5255-E7A9-DA6A-156ABC4A2D1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25370" y="1522011"/>
            <a:ext cx="5110743" cy="4828734"/>
          </a:xfrm>
          <a:prstGeom prst="rect">
            <a:avLst/>
          </a:prstGeom>
        </p:spPr>
      </p:pic>
      <p:sp>
        <p:nvSpPr>
          <p:cNvPr id="2" name="Titolo 1">
            <a:extLst>
              <a:ext uri="{FF2B5EF4-FFF2-40B4-BE49-F238E27FC236}">
                <a16:creationId xmlns:a16="http://schemas.microsoft.com/office/drawing/2014/main" id="{48E29A64-9CBD-D946-FBCB-F82F686EB094}"/>
              </a:ext>
            </a:extLst>
          </p:cNvPr>
          <p:cNvSpPr>
            <a:spLocks noGrp="1"/>
          </p:cNvSpPr>
          <p:nvPr>
            <p:ph type="title"/>
          </p:nvPr>
        </p:nvSpPr>
        <p:spPr>
          <a:xfrm>
            <a:off x="1141413" y="609601"/>
            <a:ext cx="9905998" cy="912410"/>
          </a:xfrm>
        </p:spPr>
        <p:txBody>
          <a:bodyPr/>
          <a:lstStyle/>
          <a:p>
            <a:r>
              <a:rPr lang="it-IT" dirty="0"/>
              <a:t>ESEMPIO: UN TRANSCEIVER MANCESTER (2)</a:t>
            </a:r>
          </a:p>
        </p:txBody>
      </p:sp>
      <p:sp>
        <p:nvSpPr>
          <p:cNvPr id="5" name="Segnaposto contenuto 2">
            <a:extLst>
              <a:ext uri="{FF2B5EF4-FFF2-40B4-BE49-F238E27FC236}">
                <a16:creationId xmlns:a16="http://schemas.microsoft.com/office/drawing/2014/main" id="{110781C1-2218-12C9-EEA4-AD4790CAC742}"/>
              </a:ext>
            </a:extLst>
          </p:cNvPr>
          <p:cNvSpPr txBox="1">
            <a:spLocks/>
          </p:cNvSpPr>
          <p:nvPr/>
        </p:nvSpPr>
        <p:spPr>
          <a:xfrm>
            <a:off x="1141414" y="1892422"/>
            <a:ext cx="5267338" cy="2035532"/>
          </a:xfrm>
          <a:prstGeom prst="rect">
            <a:avLst/>
          </a:prstGeom>
        </p:spPr>
        <p:txBody>
          <a:bodyPr vert="horz" lIns="91440" tIns="45720" rIns="91440" bIns="45720" rtlCol="0" anchor="ctr">
            <a:normAutofit fontScale="92500"/>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r>
              <a:rPr lang="it-IT" dirty="0"/>
              <a:t>Il nostro esperimento, la cui struttura è mostrata a lato, è interamente realizzato su una Tang Nano 9K di SiPeed. </a:t>
            </a:r>
          </a:p>
          <a:p>
            <a:r>
              <a:rPr lang="it-IT" dirty="0"/>
              <a:t>Possiamo osservare ingresso ed uscita dei segnali </a:t>
            </a:r>
            <a:r>
              <a:rPr lang="it-IT" dirty="0" err="1"/>
              <a:t>manchester</a:t>
            </a:r>
            <a:r>
              <a:rPr lang="it-IT" dirty="0"/>
              <a:t> (rispettivamente </a:t>
            </a:r>
            <a:r>
              <a:rPr lang="it-IT" dirty="0" err="1"/>
              <a:t>man_rx</a:t>
            </a:r>
            <a:r>
              <a:rPr lang="it-IT" dirty="0"/>
              <a:t> e </a:t>
            </a:r>
            <a:r>
              <a:rPr lang="it-IT" dirty="0" err="1"/>
              <a:t>man_tx</a:t>
            </a:r>
            <a:r>
              <a:rPr lang="it-IT" dirty="0"/>
              <a:t>).</a:t>
            </a:r>
          </a:p>
        </p:txBody>
      </p:sp>
      <p:sp>
        <p:nvSpPr>
          <p:cNvPr id="6" name="Rettangolo 5">
            <a:extLst>
              <a:ext uri="{FF2B5EF4-FFF2-40B4-BE49-F238E27FC236}">
                <a16:creationId xmlns:a16="http://schemas.microsoft.com/office/drawing/2014/main" id="{0C25184E-7DD1-87AA-C894-31FB29C20ED3}"/>
              </a:ext>
            </a:extLst>
          </p:cNvPr>
          <p:cNvSpPr/>
          <p:nvPr/>
        </p:nvSpPr>
        <p:spPr>
          <a:xfrm>
            <a:off x="6756206" y="2920511"/>
            <a:ext cx="487433" cy="355425"/>
          </a:xfrm>
          <a:prstGeom prst="rect">
            <a:avLst/>
          </a:prstGeom>
          <a:solidFill>
            <a:srgbClr val="FF0000">
              <a:alpha val="20000"/>
            </a:srgb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Rettangolo 6">
            <a:extLst>
              <a:ext uri="{FF2B5EF4-FFF2-40B4-BE49-F238E27FC236}">
                <a16:creationId xmlns:a16="http://schemas.microsoft.com/office/drawing/2014/main" id="{3C4DFA49-0C6C-3024-866C-4E69E3FC495A}"/>
              </a:ext>
            </a:extLst>
          </p:cNvPr>
          <p:cNvSpPr/>
          <p:nvPr/>
        </p:nvSpPr>
        <p:spPr>
          <a:xfrm>
            <a:off x="6756205" y="5267471"/>
            <a:ext cx="487433" cy="355425"/>
          </a:xfrm>
          <a:prstGeom prst="rect">
            <a:avLst/>
          </a:prstGeom>
          <a:solidFill>
            <a:srgbClr val="FF0000">
              <a:alpha val="20000"/>
            </a:srgb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1048478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Elemento grafico 6">
            <a:extLst>
              <a:ext uri="{FF2B5EF4-FFF2-40B4-BE49-F238E27FC236}">
                <a16:creationId xmlns:a16="http://schemas.microsoft.com/office/drawing/2014/main" id="{C7BA0611-35DD-7FFD-DC58-F821A838D2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25370" y="1522011"/>
            <a:ext cx="5110743" cy="4828734"/>
          </a:xfrm>
          <a:prstGeom prst="rect">
            <a:avLst/>
          </a:prstGeom>
        </p:spPr>
      </p:pic>
      <p:sp>
        <p:nvSpPr>
          <p:cNvPr id="2" name="Titolo 1">
            <a:extLst>
              <a:ext uri="{FF2B5EF4-FFF2-40B4-BE49-F238E27FC236}">
                <a16:creationId xmlns:a16="http://schemas.microsoft.com/office/drawing/2014/main" id="{48E29A64-9CBD-D946-FBCB-F82F686EB094}"/>
              </a:ext>
            </a:extLst>
          </p:cNvPr>
          <p:cNvSpPr>
            <a:spLocks noGrp="1"/>
          </p:cNvSpPr>
          <p:nvPr>
            <p:ph type="title"/>
          </p:nvPr>
        </p:nvSpPr>
        <p:spPr>
          <a:xfrm>
            <a:off x="1141413" y="609601"/>
            <a:ext cx="9905998" cy="912410"/>
          </a:xfrm>
        </p:spPr>
        <p:txBody>
          <a:bodyPr/>
          <a:lstStyle/>
          <a:p>
            <a:r>
              <a:rPr lang="it-IT" dirty="0"/>
              <a:t>ESEMPIO: UN TRANSCEIVER MANCESTER (3)</a:t>
            </a:r>
          </a:p>
        </p:txBody>
      </p:sp>
      <p:sp>
        <p:nvSpPr>
          <p:cNvPr id="5" name="Segnaposto contenuto 2">
            <a:extLst>
              <a:ext uri="{FF2B5EF4-FFF2-40B4-BE49-F238E27FC236}">
                <a16:creationId xmlns:a16="http://schemas.microsoft.com/office/drawing/2014/main" id="{110781C1-2218-12C9-EEA4-AD4790CAC742}"/>
              </a:ext>
            </a:extLst>
          </p:cNvPr>
          <p:cNvSpPr txBox="1">
            <a:spLocks/>
          </p:cNvSpPr>
          <p:nvPr/>
        </p:nvSpPr>
        <p:spPr>
          <a:xfrm>
            <a:off x="1141414" y="1932167"/>
            <a:ext cx="5383956" cy="4418043"/>
          </a:xfrm>
          <a:prstGeom prst="rect">
            <a:avLst/>
          </a:prstGeom>
        </p:spPr>
        <p:txBody>
          <a:bodyPr vert="horz" lIns="91440" tIns="45720" rIns="91440" bIns="45720" rtlCol="0" anchor="ctr">
            <a:normAutofit lnSpcReduction="10000"/>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None/>
            </a:pPr>
            <a:r>
              <a:rPr lang="it-IT" dirty="0"/>
              <a:t>Il nostro esperimento, la cui struttura del Top Module è mostrata a lato, è intera-mente realizzato su una Tang Nano 9K di SiPeed. </a:t>
            </a:r>
          </a:p>
          <a:p>
            <a:pPr marL="0" indent="0">
              <a:buNone/>
            </a:pPr>
            <a:r>
              <a:rPr lang="it-IT" dirty="0"/>
              <a:t>Possiamo osservare ingresso ed uscita dei segnali </a:t>
            </a:r>
            <a:r>
              <a:rPr lang="it-IT" dirty="0" err="1"/>
              <a:t>manchester</a:t>
            </a:r>
            <a:r>
              <a:rPr lang="it-IT" dirty="0"/>
              <a:t> (rispettivamente </a:t>
            </a:r>
            <a:r>
              <a:rPr lang="it-IT" dirty="0" err="1"/>
              <a:t>man_rx</a:t>
            </a:r>
            <a:r>
              <a:rPr lang="it-IT" dirty="0"/>
              <a:t> e </a:t>
            </a:r>
            <a:r>
              <a:rPr lang="it-IT" dirty="0" err="1"/>
              <a:t>man_tx</a:t>
            </a:r>
            <a:r>
              <a:rPr lang="it-IT" dirty="0"/>
              <a:t>). </a:t>
            </a:r>
          </a:p>
          <a:p>
            <a:pPr marL="0" indent="0">
              <a:buNone/>
            </a:pPr>
            <a:r>
              <a:rPr lang="it-IT" dirty="0"/>
              <a:t>L’uscita del ricevitore è presentata come gruppo di bit paralleli (</a:t>
            </a:r>
            <a:r>
              <a:rPr lang="it-IT" dirty="0" err="1"/>
              <a:t>data_out</a:t>
            </a:r>
            <a:r>
              <a:rPr lang="it-IT" dirty="0"/>
              <a:t>), assieme a due segnali di sincronismo (frame e </a:t>
            </a:r>
            <a:r>
              <a:rPr lang="it-IT" dirty="0" err="1"/>
              <a:t>stb</a:t>
            </a:r>
            <a:r>
              <a:rPr lang="it-IT" dirty="0"/>
              <a:t>). </a:t>
            </a:r>
          </a:p>
          <a:p>
            <a:pPr marL="0" indent="0">
              <a:buNone/>
            </a:pPr>
            <a:r>
              <a:rPr lang="it-IT" dirty="0"/>
              <a:t>Per riuscire ad apprezzare il </a:t>
            </a:r>
            <a:r>
              <a:rPr lang="it-IT" dirty="0" err="1"/>
              <a:t>funzionamen</a:t>
            </a:r>
            <a:r>
              <a:rPr lang="it-IT" dirty="0"/>
              <a:t>-to del ricevitore, i segnali in uscita saranno registrati da un Analizzatore Logico che ci permetterà così di osservare il risultato.</a:t>
            </a:r>
          </a:p>
        </p:txBody>
      </p:sp>
      <p:sp>
        <p:nvSpPr>
          <p:cNvPr id="3" name="Rettangolo 2">
            <a:extLst>
              <a:ext uri="{FF2B5EF4-FFF2-40B4-BE49-F238E27FC236}">
                <a16:creationId xmlns:a16="http://schemas.microsoft.com/office/drawing/2014/main" id="{83A658BF-8030-BA91-F2C0-21998ECFAAB3}"/>
              </a:ext>
            </a:extLst>
          </p:cNvPr>
          <p:cNvSpPr/>
          <p:nvPr/>
        </p:nvSpPr>
        <p:spPr>
          <a:xfrm>
            <a:off x="9141596" y="4985468"/>
            <a:ext cx="2101548" cy="890546"/>
          </a:xfrm>
          <a:prstGeom prst="rect">
            <a:avLst/>
          </a:prstGeom>
          <a:solidFill>
            <a:srgbClr val="FF0000">
              <a:alpha val="20000"/>
            </a:srgb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9450138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8E29A64-9CBD-D946-FBCB-F82F686EB094}"/>
              </a:ext>
            </a:extLst>
          </p:cNvPr>
          <p:cNvSpPr>
            <a:spLocks noGrp="1"/>
          </p:cNvSpPr>
          <p:nvPr>
            <p:ph type="title"/>
          </p:nvPr>
        </p:nvSpPr>
        <p:spPr>
          <a:xfrm>
            <a:off x="1141413" y="609601"/>
            <a:ext cx="9905998" cy="912410"/>
          </a:xfrm>
        </p:spPr>
        <p:txBody>
          <a:bodyPr/>
          <a:lstStyle/>
          <a:p>
            <a:r>
              <a:rPr lang="it-IT" dirty="0"/>
              <a:t>ESEMPIO: UN TRANSCEIVER MANCESTER (4)</a:t>
            </a:r>
          </a:p>
        </p:txBody>
      </p:sp>
      <p:sp>
        <p:nvSpPr>
          <p:cNvPr id="10" name="Segnaposto contenuto 2">
            <a:extLst>
              <a:ext uri="{FF2B5EF4-FFF2-40B4-BE49-F238E27FC236}">
                <a16:creationId xmlns:a16="http://schemas.microsoft.com/office/drawing/2014/main" id="{110781C1-2218-12C9-EEA4-AD4790CAC742}"/>
              </a:ext>
            </a:extLst>
          </p:cNvPr>
          <p:cNvSpPr txBox="1">
            <a:spLocks/>
          </p:cNvSpPr>
          <p:nvPr/>
        </p:nvSpPr>
        <p:spPr>
          <a:xfrm>
            <a:off x="1141414" y="1932167"/>
            <a:ext cx="5267338" cy="4484536"/>
          </a:xfrm>
          <a:prstGeom prst="rect">
            <a:avLst/>
          </a:prstGeom>
        </p:spPr>
        <p:txBody>
          <a:bodyPr vert="horz" lIns="91440" tIns="45720" rIns="91440" bIns="45720" rtlCol="0" anchor="ctr">
            <a:normAutofit fontScale="92500" lnSpcReduction="20000"/>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None/>
            </a:pPr>
            <a:r>
              <a:rPr lang="it-IT" dirty="0"/>
              <a:t>All’interno del </a:t>
            </a:r>
            <a:r>
              <a:rPr lang="it-IT" i="1" dirty="0"/>
              <a:t>top </a:t>
            </a:r>
            <a:r>
              <a:rPr lang="it-IT" i="1" dirty="0" err="1"/>
              <a:t>module</a:t>
            </a:r>
            <a:r>
              <a:rPr lang="it-IT" dirty="0"/>
              <a:t> abbiamo tre sezioni distinte: generazione del clock, sezione di trasmissione e sezione di ricezione.</a:t>
            </a:r>
          </a:p>
          <a:p>
            <a:pPr marL="0" indent="0">
              <a:buNone/>
            </a:pPr>
            <a:r>
              <a:rPr lang="it-IT" dirty="0">
                <a:solidFill>
                  <a:srgbClr val="FFFF00"/>
                </a:solidFill>
              </a:rPr>
              <a:t>La prima </a:t>
            </a:r>
            <a:r>
              <a:rPr lang="it-IT" dirty="0"/>
              <a:t>è relativa al clock da fornire alle restanti due sezioni, ed è ricavata dall’XO a 27 MHz presente sulla Tang Nano 9K. L’uscita dell’XO entra nella FPGA e attra-versa un PLL: è un Hard Block (o Hard IP) che moltiplica la frequenza dell’XO per un fattore frazionario e lo porta a circa 200 MHz. Il clock a 200 MHz entra in un </a:t>
            </a:r>
            <a:r>
              <a:rPr lang="it-IT" dirty="0" err="1"/>
              <a:t>secon</a:t>
            </a:r>
            <a:r>
              <a:rPr lang="it-IT" dirty="0"/>
              <a:t>-do Hard Block che lo divide per due e poi per quattro, così da ottenere due ulteriori cadenze, rispettivamente da 100 MHz e da 50 MHz e che serviranno alle sezioni di ricezione e trasmissione che fra poco vedremo.</a:t>
            </a:r>
          </a:p>
        </p:txBody>
      </p:sp>
      <p:pic>
        <p:nvPicPr>
          <p:cNvPr id="13" name="Elemento grafico 12">
            <a:extLst>
              <a:ext uri="{FF2B5EF4-FFF2-40B4-BE49-F238E27FC236}">
                <a16:creationId xmlns:a16="http://schemas.microsoft.com/office/drawing/2014/main" id="{F4631C14-F8C4-9C22-F39A-EA8CA2CE195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25370" y="1522009"/>
            <a:ext cx="5110744" cy="4828736"/>
          </a:xfrm>
          <a:prstGeom prst="rect">
            <a:avLst/>
          </a:prstGeom>
        </p:spPr>
      </p:pic>
      <p:sp>
        <p:nvSpPr>
          <p:cNvPr id="14" name="Rettangolo 13">
            <a:extLst>
              <a:ext uri="{FF2B5EF4-FFF2-40B4-BE49-F238E27FC236}">
                <a16:creationId xmlns:a16="http://schemas.microsoft.com/office/drawing/2014/main" id="{0E8E501E-1194-1661-53ED-D605917B3C9E}"/>
              </a:ext>
            </a:extLst>
          </p:cNvPr>
          <p:cNvSpPr/>
          <p:nvPr/>
        </p:nvSpPr>
        <p:spPr>
          <a:xfrm>
            <a:off x="7450372" y="3840480"/>
            <a:ext cx="3784821" cy="771278"/>
          </a:xfrm>
          <a:prstGeom prst="rect">
            <a:avLst/>
          </a:prstGeom>
          <a:solidFill>
            <a:srgbClr val="FFFF00">
              <a:alpha val="20000"/>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3950872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8E29A64-9CBD-D946-FBCB-F82F686EB094}"/>
              </a:ext>
            </a:extLst>
          </p:cNvPr>
          <p:cNvSpPr>
            <a:spLocks noGrp="1"/>
          </p:cNvSpPr>
          <p:nvPr>
            <p:ph type="title"/>
          </p:nvPr>
        </p:nvSpPr>
        <p:spPr>
          <a:xfrm>
            <a:off x="1141413" y="609601"/>
            <a:ext cx="9905998" cy="912410"/>
          </a:xfrm>
        </p:spPr>
        <p:txBody>
          <a:bodyPr/>
          <a:lstStyle/>
          <a:p>
            <a:r>
              <a:rPr lang="it-IT" dirty="0"/>
              <a:t>ESEMPIO: UN TRANSCEIVER MANCESTER (5)</a:t>
            </a:r>
          </a:p>
        </p:txBody>
      </p:sp>
      <p:sp>
        <p:nvSpPr>
          <p:cNvPr id="10" name="Segnaposto contenuto 2">
            <a:extLst>
              <a:ext uri="{FF2B5EF4-FFF2-40B4-BE49-F238E27FC236}">
                <a16:creationId xmlns:a16="http://schemas.microsoft.com/office/drawing/2014/main" id="{110781C1-2218-12C9-EEA4-AD4790CAC742}"/>
              </a:ext>
            </a:extLst>
          </p:cNvPr>
          <p:cNvSpPr txBox="1">
            <a:spLocks/>
          </p:cNvSpPr>
          <p:nvPr/>
        </p:nvSpPr>
        <p:spPr>
          <a:xfrm>
            <a:off x="1141414" y="1932167"/>
            <a:ext cx="5267338" cy="4418043"/>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endParaRPr lang="it-IT" dirty="0"/>
          </a:p>
        </p:txBody>
      </p:sp>
      <p:sp>
        <p:nvSpPr>
          <p:cNvPr id="5" name="Segnaposto contenuto 2">
            <a:extLst>
              <a:ext uri="{FF2B5EF4-FFF2-40B4-BE49-F238E27FC236}">
                <a16:creationId xmlns:a16="http://schemas.microsoft.com/office/drawing/2014/main" id="{1F1474C8-A9AC-B689-4504-675FB8CB6787}"/>
              </a:ext>
            </a:extLst>
          </p:cNvPr>
          <p:cNvSpPr txBox="1">
            <a:spLocks/>
          </p:cNvSpPr>
          <p:nvPr/>
        </p:nvSpPr>
        <p:spPr>
          <a:xfrm>
            <a:off x="1293814" y="1580017"/>
            <a:ext cx="5267338" cy="4828733"/>
          </a:xfrm>
          <a:prstGeom prst="rect">
            <a:avLst/>
          </a:prstGeom>
        </p:spPr>
        <p:txBody>
          <a:bodyPr vert="horz" lIns="91440" tIns="45720" rIns="91440" bIns="45720" rtlCol="0" anchor="ctr">
            <a:normAutofit fontScale="77500" lnSpcReduction="20000"/>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None/>
            </a:pPr>
            <a:r>
              <a:rPr lang="it-IT" dirty="0"/>
              <a:t>La </a:t>
            </a:r>
            <a:r>
              <a:rPr lang="it-IT" dirty="0">
                <a:solidFill>
                  <a:srgbClr val="FFFF00"/>
                </a:solidFill>
              </a:rPr>
              <a:t>sezione di trasmissione </a:t>
            </a:r>
            <a:r>
              <a:rPr lang="it-IT" dirty="0"/>
              <a:t>è composta da quattro parti. Il blocco di trasmissione (</a:t>
            </a:r>
            <a:r>
              <a:rPr lang="it-IT" dirty="0" err="1"/>
              <a:t>block_tx</a:t>
            </a:r>
            <a:r>
              <a:rPr lang="it-IT" dirty="0"/>
              <a:t>) contiene il modulatore Manchester così come visto precedentemente. Genera il segnale d’uscita (</a:t>
            </a:r>
            <a:r>
              <a:rPr lang="it-IT" dirty="0" err="1"/>
              <a:t>man_tx</a:t>
            </a:r>
            <a:r>
              <a:rPr lang="it-IT" dirty="0"/>
              <a:t>) ed usa due clock (clk_4 e clk_2). </a:t>
            </a:r>
          </a:p>
          <a:p>
            <a:pPr marL="0" indent="0">
              <a:buNone/>
            </a:pPr>
            <a:r>
              <a:rPr lang="it-IT" dirty="0"/>
              <a:t>Una sorgente (ottenuta da uno </a:t>
            </a:r>
            <a:r>
              <a:rPr lang="it-IT" dirty="0">
                <a:solidFill>
                  <a:srgbClr val="FFFF00"/>
                </a:solidFill>
              </a:rPr>
              <a:t>LFSR</a:t>
            </a:r>
            <a:r>
              <a:rPr lang="it-IT" dirty="0"/>
              <a:t>) produce i dati paralleli (data) che </a:t>
            </a:r>
            <a:r>
              <a:rPr lang="it-IT" dirty="0" err="1"/>
              <a:t>block_tx</a:t>
            </a:r>
            <a:r>
              <a:rPr lang="it-IT" dirty="0"/>
              <a:t> trasmetterà serial-mente. Lo LFSR produrrà un nuovo codice ogni qualvolta </a:t>
            </a:r>
            <a:r>
              <a:rPr lang="it-IT" dirty="0" err="1"/>
              <a:t>block_tx</a:t>
            </a:r>
            <a:r>
              <a:rPr lang="it-IT" dirty="0"/>
              <a:t> lo richiederà con un fronte positivo attraverso la net </a:t>
            </a:r>
            <a:r>
              <a:rPr lang="it-IT" i="1" dirty="0" err="1"/>
              <a:t>read</a:t>
            </a:r>
            <a:r>
              <a:rPr lang="it-IT" dirty="0"/>
              <a:t> che collega i due moduli.</a:t>
            </a:r>
          </a:p>
          <a:p>
            <a:pPr marL="0" indent="0">
              <a:buNone/>
            </a:pPr>
            <a:r>
              <a:rPr lang="it-IT" dirty="0"/>
              <a:t>Uno dei due pulsanti presenti sulla Tang Nano 9K è collegato ad un latch attraverso il quale si innesca una richiesta di trasmissione (</a:t>
            </a:r>
            <a:r>
              <a:rPr lang="it-IT" dirty="0" err="1"/>
              <a:t>tx_start</a:t>
            </a:r>
            <a:r>
              <a:rPr lang="it-IT" dirty="0"/>
              <a:t>) di un pacchetto di 255 byte (generato dallo LFSR). Il pac-</a:t>
            </a:r>
            <a:r>
              <a:rPr lang="it-IT" dirty="0" err="1"/>
              <a:t>chetto</a:t>
            </a:r>
            <a:r>
              <a:rPr lang="it-IT" dirty="0"/>
              <a:t> dati (payload) è preceduto da un </a:t>
            </a:r>
            <a:r>
              <a:rPr lang="it-IT" dirty="0" err="1"/>
              <a:t>pream</a:t>
            </a:r>
            <a:r>
              <a:rPr lang="it-IT" dirty="0"/>
              <a:t>-bolo di due byte (0xAA55) che servirà a </a:t>
            </a:r>
            <a:r>
              <a:rPr lang="it-IT" dirty="0" err="1"/>
              <a:t>sincroniz</a:t>
            </a:r>
            <a:r>
              <a:rPr lang="it-IT" dirty="0"/>
              <a:t>-zare il ricevitore. In tutto, la trama sarà lunga 257 byte.</a:t>
            </a:r>
          </a:p>
          <a:p>
            <a:pPr marL="0" indent="0">
              <a:buNone/>
            </a:pPr>
            <a:r>
              <a:rPr lang="it-IT" dirty="0"/>
              <a:t>Quando </a:t>
            </a:r>
            <a:r>
              <a:rPr lang="it-IT" dirty="0" err="1"/>
              <a:t>block_tx</a:t>
            </a:r>
            <a:r>
              <a:rPr lang="it-IT" dirty="0"/>
              <a:t> ha terminato di inviare i dati, genera un impulso (</a:t>
            </a:r>
            <a:r>
              <a:rPr lang="it-IT" dirty="0" err="1"/>
              <a:t>tx_end</a:t>
            </a:r>
            <a:r>
              <a:rPr lang="it-IT" dirty="0"/>
              <a:t>) che azzera il latch e resetta </a:t>
            </a:r>
            <a:r>
              <a:rPr lang="it-IT" dirty="0" err="1"/>
              <a:t>data_source</a:t>
            </a:r>
            <a:r>
              <a:rPr lang="it-IT" dirty="0"/>
              <a:t> attraverso la net </a:t>
            </a:r>
            <a:r>
              <a:rPr lang="it-IT" i="1" dirty="0"/>
              <a:t>!start</a:t>
            </a:r>
            <a:r>
              <a:rPr lang="it-IT" dirty="0"/>
              <a:t>.</a:t>
            </a:r>
          </a:p>
        </p:txBody>
      </p:sp>
      <p:pic>
        <p:nvPicPr>
          <p:cNvPr id="11" name="Elemento grafico 10">
            <a:extLst>
              <a:ext uri="{FF2B5EF4-FFF2-40B4-BE49-F238E27FC236}">
                <a16:creationId xmlns:a16="http://schemas.microsoft.com/office/drawing/2014/main" id="{5ECEB9B3-6A1E-EC5B-EE30-DF0DB8B20B3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25370" y="1522009"/>
            <a:ext cx="5110742" cy="4828733"/>
          </a:xfrm>
          <a:prstGeom prst="rect">
            <a:avLst/>
          </a:prstGeom>
        </p:spPr>
      </p:pic>
      <p:sp>
        <p:nvSpPr>
          <p:cNvPr id="12" name="Rettangolo 11">
            <a:extLst>
              <a:ext uri="{FF2B5EF4-FFF2-40B4-BE49-F238E27FC236}">
                <a16:creationId xmlns:a16="http://schemas.microsoft.com/office/drawing/2014/main" id="{57CA051C-165A-61FF-4940-40907FD9140E}"/>
              </a:ext>
            </a:extLst>
          </p:cNvPr>
          <p:cNvSpPr/>
          <p:nvPr/>
        </p:nvSpPr>
        <p:spPr>
          <a:xfrm>
            <a:off x="7331103" y="1741335"/>
            <a:ext cx="3999506" cy="1924215"/>
          </a:xfrm>
          <a:prstGeom prst="rect">
            <a:avLst/>
          </a:prstGeom>
          <a:solidFill>
            <a:srgbClr val="FFFF00">
              <a:alpha val="20000"/>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9074997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8E29A64-9CBD-D946-FBCB-F82F686EB094}"/>
              </a:ext>
            </a:extLst>
          </p:cNvPr>
          <p:cNvSpPr>
            <a:spLocks noGrp="1"/>
          </p:cNvSpPr>
          <p:nvPr>
            <p:ph type="title"/>
          </p:nvPr>
        </p:nvSpPr>
        <p:spPr>
          <a:xfrm>
            <a:off x="1141413" y="609601"/>
            <a:ext cx="9905998" cy="912410"/>
          </a:xfrm>
        </p:spPr>
        <p:txBody>
          <a:bodyPr/>
          <a:lstStyle/>
          <a:p>
            <a:r>
              <a:rPr lang="it-IT" dirty="0"/>
              <a:t>ESEMPIO: UN TRANSCEIVER MANCESTER (6)</a:t>
            </a:r>
          </a:p>
        </p:txBody>
      </p:sp>
      <p:sp>
        <p:nvSpPr>
          <p:cNvPr id="10" name="Segnaposto contenuto 2">
            <a:extLst>
              <a:ext uri="{FF2B5EF4-FFF2-40B4-BE49-F238E27FC236}">
                <a16:creationId xmlns:a16="http://schemas.microsoft.com/office/drawing/2014/main" id="{110781C1-2218-12C9-EEA4-AD4790CAC742}"/>
              </a:ext>
            </a:extLst>
          </p:cNvPr>
          <p:cNvSpPr txBox="1">
            <a:spLocks/>
          </p:cNvSpPr>
          <p:nvPr/>
        </p:nvSpPr>
        <p:spPr>
          <a:xfrm>
            <a:off x="1141414" y="1932167"/>
            <a:ext cx="5267338" cy="4418043"/>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endParaRPr lang="it-IT" dirty="0"/>
          </a:p>
        </p:txBody>
      </p:sp>
      <p:sp>
        <p:nvSpPr>
          <p:cNvPr id="5" name="Segnaposto contenuto 2">
            <a:extLst>
              <a:ext uri="{FF2B5EF4-FFF2-40B4-BE49-F238E27FC236}">
                <a16:creationId xmlns:a16="http://schemas.microsoft.com/office/drawing/2014/main" id="{1F1474C8-A9AC-B689-4504-675FB8CB6787}"/>
              </a:ext>
            </a:extLst>
          </p:cNvPr>
          <p:cNvSpPr txBox="1">
            <a:spLocks/>
          </p:cNvSpPr>
          <p:nvPr/>
        </p:nvSpPr>
        <p:spPr>
          <a:xfrm>
            <a:off x="1293814" y="2084568"/>
            <a:ext cx="5110745" cy="4093596"/>
          </a:xfrm>
          <a:prstGeom prst="rect">
            <a:avLst/>
          </a:prstGeom>
        </p:spPr>
        <p:txBody>
          <a:bodyPr vert="horz" lIns="91440" tIns="45720" rIns="91440" bIns="45720" rtlCol="0" anchor="ctr">
            <a:normAutofit fontScale="92500" lnSpcReduction="10000"/>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None/>
            </a:pPr>
            <a:r>
              <a:rPr lang="it-IT" dirty="0"/>
              <a:t>Il segnale in ingresso (</a:t>
            </a:r>
            <a:r>
              <a:rPr lang="it-IT" dirty="0" err="1"/>
              <a:t>man_rx</a:t>
            </a:r>
            <a:r>
              <a:rPr lang="it-IT" dirty="0"/>
              <a:t>) raggiunge </a:t>
            </a:r>
            <a:r>
              <a:rPr lang="it-IT" dirty="0" err="1"/>
              <a:t>block_rx</a:t>
            </a:r>
            <a:r>
              <a:rPr lang="it-IT" dirty="0"/>
              <a:t>: è il modulo preposto alla decodifica del protocollo Manchester. Questi riceve il clock più veloce (</a:t>
            </a:r>
            <a:r>
              <a:rPr lang="it-IT" dirty="0" err="1"/>
              <a:t>clk_pll</a:t>
            </a:r>
            <a:r>
              <a:rPr lang="it-IT" dirty="0"/>
              <a:t>) e produce due segnali scalari (frame e </a:t>
            </a:r>
            <a:r>
              <a:rPr lang="it-IT" dirty="0" err="1"/>
              <a:t>stb</a:t>
            </a:r>
            <a:r>
              <a:rPr lang="it-IT" dirty="0"/>
              <a:t>) ed un vettore ad otto bit (</a:t>
            </a:r>
            <a:r>
              <a:rPr lang="it-IT" dirty="0" err="1"/>
              <a:t>data_out</a:t>
            </a:r>
            <a:r>
              <a:rPr lang="it-IT" dirty="0"/>
              <a:t>).</a:t>
            </a:r>
          </a:p>
          <a:p>
            <a:pPr marL="0" indent="0">
              <a:buNone/>
            </a:pPr>
            <a:r>
              <a:rPr lang="it-IT" dirty="0"/>
              <a:t>Il compito di </a:t>
            </a:r>
            <a:r>
              <a:rPr lang="it-IT" dirty="0" err="1"/>
              <a:t>block_rx</a:t>
            </a:r>
            <a:r>
              <a:rPr lang="it-IT" dirty="0"/>
              <a:t> è di sincronizzarsi col trasmettitore e di estrarre i dati effettivi (il payload) e di presentarli consecutiva-mente sotto forma di byte in uscita.</a:t>
            </a:r>
          </a:p>
          <a:p>
            <a:pPr marL="0" indent="0">
              <a:buNone/>
            </a:pPr>
            <a:r>
              <a:rPr lang="it-IT" dirty="0"/>
              <a:t>All’uscita di </a:t>
            </a:r>
            <a:r>
              <a:rPr lang="it-IT" dirty="0" err="1"/>
              <a:t>block_rx</a:t>
            </a:r>
            <a:r>
              <a:rPr lang="it-IT" dirty="0"/>
              <a:t> è connesso un Analizzatore di Stati Logici che permette di vedere quanto ricevuto.</a:t>
            </a:r>
          </a:p>
          <a:p>
            <a:endParaRPr lang="it-IT" dirty="0"/>
          </a:p>
        </p:txBody>
      </p:sp>
      <p:pic>
        <p:nvPicPr>
          <p:cNvPr id="14" name="Elemento grafico 13">
            <a:extLst>
              <a:ext uri="{FF2B5EF4-FFF2-40B4-BE49-F238E27FC236}">
                <a16:creationId xmlns:a16="http://schemas.microsoft.com/office/drawing/2014/main" id="{AF23501E-B7CC-F68B-7137-412EBEAEFE0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25370" y="1522008"/>
            <a:ext cx="5110745" cy="4828199"/>
          </a:xfrm>
          <a:prstGeom prst="rect">
            <a:avLst/>
          </a:prstGeom>
        </p:spPr>
      </p:pic>
      <p:sp>
        <p:nvSpPr>
          <p:cNvPr id="15" name="Rettangolo 14">
            <a:extLst>
              <a:ext uri="{FF2B5EF4-FFF2-40B4-BE49-F238E27FC236}">
                <a16:creationId xmlns:a16="http://schemas.microsoft.com/office/drawing/2014/main" id="{478176D7-3CCA-6CD0-F212-666F9B2E4F33}"/>
              </a:ext>
            </a:extLst>
          </p:cNvPr>
          <p:cNvSpPr/>
          <p:nvPr/>
        </p:nvSpPr>
        <p:spPr>
          <a:xfrm>
            <a:off x="7331103" y="4913905"/>
            <a:ext cx="3999506" cy="1017767"/>
          </a:xfrm>
          <a:prstGeom prst="rect">
            <a:avLst/>
          </a:prstGeom>
          <a:solidFill>
            <a:srgbClr val="FFFF00">
              <a:alpha val="20000"/>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3208536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EAD5A01-C759-5191-8759-30B5685DFB7F}"/>
              </a:ext>
            </a:extLst>
          </p:cNvPr>
          <p:cNvSpPr>
            <a:spLocks noGrp="1"/>
          </p:cNvSpPr>
          <p:nvPr>
            <p:ph type="title"/>
          </p:nvPr>
        </p:nvSpPr>
        <p:spPr>
          <a:xfrm>
            <a:off x="1141413" y="609600"/>
            <a:ext cx="9905998" cy="932953"/>
          </a:xfrm>
        </p:spPr>
        <p:txBody>
          <a:bodyPr/>
          <a:lstStyle/>
          <a:p>
            <a:r>
              <a:rPr lang="it-IT" dirty="0"/>
              <a:t>MODULO BLOCK_TX</a:t>
            </a:r>
          </a:p>
        </p:txBody>
      </p:sp>
      <p:pic>
        <p:nvPicPr>
          <p:cNvPr id="5" name="Segnaposto contenuto 4">
            <a:extLst>
              <a:ext uri="{FF2B5EF4-FFF2-40B4-BE49-F238E27FC236}">
                <a16:creationId xmlns:a16="http://schemas.microsoft.com/office/drawing/2014/main" id="{902A6DE7-FBA7-6644-25C8-7651173B8152}"/>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6861975" y="2935578"/>
            <a:ext cx="4948761" cy="3519552"/>
          </a:xfrm>
        </p:spPr>
      </p:pic>
      <p:sp>
        <p:nvSpPr>
          <p:cNvPr id="3" name="Segnaposto contenuto 2">
            <a:extLst>
              <a:ext uri="{FF2B5EF4-FFF2-40B4-BE49-F238E27FC236}">
                <a16:creationId xmlns:a16="http://schemas.microsoft.com/office/drawing/2014/main" id="{0622B26F-3799-574F-DF9A-DDF6B22CCD97}"/>
              </a:ext>
            </a:extLst>
          </p:cNvPr>
          <p:cNvSpPr txBox="1">
            <a:spLocks/>
          </p:cNvSpPr>
          <p:nvPr/>
        </p:nvSpPr>
        <p:spPr>
          <a:xfrm>
            <a:off x="958538" y="1652556"/>
            <a:ext cx="7163011" cy="4418043"/>
          </a:xfrm>
          <a:prstGeom prst="rect">
            <a:avLst/>
          </a:prstGeom>
        </p:spPr>
        <p:txBody>
          <a:bodyPr vert="horz" lIns="91440" tIns="45720" rIns="91440" bIns="45720" rtlCol="0" anchor="t">
            <a:normAutofit fontScale="70000" lnSpcReduction="20000"/>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None/>
            </a:pPr>
            <a:r>
              <a:rPr lang="it-IT" dirty="0"/>
              <a:t>Il modulo </a:t>
            </a:r>
            <a:r>
              <a:rPr lang="it-IT" dirty="0" err="1"/>
              <a:t>block_tx</a:t>
            </a:r>
            <a:r>
              <a:rPr lang="it-IT" dirty="0"/>
              <a:t> sfrutta tre </a:t>
            </a:r>
            <a:r>
              <a:rPr lang="it-IT" dirty="0" err="1"/>
              <a:t>sottomoduli</a:t>
            </a:r>
            <a:r>
              <a:rPr lang="it-IT" dirty="0"/>
              <a:t>: ser_8bit, </a:t>
            </a:r>
            <a:r>
              <a:rPr lang="it-IT" dirty="0" err="1"/>
              <a:t>man_encode</a:t>
            </a:r>
            <a:r>
              <a:rPr lang="it-IT" dirty="0"/>
              <a:t> e </a:t>
            </a:r>
            <a:r>
              <a:rPr lang="it-IT" dirty="0" err="1"/>
              <a:t>sequencer_tx</a:t>
            </a:r>
            <a:r>
              <a:rPr lang="it-IT" dirty="0"/>
              <a:t>.</a:t>
            </a:r>
            <a:br>
              <a:rPr lang="it-IT" dirty="0"/>
            </a:br>
            <a:r>
              <a:rPr lang="it-IT" dirty="0"/>
              <a:t>Il modulo ser8_bit è un </a:t>
            </a:r>
            <a:r>
              <a:rPr lang="it-IT" dirty="0" err="1"/>
              <a:t>serializzatore</a:t>
            </a:r>
            <a:r>
              <a:rPr lang="it-IT" dirty="0"/>
              <a:t> (PISO) come già visto in precedenza. Il modulo </a:t>
            </a:r>
            <a:r>
              <a:rPr lang="it-IT" dirty="0" err="1"/>
              <a:t>man_encode</a:t>
            </a:r>
            <a:r>
              <a:rPr lang="it-IT" dirty="0"/>
              <a:t>, già spiegato in addietro, genera il segnale Manchester.</a:t>
            </a:r>
          </a:p>
          <a:p>
            <a:pPr marL="0" indent="0">
              <a:buNone/>
            </a:pPr>
            <a:r>
              <a:rPr lang="it-IT" dirty="0"/>
              <a:t>Il modulo </a:t>
            </a:r>
            <a:r>
              <a:rPr lang="it-IT" dirty="0" err="1"/>
              <a:t>block_tx</a:t>
            </a:r>
            <a:r>
              <a:rPr lang="it-IT" dirty="0"/>
              <a:t> riceve i dati (il payload) in formato parallelo da un vettore di otto bit (</a:t>
            </a:r>
            <a:r>
              <a:rPr lang="it-IT" dirty="0" err="1"/>
              <a:t>data_in</a:t>
            </a:r>
            <a:r>
              <a:rPr lang="it-IT" dirty="0"/>
              <a:t>). I dati entrano in un multiplexer (MUX) codificato direttamente nel modulo. Suddetto multiplexer seleziona, uno alla volta, anche </a:t>
            </a:r>
            <a:br>
              <a:rPr lang="it-IT" dirty="0"/>
            </a:br>
            <a:r>
              <a:rPr lang="it-IT" dirty="0"/>
              <a:t>i due byte utilizzati per la sequenza del preambolo di </a:t>
            </a:r>
            <a:r>
              <a:rPr lang="it-IT" dirty="0" err="1"/>
              <a:t>sincroniz</a:t>
            </a:r>
            <a:r>
              <a:rPr lang="it-IT" dirty="0"/>
              <a:t>-</a:t>
            </a:r>
            <a:br>
              <a:rPr lang="it-IT" dirty="0"/>
            </a:br>
            <a:r>
              <a:rPr lang="it-IT" dirty="0" err="1"/>
              <a:t>zazione</a:t>
            </a:r>
            <a:r>
              <a:rPr lang="it-IT" dirty="0"/>
              <a:t>.</a:t>
            </a:r>
          </a:p>
          <a:p>
            <a:pPr marL="0" indent="0">
              <a:buNone/>
            </a:pPr>
            <a:r>
              <a:rPr lang="it-IT" dirty="0"/>
              <a:t>Il modulo </a:t>
            </a:r>
            <a:r>
              <a:rPr lang="it-IT" dirty="0" err="1"/>
              <a:t>sequencer_tx</a:t>
            </a:r>
            <a:r>
              <a:rPr lang="it-IT" dirty="0"/>
              <a:t> è preposto alla generazione dei segnali </a:t>
            </a:r>
            <a:br>
              <a:rPr lang="it-IT" dirty="0"/>
            </a:br>
            <a:r>
              <a:rPr lang="it-IT" dirty="0"/>
              <a:t>che orchestrano il funzionamento dell’intero modulo </a:t>
            </a:r>
            <a:r>
              <a:rPr lang="it-IT" dirty="0" err="1"/>
              <a:t>block_tx</a:t>
            </a:r>
            <a:r>
              <a:rPr lang="it-IT" dirty="0"/>
              <a:t>. </a:t>
            </a:r>
            <a:br>
              <a:rPr lang="it-IT" dirty="0"/>
            </a:br>
            <a:r>
              <a:rPr lang="it-IT" dirty="0"/>
              <a:t>Quando il modulo </a:t>
            </a:r>
            <a:r>
              <a:rPr lang="it-IT" dirty="0" err="1"/>
              <a:t>sequencer_tx</a:t>
            </a:r>
            <a:r>
              <a:rPr lang="it-IT" dirty="0"/>
              <a:t> riceve un livello alto sull’ingresso </a:t>
            </a:r>
            <a:br>
              <a:rPr lang="it-IT" dirty="0"/>
            </a:br>
            <a:r>
              <a:rPr lang="it-IT" dirty="0" err="1"/>
              <a:t>tx_start</a:t>
            </a:r>
            <a:r>
              <a:rPr lang="it-IT" dirty="0"/>
              <a:t>, inizialmente istruisce il multiplexer per selezionare il primo </a:t>
            </a:r>
            <a:br>
              <a:rPr lang="it-IT" dirty="0"/>
            </a:br>
            <a:r>
              <a:rPr lang="it-IT" dirty="0"/>
              <a:t>byte del preambolo di sincronizzazione (0xAA). </a:t>
            </a:r>
            <a:br>
              <a:rPr lang="it-IT" dirty="0"/>
            </a:br>
            <a:r>
              <a:rPr lang="it-IT" dirty="0"/>
              <a:t>Contemporaneamente abilita il </a:t>
            </a:r>
            <a:r>
              <a:rPr lang="it-IT" dirty="0" err="1"/>
              <a:t>serializzatore</a:t>
            </a:r>
            <a:r>
              <a:rPr lang="it-IT" dirty="0"/>
              <a:t> (ser_8bit) che invia </a:t>
            </a:r>
            <a:br>
              <a:rPr lang="it-IT" dirty="0"/>
            </a:br>
            <a:r>
              <a:rPr lang="it-IT" dirty="0"/>
              <a:t>i bit uno ad uno al codificatore </a:t>
            </a:r>
            <a:r>
              <a:rPr lang="it-IT" dirty="0" err="1"/>
              <a:t>manchester</a:t>
            </a:r>
            <a:r>
              <a:rPr lang="it-IT" dirty="0"/>
              <a:t> (</a:t>
            </a:r>
            <a:r>
              <a:rPr lang="it-IT" dirty="0" err="1"/>
              <a:t>man_encoder</a:t>
            </a:r>
            <a:r>
              <a:rPr lang="it-IT" dirty="0"/>
              <a:t>) </a:t>
            </a:r>
            <a:br>
              <a:rPr lang="it-IT" dirty="0"/>
            </a:br>
            <a:r>
              <a:rPr lang="it-IT" dirty="0"/>
              <a:t>il quale genera il segnale in uscita. Successivamente, </a:t>
            </a:r>
            <a:r>
              <a:rPr lang="it-IT" dirty="0" err="1"/>
              <a:t>sequencer</a:t>
            </a:r>
            <a:r>
              <a:rPr lang="it-IT" dirty="0"/>
              <a:t>_</a:t>
            </a:r>
            <a:br>
              <a:rPr lang="it-IT" dirty="0"/>
            </a:br>
            <a:r>
              <a:rPr lang="it-IT" dirty="0" err="1"/>
              <a:t>tx</a:t>
            </a:r>
            <a:r>
              <a:rPr lang="it-IT" dirty="0"/>
              <a:t> seleziona il secondo byte di sincronizzazione (0x55) e lo invia. </a:t>
            </a:r>
            <a:br>
              <a:rPr lang="it-IT" dirty="0"/>
            </a:br>
            <a:r>
              <a:rPr lang="it-IT" dirty="0"/>
              <a:t>Dopo, inizia l’invio di tutto il payload che è richiesto, byte a byte, </a:t>
            </a:r>
            <a:br>
              <a:rPr lang="it-IT" dirty="0"/>
            </a:br>
            <a:r>
              <a:rPr lang="it-IT" dirty="0"/>
              <a:t>generando fronti utili tramite il segnale </a:t>
            </a:r>
            <a:r>
              <a:rPr lang="it-IT" dirty="0" err="1"/>
              <a:t>data_req</a:t>
            </a:r>
            <a:r>
              <a:rPr lang="it-IT" dirty="0"/>
              <a:t>.</a:t>
            </a:r>
          </a:p>
          <a:p>
            <a:pPr marL="0" indent="0">
              <a:buNone/>
            </a:pPr>
            <a:r>
              <a:rPr lang="it-IT" dirty="0"/>
              <a:t>Infine, </a:t>
            </a:r>
            <a:r>
              <a:rPr lang="it-IT" dirty="0" err="1"/>
              <a:t>sequencer_tx</a:t>
            </a:r>
            <a:r>
              <a:rPr lang="it-IT" dirty="0"/>
              <a:t> provvederà con </a:t>
            </a:r>
            <a:r>
              <a:rPr lang="it-IT" dirty="0" err="1"/>
              <a:t>tx_end</a:t>
            </a:r>
            <a:r>
              <a:rPr lang="it-IT" dirty="0"/>
              <a:t> a segnalare la fine </a:t>
            </a:r>
            <a:br>
              <a:rPr lang="it-IT" dirty="0"/>
            </a:br>
            <a:r>
              <a:rPr lang="it-IT" dirty="0"/>
              <a:t>della trasmissione del payload. A questo punto </a:t>
            </a:r>
            <a:r>
              <a:rPr lang="it-IT" dirty="0" err="1"/>
              <a:t>sequencer_tx</a:t>
            </a:r>
            <a:r>
              <a:rPr lang="it-IT" dirty="0"/>
              <a:t> </a:t>
            </a:r>
            <a:br>
              <a:rPr lang="it-IT" dirty="0"/>
            </a:br>
            <a:r>
              <a:rPr lang="it-IT" dirty="0"/>
              <a:t>attenderà che l’ingresso </a:t>
            </a:r>
            <a:r>
              <a:rPr lang="it-IT" dirty="0" err="1"/>
              <a:t>start_tx</a:t>
            </a:r>
            <a:r>
              <a:rPr lang="it-IT" dirty="0"/>
              <a:t> torni a zero. Quando </a:t>
            </a:r>
            <a:r>
              <a:rPr lang="it-IT" dirty="0" err="1"/>
              <a:t>start_tx</a:t>
            </a:r>
            <a:r>
              <a:rPr lang="it-IT" dirty="0"/>
              <a:t> </a:t>
            </a:r>
            <a:br>
              <a:rPr lang="it-IT" dirty="0"/>
            </a:br>
            <a:r>
              <a:rPr lang="it-IT" dirty="0"/>
              <a:t>è </a:t>
            </a:r>
            <a:r>
              <a:rPr lang="it-IT" dirty="0" err="1"/>
              <a:t>deasserito</a:t>
            </a:r>
            <a:r>
              <a:rPr lang="it-IT" dirty="0"/>
              <a:t>, anche </a:t>
            </a:r>
            <a:r>
              <a:rPr lang="it-IT" dirty="0" err="1"/>
              <a:t>tx_end</a:t>
            </a:r>
            <a:r>
              <a:rPr lang="it-IT" dirty="0"/>
              <a:t> tornerà a zero.</a:t>
            </a:r>
          </a:p>
        </p:txBody>
      </p:sp>
      <p:pic>
        <p:nvPicPr>
          <p:cNvPr id="9" name="Elemento grafico 8">
            <a:extLst>
              <a:ext uri="{FF2B5EF4-FFF2-40B4-BE49-F238E27FC236}">
                <a16:creationId xmlns:a16="http://schemas.microsoft.com/office/drawing/2014/main" id="{1592AA54-16A8-2ED0-3B63-FBE32F295DB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53740" y="276110"/>
            <a:ext cx="3456996" cy="2532886"/>
          </a:xfrm>
          <a:prstGeom prst="rect">
            <a:avLst/>
          </a:prstGeom>
        </p:spPr>
      </p:pic>
    </p:spTree>
    <p:extLst>
      <p:ext uri="{BB962C8B-B14F-4D97-AF65-F5344CB8AC3E}">
        <p14:creationId xmlns:p14="http://schemas.microsoft.com/office/powerpoint/2010/main" val="19496066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FDA7EAA-9A57-2932-5817-C45EC0FAE025}"/>
              </a:ext>
            </a:extLst>
          </p:cNvPr>
          <p:cNvSpPr>
            <a:spLocks noGrp="1"/>
          </p:cNvSpPr>
          <p:nvPr>
            <p:ph type="title"/>
          </p:nvPr>
        </p:nvSpPr>
        <p:spPr>
          <a:xfrm>
            <a:off x="1141413" y="609600"/>
            <a:ext cx="9905998" cy="976548"/>
          </a:xfrm>
        </p:spPr>
        <p:txBody>
          <a:bodyPr/>
          <a:lstStyle/>
          <a:p>
            <a:r>
              <a:rPr lang="it-IT" dirty="0"/>
              <a:t>MODULO BLOCK_RX</a:t>
            </a:r>
          </a:p>
        </p:txBody>
      </p:sp>
      <p:pic>
        <p:nvPicPr>
          <p:cNvPr id="19" name="Segnaposto contenuto 18">
            <a:extLst>
              <a:ext uri="{FF2B5EF4-FFF2-40B4-BE49-F238E27FC236}">
                <a16:creationId xmlns:a16="http://schemas.microsoft.com/office/drawing/2014/main" id="{841C056D-976B-2A9A-6614-F5573D387591}"/>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6490706" y="3108959"/>
            <a:ext cx="5387657" cy="3234855"/>
          </a:xfrm>
        </p:spPr>
      </p:pic>
      <p:pic>
        <p:nvPicPr>
          <p:cNvPr id="5" name="Elemento grafico 4">
            <a:extLst>
              <a:ext uri="{FF2B5EF4-FFF2-40B4-BE49-F238E27FC236}">
                <a16:creationId xmlns:a16="http://schemas.microsoft.com/office/drawing/2014/main" id="{51599702-E245-E9D0-ADCD-13355423A31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48078" y="1586148"/>
            <a:ext cx="4430286" cy="1363786"/>
          </a:xfrm>
          <a:prstGeom prst="rect">
            <a:avLst/>
          </a:prstGeom>
        </p:spPr>
      </p:pic>
      <p:sp>
        <p:nvSpPr>
          <p:cNvPr id="6" name="Segnaposto contenuto 2">
            <a:extLst>
              <a:ext uri="{FF2B5EF4-FFF2-40B4-BE49-F238E27FC236}">
                <a16:creationId xmlns:a16="http://schemas.microsoft.com/office/drawing/2014/main" id="{8462A9F9-9029-FCF8-DD7B-30418E03F742}"/>
              </a:ext>
            </a:extLst>
          </p:cNvPr>
          <p:cNvSpPr txBox="1">
            <a:spLocks/>
          </p:cNvSpPr>
          <p:nvPr/>
        </p:nvSpPr>
        <p:spPr>
          <a:xfrm>
            <a:off x="1141412" y="1830357"/>
            <a:ext cx="6245350" cy="4610199"/>
          </a:xfrm>
          <a:prstGeom prst="rect">
            <a:avLst/>
          </a:prstGeom>
        </p:spPr>
        <p:txBody>
          <a:bodyPr vert="horz" lIns="91440" tIns="45720" rIns="91440" bIns="45720" rtlCol="0" anchor="t">
            <a:normAutofit fontScale="62500" lnSpcReduction="20000"/>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None/>
            </a:pPr>
            <a:r>
              <a:rPr lang="it-IT" dirty="0"/>
              <a:t>Il modulo </a:t>
            </a:r>
            <a:r>
              <a:rPr lang="it-IT" dirty="0" err="1"/>
              <a:t>block_rx</a:t>
            </a:r>
            <a:r>
              <a:rPr lang="it-IT" dirty="0"/>
              <a:t> contiene 5 </a:t>
            </a:r>
            <a:r>
              <a:rPr lang="it-IT" dirty="0" err="1"/>
              <a:t>sottomoduli</a:t>
            </a:r>
            <a:r>
              <a:rPr lang="it-IT" dirty="0"/>
              <a:t>. Il segnale d’ingresso (in) incontra un primo blocco di sincronizzazione (</a:t>
            </a:r>
            <a:r>
              <a:rPr lang="it-IT" dirty="0" err="1"/>
              <a:t>sync_meta</a:t>
            </a:r>
            <a:r>
              <a:rPr lang="it-IT" dirty="0"/>
              <a:t>) che produce un segnale sincronizzato (</a:t>
            </a:r>
            <a:r>
              <a:rPr lang="it-IT" dirty="0" err="1"/>
              <a:t>in_d</a:t>
            </a:r>
            <a:r>
              <a:rPr lang="it-IT" dirty="0"/>
              <a:t>) col clock (</a:t>
            </a:r>
            <a:r>
              <a:rPr lang="it-IT" dirty="0" err="1"/>
              <a:t>clk</a:t>
            </a:r>
            <a:r>
              <a:rPr lang="it-IT" dirty="0"/>
              <a:t>).</a:t>
            </a:r>
          </a:p>
          <a:p>
            <a:pPr marL="0" indent="0">
              <a:buNone/>
            </a:pPr>
            <a:r>
              <a:rPr lang="it-IT" dirty="0"/>
              <a:t>Il segnale </a:t>
            </a:r>
            <a:r>
              <a:rPr lang="it-IT" dirty="0" err="1"/>
              <a:t>in_d</a:t>
            </a:r>
            <a:r>
              <a:rPr lang="it-IT" dirty="0"/>
              <a:t> arriva al modulo </a:t>
            </a:r>
            <a:r>
              <a:rPr lang="it-IT" dirty="0" err="1"/>
              <a:t>man_decoder</a:t>
            </a:r>
            <a:r>
              <a:rPr lang="it-IT" dirty="0"/>
              <a:t> il quale è responsabile dell’estrazione dei bit di informazione (</a:t>
            </a:r>
            <a:r>
              <a:rPr lang="it-IT" dirty="0" err="1"/>
              <a:t>man_out</a:t>
            </a:r>
            <a:r>
              <a:rPr lang="it-IT" dirty="0"/>
              <a:t>) e del relativo clock ad essi correlato (</a:t>
            </a:r>
            <a:r>
              <a:rPr lang="it-IT" dirty="0" err="1"/>
              <a:t>man_clk</a:t>
            </a:r>
            <a:r>
              <a:rPr lang="it-IT" dirty="0"/>
              <a:t>).</a:t>
            </a:r>
          </a:p>
          <a:p>
            <a:pPr marL="0" indent="0">
              <a:buNone/>
            </a:pPr>
            <a:r>
              <a:rPr lang="it-IT" dirty="0"/>
              <a:t>Il segnale </a:t>
            </a:r>
            <a:r>
              <a:rPr lang="it-IT" dirty="0" err="1"/>
              <a:t>man_out</a:t>
            </a:r>
            <a:r>
              <a:rPr lang="it-IT" dirty="0"/>
              <a:t> è fornito al modulo </a:t>
            </a:r>
            <a:r>
              <a:rPr lang="it-IT" dirty="0" err="1"/>
              <a:t>des_n_bit</a:t>
            </a:r>
            <a:r>
              <a:rPr lang="it-IT" dirty="0"/>
              <a:t> il quale </a:t>
            </a:r>
            <a:br>
              <a:rPr lang="it-IT" dirty="0"/>
            </a:br>
            <a:r>
              <a:rPr lang="it-IT" dirty="0"/>
              <a:t>costituisce un </a:t>
            </a:r>
            <a:r>
              <a:rPr lang="it-IT" dirty="0" err="1"/>
              <a:t>deserializzatore</a:t>
            </a:r>
            <a:r>
              <a:rPr lang="it-IT" dirty="0"/>
              <a:t> (SIPO) a 16 bit. I bit deserializzati </a:t>
            </a:r>
            <a:br>
              <a:rPr lang="it-IT" dirty="0"/>
            </a:br>
            <a:r>
              <a:rPr lang="it-IT" dirty="0"/>
              <a:t>sono propagati nel modulo attraverso un bus a 16 bit (</a:t>
            </a:r>
            <a:r>
              <a:rPr lang="it-IT" dirty="0" err="1"/>
              <a:t>par_our</a:t>
            </a:r>
            <a:r>
              <a:rPr lang="it-IT" dirty="0"/>
              <a:t>) </a:t>
            </a:r>
            <a:br>
              <a:rPr lang="it-IT" dirty="0"/>
            </a:br>
            <a:r>
              <a:rPr lang="it-IT" dirty="0"/>
              <a:t>che raggiunge </a:t>
            </a:r>
            <a:r>
              <a:rPr lang="it-IT" dirty="0" err="1"/>
              <a:t>sequencer_rx</a:t>
            </a:r>
            <a:r>
              <a:rPr lang="it-IT" dirty="0"/>
              <a:t>, cioè la macchina stati che con-</a:t>
            </a:r>
            <a:br>
              <a:rPr lang="it-IT" dirty="0"/>
            </a:br>
            <a:r>
              <a:rPr lang="it-IT" dirty="0"/>
              <a:t>trolla il </a:t>
            </a:r>
            <a:r>
              <a:rPr lang="it-IT" dirty="0" err="1"/>
              <a:t>fuzionamento</a:t>
            </a:r>
            <a:r>
              <a:rPr lang="it-IT" dirty="0"/>
              <a:t> dell’intero modulo.</a:t>
            </a:r>
          </a:p>
          <a:p>
            <a:pPr marL="0" indent="0">
              <a:buNone/>
            </a:pPr>
            <a:r>
              <a:rPr lang="it-IT" dirty="0"/>
              <a:t>Quando </a:t>
            </a:r>
            <a:r>
              <a:rPr lang="it-IT" dirty="0" err="1"/>
              <a:t>sequencer_tx</a:t>
            </a:r>
            <a:r>
              <a:rPr lang="it-IT" dirty="0"/>
              <a:t> legge il pattern 0xAA55 (il </a:t>
            </a:r>
            <a:r>
              <a:rPr lang="it-IT" dirty="0" err="1"/>
              <a:t>premabolo</a:t>
            </a:r>
            <a:r>
              <a:rPr lang="it-IT" dirty="0"/>
              <a:t>), </a:t>
            </a:r>
            <a:br>
              <a:rPr lang="it-IT" dirty="0"/>
            </a:br>
            <a:r>
              <a:rPr lang="it-IT" dirty="0"/>
              <a:t>riconosce i bit successivi come payload. Il segnale rx è asserito </a:t>
            </a:r>
            <a:br>
              <a:rPr lang="it-IT" dirty="0"/>
            </a:br>
            <a:r>
              <a:rPr lang="it-IT" dirty="0"/>
              <a:t>ad indicare che sta sopraggiungendo il blocco di bit col </a:t>
            </a:r>
            <a:br>
              <a:rPr lang="it-IT" dirty="0"/>
            </a:br>
            <a:r>
              <a:rPr lang="it-IT" dirty="0"/>
              <a:t>payload.</a:t>
            </a:r>
          </a:p>
          <a:p>
            <a:pPr marL="0" indent="0">
              <a:buNone/>
            </a:pPr>
            <a:r>
              <a:rPr lang="it-IT" dirty="0"/>
              <a:t>Ogni 8 bit di payload, </a:t>
            </a:r>
            <a:r>
              <a:rPr lang="it-IT" dirty="0" err="1"/>
              <a:t>sequencer_tx</a:t>
            </a:r>
            <a:r>
              <a:rPr lang="it-IT" dirty="0"/>
              <a:t> produce un impulso che </a:t>
            </a:r>
            <a:br>
              <a:rPr lang="it-IT" dirty="0"/>
            </a:br>
            <a:r>
              <a:rPr lang="it-IT" dirty="0"/>
              <a:t>istruisce reg8 (un registro ad 8 bit) a campionare gli otto bit </a:t>
            </a:r>
            <a:br>
              <a:rPr lang="it-IT" dirty="0"/>
            </a:br>
            <a:r>
              <a:rPr lang="it-IT" dirty="0"/>
              <a:t>più significativi di </a:t>
            </a:r>
            <a:r>
              <a:rPr lang="it-IT" dirty="0" err="1"/>
              <a:t>par_out</a:t>
            </a:r>
            <a:r>
              <a:rPr lang="it-IT" dirty="0"/>
              <a:t> (</a:t>
            </a:r>
            <a:r>
              <a:rPr lang="it-IT" dirty="0" err="1"/>
              <a:t>par_out</a:t>
            </a:r>
            <a:r>
              <a:rPr lang="it-IT" dirty="0"/>
              <a:t>[15:8]). </a:t>
            </a:r>
          </a:p>
          <a:p>
            <a:pPr marL="0" indent="0">
              <a:buNone/>
            </a:pPr>
            <a:r>
              <a:rPr lang="it-IT" dirty="0"/>
              <a:t>Successivamente, </a:t>
            </a:r>
            <a:r>
              <a:rPr lang="it-IT" dirty="0" err="1"/>
              <a:t>sequencer_tx</a:t>
            </a:r>
            <a:r>
              <a:rPr lang="it-IT" dirty="0"/>
              <a:t> genera l’impulso </a:t>
            </a:r>
            <a:r>
              <a:rPr lang="it-IT" dirty="0" err="1"/>
              <a:t>data_strobe</a:t>
            </a:r>
            <a:r>
              <a:rPr lang="it-IT" dirty="0"/>
              <a:t> </a:t>
            </a:r>
            <a:br>
              <a:rPr lang="it-IT" dirty="0"/>
            </a:br>
            <a:r>
              <a:rPr lang="it-IT" dirty="0"/>
              <a:t>che avvisa il destinatario dei dati, nel nostro caso il </a:t>
            </a:r>
            <a:r>
              <a:rPr lang="it-IT" dirty="0" err="1"/>
              <a:t>Logic</a:t>
            </a:r>
            <a:r>
              <a:rPr lang="it-IT" dirty="0"/>
              <a:t> </a:t>
            </a:r>
            <a:br>
              <a:rPr lang="it-IT" dirty="0"/>
            </a:br>
            <a:r>
              <a:rPr lang="it-IT" dirty="0"/>
              <a:t>Analyzer, che un byte del payload è pronto per essere letto.</a:t>
            </a:r>
          </a:p>
          <a:p>
            <a:pPr marL="0" indent="0">
              <a:buNone/>
            </a:pPr>
            <a:r>
              <a:rPr lang="it-IT" dirty="0"/>
              <a:t>Al termine del payload, </a:t>
            </a:r>
            <a:r>
              <a:rPr lang="it-IT" dirty="0" err="1"/>
              <a:t>sequencer_rx</a:t>
            </a:r>
            <a:r>
              <a:rPr lang="it-IT" dirty="0"/>
              <a:t> </a:t>
            </a:r>
            <a:r>
              <a:rPr lang="it-IT" dirty="0" err="1"/>
              <a:t>deasserisce</a:t>
            </a:r>
            <a:r>
              <a:rPr lang="it-IT" dirty="0"/>
              <a:t> il segnale rx, </a:t>
            </a:r>
            <a:br>
              <a:rPr lang="it-IT" dirty="0"/>
            </a:br>
            <a:r>
              <a:rPr lang="it-IT" dirty="0"/>
              <a:t>indicando che l’intero frame è terminato.</a:t>
            </a:r>
          </a:p>
        </p:txBody>
      </p:sp>
    </p:spTree>
    <p:extLst>
      <p:ext uri="{BB962C8B-B14F-4D97-AF65-F5344CB8AC3E}">
        <p14:creationId xmlns:p14="http://schemas.microsoft.com/office/powerpoint/2010/main" val="30705492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1">
            <a:extLst>
              <a:ext uri="{FF2B5EF4-FFF2-40B4-BE49-F238E27FC236}">
                <a16:creationId xmlns:a16="http://schemas.microsoft.com/office/drawing/2014/main" id="{082FB230-EEC9-D9AE-8EA1-669E5A21B649}"/>
              </a:ext>
            </a:extLst>
          </p:cNvPr>
          <p:cNvSpPr>
            <a:spLocks noGrp="1"/>
          </p:cNvSpPr>
          <p:nvPr>
            <p:ph type="title"/>
          </p:nvPr>
        </p:nvSpPr>
        <p:spPr>
          <a:xfrm>
            <a:off x="1141413" y="618518"/>
            <a:ext cx="9905998" cy="1478570"/>
          </a:xfrm>
        </p:spPr>
        <p:txBody>
          <a:bodyPr/>
          <a:lstStyle/>
          <a:p>
            <a:r>
              <a:rPr lang="it-IT" dirty="0"/>
              <a:t>Q&amp;A</a:t>
            </a:r>
          </a:p>
        </p:txBody>
      </p:sp>
      <p:sp>
        <p:nvSpPr>
          <p:cNvPr id="5" name="Segnaposto contenuto 2">
            <a:extLst>
              <a:ext uri="{FF2B5EF4-FFF2-40B4-BE49-F238E27FC236}">
                <a16:creationId xmlns:a16="http://schemas.microsoft.com/office/drawing/2014/main" id="{23187E27-707F-D284-5981-A2D887F3D26F}"/>
              </a:ext>
            </a:extLst>
          </p:cNvPr>
          <p:cNvSpPr>
            <a:spLocks noGrp="1"/>
          </p:cNvSpPr>
          <p:nvPr>
            <p:ph idx="1"/>
          </p:nvPr>
        </p:nvSpPr>
        <p:spPr>
          <a:xfrm>
            <a:off x="1141412" y="2249486"/>
            <a:ext cx="9905999" cy="2576955"/>
          </a:xfrm>
        </p:spPr>
        <p:txBody>
          <a:bodyPr>
            <a:normAutofit/>
          </a:bodyPr>
          <a:lstStyle/>
          <a:p>
            <a:r>
              <a:rPr lang="it-IT" dirty="0"/>
              <a:t>Relatori: </a:t>
            </a:r>
          </a:p>
          <a:p>
            <a:pPr marL="457200" lvl="1" indent="0">
              <a:buNone/>
            </a:pPr>
            <a:r>
              <a:rPr lang="it-IT" dirty="0"/>
              <a:t>Emanuel Conti (</a:t>
            </a:r>
            <a:r>
              <a:rPr lang="it-IT" dirty="0">
                <a:hlinkClick r:id="rId2"/>
              </a:rPr>
              <a:t>e.conti@embedded.sm</a:t>
            </a:r>
            <a:r>
              <a:rPr lang="it-IT" dirty="0"/>
              <a:t>)</a:t>
            </a:r>
          </a:p>
          <a:p>
            <a:pPr marL="457200" lvl="1" indent="0">
              <a:buNone/>
            </a:pPr>
            <a:r>
              <a:rPr lang="it-IT" dirty="0"/>
              <a:t>Giuliano Cardinali (</a:t>
            </a:r>
            <a:r>
              <a:rPr lang="it-IT" dirty="0">
                <a:hlinkClick r:id="rId3"/>
              </a:rPr>
              <a:t>giulicard@gmail.com</a:t>
            </a:r>
            <a:r>
              <a:rPr lang="it-IT" dirty="0"/>
              <a:t>)</a:t>
            </a:r>
          </a:p>
          <a:p>
            <a:pPr marL="457200" lvl="1" indent="0">
              <a:buNone/>
            </a:pPr>
            <a:endParaRPr lang="it-IT" dirty="0"/>
          </a:p>
          <a:p>
            <a:pPr marL="457200" lvl="1" indent="0">
              <a:buNone/>
            </a:pPr>
            <a:r>
              <a:rPr lang="it-IT" dirty="0"/>
              <a:t>Source code download:</a:t>
            </a:r>
          </a:p>
          <a:p>
            <a:pPr marL="457200" lvl="1" indent="0">
              <a:buNone/>
            </a:pPr>
            <a:r>
              <a:rPr lang="it-IT" dirty="0">
                <a:hlinkClick r:id="rId4"/>
              </a:rPr>
              <a:t>https://tinyurl.com/HDLParte2Code</a:t>
            </a:r>
            <a:endParaRPr lang="it-IT" dirty="0"/>
          </a:p>
          <a:p>
            <a:pPr marL="0" indent="0">
              <a:buNone/>
            </a:pPr>
            <a:endParaRPr lang="it-IT" dirty="0"/>
          </a:p>
          <a:p>
            <a:endParaRPr lang="it-IT" dirty="0"/>
          </a:p>
        </p:txBody>
      </p:sp>
      <p:pic>
        <p:nvPicPr>
          <p:cNvPr id="3" name="Elemento grafico 2">
            <a:extLst>
              <a:ext uri="{FF2B5EF4-FFF2-40B4-BE49-F238E27FC236}">
                <a16:creationId xmlns:a16="http://schemas.microsoft.com/office/drawing/2014/main" id="{C33BD52F-F4BD-C146-334C-28143DB9C85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06194" y="1542553"/>
            <a:ext cx="3658759" cy="3658759"/>
          </a:xfrm>
          <a:prstGeom prst="rect">
            <a:avLst/>
          </a:prstGeom>
        </p:spPr>
      </p:pic>
    </p:spTree>
    <p:extLst>
      <p:ext uri="{BB962C8B-B14F-4D97-AF65-F5344CB8AC3E}">
        <p14:creationId xmlns:p14="http://schemas.microsoft.com/office/powerpoint/2010/main" val="40619446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1">
            <a:extLst>
              <a:ext uri="{FF2B5EF4-FFF2-40B4-BE49-F238E27FC236}">
                <a16:creationId xmlns:a16="http://schemas.microsoft.com/office/drawing/2014/main" id="{345237E2-F0EA-237B-C753-BF912546E47B}"/>
              </a:ext>
            </a:extLst>
          </p:cNvPr>
          <p:cNvSpPr>
            <a:spLocks noGrp="1"/>
          </p:cNvSpPr>
          <p:nvPr>
            <p:ph type="title"/>
          </p:nvPr>
        </p:nvSpPr>
        <p:spPr>
          <a:xfrm>
            <a:off x="1141413" y="618518"/>
            <a:ext cx="9905998" cy="1478570"/>
          </a:xfrm>
        </p:spPr>
        <p:txBody>
          <a:bodyPr/>
          <a:lstStyle/>
          <a:p>
            <a:r>
              <a:rPr lang="it-IT" dirty="0"/>
              <a:t>RIFERIMENTI BIBLIOGRAFICI</a:t>
            </a:r>
          </a:p>
        </p:txBody>
      </p:sp>
      <p:sp>
        <p:nvSpPr>
          <p:cNvPr id="5" name="Segnaposto contenuto 2">
            <a:extLst>
              <a:ext uri="{FF2B5EF4-FFF2-40B4-BE49-F238E27FC236}">
                <a16:creationId xmlns:a16="http://schemas.microsoft.com/office/drawing/2014/main" id="{5E4D7F43-B230-F352-5CEA-C3017F212983}"/>
              </a:ext>
            </a:extLst>
          </p:cNvPr>
          <p:cNvSpPr>
            <a:spLocks noGrp="1"/>
          </p:cNvSpPr>
          <p:nvPr>
            <p:ph idx="1"/>
          </p:nvPr>
        </p:nvSpPr>
        <p:spPr>
          <a:xfrm>
            <a:off x="1141412" y="2027584"/>
            <a:ext cx="9905999" cy="4420924"/>
          </a:xfrm>
        </p:spPr>
        <p:txBody>
          <a:bodyPr>
            <a:normAutofit fontScale="92500" lnSpcReduction="20000"/>
          </a:bodyPr>
          <a:lstStyle/>
          <a:p>
            <a:r>
              <a:rPr lang="en-US" sz="1800" dirty="0"/>
              <a:t>Digital Design and Computer Architecture 2nd </a:t>
            </a:r>
            <a:r>
              <a:rPr lang="en-US" sz="1800"/>
              <a:t>Edition </a:t>
            </a:r>
            <a:br>
              <a:rPr lang="en-US" sz="1800"/>
            </a:br>
            <a:r>
              <a:rPr lang="en-US" sz="1800"/>
              <a:t>David </a:t>
            </a:r>
            <a:r>
              <a:rPr lang="en-US" sz="1800" dirty="0"/>
              <a:t>Harris, Sarah Harris - ISBN978-0123944245 </a:t>
            </a:r>
          </a:p>
          <a:p>
            <a:r>
              <a:rPr lang="it-IT" sz="1800" dirty="0"/>
              <a:t>Reti logiche e calcolatori </a:t>
            </a:r>
            <a:br>
              <a:rPr lang="it-IT" sz="1800" dirty="0"/>
            </a:br>
            <a:r>
              <a:rPr lang="it-IT" sz="1800" dirty="0"/>
              <a:t>F. Luccio, L. </a:t>
            </a:r>
            <a:r>
              <a:rPr lang="it-IT" sz="1800" dirty="0" err="1"/>
              <a:t>Pagli</a:t>
            </a:r>
            <a:r>
              <a:rPr lang="it-IT" sz="1800" dirty="0"/>
              <a:t> – ISBN: 978-8833954870</a:t>
            </a:r>
          </a:p>
          <a:p>
            <a:r>
              <a:rPr lang="it-IT" sz="1800" dirty="0" err="1"/>
              <a:t>FPGAs</a:t>
            </a:r>
            <a:r>
              <a:rPr lang="it-IT" sz="1800" dirty="0"/>
              <a:t>: Instant Access</a:t>
            </a:r>
            <a:br>
              <a:rPr lang="it-IT" sz="1800" dirty="0"/>
            </a:br>
            <a:r>
              <a:rPr lang="it-IT" sz="1800" dirty="0"/>
              <a:t>Clive </a:t>
            </a:r>
            <a:r>
              <a:rPr lang="it-IT" sz="1800" dirty="0" err="1"/>
              <a:t>Maxfield</a:t>
            </a:r>
            <a:r>
              <a:rPr lang="it-IT" sz="1800" dirty="0"/>
              <a:t> - ISBN: 978-0750689748</a:t>
            </a:r>
          </a:p>
          <a:p>
            <a:r>
              <a:rPr lang="it-IT" sz="1800" dirty="0"/>
              <a:t>Bebop to the </a:t>
            </a:r>
            <a:r>
              <a:rPr lang="it-IT" sz="1800" dirty="0" err="1"/>
              <a:t>Boolean</a:t>
            </a:r>
            <a:r>
              <a:rPr lang="it-IT" sz="1800" dirty="0"/>
              <a:t> Boogie: An </a:t>
            </a:r>
            <a:r>
              <a:rPr lang="it-IT" sz="1800" dirty="0" err="1"/>
              <a:t>Unconventional</a:t>
            </a:r>
            <a:r>
              <a:rPr lang="it-IT" sz="1800" dirty="0"/>
              <a:t> Guide to Electronics</a:t>
            </a:r>
            <a:br>
              <a:rPr lang="it-IT" sz="1800" dirty="0"/>
            </a:br>
            <a:r>
              <a:rPr lang="it-IT" sz="1800" dirty="0"/>
              <a:t>Clive </a:t>
            </a:r>
            <a:r>
              <a:rPr lang="it-IT" sz="1800" dirty="0" err="1"/>
              <a:t>Maxfield</a:t>
            </a:r>
            <a:r>
              <a:rPr lang="it-IT" sz="1800" dirty="0"/>
              <a:t> - ISBN: 978-1856175074</a:t>
            </a:r>
          </a:p>
          <a:p>
            <a:r>
              <a:rPr lang="it-IT" sz="1800" dirty="0" err="1"/>
              <a:t>Logic</a:t>
            </a:r>
            <a:r>
              <a:rPr lang="it-IT" sz="1800" dirty="0"/>
              <a:t> Circuit Design: </a:t>
            </a:r>
            <a:r>
              <a:rPr lang="it-IT" sz="1800" dirty="0" err="1"/>
              <a:t>Selected</a:t>
            </a:r>
            <a:r>
              <a:rPr lang="it-IT" sz="1800" dirty="0"/>
              <a:t> </a:t>
            </a:r>
            <a:r>
              <a:rPr lang="it-IT" sz="1800" dirty="0" err="1"/>
              <a:t>Topics</a:t>
            </a:r>
            <a:r>
              <a:rPr lang="it-IT" sz="1800" dirty="0"/>
              <a:t> and Methods, Second Ed. </a:t>
            </a:r>
            <a:br>
              <a:rPr lang="it-IT" sz="1800" dirty="0"/>
            </a:br>
            <a:r>
              <a:rPr lang="it-IT" sz="1800" dirty="0"/>
              <a:t>Shimon P. </a:t>
            </a:r>
            <a:r>
              <a:rPr lang="it-IT" sz="1800" dirty="0" err="1"/>
              <a:t>Vingron</a:t>
            </a:r>
            <a:r>
              <a:rPr lang="it-IT" sz="1800" dirty="0"/>
              <a:t> - ISBN: 978-3031406720</a:t>
            </a:r>
          </a:p>
          <a:p>
            <a:r>
              <a:rPr lang="it-IT" sz="1800" dirty="0"/>
              <a:t>The </a:t>
            </a:r>
            <a:r>
              <a:rPr lang="it-IT" sz="1800" dirty="0" err="1"/>
              <a:t>Verilog</a:t>
            </a:r>
            <a:r>
              <a:rPr lang="it-IT" sz="1800" dirty="0"/>
              <a:t>® Hardware </a:t>
            </a:r>
            <a:r>
              <a:rPr lang="it-IT" sz="1800" dirty="0" err="1"/>
              <a:t>Description</a:t>
            </a:r>
            <a:r>
              <a:rPr lang="it-IT" sz="1800" dirty="0"/>
              <a:t> Language, 5th Ed.</a:t>
            </a:r>
            <a:br>
              <a:rPr lang="it-IT" sz="1800" dirty="0"/>
            </a:br>
            <a:r>
              <a:rPr lang="it-IT" sz="1800" dirty="0"/>
              <a:t>Donald E. Thomas, Philip R. </a:t>
            </a:r>
            <a:r>
              <a:rPr lang="it-IT" sz="1800" dirty="0" err="1"/>
              <a:t>Moorby</a:t>
            </a:r>
            <a:r>
              <a:rPr lang="it-IT" sz="1800" dirty="0"/>
              <a:t> - ISBN: 978-1402070896</a:t>
            </a:r>
          </a:p>
          <a:p>
            <a:r>
              <a:rPr lang="it-IT" sz="1800" dirty="0"/>
              <a:t>Digital design : with an </a:t>
            </a:r>
            <a:r>
              <a:rPr lang="it-IT" sz="1800" dirty="0" err="1"/>
              <a:t>introduction</a:t>
            </a:r>
            <a:r>
              <a:rPr lang="it-IT" sz="1800" dirty="0"/>
              <a:t> to the </a:t>
            </a:r>
            <a:r>
              <a:rPr lang="it-IT" sz="1800" dirty="0" err="1"/>
              <a:t>verilog</a:t>
            </a:r>
            <a:r>
              <a:rPr lang="it-IT" sz="1800" dirty="0"/>
              <a:t> </a:t>
            </a:r>
            <a:r>
              <a:rPr lang="it-IT" sz="1800" dirty="0" err="1"/>
              <a:t>hdl</a:t>
            </a:r>
            <a:br>
              <a:rPr lang="it-IT" sz="1800" dirty="0"/>
            </a:br>
            <a:r>
              <a:rPr lang="it-IT" sz="1800" dirty="0"/>
              <a:t>M. Morris Mano, Michael D. Ciletti.—5th ed. - ISBN-13: 978-0132774208</a:t>
            </a:r>
          </a:p>
          <a:p>
            <a:r>
              <a:rPr lang="it-IT" sz="1800" dirty="0"/>
              <a:t>Digital Design </a:t>
            </a:r>
            <a:r>
              <a:rPr lang="it-IT" sz="1800" dirty="0" err="1"/>
              <a:t>Principles</a:t>
            </a:r>
            <a:r>
              <a:rPr lang="it-IT" sz="1800" dirty="0"/>
              <a:t> and Practices</a:t>
            </a:r>
            <a:br>
              <a:rPr lang="it-IT" sz="1800" dirty="0"/>
            </a:br>
            <a:r>
              <a:rPr lang="it-IT" sz="1800" dirty="0"/>
              <a:t>John F. </a:t>
            </a:r>
            <a:r>
              <a:rPr lang="it-IT" sz="1800" dirty="0" err="1"/>
              <a:t>Wakerly</a:t>
            </a:r>
            <a:r>
              <a:rPr lang="it-IT" sz="1800" dirty="0"/>
              <a:t> - ISBN: 978-0134460093</a:t>
            </a:r>
          </a:p>
        </p:txBody>
      </p:sp>
    </p:spTree>
    <p:extLst>
      <p:ext uri="{BB962C8B-B14F-4D97-AF65-F5344CB8AC3E}">
        <p14:creationId xmlns:p14="http://schemas.microsoft.com/office/powerpoint/2010/main" val="5129236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Rete">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TM03457485[[fn=Rete]]</Template>
  <TotalTime>5189</TotalTime>
  <Words>5822</Words>
  <Application>Microsoft Office PowerPoint</Application>
  <PresentationFormat>Widescreen</PresentationFormat>
  <Paragraphs>224</Paragraphs>
  <Slides>45</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45</vt:i4>
      </vt:variant>
    </vt:vector>
  </HeadingPairs>
  <TitlesOfParts>
    <vt:vector size="50" baseType="lpstr">
      <vt:lpstr>Arial</vt:lpstr>
      <vt:lpstr>Calibri</vt:lpstr>
      <vt:lpstr>Cambria Math</vt:lpstr>
      <vt:lpstr>Century Gothic</vt:lpstr>
      <vt:lpstr>Rete</vt:lpstr>
      <vt:lpstr>Incontro informativo sui linguaggi di descrizione dell'hardware (HDL)</vt:lpstr>
      <vt:lpstr>HDL in pratica: progetto, sintesi e simulazione</vt:lpstr>
      <vt:lpstr>PRESENTAZIONE DEL KIT DI SVILUPPO</vt:lpstr>
      <vt:lpstr>TANG NANO 9K di Sipeed (FPGA GOWIN GW1NR)</vt:lpstr>
      <vt:lpstr>Sistemi di Sviluppo (IDE)</vt:lpstr>
      <vt:lpstr>HDL in pratica:  PROGETTO</vt:lpstr>
      <vt:lpstr>REGISTRI A SCORRIMENTO (SHIFT REGISTERS)</vt:lpstr>
      <vt:lpstr>UN ESEMPIO PRATICO COL KIT Di SVILUPPO (1)</vt:lpstr>
      <vt:lpstr>UN ESEMPIO PRATICO COL KIT Di SVILUPPO (2)</vt:lpstr>
      <vt:lpstr>UN ESEMPIO PRATICO COL KIT Di SVILUPPO (3)</vt:lpstr>
      <vt:lpstr>UN ESEMPIO PRATICO COL KIT Di SVILUPPO (4/1)</vt:lpstr>
      <vt:lpstr>UN ESEMPIO PRATICO COL KIT Di SVILUPPO (4/2)</vt:lpstr>
      <vt:lpstr>UN ESEMPIO PRATICO COL KIT Di SVILUPPO (5)</vt:lpstr>
      <vt:lpstr>Presentazione standard di PowerPoint</vt:lpstr>
      <vt:lpstr>La TRASMISSIONE DEI DATI</vt:lpstr>
      <vt:lpstr>Presentazione standard di PowerPoint</vt:lpstr>
      <vt:lpstr>MODI Di TRASMISSIONE DATI SERIALI (2)</vt:lpstr>
      <vt:lpstr>Presentazione standard di PowerPoint</vt:lpstr>
      <vt:lpstr>Presentazione standard di PowerPoint</vt:lpstr>
      <vt:lpstr>EVENTI ESTERNI ASINCRONI (1)</vt:lpstr>
      <vt:lpstr>EVENTI ESTERNI ASINCRONI (2)</vt:lpstr>
      <vt:lpstr>CLOCK SKEW</vt:lpstr>
      <vt:lpstr>CONDIZIONE METASTABILE</vt:lpstr>
      <vt:lpstr>SINCRONIZZATORI (1)</vt:lpstr>
      <vt:lpstr>SINCRONIZZATORI (2)</vt:lpstr>
      <vt:lpstr>Presentazione standard di PowerPoint</vt:lpstr>
      <vt:lpstr>LA CODIFICA MANCHESTER</vt:lpstr>
      <vt:lpstr>CODIFICATORE MANCHESTER (1)</vt:lpstr>
      <vt:lpstr>CODIFICATORE MANCHESTER (2)</vt:lpstr>
      <vt:lpstr>Decodificatore manchester</vt:lpstr>
      <vt:lpstr>Decodificatore manchester</vt:lpstr>
      <vt:lpstr>Presentazione standard di PowerPoint</vt:lpstr>
      <vt:lpstr>LFSR (Linead feedback shift register)</vt:lpstr>
      <vt:lpstr>LFSR TESTBENCH</vt:lpstr>
      <vt:lpstr>Presentazione standard di PowerPoint</vt:lpstr>
      <vt:lpstr>ESEMPIO: UN TRANSCEIVER MANCESTER (1)</vt:lpstr>
      <vt:lpstr>ESEMPIO: UN TRANSCEIVER MANCESTER (2)</vt:lpstr>
      <vt:lpstr>ESEMPIO: UN TRANSCEIVER MANCESTER (3)</vt:lpstr>
      <vt:lpstr>ESEMPIO: UN TRANSCEIVER MANCESTER (4)</vt:lpstr>
      <vt:lpstr>ESEMPIO: UN TRANSCEIVER MANCESTER (5)</vt:lpstr>
      <vt:lpstr>ESEMPIO: UN TRANSCEIVER MANCESTER (6)</vt:lpstr>
      <vt:lpstr>MODULO BLOCK_TX</vt:lpstr>
      <vt:lpstr>MODULO BLOCK_RX</vt:lpstr>
      <vt:lpstr>Q&amp;A</vt:lpstr>
      <vt:lpstr>RIFERIMENTI BIBLIOGRAFICI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Incontro informativo sui linguaggi di descrizione dell'hardware (HDL)</dc:title>
  <dc:creator>Giuliano Cardinali</dc:creator>
  <cp:lastModifiedBy>Giuliano Cardinali</cp:lastModifiedBy>
  <cp:revision>81</cp:revision>
  <cp:lastPrinted>2024-05-23T22:33:49Z</cp:lastPrinted>
  <dcterms:created xsi:type="dcterms:W3CDTF">2024-04-10T07:29:31Z</dcterms:created>
  <dcterms:modified xsi:type="dcterms:W3CDTF">2024-05-23T22:34:26Z</dcterms:modified>
</cp:coreProperties>
</file>